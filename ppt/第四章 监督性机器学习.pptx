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dp" ContentType="image/vnd.ms-photo"/>
  <Default Extension="emf" ContentType="image/x-emf"/>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handoutMasterIdLst>
    <p:handoutMasterId r:id="rId97"/>
  </p:handoutMasterIdLst>
  <p:sldIdLst>
    <p:sldId id="708" r:id="rId3"/>
    <p:sldId id="839" r:id="rId4"/>
    <p:sldId id="1148" r:id="rId5"/>
    <p:sldId id="1155" r:id="rId6"/>
    <p:sldId id="1288" r:id="rId7"/>
    <p:sldId id="1156" r:id="rId8"/>
    <p:sldId id="1293" r:id="rId9"/>
    <p:sldId id="1157" r:id="rId10"/>
    <p:sldId id="1158" r:id="rId11"/>
    <p:sldId id="1159" r:id="rId12"/>
    <p:sldId id="1160" r:id="rId13"/>
    <p:sldId id="1161" r:id="rId14"/>
    <p:sldId id="1162" r:id="rId15"/>
    <p:sldId id="1197" r:id="rId16"/>
    <p:sldId id="1199" r:id="rId17"/>
    <p:sldId id="1209" r:id="rId18"/>
    <p:sldId id="1297" r:id="rId19"/>
    <p:sldId id="1201" r:id="rId20"/>
    <p:sldId id="1298" r:id="rId21"/>
    <p:sldId id="1208" r:id="rId22"/>
    <p:sldId id="1202" r:id="rId23"/>
    <p:sldId id="1203" r:id="rId24"/>
    <p:sldId id="1204" r:id="rId25"/>
    <p:sldId id="1299" r:id="rId27"/>
    <p:sldId id="1301" r:id="rId28"/>
    <p:sldId id="1294" r:id="rId29"/>
    <p:sldId id="1295" r:id="rId30"/>
    <p:sldId id="1296" r:id="rId31"/>
    <p:sldId id="1302" r:id="rId32"/>
    <p:sldId id="1303" r:id="rId33"/>
    <p:sldId id="1304" r:id="rId34"/>
    <p:sldId id="1305" r:id="rId35"/>
    <p:sldId id="1278" r:id="rId36"/>
    <p:sldId id="1306" r:id="rId37"/>
    <p:sldId id="1280" r:id="rId38"/>
    <p:sldId id="1281" r:id="rId39"/>
    <p:sldId id="1282" r:id="rId40"/>
    <p:sldId id="1284" r:id="rId41"/>
    <p:sldId id="1285" r:id="rId42"/>
    <p:sldId id="1286" r:id="rId43"/>
    <p:sldId id="1287" r:id="rId44"/>
    <p:sldId id="1308" r:id="rId45"/>
    <p:sldId id="1309" r:id="rId46"/>
    <p:sldId id="1277" r:id="rId47"/>
    <p:sldId id="1221" r:id="rId48"/>
    <p:sldId id="1212" r:id="rId49"/>
    <p:sldId id="1213" r:id="rId50"/>
    <p:sldId id="1214" r:id="rId51"/>
    <p:sldId id="1215" r:id="rId52"/>
    <p:sldId id="1216" r:id="rId53"/>
    <p:sldId id="1222" r:id="rId54"/>
    <p:sldId id="1313" r:id="rId55"/>
    <p:sldId id="1223" r:id="rId56"/>
    <p:sldId id="1224" r:id="rId57"/>
    <p:sldId id="1310" r:id="rId58"/>
    <p:sldId id="1314" r:id="rId59"/>
    <p:sldId id="1311" r:id="rId60"/>
    <p:sldId id="1225" r:id="rId61"/>
    <p:sldId id="1230" r:id="rId62"/>
    <p:sldId id="1231" r:id="rId63"/>
    <p:sldId id="1226" r:id="rId64"/>
    <p:sldId id="1227" r:id="rId65"/>
    <p:sldId id="1228" r:id="rId66"/>
    <p:sldId id="1275" r:id="rId67"/>
    <p:sldId id="1233" r:id="rId68"/>
    <p:sldId id="1235" r:id="rId69"/>
    <p:sldId id="1236" r:id="rId70"/>
    <p:sldId id="1237" r:id="rId71"/>
    <p:sldId id="1238" r:id="rId72"/>
    <p:sldId id="1245" r:id="rId73"/>
    <p:sldId id="1239" r:id="rId74"/>
    <p:sldId id="1240" r:id="rId75"/>
    <p:sldId id="1274" r:id="rId76"/>
    <p:sldId id="1241" r:id="rId77"/>
    <p:sldId id="1250" r:id="rId78"/>
    <p:sldId id="1251" r:id="rId79"/>
    <p:sldId id="1242" r:id="rId80"/>
    <p:sldId id="1252" r:id="rId81"/>
    <p:sldId id="1253" r:id="rId82"/>
    <p:sldId id="1259" r:id="rId83"/>
    <p:sldId id="1255" r:id="rId84"/>
    <p:sldId id="1260" r:id="rId85"/>
    <p:sldId id="1261" r:id="rId86"/>
    <p:sldId id="1265" r:id="rId87"/>
    <p:sldId id="1264" r:id="rId88"/>
    <p:sldId id="1266" r:id="rId89"/>
    <p:sldId id="1267" r:id="rId90"/>
    <p:sldId id="1268" r:id="rId91"/>
    <p:sldId id="1269" r:id="rId92"/>
    <p:sldId id="1270" r:id="rId93"/>
    <p:sldId id="1271" r:id="rId94"/>
    <p:sldId id="1272" r:id="rId95"/>
    <p:sldId id="1273" r:id="rId96"/>
  </p:sldIdLst>
  <p:sldSz cx="9144000" cy="6858000" type="screen4x3"/>
  <p:notesSz cx="9144000" cy="68580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521415D9-36F7-43E2-AB2F-B90AF26B5E84}">
      <p14:sectionLst xmlns:p14="http://schemas.microsoft.com/office/powerpoint/2010/main">
        <p14:section name="默认节" id="{5F1B5416-640A-4F21-9AB5-898F4CDF8A5B}">
          <p14:sldIdLst>
            <p14:sldId id="708"/>
            <p14:sldId id="839"/>
            <p14:sldId id="1148"/>
            <p14:sldId id="1155"/>
            <p14:sldId id="1288"/>
            <p14:sldId id="1156"/>
            <p14:sldId id="1293"/>
            <p14:sldId id="1157"/>
            <p14:sldId id="1158"/>
            <p14:sldId id="1159"/>
            <p14:sldId id="1160"/>
            <p14:sldId id="1161"/>
            <p14:sldId id="1162"/>
            <p14:sldId id="1197"/>
            <p14:sldId id="1199"/>
            <p14:sldId id="1209"/>
            <p14:sldId id="1297"/>
            <p14:sldId id="1201"/>
            <p14:sldId id="1298"/>
            <p14:sldId id="1208"/>
            <p14:sldId id="1202"/>
            <p14:sldId id="1203"/>
            <p14:sldId id="1204"/>
            <p14:sldId id="1299"/>
            <p14:sldId id="1301"/>
            <p14:sldId id="1294"/>
            <p14:sldId id="1295"/>
            <p14:sldId id="1296"/>
            <p14:sldId id="1302"/>
            <p14:sldId id="1303"/>
            <p14:sldId id="1304"/>
            <p14:sldId id="1305"/>
            <p14:sldId id="1278"/>
            <p14:sldId id="1306"/>
            <p14:sldId id="1280"/>
            <p14:sldId id="1281"/>
            <p14:sldId id="1282"/>
            <p14:sldId id="1284"/>
            <p14:sldId id="1285"/>
            <p14:sldId id="1286"/>
            <p14:sldId id="1287"/>
            <p14:sldId id="1308"/>
            <p14:sldId id="1309"/>
            <p14:sldId id="1277"/>
            <p14:sldId id="1221"/>
            <p14:sldId id="1212"/>
            <p14:sldId id="1213"/>
            <p14:sldId id="1214"/>
            <p14:sldId id="1215"/>
            <p14:sldId id="1216"/>
            <p14:sldId id="1222"/>
            <p14:sldId id="1313"/>
            <p14:sldId id="1223"/>
            <p14:sldId id="1224"/>
            <p14:sldId id="1310"/>
            <p14:sldId id="1314"/>
            <p14:sldId id="1311"/>
            <p14:sldId id="1225"/>
            <p14:sldId id="1230"/>
            <p14:sldId id="1231"/>
            <p14:sldId id="1226"/>
            <p14:sldId id="1227"/>
            <p14:sldId id="1228"/>
            <p14:sldId id="1275"/>
            <p14:sldId id="1233"/>
            <p14:sldId id="1235"/>
            <p14:sldId id="1236"/>
            <p14:sldId id="1237"/>
            <p14:sldId id="1238"/>
            <p14:sldId id="1245"/>
            <p14:sldId id="1239"/>
            <p14:sldId id="1240"/>
            <p14:sldId id="1274"/>
            <p14:sldId id="1241"/>
            <p14:sldId id="1250"/>
            <p14:sldId id="1251"/>
            <p14:sldId id="1242"/>
            <p14:sldId id="1252"/>
            <p14:sldId id="1253"/>
            <p14:sldId id="1259"/>
            <p14:sldId id="1255"/>
            <p14:sldId id="1260"/>
            <p14:sldId id="1261"/>
            <p14:sldId id="1265"/>
            <p14:sldId id="1264"/>
            <p14:sldId id="1266"/>
            <p14:sldId id="1267"/>
            <p14:sldId id="1268"/>
            <p14:sldId id="1269"/>
            <p14:sldId id="1270"/>
            <p14:sldId id="1271"/>
            <p14:sldId id="1272"/>
            <p14:sldId id="1273"/>
          </p14:sldIdLst>
        </p14:section>
      </p14:sectionLst>
    </p:ext>
    <p:ext uri="{EFAFB233-063F-42B5-8137-9DF3F51BA10A}">
      <p15:sldGuideLst xmlns:p15="http://schemas.microsoft.com/office/powerpoint/2012/main">
        <p15:guide id="1" orient="horz" pos="3357"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7F1FA"/>
    <a:srgbClr val="CCE3F5"/>
    <a:srgbClr val="1CADE4"/>
    <a:srgbClr val="E48312"/>
    <a:srgbClr val="FF3300"/>
    <a:srgbClr val="FF99FF"/>
    <a:srgbClr val="ECE7E3"/>
    <a:srgbClr val="21C5FF"/>
    <a:srgbClr val="E28E7F"/>
    <a:srgbClr val="C26F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2" autoAdjust="0"/>
    <p:restoredTop sz="88628" autoAdjust="0"/>
  </p:normalViewPr>
  <p:slideViewPr>
    <p:cSldViewPr showGuides="1">
      <p:cViewPr varScale="1">
        <p:scale>
          <a:sx n="75" d="100"/>
          <a:sy n="75" d="100"/>
        </p:scale>
        <p:origin x="1474" y="58"/>
      </p:cViewPr>
      <p:guideLst>
        <p:guide orient="horz" pos="3357"/>
        <p:guide pos="289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howGuides="1">
      <p:cViewPr varScale="1">
        <p:scale>
          <a:sx n="43" d="100"/>
          <a:sy n="43" d="100"/>
        </p:scale>
        <p:origin x="-1416" y="-90"/>
      </p:cViewPr>
      <p:guideLst>
        <p:guide orient="horz" pos="2191"/>
        <p:guide pos="2894"/>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handoutMaster" Target="handoutMasters/handoutMaster1.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notesMaster" Target="notesMasters/notesMaster1.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0" Type="http://schemas.openxmlformats.org/officeDocument/2006/relationships/tableStyles" Target="tableStyles.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a:effectLst/>
        </p:spPr>
        <p:txBody>
          <a:bodyPr vert="horz" wrap="square" lIns="19050" tIns="0" rIns="19050" bIns="0" numCol="1" anchor="t"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a:effectLst/>
        </p:spPr>
        <p:txBody>
          <a:bodyPr vert="horz" wrap="square" lIns="19050" tIns="0" rIns="19050" bIns="0" numCol="1" anchor="t" anchorCtr="0" compatLnSpc="1"/>
          <a:lstStyle>
            <a:lvl1pPr algn="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11268" name="Rectangle 4"/>
          <p:cNvSpPr>
            <a:spLocks noGrp="1" noRot="1" noChangeAspect="1" noChangeArrowheads="1" noTextEdit="1"/>
          </p:cNvSpPr>
          <p:nvPr>
            <p:ph type="sldImg" idx="2"/>
          </p:nvPr>
        </p:nvSpPr>
        <p:spPr bwMode="auto">
          <a:xfrm>
            <a:off x="2863850" y="519113"/>
            <a:ext cx="3416300" cy="256222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a:effectLst/>
        </p:spPr>
        <p:txBody>
          <a:bodyPr vert="horz" wrap="square" lIns="92075" tIns="46038" rIns="92075" bIns="46038"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a:effectLst/>
        </p:spPr>
        <p:txBody>
          <a:bodyPr vert="horz" wrap="square" lIns="19050" tIns="0" rIns="19050" bIns="0" numCol="1" anchor="b"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a:effectLst/>
        </p:spPr>
        <p:txBody>
          <a:bodyPr vert="horz" wrap="square" lIns="19050" tIns="0" rIns="19050" bIns="0" numCol="1" anchor="b" anchorCtr="0" compatLnSpc="1"/>
          <a:lstStyle>
            <a:lvl1pPr algn="r" eaLnBrk="0" hangingPunct="0">
              <a:defRPr sz="1000" i="1">
                <a:latin typeface="Times New Roman" panose="02020603050405020304" pitchFamily="18" charset="0"/>
              </a:defRPr>
            </a:lvl1pPr>
          </a:lstStyle>
          <a:p>
            <a:pPr>
              <a:defRPr/>
            </a:pPr>
            <a:fld id="{0500817F-17F9-46F0-832A-0BFACEB59CF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6"/>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E:\Z_20141020浙大应用项调整\PPT-10.23\PPT源文件-10.23-0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4" descr="E:\Z_20141020浙大应用项调整\PPT-10.23\PPT源文件-10.23-03.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822325" y="1557338"/>
            <a:ext cx="7543800" cy="287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Title 1"/>
          <p:cNvSpPr>
            <a:spLocks noGrp="1"/>
          </p:cNvSpPr>
          <p:nvPr>
            <p:ph type="title"/>
          </p:nvPr>
        </p:nvSpPr>
        <p:spPr>
          <a:xfrm>
            <a:off x="822960" y="286604"/>
            <a:ext cx="7543800" cy="892239"/>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22959" y="1484784"/>
            <a:ext cx="7543801" cy="438431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Slide Number Placeholder 5"/>
          <p:cNvSpPr>
            <a:spLocks noGrp="1"/>
          </p:cNvSpPr>
          <p:nvPr>
            <p:ph type="sldNum" sz="quarter" idx="10"/>
          </p:nvPr>
        </p:nvSpPr>
        <p:spPr/>
        <p:txBody>
          <a:bodyPr/>
          <a:lstStyle>
            <a:lvl1pPr>
              <a:defRPr/>
            </a:lvl1pPr>
          </a:lstStyle>
          <a:p>
            <a:pPr>
              <a:defRPr/>
            </a:pPr>
            <a:fld id="{F6DA434B-3FE0-453D-8E32-922B8A93A0F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Date Placeholder 3"/>
          <p:cNvSpPr>
            <a:spLocks noGrp="1"/>
          </p:cNvSpPr>
          <p:nvPr>
            <p:ph type="dt" sz="half" idx="10"/>
          </p:nvPr>
        </p:nvSpPr>
        <p:spPr/>
        <p:txBody>
          <a:bodyPr/>
          <a:lstStyle>
            <a:lvl1pPr>
              <a:defRPr/>
            </a:lvl1pPr>
          </a:lstStyle>
          <a:p>
            <a:pPr>
              <a:defRPr/>
            </a:pPr>
            <a:endParaRPr lang="en-US" altLang="zh-CN"/>
          </a:p>
        </p:txBody>
      </p:sp>
      <p:sp>
        <p:nvSpPr>
          <p:cNvPr id="9" name="Footer Placeholder 4"/>
          <p:cNvSpPr>
            <a:spLocks noGrp="1"/>
          </p:cNvSpPr>
          <p:nvPr>
            <p:ph type="ftr" sz="quarter" idx="11"/>
          </p:nvPr>
        </p:nvSpPr>
        <p:spPr/>
        <p:txBody>
          <a:bodyPr/>
          <a:lstStyle>
            <a:lvl1pPr>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lvl1pPr>
          </a:lstStyle>
          <a:p>
            <a:pPr>
              <a:defRPr/>
            </a:pPr>
            <a:fld id="{256FA0F2-C9A2-4F64-A66E-20022CCEEAE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1C950D77-C628-43FC-BC46-456A714236B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83FD6D5D-01DA-4DC2-BBDE-EB5119091C7F}"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C9C69257-8032-4398-859F-185CE6CE699B}"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Rectangle 4"/>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endParaRPr lang="en-US" altLang="zh-CN"/>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ltLang="zh-CN"/>
          </a:p>
        </p:txBody>
      </p:sp>
      <p:sp>
        <p:nvSpPr>
          <p:cNvPr id="6" name="Slide Number Placeholder 8"/>
          <p:cNvSpPr>
            <a:spLocks noGrp="1"/>
          </p:cNvSpPr>
          <p:nvPr>
            <p:ph type="sldNum" sz="quarter" idx="12"/>
          </p:nvPr>
        </p:nvSpPr>
        <p:spPr/>
        <p:txBody>
          <a:bodyPr/>
          <a:lstStyle>
            <a:lvl1pPr>
              <a:defRPr/>
            </a:lvl1pPr>
          </a:lstStyle>
          <a:p>
            <a:pPr>
              <a:defRPr/>
            </a:pPr>
            <a:fld id="{AA51C516-9C89-45EA-8E3A-FDE8D53A16A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5" name="Rectangle 7"/>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a:xfrm>
            <a:off x="349250" y="6459538"/>
            <a:ext cx="1963738" cy="365125"/>
          </a:xfrm>
        </p:spPr>
        <p:txBody>
          <a:bodyPr/>
          <a:lstStyle>
            <a:lvl1pPr algn="l">
              <a:defRPr/>
            </a:lvl1pPr>
          </a:lstStyle>
          <a:p>
            <a:pPr>
              <a:defRPr/>
            </a:pPr>
            <a:endParaRPr lang="en-US" altLang="zh-CN"/>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solidFill>
                  <a:schemeClr val="tx2"/>
                </a:solidFill>
              </a:defRPr>
            </a:lvl1pPr>
          </a:lstStyle>
          <a:p>
            <a:pPr>
              <a:defRPr/>
            </a:pPr>
            <a:fld id="{EEDFC271-D8E7-4FF2-943A-13935E45B499}"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图片与标题">
    <p:spTree>
      <p:nvGrpSpPr>
        <p:cNvPr id="1" name=""/>
        <p:cNvGrpSpPr/>
        <p:nvPr/>
      </p:nvGrpSpPr>
      <p:grpSpPr>
        <a:xfrm>
          <a:off x="0" y="0"/>
          <a:ext cx="0" cy="0"/>
          <a:chOff x="0" y="0"/>
          <a:chExt cx="0" cy="0"/>
        </a:xfrm>
      </p:grpSpPr>
      <p:sp>
        <p:nvSpPr>
          <p:cNvPr id="5" name="Rectangle 7"/>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8" name="Footer Placeholder 5"/>
          <p:cNvSpPr>
            <a:spLocks noGrp="1"/>
          </p:cNvSpPr>
          <p:nvPr>
            <p:ph type="ftr" sz="quarter" idx="11"/>
          </p:nvPr>
        </p:nvSpPr>
        <p:spPr/>
        <p:txBody>
          <a:bodyPr/>
          <a:lstStyle>
            <a:lvl1pPr>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lvl1pPr>
          </a:lstStyle>
          <a:p>
            <a:pPr>
              <a:defRPr/>
            </a:pPr>
            <a:fld id="{D0FD5BEA-9E28-41CA-BE91-C9A1BA7CFA11}"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3191729D-44E3-49BA-994F-783CF7E187B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lvl1pPr>
          </a:lstStyle>
          <a:p>
            <a:pPr>
              <a:defRPr/>
            </a:pPr>
            <a:fld id="{D26B558E-6E52-4ECF-B6D6-3B703C722682}" type="slidenum">
              <a:rPr lang="en-US" altLang="zh-CN"/>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1029" name="Text Placeholder 2"/>
          <p:cNvSpPr>
            <a:spLocks noGrp="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zh-CN"/>
          </a:p>
        </p:txBody>
      </p:sp>
      <p:sp>
        <p:nvSpPr>
          <p:cNvPr id="5"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ltLang="zh-CN"/>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a:defRPr sz="1050">
                <a:solidFill>
                  <a:srgbClr val="FFFFFF"/>
                </a:solidFill>
              </a:defRPr>
            </a:lvl1pPr>
          </a:lstStyle>
          <a:p>
            <a:pPr>
              <a:defRPr/>
            </a:pPr>
            <a:fld id="{47489B64-E570-46EF-ABE2-C5B7231161B8}" type="slidenum">
              <a:rPr lang="en-US" altLang="zh-CN"/>
            </a:fld>
            <a:endParaRPr lang="en-US" altLang="zh-CN"/>
          </a:p>
        </p:txBody>
      </p:sp>
      <p:cxnSp>
        <p:nvCxnSpPr>
          <p:cNvPr id="10" name="Straight Connector 9"/>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p:titleStyle>
    <p:body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slideLayout" Target="../slideLayouts/slideLayout2.xml"/><Relationship Id="rId26" Type="http://schemas.openxmlformats.org/officeDocument/2006/relationships/image" Target="../media/image9.png"/><Relationship Id="rId25" Type="http://schemas.openxmlformats.org/officeDocument/2006/relationships/image" Target="../media/image8.png"/><Relationship Id="rId24" Type="http://schemas.openxmlformats.org/officeDocument/2006/relationships/tags" Target="../tags/tag21.xml"/><Relationship Id="rId23" Type="http://schemas.openxmlformats.org/officeDocument/2006/relationships/image" Target="../media/image7.png"/><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2.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image" Target="../media/image6.png"/><Relationship Id="rId10" Type="http://schemas.openxmlformats.org/officeDocument/2006/relationships/image" Target="../media/image5.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emf"/></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wmf"/><Relationship Id="rId3" Type="http://schemas.openxmlformats.org/officeDocument/2006/relationships/oleObject" Target="../embeddings/oleObject1.bin"/><Relationship Id="rId2" Type="http://schemas.openxmlformats.org/officeDocument/2006/relationships/image" Target="../media/image29.png"/><Relationship Id="rId1" Type="http://schemas.openxmlformats.org/officeDocument/2006/relationships/image" Target="../media/image28.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1.xml"/><Relationship Id="rId1"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9.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3.png"/><Relationship Id="rId1" Type="http://schemas.openxmlformats.org/officeDocument/2006/relationships/image" Target="../media/image52.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1.png"/><Relationship Id="rId1" Type="http://schemas.openxmlformats.org/officeDocument/2006/relationships/image" Target="../media/image54.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9.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image" Target="../media/image93.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3.png"/><Relationship Id="rId1" Type="http://schemas.openxmlformats.org/officeDocument/2006/relationships/image" Target="../media/image102.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6.png"/><Relationship Id="rId1" Type="http://schemas.openxmlformats.org/officeDocument/2006/relationships/image" Target="../media/image105.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109.wdp"/><Relationship Id="rId1" Type="http://schemas.openxmlformats.org/officeDocument/2006/relationships/image" Target="../media/image108.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image" Target="../media/image112.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6.png"/><Relationship Id="rId1" Type="http://schemas.openxmlformats.org/officeDocument/2006/relationships/image" Target="../media/image115.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8.png"/><Relationship Id="rId1" Type="http://schemas.openxmlformats.org/officeDocument/2006/relationships/image" Target="../media/image11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0.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image" Target="../media/image121.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4.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8.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0.png"/><Relationship Id="rId1" Type="http://schemas.openxmlformats.org/officeDocument/2006/relationships/image" Target="../media/image129.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1.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2325" y="758825"/>
            <a:ext cx="7543800" cy="3565525"/>
          </a:xfrm>
        </p:spPr>
        <p:txBody>
          <a:bodyPr>
            <a:normAutofit/>
          </a:bodyPr>
          <a:lstStyle/>
          <a:p>
            <a:pPr algn="ctr" eaLnBrk="1" fontAlgn="auto" hangingPunct="1">
              <a:lnSpc>
                <a:spcPct val="125000"/>
              </a:lnSpc>
              <a:spcAft>
                <a:spcPts val="0"/>
              </a:spcAft>
              <a:defRPr/>
            </a:pP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第三章 </a:t>
            </a:r>
            <a:b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b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监督性机器学习</a:t>
            </a:r>
            <a:endParaRPr lang="zh-CN" altLang="en-US" dirty="0">
              <a:solidFill>
                <a:srgbClr val="C00000"/>
              </a:solidFill>
            </a:endParaRPr>
          </a:p>
        </p:txBody>
      </p:sp>
      <p:sp>
        <p:nvSpPr>
          <p:cNvPr id="3" name="副标题 2"/>
          <p:cNvSpPr>
            <a:spLocks noGrp="1"/>
          </p:cNvSpPr>
          <p:nvPr>
            <p:ph type="subTitle" idx="1"/>
          </p:nvPr>
        </p:nvSpPr>
        <p:spPr>
          <a:xfrm>
            <a:off x="825500" y="4456113"/>
            <a:ext cx="7543800" cy="1143000"/>
          </a:xfrm>
        </p:spPr>
        <p:txBody>
          <a:bodyPr rtlCol="0"/>
          <a:lstStyle/>
          <a:p>
            <a:pPr algn="ctr" eaLnBrk="1" fontAlgn="auto" hangingPunct="1">
              <a:defRPr/>
            </a:pPr>
            <a:r>
              <a:rPr lang="en-US" altLang="zh-CN" b="1" dirty="0">
                <a:latin typeface="Tahoma" panose="020B0604030504040204" pitchFamily="34" charset="0"/>
                <a:ea typeface="Tahoma" panose="020B0604030504040204" pitchFamily="34" charset="0"/>
                <a:cs typeface="Tahoma" panose="020B0604030504040204" pitchFamily="34" charset="0"/>
              </a:rPr>
              <a:t>Supervised machine learning</a:t>
            </a:r>
            <a:endParaRPr lang="zh-CN" altLang="en-US" dirty="0">
              <a:latin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4294967295"/>
          </p:nvPr>
        </p:nvSpPr>
        <p:spPr/>
        <p:txBody>
          <a:bodyPr/>
          <a:lstStyle/>
          <a:p>
            <a:pPr>
              <a:defRPr/>
            </a:pPr>
            <a:fld id="{5C607526-F0CC-4C74-8DBA-9971CBCEA052}"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mc:AlternateContent xmlns:mc="http://schemas.openxmlformats.org/markup-compatibility/2006">
        <mc:Choice xmlns:a14="http://schemas.microsoft.com/office/drawing/2010/main" Requires="a14">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solidFill>
                      <a:srgbClr val="C00000"/>
                    </a:solidFill>
                    <a:latin typeface="Arial" panose="020B0604020202020204"/>
                    <a:ea typeface="宋体" panose="02010600030101010101" pitchFamily="2" charset="-122"/>
                  </a:rPr>
                  <a:t>回归分析</a:t>
                </a:r>
                <a:endParaRPr kumimoji="0" lang="en-US" altLang="zh-CN"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决策树</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集成学习</a:t>
                </a:r>
                <a:endParaRPr kumimoji="0" lang="en-US" altLang="zh-CN" dirty="0">
                  <a:latin typeface="Arial" panose="020B0604020202020204"/>
                  <a:ea typeface="宋体" panose="02010600030101010101" pitchFamily="2" charset="-122"/>
                </a:endParaRPr>
              </a:p>
              <a:p>
                <a:pPr lvl="0" eaLnBrk="1" hangingPunct="1">
                  <a:lnSpc>
                    <a:spcPct val="90000"/>
                  </a:lnSpc>
                  <a:spcBef>
                    <a:spcPct val="40000"/>
                  </a:spcBef>
                  <a:defRPr/>
                </a:pPr>
                <a14:m>
                  <m:oMath xmlns:m="http://schemas.openxmlformats.org/officeDocument/2006/math">
                    <m:r>
                      <a:rPr lang="en-US" altLang="zh-CN" i="1" kern="100">
                        <a:latin typeface="Cambria Math" panose="02040503050406030204" pitchFamily="18" charset="0"/>
                      </a:rPr>
                      <m:t>𝑘</m:t>
                    </m:r>
                  </m:oMath>
                </a14:m>
                <a:r>
                  <a:rPr lang="zh-CN" altLang="zh-CN" kern="100" dirty="0">
                    <a:latin typeface="+mj-ea"/>
                  </a:rPr>
                  <a:t>近邻法</a:t>
                </a:r>
                <a:endParaRPr lang="en-US" altLang="zh-CN" kern="100" dirty="0">
                  <a:latin typeface="+mj-ea"/>
                </a:endParaRPr>
              </a:p>
              <a:p>
                <a:pPr lvl="0" eaLnBrk="1" hangingPunct="1">
                  <a:lnSpc>
                    <a:spcPct val="90000"/>
                  </a:lnSpc>
                  <a:spcBef>
                    <a:spcPct val="40000"/>
                  </a:spcBef>
                  <a:defRPr/>
                </a:pPr>
                <a:r>
                  <a:rPr kumimoji="0" lang="zh-CN" altLang="en-US" kern="100" dirty="0">
                    <a:latin typeface="+mj-ea"/>
                    <a:ea typeface="宋体" panose="02010600030101010101" pitchFamily="2" charset="-122"/>
                  </a:rPr>
                  <a:t>支持向量机</a:t>
                </a:r>
                <a:endParaRPr kumimoji="0" lang="en-US" altLang="zh-CN" dirty="0">
                  <a:latin typeface="Arial" panose="020B0604020202020204"/>
                  <a:ea typeface="宋体" panose="02010600030101010101" pitchFamily="2" charset="-122"/>
                </a:endParaRPr>
              </a:p>
              <a:p>
                <a:pPr marL="0" marR="0" lvl="0" indent="0" algn="l" defTabSz="914400" rtl="0" eaLnBrk="1" fontAlgn="ctr" latinLnBrk="0" hangingPunct="1">
                  <a:lnSpc>
                    <a:spcPct val="90000"/>
                  </a:lnSpc>
                  <a:spcBef>
                    <a:spcPct val="40000"/>
                  </a:spcBef>
                  <a:spcAft>
                    <a:spcPct val="0"/>
                  </a:spcAft>
                  <a:buClr>
                    <a:srgbClr val="E46B1F"/>
                  </a:buClr>
                  <a:buSzPct val="80000"/>
                  <a:buNone/>
                  <a:defRPr/>
                </a:pP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mc:Choice>
        <mc:Fallback>
          <p:sp>
            <p:nvSpPr>
              <p:cNvPr id="7" name="Rectangle 3"/>
              <p:cNvSpPr txBox="1">
                <a:spLocks noRot="1" noChangeAspect="1" noMove="1" noResize="1" noEditPoints="1" noAdjustHandles="1" noChangeArrowheads="1" noChangeShapeType="1" noTextEdit="1"/>
              </p:cNvSpPr>
              <p:nvPr/>
            </p:nvSpPr>
            <p:spPr bwMode="auto">
              <a:xfrm>
                <a:off x="395536" y="1484784"/>
                <a:ext cx="7416824" cy="4060825"/>
              </a:xfrm>
              <a:prstGeom prst="rect">
                <a:avLst/>
              </a:prstGeom>
              <a:blipFill rotWithShape="1">
                <a:blip r:embed="rId1"/>
                <a:stretch>
                  <a:fillRect l="-8" t="-4" r="8" b="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统计分析</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964680" y="1340768"/>
            <a:ext cx="7444308" cy="4562253"/>
          </a:xfrm>
        </p:spPr>
        <p:txBody>
          <a:bodyPr>
            <a:noAutofit/>
          </a:bodyPr>
          <a:lstStyle/>
          <a:p>
            <a:pPr>
              <a:buClr>
                <a:schemeClr val="tx1"/>
              </a:buClr>
              <a:buFont typeface="Wingdings" panose="05000000000000000000" pitchFamily="2" charset="2"/>
              <a:buChar char="l"/>
            </a:pPr>
            <a:r>
              <a:rPr lang="zh-CN" altLang="en-US" sz="2200" b="0" i="0" u="none" strike="noStrike" baseline="0" dirty="0">
                <a:latin typeface="Wingdings" panose="05000000000000000000" pitchFamily="2" charset="2"/>
              </a:rPr>
              <a:t>回归分析是统计学的重要方法。</a:t>
            </a:r>
            <a:endParaRPr lang="zh-CN" altLang="en-US" sz="2200" b="0" i="0" u="none" strike="noStrike" baseline="0" dirty="0">
              <a:latin typeface="Wingdings" panose="05000000000000000000" pitchFamily="2" charset="2"/>
            </a:endParaRPr>
          </a:p>
          <a:p>
            <a:pPr>
              <a:buClr>
                <a:schemeClr val="tx1"/>
              </a:buClr>
              <a:buFont typeface="Wingdings" panose="05000000000000000000" pitchFamily="2" charset="2"/>
              <a:buChar char="l"/>
            </a:pPr>
            <a:r>
              <a:rPr lang="zh-CN" altLang="en-US" sz="2200" b="0" i="0" u="none" strike="noStrike" baseline="0" dirty="0">
                <a:latin typeface="Wingdings" panose="05000000000000000000" pitchFamily="2" charset="2"/>
              </a:rPr>
              <a:t>统计学是研究如何搜集资料、整理资料和进行量化分析、推断的一门科学，在科学计算、工业和金融等领域有着重要应用，统计分析是机器学习的基本方法。</a:t>
            </a:r>
            <a:endParaRPr lang="zh-CN" altLang="en-US" sz="2200" b="0" i="0" u="none" strike="noStrike" baseline="0" dirty="0">
              <a:latin typeface="Wingdings" panose="05000000000000000000" pitchFamily="2" charset="2"/>
            </a:endParaRPr>
          </a:p>
          <a:p>
            <a:pPr>
              <a:buClr>
                <a:schemeClr val="tx1"/>
              </a:buClr>
              <a:buFont typeface="Wingdings" panose="05000000000000000000" pitchFamily="2" charset="2"/>
              <a:buChar char="l"/>
            </a:pPr>
            <a:r>
              <a:rPr lang="zh-CN" altLang="en-US" sz="2200" b="0" i="0" u="none" strike="noStrike" baseline="0" dirty="0">
                <a:latin typeface="Wingdings" panose="05000000000000000000" pitchFamily="2" charset="2"/>
              </a:rPr>
              <a:t>与统计分析相关的基本概念有以下几个</a:t>
            </a:r>
            <a:endParaRPr lang="zh-CN" altLang="en-US" sz="2200" b="0" i="0" u="none" strike="noStrike" baseline="0" dirty="0">
              <a:latin typeface="Wingdings" panose="05000000000000000000" pitchFamily="2" charset="2"/>
            </a:endParaRPr>
          </a:p>
          <a:p>
            <a:pPr marL="635000" lvl="1" indent="-342900">
              <a:buClr>
                <a:schemeClr val="tx1"/>
              </a:buClr>
              <a:buFont typeface="Wingdings" panose="05000000000000000000" pitchFamily="2" charset="2"/>
              <a:buChar char="ü"/>
            </a:pPr>
            <a:r>
              <a:rPr lang="zh-CN" altLang="en-US" sz="2200" b="0" i="0" u="none" strike="noStrike" baseline="0" dirty="0">
                <a:latin typeface="Wingdings" panose="05000000000000000000" pitchFamily="2" charset="2"/>
              </a:rPr>
              <a:t>总体：根据定目的确定的所要研究事物的全体</a:t>
            </a:r>
            <a:endParaRPr lang="zh-CN" altLang="en-US" sz="2200" b="0" i="0" u="none" strike="noStrike" baseline="0" dirty="0">
              <a:latin typeface="Wingdings" panose="05000000000000000000" pitchFamily="2" charset="2"/>
            </a:endParaRPr>
          </a:p>
          <a:p>
            <a:pPr marL="635000" lvl="1" indent="-342900">
              <a:buClr>
                <a:schemeClr val="tx1"/>
              </a:buClr>
              <a:buFont typeface="Wingdings" panose="05000000000000000000" pitchFamily="2" charset="2"/>
              <a:buChar char="ü"/>
            </a:pPr>
            <a:r>
              <a:rPr lang="zh-CN" altLang="en-US" sz="2200" b="0" i="0" u="none" strike="noStrike" baseline="0" dirty="0">
                <a:latin typeface="Wingdings" panose="05000000000000000000" pitchFamily="2" charset="2"/>
              </a:rPr>
              <a:t>样本：从总体中随机抽取的若干个体构成的集合</a:t>
            </a:r>
            <a:endParaRPr lang="zh-CN" altLang="en-US" sz="2200" b="0" i="0" u="none" strike="noStrike" baseline="0" dirty="0">
              <a:latin typeface="Wingdings" panose="05000000000000000000" pitchFamily="2" charset="2"/>
            </a:endParaRPr>
          </a:p>
          <a:p>
            <a:pPr marL="635000" lvl="1" indent="-342900">
              <a:buClr>
                <a:schemeClr val="tx1"/>
              </a:buClr>
              <a:buFont typeface="Wingdings" panose="05000000000000000000" pitchFamily="2" charset="2"/>
              <a:buChar char="ü"/>
            </a:pPr>
            <a:r>
              <a:rPr lang="zh-CN" altLang="en-US" sz="2200" b="0" i="0" u="none" strike="noStrike" baseline="0" dirty="0">
                <a:latin typeface="Wingdings" panose="05000000000000000000" pitchFamily="2" charset="2"/>
              </a:rPr>
              <a:t>推断：以样本所包含的信息为基础对总体的某些特征作出判断、预测和估计</a:t>
            </a:r>
            <a:endParaRPr lang="zh-CN" altLang="en-US" sz="2200" b="0" i="0" u="none" strike="noStrike" baseline="0" dirty="0">
              <a:latin typeface="Wingdings" panose="05000000000000000000" pitchFamily="2" charset="2"/>
            </a:endParaRPr>
          </a:p>
          <a:p>
            <a:pPr marL="635000" lvl="1" indent="-342900">
              <a:buClr>
                <a:schemeClr val="tx1"/>
              </a:buClr>
              <a:buFont typeface="Wingdings" panose="05000000000000000000" pitchFamily="2" charset="2"/>
              <a:buChar char="ü"/>
            </a:pPr>
            <a:r>
              <a:rPr lang="zh-CN" altLang="en-US" sz="2200" b="0" i="0" u="none" strike="noStrike" baseline="0" dirty="0">
                <a:latin typeface="Wingdings" panose="05000000000000000000" pitchFamily="2" charset="2"/>
              </a:rPr>
              <a:t>推断可靠性：对推断结果从概率上的确认，作为决策的重要依据</a:t>
            </a:r>
            <a:endParaRPr lang="zh-CN" altLang="en-US" sz="2200" b="0" i="0" u="none" strike="noStrike" baseline="0" dirty="0">
              <a:latin typeface="Wingdings" panose="05000000000000000000" pitchFamily="2" charset="2"/>
            </a:endParaRPr>
          </a:p>
          <a:p>
            <a:pPr marL="0" indent="0">
              <a:buClr>
                <a:schemeClr val="tx1"/>
              </a:buClr>
              <a:buNone/>
            </a:pPr>
            <a:endParaRPr lang="zh-CN" altLang="en-US" sz="2200" b="0" i="0" u="none" strike="noStrike" baseline="0" dirty="0">
              <a:latin typeface="Wingdings" panose="05000000000000000000" pitchFamily="2" charset="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回归分析</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60" name="矩形 3"/>
          <p:cNvSpPr>
            <a:spLocks noChangeArrowheads="1"/>
          </p:cNvSpPr>
          <p:nvPr/>
        </p:nvSpPr>
        <p:spPr bwMode="auto">
          <a:xfrm>
            <a:off x="822960" y="1241256"/>
            <a:ext cx="7545165" cy="2122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rPr>
              <a:t>分析一个变量与其他一个（或几个）变量之间的相关关系的统计方法就称为回归分析。常见的回归分析包括线性回归（多个自变量就是多元线性回归）、非线性回归、广义线性回归（对数回归、泊松回归）等。回归分析主要内容包括确定连续值变量之间的相关关系，建立回归模型，检验变量之间的</a:t>
            </a:r>
            <a:r>
              <a:rPr kumimoji="1" lang="zh-CN" altLang="en-US" sz="2200" b="0"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rPr>
              <a:t>相关程度</a:t>
            </a:r>
            <a:r>
              <a:rPr kumimoji="1" lang="zh-CN" altLang="en-US"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rPr>
              <a:t>，应用回归模型对变量进行预测等。 </a:t>
            </a:r>
            <a:endParaRPr kumimoji="1" lang="zh-CN" altLang="en-US"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endParaRPr>
          </a:p>
        </p:txBody>
      </p:sp>
      <p:grpSp>
        <p:nvGrpSpPr>
          <p:cNvPr id="61" name="Group 4"/>
          <p:cNvGrpSpPr/>
          <p:nvPr/>
        </p:nvGrpSpPr>
        <p:grpSpPr bwMode="auto">
          <a:xfrm>
            <a:off x="2195335" y="3200499"/>
            <a:ext cx="4604996" cy="3123610"/>
            <a:chOff x="695" y="1569"/>
            <a:chExt cx="4566" cy="2699"/>
          </a:xfrm>
        </p:grpSpPr>
        <p:sp>
          <p:nvSpPr>
            <p:cNvPr id="62" name="Text Box 5"/>
            <p:cNvSpPr txBox="1">
              <a:spLocks noChangeArrowheads="1"/>
            </p:cNvSpPr>
            <p:nvPr/>
          </p:nvSpPr>
          <p:spPr bwMode="auto">
            <a:xfrm>
              <a:off x="951" y="3337"/>
              <a:ext cx="34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$0</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63" name="Text Box 6"/>
            <p:cNvSpPr txBox="1">
              <a:spLocks noChangeArrowheads="1"/>
            </p:cNvSpPr>
            <p:nvPr/>
          </p:nvSpPr>
          <p:spPr bwMode="auto">
            <a:xfrm>
              <a:off x="951" y="2826"/>
              <a:ext cx="451"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$10</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64" name="Oval 7"/>
            <p:cNvSpPr>
              <a:spLocks noChangeArrowheads="1"/>
            </p:cNvSpPr>
            <p:nvPr/>
          </p:nvSpPr>
          <p:spPr bwMode="auto">
            <a:xfrm>
              <a:off x="4253" y="3333"/>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65" name="Oval 8"/>
            <p:cNvSpPr>
              <a:spLocks noChangeArrowheads="1"/>
            </p:cNvSpPr>
            <p:nvPr/>
          </p:nvSpPr>
          <p:spPr bwMode="auto">
            <a:xfrm>
              <a:off x="2079" y="2467"/>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66" name="Oval 9"/>
            <p:cNvSpPr>
              <a:spLocks noChangeArrowheads="1"/>
            </p:cNvSpPr>
            <p:nvPr/>
          </p:nvSpPr>
          <p:spPr bwMode="auto">
            <a:xfrm>
              <a:off x="3855" y="2840"/>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67" name="Oval 10"/>
            <p:cNvSpPr>
              <a:spLocks noChangeArrowheads="1"/>
            </p:cNvSpPr>
            <p:nvPr/>
          </p:nvSpPr>
          <p:spPr bwMode="auto">
            <a:xfrm>
              <a:off x="3456" y="3182"/>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68" name="Oval 11"/>
            <p:cNvSpPr>
              <a:spLocks noChangeArrowheads="1"/>
            </p:cNvSpPr>
            <p:nvPr/>
          </p:nvSpPr>
          <p:spPr bwMode="auto">
            <a:xfrm>
              <a:off x="3353" y="2984"/>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69" name="Oval 12"/>
            <p:cNvSpPr>
              <a:spLocks noChangeArrowheads="1"/>
            </p:cNvSpPr>
            <p:nvPr/>
          </p:nvSpPr>
          <p:spPr bwMode="auto">
            <a:xfrm>
              <a:off x="2397" y="3127"/>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0" name="Oval 13"/>
            <p:cNvSpPr>
              <a:spLocks noChangeArrowheads="1"/>
            </p:cNvSpPr>
            <p:nvPr/>
          </p:nvSpPr>
          <p:spPr bwMode="auto">
            <a:xfrm>
              <a:off x="2668" y="2848"/>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1" name="Oval 14"/>
            <p:cNvSpPr>
              <a:spLocks noChangeArrowheads="1"/>
            </p:cNvSpPr>
            <p:nvPr/>
          </p:nvSpPr>
          <p:spPr bwMode="auto">
            <a:xfrm>
              <a:off x="3926" y="3198"/>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2" name="Oval 15"/>
            <p:cNvSpPr>
              <a:spLocks noChangeArrowheads="1"/>
            </p:cNvSpPr>
            <p:nvPr/>
          </p:nvSpPr>
          <p:spPr bwMode="auto">
            <a:xfrm>
              <a:off x="1952" y="2300"/>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3" name="Oval 16"/>
            <p:cNvSpPr>
              <a:spLocks noChangeArrowheads="1"/>
            </p:cNvSpPr>
            <p:nvPr/>
          </p:nvSpPr>
          <p:spPr bwMode="auto">
            <a:xfrm>
              <a:off x="2182" y="2761"/>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4" name="Oval 17"/>
            <p:cNvSpPr>
              <a:spLocks noChangeArrowheads="1"/>
            </p:cNvSpPr>
            <p:nvPr/>
          </p:nvSpPr>
          <p:spPr bwMode="auto">
            <a:xfrm>
              <a:off x="1825" y="2507"/>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5" name="Line 18"/>
            <p:cNvSpPr>
              <a:spLocks noChangeShapeType="1"/>
            </p:cNvSpPr>
            <p:nvPr/>
          </p:nvSpPr>
          <p:spPr bwMode="auto">
            <a:xfrm>
              <a:off x="1392" y="3952"/>
              <a:ext cx="2923" cy="0"/>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76" name="Oval 19"/>
            <p:cNvSpPr>
              <a:spLocks noChangeArrowheads="1"/>
            </p:cNvSpPr>
            <p:nvPr/>
          </p:nvSpPr>
          <p:spPr bwMode="auto">
            <a:xfrm>
              <a:off x="2581" y="2523"/>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77" name="Line 20"/>
            <p:cNvSpPr>
              <a:spLocks noChangeShapeType="1"/>
            </p:cNvSpPr>
            <p:nvPr/>
          </p:nvSpPr>
          <p:spPr bwMode="auto">
            <a:xfrm flipV="1">
              <a:off x="1392" y="2074"/>
              <a:ext cx="0" cy="1872"/>
            </a:xfrm>
            <a:prstGeom prst="line">
              <a:avLst/>
            </a:prstGeom>
            <a:noFill/>
            <a:ln w="254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78" name="Text Box 21"/>
            <p:cNvSpPr txBox="1">
              <a:spLocks noChangeArrowheads="1"/>
            </p:cNvSpPr>
            <p:nvPr/>
          </p:nvSpPr>
          <p:spPr bwMode="auto">
            <a:xfrm>
              <a:off x="951" y="2278"/>
              <a:ext cx="44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$20</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79" name="Text Box 22"/>
            <p:cNvSpPr txBox="1">
              <a:spLocks noChangeArrowheads="1"/>
            </p:cNvSpPr>
            <p:nvPr/>
          </p:nvSpPr>
          <p:spPr bwMode="auto">
            <a:xfrm>
              <a:off x="695" y="1569"/>
              <a:ext cx="687" cy="5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2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         </a:t>
              </a: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利润</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80" name="Text Box 23"/>
            <p:cNvSpPr txBox="1">
              <a:spLocks noChangeArrowheads="1"/>
            </p:cNvSpPr>
            <p:nvPr/>
          </p:nvSpPr>
          <p:spPr bwMode="auto">
            <a:xfrm>
              <a:off x="4419" y="3910"/>
              <a:ext cx="560"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年龄</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81" name="Text Box 24"/>
            <p:cNvSpPr txBox="1">
              <a:spLocks noChangeArrowheads="1"/>
            </p:cNvSpPr>
            <p:nvPr/>
          </p:nvSpPr>
          <p:spPr bwMode="auto">
            <a:xfrm>
              <a:off x="1847" y="4002"/>
              <a:ext cx="31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20</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82" name="Text Box 25"/>
            <p:cNvSpPr txBox="1">
              <a:spLocks noChangeArrowheads="1"/>
            </p:cNvSpPr>
            <p:nvPr/>
          </p:nvSpPr>
          <p:spPr bwMode="auto">
            <a:xfrm>
              <a:off x="3510" y="4002"/>
              <a:ext cx="35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60</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83" name="Text Box 26"/>
            <p:cNvSpPr txBox="1">
              <a:spLocks noChangeArrowheads="1"/>
            </p:cNvSpPr>
            <p:nvPr/>
          </p:nvSpPr>
          <p:spPr bwMode="auto">
            <a:xfrm>
              <a:off x="2713" y="3997"/>
              <a:ext cx="362"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40</a:t>
              </a:r>
              <a:endParaRPr kumimoji="0" lang="zh-CN" altLang="en-US"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sp>
          <p:nvSpPr>
            <p:cNvPr id="84" name="Oval 27"/>
            <p:cNvSpPr>
              <a:spLocks noChangeArrowheads="1"/>
            </p:cNvSpPr>
            <p:nvPr/>
          </p:nvSpPr>
          <p:spPr bwMode="auto">
            <a:xfrm>
              <a:off x="3775" y="2626"/>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85" name="Oval 28"/>
            <p:cNvSpPr>
              <a:spLocks noChangeArrowheads="1"/>
            </p:cNvSpPr>
            <p:nvPr/>
          </p:nvSpPr>
          <p:spPr bwMode="auto">
            <a:xfrm>
              <a:off x="4149" y="2658"/>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86" name="Oval 29"/>
            <p:cNvSpPr>
              <a:spLocks noChangeArrowheads="1"/>
            </p:cNvSpPr>
            <p:nvPr/>
          </p:nvSpPr>
          <p:spPr bwMode="auto">
            <a:xfrm>
              <a:off x="2979" y="3143"/>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87" name="Oval 30"/>
            <p:cNvSpPr>
              <a:spLocks noChangeArrowheads="1"/>
            </p:cNvSpPr>
            <p:nvPr/>
          </p:nvSpPr>
          <p:spPr bwMode="auto">
            <a:xfrm>
              <a:off x="2684" y="2618"/>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88" name="Oval 31"/>
            <p:cNvSpPr>
              <a:spLocks noChangeArrowheads="1"/>
            </p:cNvSpPr>
            <p:nvPr/>
          </p:nvSpPr>
          <p:spPr bwMode="auto">
            <a:xfrm>
              <a:off x="3186" y="2642"/>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89" name="Oval 32"/>
            <p:cNvSpPr>
              <a:spLocks noChangeArrowheads="1"/>
            </p:cNvSpPr>
            <p:nvPr/>
          </p:nvSpPr>
          <p:spPr bwMode="auto">
            <a:xfrm>
              <a:off x="3026" y="2960"/>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0" name="Oval 33"/>
            <p:cNvSpPr>
              <a:spLocks noChangeArrowheads="1"/>
            </p:cNvSpPr>
            <p:nvPr/>
          </p:nvSpPr>
          <p:spPr bwMode="auto">
            <a:xfrm>
              <a:off x="1919" y="2912"/>
              <a:ext cx="104" cy="97"/>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1" name="Oval 34"/>
            <p:cNvSpPr>
              <a:spLocks noChangeArrowheads="1"/>
            </p:cNvSpPr>
            <p:nvPr/>
          </p:nvSpPr>
          <p:spPr bwMode="auto">
            <a:xfrm>
              <a:off x="2135" y="3063"/>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2" name="Oval 35"/>
            <p:cNvSpPr>
              <a:spLocks noChangeArrowheads="1"/>
            </p:cNvSpPr>
            <p:nvPr/>
          </p:nvSpPr>
          <p:spPr bwMode="auto">
            <a:xfrm>
              <a:off x="2381" y="3723"/>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3" name="Oval 36"/>
            <p:cNvSpPr>
              <a:spLocks noChangeArrowheads="1"/>
            </p:cNvSpPr>
            <p:nvPr/>
          </p:nvSpPr>
          <p:spPr bwMode="auto">
            <a:xfrm>
              <a:off x="2843" y="3460"/>
              <a:ext cx="104" cy="99"/>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4" name="Oval 37"/>
            <p:cNvSpPr>
              <a:spLocks noChangeArrowheads="1"/>
            </p:cNvSpPr>
            <p:nvPr/>
          </p:nvSpPr>
          <p:spPr bwMode="auto">
            <a:xfrm>
              <a:off x="1800" y="3405"/>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5" name="Oval 38"/>
            <p:cNvSpPr>
              <a:spLocks noChangeArrowheads="1"/>
            </p:cNvSpPr>
            <p:nvPr/>
          </p:nvSpPr>
          <p:spPr bwMode="auto">
            <a:xfrm>
              <a:off x="2477" y="1934"/>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6" name="Oval 39"/>
            <p:cNvSpPr>
              <a:spLocks noChangeArrowheads="1"/>
            </p:cNvSpPr>
            <p:nvPr/>
          </p:nvSpPr>
          <p:spPr bwMode="auto">
            <a:xfrm>
              <a:off x="2429" y="2936"/>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7" name="Oval 40"/>
            <p:cNvSpPr>
              <a:spLocks noChangeArrowheads="1"/>
            </p:cNvSpPr>
            <p:nvPr/>
          </p:nvSpPr>
          <p:spPr bwMode="auto">
            <a:xfrm>
              <a:off x="3130" y="2109"/>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8" name="Oval 41"/>
            <p:cNvSpPr>
              <a:spLocks noChangeArrowheads="1"/>
            </p:cNvSpPr>
            <p:nvPr/>
          </p:nvSpPr>
          <p:spPr bwMode="auto">
            <a:xfrm>
              <a:off x="4054" y="2181"/>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99" name="Oval 42"/>
            <p:cNvSpPr>
              <a:spLocks noChangeArrowheads="1"/>
            </p:cNvSpPr>
            <p:nvPr/>
          </p:nvSpPr>
          <p:spPr bwMode="auto">
            <a:xfrm>
              <a:off x="3584" y="3771"/>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100" name="Oval 43"/>
            <p:cNvSpPr>
              <a:spLocks noChangeArrowheads="1"/>
            </p:cNvSpPr>
            <p:nvPr/>
          </p:nvSpPr>
          <p:spPr bwMode="auto">
            <a:xfrm>
              <a:off x="2397" y="2705"/>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101" name="Oval 44"/>
            <p:cNvSpPr>
              <a:spLocks noChangeArrowheads="1"/>
            </p:cNvSpPr>
            <p:nvPr/>
          </p:nvSpPr>
          <p:spPr bwMode="auto">
            <a:xfrm>
              <a:off x="2684" y="3079"/>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102" name="Oval 45"/>
            <p:cNvSpPr>
              <a:spLocks noChangeArrowheads="1"/>
            </p:cNvSpPr>
            <p:nvPr/>
          </p:nvSpPr>
          <p:spPr bwMode="auto">
            <a:xfrm>
              <a:off x="3026" y="2999"/>
              <a:ext cx="104"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103" name="Oval 46"/>
            <p:cNvSpPr>
              <a:spLocks noChangeArrowheads="1"/>
            </p:cNvSpPr>
            <p:nvPr/>
          </p:nvSpPr>
          <p:spPr bwMode="auto">
            <a:xfrm>
              <a:off x="3759" y="2737"/>
              <a:ext cx="103" cy="98"/>
            </a:xfrm>
            <a:prstGeom prst="ellipse">
              <a:avLst/>
            </a:prstGeom>
            <a:gradFill rotWithShape="0">
              <a:gsLst>
                <a:gs pos="0">
                  <a:srgbClr val="FFFFFF"/>
                </a:gs>
                <a:gs pos="100000">
                  <a:srgbClr val="00CE00"/>
                </a:gs>
              </a:gsLst>
              <a:path path="shape">
                <a:fillToRect l="50000" t="50000" r="50000" b="50000"/>
              </a:path>
            </a:gradFill>
            <a:ln w="25400">
              <a:solidFill>
                <a:srgbClr val="400097"/>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1" fontAlgn="auto" latinLnBrk="0" hangingPunct="1">
                <a:lnSpc>
                  <a:spcPct val="100000"/>
                </a:lnSpc>
                <a:spcBef>
                  <a:spcPts val="0"/>
                </a:spcBef>
                <a:spcAft>
                  <a:spcPts val="0"/>
                </a:spcAft>
                <a:buClrTx/>
                <a:buSzTx/>
                <a:buFontTx/>
                <a:buNone/>
                <a:defRPr/>
              </a:pPr>
              <a:endParaRPr kumimoji="1" lang="zh-CN" altLang="en-US" sz="750" b="0" i="0" u="none" strike="noStrike" kern="0" cap="none" spc="0" normalizeH="0" baseline="0" noProof="0">
                <a:ln>
                  <a:noFill/>
                </a:ln>
                <a:solidFill>
                  <a:prstClr val="black"/>
                </a:solidFill>
                <a:effectLst/>
                <a:uLnTx/>
                <a:uFillTx/>
                <a:latin typeface="Tahoma" panose="020B0604030504040204" pitchFamily="34" charset="0"/>
                <a:ea typeface="宋体" panose="02010600030101010101" pitchFamily="2" charset="-122"/>
              </a:endParaRPr>
            </a:p>
          </p:txBody>
        </p:sp>
        <p:sp>
          <p:nvSpPr>
            <p:cNvPr id="104" name="Line 47"/>
            <p:cNvSpPr>
              <a:spLocks noChangeShapeType="1"/>
            </p:cNvSpPr>
            <p:nvPr/>
          </p:nvSpPr>
          <p:spPr bwMode="auto">
            <a:xfrm>
              <a:off x="1488" y="2602"/>
              <a:ext cx="2978" cy="612"/>
            </a:xfrm>
            <a:prstGeom prst="line">
              <a:avLst/>
            </a:prstGeom>
            <a:noFill/>
            <a:ln w="635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105" name="Line 48"/>
            <p:cNvSpPr>
              <a:spLocks noChangeShapeType="1"/>
            </p:cNvSpPr>
            <p:nvPr/>
          </p:nvSpPr>
          <p:spPr bwMode="auto">
            <a:xfrm>
              <a:off x="3184" y="2219"/>
              <a:ext cx="0" cy="731"/>
            </a:xfrm>
            <a:prstGeom prst="line">
              <a:avLst/>
            </a:prstGeom>
            <a:noFill/>
            <a:ln w="50800">
              <a:solidFill>
                <a:srgbClr val="E2208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106" name="Line 49"/>
            <p:cNvSpPr>
              <a:spLocks noChangeShapeType="1"/>
            </p:cNvSpPr>
            <p:nvPr/>
          </p:nvSpPr>
          <p:spPr bwMode="auto">
            <a:xfrm flipV="1">
              <a:off x="2180" y="2759"/>
              <a:ext cx="0" cy="295"/>
            </a:xfrm>
            <a:prstGeom prst="line">
              <a:avLst/>
            </a:prstGeom>
            <a:noFill/>
            <a:ln w="50800">
              <a:solidFill>
                <a:srgbClr val="E2208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107" name="Line 50"/>
            <p:cNvSpPr>
              <a:spLocks noChangeShapeType="1"/>
            </p:cNvSpPr>
            <p:nvPr/>
          </p:nvSpPr>
          <p:spPr bwMode="auto">
            <a:xfrm flipV="1">
              <a:off x="2634" y="2614"/>
              <a:ext cx="0" cy="195"/>
            </a:xfrm>
            <a:prstGeom prst="line">
              <a:avLst/>
            </a:prstGeom>
            <a:noFill/>
            <a:ln w="50800">
              <a:solidFill>
                <a:srgbClr val="E2208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108" name="Line 51"/>
            <p:cNvSpPr>
              <a:spLocks noChangeShapeType="1"/>
            </p:cNvSpPr>
            <p:nvPr/>
          </p:nvSpPr>
          <p:spPr bwMode="auto">
            <a:xfrm flipV="1">
              <a:off x="3502" y="2980"/>
              <a:ext cx="0" cy="195"/>
            </a:xfrm>
            <a:prstGeom prst="line">
              <a:avLst/>
            </a:prstGeom>
            <a:noFill/>
            <a:ln w="50800">
              <a:solidFill>
                <a:srgbClr val="E22081"/>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109" name="Freeform 52"/>
            <p:cNvSpPr/>
            <p:nvPr/>
          </p:nvSpPr>
          <p:spPr bwMode="auto">
            <a:xfrm>
              <a:off x="3215" y="2402"/>
              <a:ext cx="837" cy="95"/>
            </a:xfrm>
            <a:custGeom>
              <a:avLst/>
              <a:gdLst>
                <a:gd name="T0" fmla="*/ 0 w 837"/>
                <a:gd name="T1" fmla="*/ 87 h 95"/>
                <a:gd name="T2" fmla="*/ 9 w 837"/>
                <a:gd name="T3" fmla="*/ 79 h 95"/>
                <a:gd name="T4" fmla="*/ 645 w 837"/>
                <a:gd name="T5" fmla="*/ 0 h 95"/>
                <a:gd name="T6" fmla="*/ 494 w 837"/>
                <a:gd name="T7" fmla="*/ 95 h 95"/>
                <a:gd name="T8" fmla="*/ 837 w 837"/>
                <a:gd name="T9" fmla="*/ 71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37" h="95">
                  <a:moveTo>
                    <a:pt x="0" y="87"/>
                  </a:moveTo>
                  <a:lnTo>
                    <a:pt x="9" y="79"/>
                  </a:lnTo>
                  <a:lnTo>
                    <a:pt x="645" y="0"/>
                  </a:lnTo>
                  <a:lnTo>
                    <a:pt x="494" y="95"/>
                  </a:lnTo>
                  <a:lnTo>
                    <a:pt x="837" y="71"/>
                  </a:lnTo>
                </a:path>
              </a:pathLst>
            </a:custGeom>
            <a:noFill/>
            <a:ln w="25400">
              <a:solidFill>
                <a:srgbClr val="000000"/>
              </a:solidFill>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457200" eaLnBrk="1" fontAlgn="auto" latinLnBrk="0" hangingPunct="1">
                <a:lnSpc>
                  <a:spcPct val="100000"/>
                </a:lnSpc>
                <a:spcBef>
                  <a:spcPts val="0"/>
                </a:spcBef>
                <a:spcAft>
                  <a:spcPts val="0"/>
                </a:spcAft>
                <a:buClrTx/>
                <a:buSzTx/>
                <a:buFontTx/>
                <a:buNone/>
                <a:defRPr/>
              </a:pPr>
              <a:endParaRPr kumimoji="0" lang="zh-CN" altLang="en-US" sz="75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110" name="Text Box 53"/>
            <p:cNvSpPr txBox="1">
              <a:spLocks noChangeArrowheads="1"/>
            </p:cNvSpPr>
            <p:nvPr/>
          </p:nvSpPr>
          <p:spPr bwMode="auto">
            <a:xfrm>
              <a:off x="4185" y="2308"/>
              <a:ext cx="1076"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marR="0" lvl="0" indent="0" defTabSz="457200" eaLnBrk="0" fontAlgn="auto" latinLnBrk="0" hangingPunct="0">
                <a:lnSpc>
                  <a:spcPct val="100000"/>
                </a:lnSpc>
                <a:spcBef>
                  <a:spcPts val="0"/>
                </a:spcBef>
                <a:spcAft>
                  <a:spcPct val="15000"/>
                </a:spcAft>
                <a:buClrTx/>
                <a:buSzTx/>
                <a:buFontTx/>
                <a:buNone/>
                <a:defRPr/>
              </a:pPr>
              <a:r>
                <a:rPr kumimoji="0" lang="en-US" altLang="zh-CN"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rPr>
                <a:t>minimize</a:t>
              </a:r>
              <a:endParaRPr kumimoji="0" lang="en-US" altLang="zh-CN" sz="2000" b="0" i="0" u="none" strike="noStrike" kern="0" cap="none" spc="0" normalizeH="0" baseline="0" noProof="0" dirty="0">
                <a:ln>
                  <a:noFill/>
                </a:ln>
                <a:solidFill>
                  <a:srgbClr val="400097"/>
                </a:solidFill>
                <a:effectLst/>
                <a:uLnTx/>
                <a:uFillTx/>
                <a:latin typeface="Times New Roman" panose="02020603050405020304" pitchFamily="18" charset="0"/>
                <a:ea typeface="宋体" panose="02010600030101010101" pitchFamily="2" charset="-122"/>
              </a:endParaRPr>
            </a:p>
          </p:txBody>
        </p:sp>
      </p:grpSp>
      <p:sp>
        <p:nvSpPr>
          <p:cNvPr id="111" name="TextBox 1"/>
          <p:cNvSpPr txBox="1"/>
          <p:nvPr/>
        </p:nvSpPr>
        <p:spPr>
          <a:xfrm>
            <a:off x="6709904" y="4470747"/>
            <a:ext cx="1839209" cy="769441"/>
          </a:xfrm>
          <a:prstGeom prst="rect">
            <a:avLst/>
          </a:prstGeom>
          <a:noFill/>
          <a:ln>
            <a:noFill/>
          </a:ln>
        </p:spPr>
        <p:txBody>
          <a:bodyPr wrap="square" rtlCol="0">
            <a:spAutoFit/>
          </a:bodyPr>
          <a:lstStyle/>
          <a:p>
            <a:pPr defTabSz="457200"/>
            <a:r>
              <a:rPr lang="zh-CN" altLang="en-US" sz="2200" dirty="0">
                <a:solidFill>
                  <a:srgbClr val="FF0000"/>
                </a:solidFill>
                <a:latin typeface="Calibri" panose="020F0502020204030204" pitchFamily="34" charset="0"/>
              </a:rPr>
              <a:t>客户利润和年龄的关系</a:t>
            </a:r>
            <a:endParaRPr lang="zh-CN" altLang="en-US" sz="2200" dirty="0">
              <a:solidFill>
                <a:srgbClr val="FF0000"/>
              </a:solidFill>
              <a:latin typeface="Calibri" panose="020F0502020204030204" pitchFamily="34" charset="0"/>
            </a:endParaRPr>
          </a:p>
        </p:txBody>
      </p:sp>
      <p:pic>
        <p:nvPicPr>
          <p:cNvPr id="3" name="图片 2"/>
          <p:cNvPicPr>
            <a:picLocks noChangeAspect="1"/>
          </p:cNvPicPr>
          <p:nvPr/>
        </p:nvPicPr>
        <p:blipFill>
          <a:blip r:embed="rId1"/>
          <a:stretch>
            <a:fillRect/>
          </a:stretch>
        </p:blipFill>
        <p:spPr>
          <a:xfrm>
            <a:off x="3833495" y="3295650"/>
            <a:ext cx="1476375" cy="2667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49530" y="3138805"/>
            <a:ext cx="1391285" cy="356235"/>
          </a:xfrm>
        </p:spPr>
        <p:txBody>
          <a:bodyPr/>
          <a:p>
            <a:r>
              <a:rPr lang="zh-CN" altLang="en-US"/>
              <a:t>回归分析</a:t>
            </a:r>
            <a:endParaRPr lang="zh-CN" altLang="en-US"/>
          </a:p>
        </p:txBody>
      </p:sp>
      <p:sp>
        <p:nvSpPr>
          <p:cNvPr id="4" name="灯片编号占位符 3"/>
          <p:cNvSpPr>
            <a:spLocks noGrp="1"/>
          </p:cNvSpPr>
          <p:nvPr>
            <p:ph type="sldNum" sz="quarter" idx="10"/>
          </p:nvPr>
        </p:nvSpPr>
        <p:spPr>
          <a:xfrm>
            <a:off x="8162608" y="6492558"/>
            <a:ext cx="984250" cy="365125"/>
          </a:xfrm>
        </p:spPr>
        <p:txBody>
          <a:bodyPr/>
          <a:p>
            <a:pPr>
              <a:defRPr/>
            </a:pPr>
            <a:fld id="{F6DA434B-3FE0-453D-8E32-922B8A93A0FC}" type="slidenum">
              <a:rPr lang="en-US" altLang="zh-CN"/>
            </a:fld>
            <a:endParaRPr lang="en-US" altLang="zh-CN"/>
          </a:p>
        </p:txBody>
      </p:sp>
      <p:sp>
        <p:nvSpPr>
          <p:cNvPr id="6" name="左大括号 5"/>
          <p:cNvSpPr/>
          <p:nvPr>
            <p:custDataLst>
              <p:tags r:id="rId2"/>
            </p:custDataLst>
          </p:nvPr>
        </p:nvSpPr>
        <p:spPr>
          <a:xfrm>
            <a:off x="1035685" y="1101090"/>
            <a:ext cx="431800" cy="426339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内容占位符 2"/>
          <p:cNvSpPr>
            <a:spLocks noGrp="1"/>
          </p:cNvSpPr>
          <p:nvPr>
            <p:custDataLst>
              <p:tags r:id="rId3"/>
            </p:custDataLst>
          </p:nvPr>
        </p:nvSpPr>
        <p:spPr>
          <a:xfrm>
            <a:off x="1539240" y="982980"/>
            <a:ext cx="1235710" cy="405130"/>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a:t>线性回归</a:t>
            </a:r>
            <a:endParaRPr lang="zh-CN" altLang="en-US"/>
          </a:p>
          <a:p>
            <a:pPr marL="0" indent="0">
              <a:buNone/>
            </a:pPr>
            <a:endParaRPr lang="zh-CN" altLang="en-US" sz="1600"/>
          </a:p>
        </p:txBody>
      </p:sp>
      <p:sp>
        <p:nvSpPr>
          <p:cNvPr id="8" name="内容占位符 2"/>
          <p:cNvSpPr>
            <a:spLocks noGrp="1"/>
          </p:cNvSpPr>
          <p:nvPr>
            <p:custDataLst>
              <p:tags r:id="rId4"/>
            </p:custDataLst>
          </p:nvPr>
        </p:nvSpPr>
        <p:spPr>
          <a:xfrm>
            <a:off x="1250950" y="3070225"/>
            <a:ext cx="1584325" cy="440690"/>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a:t>非线性回归</a:t>
            </a:r>
            <a:endParaRPr lang="zh-CN" altLang="en-US"/>
          </a:p>
        </p:txBody>
      </p:sp>
      <p:sp>
        <p:nvSpPr>
          <p:cNvPr id="9" name="内容占位符 2"/>
          <p:cNvSpPr>
            <a:spLocks noGrp="1"/>
          </p:cNvSpPr>
          <p:nvPr>
            <p:custDataLst>
              <p:tags r:id="rId5"/>
            </p:custDataLst>
          </p:nvPr>
        </p:nvSpPr>
        <p:spPr>
          <a:xfrm>
            <a:off x="1466850" y="5193030"/>
            <a:ext cx="166370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r>
              <a:rPr lang="zh-CN" altLang="en-US"/>
              <a:t>广义线性回归</a:t>
            </a:r>
            <a:endParaRPr lang="zh-CN" altLang="en-US"/>
          </a:p>
        </p:txBody>
      </p:sp>
      <p:sp>
        <p:nvSpPr>
          <p:cNvPr id="10" name="左大括号 9"/>
          <p:cNvSpPr/>
          <p:nvPr>
            <p:custDataLst>
              <p:tags r:id="rId6"/>
            </p:custDataLst>
          </p:nvPr>
        </p:nvSpPr>
        <p:spPr>
          <a:xfrm>
            <a:off x="2620010" y="806450"/>
            <a:ext cx="167005" cy="842010"/>
          </a:xfrm>
          <a:prstGeom prst="leftBrace">
            <a:avLst>
              <a:gd name="adj1" fmla="val 156893"/>
              <a:gd name="adj2" fmla="val 50000"/>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内容占位符 2"/>
          <p:cNvSpPr>
            <a:spLocks noGrp="1"/>
          </p:cNvSpPr>
          <p:nvPr>
            <p:custDataLst>
              <p:tags r:id="rId7"/>
            </p:custDataLst>
          </p:nvPr>
        </p:nvSpPr>
        <p:spPr>
          <a:xfrm>
            <a:off x="2835275" y="563880"/>
            <a:ext cx="423545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sz="1800"/>
              <a:t>一元线性回归：</a:t>
            </a:r>
            <a:r>
              <a:rPr lang="en-US" altLang="zh-CN" sz="1800"/>
              <a:t>1</a:t>
            </a:r>
            <a:r>
              <a:rPr lang="zh-CN" altLang="en-US" sz="1800"/>
              <a:t>个自变量</a:t>
            </a:r>
            <a:endParaRPr lang="zh-CN" altLang="en-US" sz="1800"/>
          </a:p>
        </p:txBody>
      </p:sp>
      <p:sp>
        <p:nvSpPr>
          <p:cNvPr id="12" name="内容占位符 2"/>
          <p:cNvSpPr>
            <a:spLocks noGrp="1"/>
          </p:cNvSpPr>
          <p:nvPr>
            <p:custDataLst>
              <p:tags r:id="rId8"/>
            </p:custDataLst>
          </p:nvPr>
        </p:nvSpPr>
        <p:spPr>
          <a:xfrm>
            <a:off x="2811780" y="1268730"/>
            <a:ext cx="456438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sz="1800"/>
              <a:t>多元线性回归：多个自变量</a:t>
            </a:r>
            <a:endParaRPr lang="zh-CN" altLang="en-US" sz="1800"/>
          </a:p>
        </p:txBody>
      </p:sp>
      <p:sp>
        <p:nvSpPr>
          <p:cNvPr id="13" name="内容占位符 2"/>
          <p:cNvSpPr>
            <a:spLocks noGrp="1"/>
          </p:cNvSpPr>
          <p:nvPr>
            <p:custDataLst>
              <p:tags r:id="rId9"/>
            </p:custDataLst>
          </p:nvPr>
        </p:nvSpPr>
        <p:spPr>
          <a:xfrm>
            <a:off x="1341755" y="1839595"/>
            <a:ext cx="152527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endParaRPr lang="zh-CN" altLang="en-US" sz="1600">
              <a:sym typeface="+mn-ea"/>
            </a:endParaRPr>
          </a:p>
        </p:txBody>
      </p:sp>
      <p:pic>
        <p:nvPicPr>
          <p:cNvPr id="14" name="图片 13"/>
          <p:cNvPicPr>
            <a:picLocks noChangeAspect="1"/>
          </p:cNvPicPr>
          <p:nvPr/>
        </p:nvPicPr>
        <p:blipFill>
          <a:blip r:embed="rId10"/>
          <a:srcRect t="29057" b="21272"/>
          <a:stretch>
            <a:fillRect/>
          </a:stretch>
        </p:blipFill>
        <p:spPr>
          <a:xfrm>
            <a:off x="3051175" y="206375"/>
            <a:ext cx="2529840" cy="287655"/>
          </a:xfrm>
          <a:prstGeom prst="rect">
            <a:avLst/>
          </a:prstGeom>
        </p:spPr>
      </p:pic>
      <p:pic>
        <p:nvPicPr>
          <p:cNvPr id="15" name="图片 14"/>
          <p:cNvPicPr>
            <a:picLocks noChangeAspect="1"/>
          </p:cNvPicPr>
          <p:nvPr/>
        </p:nvPicPr>
        <p:blipFill>
          <a:blip r:embed="rId11"/>
          <a:srcRect t="12816" b="18671"/>
          <a:stretch>
            <a:fillRect/>
          </a:stretch>
        </p:blipFill>
        <p:spPr>
          <a:xfrm>
            <a:off x="2763520" y="989965"/>
            <a:ext cx="3638550" cy="274955"/>
          </a:xfrm>
          <a:prstGeom prst="rect">
            <a:avLst/>
          </a:prstGeom>
        </p:spPr>
      </p:pic>
      <p:sp>
        <p:nvSpPr>
          <p:cNvPr id="16" name="右大括号 15"/>
          <p:cNvSpPr/>
          <p:nvPr/>
        </p:nvSpPr>
        <p:spPr>
          <a:xfrm>
            <a:off x="6363335" y="335280"/>
            <a:ext cx="215900" cy="15119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7" name="内容占位符 2"/>
          <p:cNvSpPr>
            <a:spLocks noGrp="1"/>
          </p:cNvSpPr>
          <p:nvPr>
            <p:custDataLst>
              <p:tags r:id="rId12"/>
            </p:custDataLst>
          </p:nvPr>
        </p:nvSpPr>
        <p:spPr>
          <a:xfrm>
            <a:off x="6723380" y="250825"/>
            <a:ext cx="2072640" cy="205676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zh-CN" altLang="en-US">
                <a:sym typeface="+mn-ea"/>
              </a:rPr>
              <a:t>对参数线性</a:t>
            </a:r>
            <a:endParaRPr lang="zh-CN" altLang="en-US">
              <a:sym typeface="+mn-ea"/>
            </a:endParaRPr>
          </a:p>
          <a:p>
            <a:pPr>
              <a:buFont typeface="Arial" panose="020B0604020202020204" pitchFamily="34" charset="0"/>
              <a:buChar char="•"/>
            </a:pPr>
            <a:r>
              <a:rPr lang="zh-CN" altLang="en-US">
                <a:sym typeface="+mn-ea"/>
              </a:rPr>
              <a:t>因变量连续</a:t>
            </a:r>
            <a:endParaRPr lang="zh-CN" altLang="en-US">
              <a:sym typeface="+mn-ea"/>
            </a:endParaRPr>
          </a:p>
          <a:p>
            <a:pPr>
              <a:buFont typeface="Arial" panose="020B0604020202020204" pitchFamily="34" charset="0"/>
              <a:buChar char="•"/>
            </a:pPr>
            <a:r>
              <a:rPr lang="zh-CN" altLang="en-US">
                <a:sym typeface="+mn-ea"/>
              </a:rPr>
              <a:t>误差项服从正态分布</a:t>
            </a:r>
            <a:endParaRPr lang="zh-CN" altLang="en-US">
              <a:sym typeface="+mn-ea"/>
            </a:endParaRPr>
          </a:p>
          <a:p>
            <a:pPr algn="l">
              <a:buSzTx/>
              <a:buFont typeface="Arial" panose="020B0604020202020204" pitchFamily="34" charset="0"/>
              <a:buChar char="•"/>
            </a:pPr>
            <a:r>
              <a:rPr lang="zh-CN" altLang="en-US" sz="2000"/>
              <a:t>最小二乘法求解</a:t>
            </a:r>
            <a:endParaRPr lang="zh-CN" altLang="en-US" sz="2000"/>
          </a:p>
        </p:txBody>
      </p:sp>
      <p:sp>
        <p:nvSpPr>
          <p:cNvPr id="19" name="右大括号 18"/>
          <p:cNvSpPr/>
          <p:nvPr/>
        </p:nvSpPr>
        <p:spPr>
          <a:xfrm>
            <a:off x="6395085" y="2499995"/>
            <a:ext cx="215900" cy="15119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0" name="内容占位符 2"/>
          <p:cNvSpPr>
            <a:spLocks noGrp="1"/>
          </p:cNvSpPr>
          <p:nvPr>
            <p:custDataLst>
              <p:tags r:id="rId13"/>
            </p:custDataLst>
          </p:nvPr>
        </p:nvSpPr>
        <p:spPr>
          <a:xfrm>
            <a:off x="6610985" y="2591435"/>
            <a:ext cx="2286635" cy="142049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gn="l">
              <a:buSzTx/>
              <a:buFont typeface="Arial" panose="020B0604020202020204" pitchFamily="34" charset="0"/>
              <a:buChar char="•"/>
            </a:pPr>
            <a:r>
              <a:rPr lang="zh-CN" altLang="en-US">
                <a:sym typeface="+mn-ea"/>
              </a:rPr>
              <a:t>对参数不是线性的</a:t>
            </a:r>
            <a:endParaRPr lang="zh-CN" altLang="en-US">
              <a:sym typeface="+mn-ea"/>
            </a:endParaRPr>
          </a:p>
          <a:p>
            <a:pPr algn="l">
              <a:buSzTx/>
              <a:buFont typeface="Arial" panose="020B0604020202020204" pitchFamily="34" charset="0"/>
              <a:buChar char="•"/>
            </a:pPr>
            <a:r>
              <a:rPr lang="zh-CN" altLang="en-US"/>
              <a:t>非线性最小二乘</a:t>
            </a:r>
            <a:r>
              <a:rPr lang="en-US" altLang="zh-CN"/>
              <a:t>+</a:t>
            </a:r>
            <a:r>
              <a:rPr lang="zh-CN" altLang="en-US"/>
              <a:t>梯度下降、牛顿法、极大似然</a:t>
            </a:r>
            <a:r>
              <a:rPr lang="zh-CN" altLang="en-US" b="1">
                <a:solidFill>
                  <a:srgbClr val="FF0000"/>
                </a:solidFill>
              </a:rPr>
              <a:t>迭代</a:t>
            </a:r>
            <a:r>
              <a:rPr lang="zh-CN" altLang="en-US"/>
              <a:t>求解</a:t>
            </a:r>
            <a:endParaRPr lang="zh-CN" altLang="en-US"/>
          </a:p>
        </p:txBody>
      </p:sp>
      <p:sp>
        <p:nvSpPr>
          <p:cNvPr id="21" name="左大括号 20"/>
          <p:cNvSpPr/>
          <p:nvPr>
            <p:custDataLst>
              <p:tags r:id="rId14"/>
            </p:custDataLst>
          </p:nvPr>
        </p:nvSpPr>
        <p:spPr>
          <a:xfrm>
            <a:off x="2620010" y="2845435"/>
            <a:ext cx="167005" cy="842010"/>
          </a:xfrm>
          <a:prstGeom prst="leftBrace">
            <a:avLst>
              <a:gd name="adj1" fmla="val 156893"/>
              <a:gd name="adj2" fmla="val 50000"/>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2" name="内容占位符 2"/>
          <p:cNvSpPr>
            <a:spLocks noGrp="1"/>
          </p:cNvSpPr>
          <p:nvPr>
            <p:custDataLst>
              <p:tags r:id="rId15"/>
            </p:custDataLst>
          </p:nvPr>
        </p:nvSpPr>
        <p:spPr>
          <a:xfrm>
            <a:off x="2835275" y="2584450"/>
            <a:ext cx="423545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a:t>一元非线性回归：</a:t>
            </a:r>
            <a:r>
              <a:rPr lang="en-US" altLang="zh-CN"/>
              <a:t>1</a:t>
            </a:r>
            <a:r>
              <a:rPr lang="zh-CN" altLang="en-US"/>
              <a:t>个自变量</a:t>
            </a:r>
            <a:endParaRPr lang="zh-CN" altLang="en-US"/>
          </a:p>
        </p:txBody>
      </p:sp>
      <p:sp>
        <p:nvSpPr>
          <p:cNvPr id="23" name="内容占位符 2"/>
          <p:cNvSpPr>
            <a:spLocks noGrp="1"/>
          </p:cNvSpPr>
          <p:nvPr>
            <p:custDataLst>
              <p:tags r:id="rId16"/>
            </p:custDataLst>
          </p:nvPr>
        </p:nvSpPr>
        <p:spPr>
          <a:xfrm>
            <a:off x="2835275" y="3510915"/>
            <a:ext cx="456438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a:t>多元非线性回归：多个自变量</a:t>
            </a:r>
            <a:endParaRPr lang="zh-CN" altLang="en-US"/>
          </a:p>
        </p:txBody>
      </p:sp>
      <p:sp>
        <p:nvSpPr>
          <p:cNvPr id="27" name="左大括号 26"/>
          <p:cNvSpPr/>
          <p:nvPr>
            <p:custDataLst>
              <p:tags r:id="rId17"/>
            </p:custDataLst>
          </p:nvPr>
        </p:nvSpPr>
        <p:spPr>
          <a:xfrm>
            <a:off x="3029585" y="4438650"/>
            <a:ext cx="194310" cy="1095375"/>
          </a:xfrm>
          <a:prstGeom prst="leftBrace">
            <a:avLst>
              <a:gd name="adj1" fmla="val 156893"/>
              <a:gd name="adj2" fmla="val 50000"/>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内容占位符 2"/>
          <p:cNvSpPr>
            <a:spLocks noGrp="1"/>
          </p:cNvSpPr>
          <p:nvPr>
            <p:custDataLst>
              <p:tags r:id="rId18"/>
            </p:custDataLst>
          </p:nvPr>
        </p:nvSpPr>
        <p:spPr>
          <a:xfrm>
            <a:off x="3245485" y="4222115"/>
            <a:ext cx="498475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t>普通线性回归：因变量连续，整体分布</a:t>
            </a:r>
            <a:endParaRPr lang="zh-CN"/>
          </a:p>
        </p:txBody>
      </p:sp>
      <p:sp>
        <p:nvSpPr>
          <p:cNvPr id="29" name="内容占位符 2"/>
          <p:cNvSpPr>
            <a:spLocks noGrp="1"/>
          </p:cNvSpPr>
          <p:nvPr>
            <p:custDataLst>
              <p:tags r:id="rId19"/>
            </p:custDataLst>
          </p:nvPr>
        </p:nvSpPr>
        <p:spPr>
          <a:xfrm>
            <a:off x="3223895" y="4792345"/>
            <a:ext cx="4566285"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t>逻辑回归：</a:t>
            </a:r>
            <a:r>
              <a:rPr lang="zh-CN">
                <a:sym typeface="+mn-ea"/>
              </a:rPr>
              <a:t>因变量</a:t>
            </a:r>
            <a:r>
              <a:rPr lang="zh-CN"/>
              <a:t>二分类，二项分布</a:t>
            </a:r>
            <a:endParaRPr lang="zh-CN"/>
          </a:p>
        </p:txBody>
      </p:sp>
      <p:sp>
        <p:nvSpPr>
          <p:cNvPr id="30" name="内容占位符 2"/>
          <p:cNvSpPr>
            <a:spLocks noGrp="1"/>
          </p:cNvSpPr>
          <p:nvPr>
            <p:custDataLst>
              <p:tags r:id="rId20"/>
            </p:custDataLst>
          </p:nvPr>
        </p:nvSpPr>
        <p:spPr>
          <a:xfrm>
            <a:off x="3245485" y="5302250"/>
            <a:ext cx="4021455"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t>泊松回归：因变量计数，泊松分布</a:t>
            </a:r>
            <a:endParaRPr lang="zh-CN"/>
          </a:p>
        </p:txBody>
      </p:sp>
      <p:sp>
        <p:nvSpPr>
          <p:cNvPr id="31" name="内容占位符 2"/>
          <p:cNvSpPr>
            <a:spLocks noGrp="1"/>
          </p:cNvSpPr>
          <p:nvPr>
            <p:custDataLst>
              <p:tags r:id="rId21"/>
            </p:custDataLst>
          </p:nvPr>
        </p:nvSpPr>
        <p:spPr>
          <a:xfrm>
            <a:off x="3254375" y="5734050"/>
            <a:ext cx="556133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t>伽马回归：因变量正的、连续，伽马分布</a:t>
            </a:r>
            <a:endParaRPr lang="zh-CN"/>
          </a:p>
        </p:txBody>
      </p:sp>
      <p:sp>
        <p:nvSpPr>
          <p:cNvPr id="5" name="内容占位符 2"/>
          <p:cNvSpPr>
            <a:spLocks noGrp="1"/>
          </p:cNvSpPr>
          <p:nvPr>
            <p:custDataLst>
              <p:tags r:id="rId22"/>
            </p:custDataLst>
          </p:nvPr>
        </p:nvSpPr>
        <p:spPr>
          <a:xfrm>
            <a:off x="2811780" y="1637665"/>
            <a:ext cx="4564380" cy="35623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0" indent="0">
              <a:buNone/>
            </a:pPr>
            <a:r>
              <a:rPr lang="zh-CN" altLang="en-US" sz="1800"/>
              <a:t>多项式回归：</a:t>
            </a:r>
            <a:endParaRPr lang="zh-CN" altLang="en-US" sz="1800"/>
          </a:p>
        </p:txBody>
      </p:sp>
      <p:pic>
        <p:nvPicPr>
          <p:cNvPr id="18" name="图片 17"/>
          <p:cNvPicPr>
            <a:picLocks noChangeAspect="1"/>
          </p:cNvPicPr>
          <p:nvPr/>
        </p:nvPicPr>
        <p:blipFill>
          <a:blip r:embed="rId23"/>
          <a:stretch>
            <a:fillRect/>
          </a:stretch>
        </p:blipFill>
        <p:spPr>
          <a:xfrm>
            <a:off x="4059555" y="1665605"/>
            <a:ext cx="2286000" cy="266700"/>
          </a:xfrm>
          <a:prstGeom prst="rect">
            <a:avLst/>
          </a:prstGeom>
        </p:spPr>
      </p:pic>
      <p:sp>
        <p:nvSpPr>
          <p:cNvPr id="26" name="右大括号 25"/>
          <p:cNvSpPr/>
          <p:nvPr/>
        </p:nvSpPr>
        <p:spPr>
          <a:xfrm>
            <a:off x="7803515" y="4364990"/>
            <a:ext cx="215900" cy="1511935"/>
          </a:xfrm>
          <a:prstGeom prst="righ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内容占位符 2"/>
          <p:cNvSpPr>
            <a:spLocks noGrp="1"/>
          </p:cNvSpPr>
          <p:nvPr>
            <p:custDataLst>
              <p:tags r:id="rId24"/>
            </p:custDataLst>
          </p:nvPr>
        </p:nvSpPr>
        <p:spPr>
          <a:xfrm>
            <a:off x="8032750" y="4077970"/>
            <a:ext cx="1290320" cy="1801495"/>
          </a:xfrm>
          <a:prstGeom prst="rect">
            <a:avLst/>
          </a:prstGeom>
          <a:noFill/>
          <a:ln>
            <a:noFill/>
          </a:ln>
        </p:spPr>
        <p:txBody>
          <a:bodyPr vert="horz" wrap="square" lIns="0" tIns="45720" rIns="0" bIns="45720" numCol="1" anchor="t" anchorCtr="0" compatLnSpc="1"/>
          <a:lst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algn="l">
              <a:buSzTx/>
              <a:buFont typeface="Arial" panose="020B0604020202020204" pitchFamily="34" charset="0"/>
              <a:buChar char="•"/>
            </a:pPr>
            <a:r>
              <a:rPr lang="zh-CN" altLang="en-US">
                <a:sym typeface="+mn-ea"/>
              </a:rPr>
              <a:t>因变量属于指数族分布</a:t>
            </a:r>
            <a:endParaRPr lang="zh-CN" altLang="en-US">
              <a:sym typeface="+mn-ea"/>
            </a:endParaRPr>
          </a:p>
          <a:p>
            <a:pPr algn="l">
              <a:buSzTx/>
              <a:buFont typeface="Arial" panose="020B0604020202020204" pitchFamily="34" charset="0"/>
              <a:buChar char="•"/>
            </a:pPr>
            <a:r>
              <a:rPr lang="zh-CN" altLang="en-US">
                <a:sym typeface="+mn-ea"/>
              </a:rPr>
              <a:t>迭代加权最小二乘（极大似然原理）</a:t>
            </a:r>
            <a:endParaRPr lang="zh-CN" altLang="en-US"/>
          </a:p>
        </p:txBody>
      </p:sp>
      <p:pic>
        <p:nvPicPr>
          <p:cNvPr id="34" name="图片 33"/>
          <p:cNvPicPr>
            <a:picLocks noChangeAspect="1"/>
          </p:cNvPicPr>
          <p:nvPr/>
        </p:nvPicPr>
        <p:blipFill>
          <a:blip r:embed="rId25"/>
          <a:stretch>
            <a:fillRect/>
          </a:stretch>
        </p:blipFill>
        <p:spPr>
          <a:xfrm>
            <a:off x="3655695" y="2230120"/>
            <a:ext cx="1392555" cy="325755"/>
          </a:xfrm>
          <a:prstGeom prst="rect">
            <a:avLst/>
          </a:prstGeom>
        </p:spPr>
      </p:pic>
      <p:pic>
        <p:nvPicPr>
          <p:cNvPr id="35" name="图片 34"/>
          <p:cNvPicPr>
            <a:picLocks noChangeAspect="1"/>
          </p:cNvPicPr>
          <p:nvPr/>
        </p:nvPicPr>
        <p:blipFill>
          <a:blip r:embed="rId26"/>
          <a:stretch>
            <a:fillRect/>
          </a:stretch>
        </p:blipFill>
        <p:spPr>
          <a:xfrm>
            <a:off x="3446780" y="3176270"/>
            <a:ext cx="1906270" cy="3721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损失函数</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1" name="矩形 3"/>
              <p:cNvSpPr>
                <a:spLocks noChangeArrowheads="1"/>
              </p:cNvSpPr>
              <p:nvPr/>
            </p:nvSpPr>
            <p:spPr bwMode="auto">
              <a:xfrm>
                <a:off x="611560" y="1292789"/>
                <a:ext cx="7652716" cy="3003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1" indent="0" defTabSz="457200" eaLnBrk="1" fontAlgn="auto" latinLnBrk="0" hangingPunct="1">
                  <a:lnSpc>
                    <a:spcPct val="100000"/>
                  </a:lnSpc>
                  <a:spcBef>
                    <a:spcPct val="20000"/>
                  </a:spcBef>
                  <a:spcAft>
                    <a:spcPts val="0"/>
                  </a:spcAft>
                  <a:buClrTx/>
                  <a:buSzTx/>
                  <a:buFont typeface="Arial" panose="020B0604020202020204" pitchFamily="34" charset="0"/>
                  <a:buNone/>
                  <a:defRPr/>
                </a:pPr>
                <a:r>
                  <a:rPr kumimoji="1" lang="zh-CN" altLang="en-US" sz="2200" b="0" i="0" u="none" strike="noStrike" kern="0" cap="none" spc="0" normalizeH="0" baseline="0" noProof="0" dirty="0">
                    <a:ln>
                      <a:noFill/>
                    </a:ln>
                    <a:solidFill>
                      <a:srgbClr val="FF0000"/>
                    </a:solidFill>
                    <a:effectLst/>
                    <a:uLnTx/>
                    <a:uFillTx/>
                    <a:latin typeface="+mn-ea"/>
                    <a:ea typeface="+mn-ea"/>
                  </a:rPr>
                  <a:t>如何度量回归方程的拟合误差？</a:t>
                </a:r>
                <a:endParaRPr kumimoji="1" lang="en-US" altLang="zh-CN" sz="2200" b="0" i="0" u="none" strike="noStrike" kern="0" cap="none" spc="0" normalizeH="0" baseline="0" noProof="0" dirty="0">
                  <a:ln>
                    <a:noFill/>
                  </a:ln>
                  <a:solidFill>
                    <a:srgbClr val="FF0000"/>
                  </a:solidFill>
                  <a:effectLst/>
                  <a:uLnTx/>
                  <a:uFillTx/>
                  <a:latin typeface="+mn-ea"/>
                  <a:ea typeface="+mn-ea"/>
                </a:endParaRPr>
              </a:p>
              <a:p>
                <a:pPr marL="742950" marR="0" lvl="1" indent="-28575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mn-ea"/>
                    <a:ea typeface="+mn-ea"/>
                  </a:rPr>
                  <a:t>损失函数是关于模型计算结果</a:t>
                </a:r>
                <a14:m>
                  <m:oMath xmlns:m="http://schemas.openxmlformats.org/officeDocument/2006/math">
                    <m:r>
                      <a:rPr kumimoji="1" lang="en-US" altLang="zh-CN" sz="2200" b="0" i="1" u="none" strike="noStrike" kern="0" cap="none" spc="0" normalizeH="0" baseline="0" noProof="0" dirty="0">
                        <a:ln>
                          <a:noFill/>
                        </a:ln>
                        <a:solidFill>
                          <a:srgbClr val="000000"/>
                        </a:solidFill>
                        <a:effectLst/>
                        <a:uLnTx/>
                        <a:uFillTx/>
                        <a:latin typeface="Cambria Math" panose="02040503050406030204" pitchFamily="18" charset="0"/>
                        <a:ea typeface="+mn-ea"/>
                      </a:rPr>
                      <m:t>𝑓</m:t>
                    </m:r>
                    <m:r>
                      <a:rPr kumimoji="1" lang="zh-CN" altLang="en-US" sz="2200" b="0" i="1" u="none" strike="noStrike" kern="0" cap="none" spc="0" normalizeH="0" baseline="0" noProof="0" dirty="0">
                        <a:ln>
                          <a:noFill/>
                        </a:ln>
                        <a:solidFill>
                          <a:srgbClr val="000000"/>
                        </a:solidFill>
                        <a:effectLst/>
                        <a:uLnTx/>
                        <a:uFillTx/>
                        <a:latin typeface="Cambria Math" panose="02040503050406030204" pitchFamily="18" charset="0"/>
                        <a:ea typeface="+mn-ea"/>
                      </a:rPr>
                      <m:t>（</m:t>
                    </m:r>
                    <m:r>
                      <a:rPr kumimoji="1" lang="en-US" altLang="zh-CN" sz="2200" b="0" i="1" u="none" strike="noStrike" kern="0" cap="none" spc="0" normalizeH="0" baseline="0" noProof="0" dirty="0">
                        <a:ln>
                          <a:noFill/>
                        </a:ln>
                        <a:solidFill>
                          <a:srgbClr val="000000"/>
                        </a:solidFill>
                        <a:effectLst/>
                        <a:uLnTx/>
                        <a:uFillTx/>
                        <a:latin typeface="Cambria Math" panose="02040503050406030204" pitchFamily="18" charset="0"/>
                        <a:ea typeface="+mn-ea"/>
                      </a:rPr>
                      <m:t>𝑥</m:t>
                    </m:r>
                    <m:r>
                      <a:rPr kumimoji="1" lang="zh-CN" altLang="en-US" sz="2200" b="0" i="1" u="none" strike="noStrike" kern="0" cap="none" spc="0" normalizeH="0" baseline="0" noProof="0" dirty="0">
                        <a:ln>
                          <a:noFill/>
                        </a:ln>
                        <a:solidFill>
                          <a:srgbClr val="000000"/>
                        </a:solidFill>
                        <a:effectLst/>
                        <a:uLnTx/>
                        <a:uFillTx/>
                        <a:latin typeface="Cambria Math" panose="02040503050406030204" pitchFamily="18" charset="0"/>
                        <a:ea typeface="+mn-ea"/>
                      </a:rPr>
                      <m:t>）</m:t>
                    </m:r>
                  </m:oMath>
                </a14:m>
                <a:r>
                  <a:rPr kumimoji="1" lang="zh-CN" altLang="en-US" sz="2200" b="0" i="0" u="none" strike="noStrike" kern="0" cap="none" spc="0" normalizeH="0" baseline="0" noProof="0" dirty="0">
                    <a:ln>
                      <a:noFill/>
                    </a:ln>
                    <a:solidFill>
                      <a:srgbClr val="000000"/>
                    </a:solidFill>
                    <a:effectLst/>
                    <a:uLnTx/>
                    <a:uFillTx/>
                    <a:latin typeface="+mn-ea"/>
                    <a:ea typeface="+mn-ea"/>
                  </a:rPr>
                  <a:t>和样本实际目标结果</a:t>
                </a:r>
                <a14:m>
                  <m:oMath xmlns:m="http://schemas.openxmlformats.org/officeDocument/2006/math">
                    <m:r>
                      <a:rPr kumimoji="1" lang="en-US" altLang="zh-CN" sz="2200" b="0" i="1" u="none" strike="noStrike" kern="0" cap="none" spc="0" normalizeH="0" baseline="0" noProof="0" dirty="0">
                        <a:ln>
                          <a:noFill/>
                        </a:ln>
                        <a:solidFill>
                          <a:srgbClr val="000000"/>
                        </a:solidFill>
                        <a:effectLst/>
                        <a:uLnTx/>
                        <a:uFillTx/>
                        <a:latin typeface="Cambria Math" panose="02040503050406030204" pitchFamily="18" charset="0"/>
                        <a:ea typeface="+mn-ea"/>
                      </a:rPr>
                      <m:t>𝑌</m:t>
                    </m:r>
                  </m:oMath>
                </a14:m>
                <a:r>
                  <a:rPr kumimoji="1" lang="zh-CN" altLang="en-US" sz="2200" b="0" i="0" u="none" strike="noStrike" kern="0" cap="none" spc="0" normalizeH="0" baseline="0" noProof="0" dirty="0">
                    <a:ln>
                      <a:noFill/>
                    </a:ln>
                    <a:solidFill>
                      <a:srgbClr val="000000"/>
                    </a:solidFill>
                    <a:effectLst/>
                    <a:uLnTx/>
                    <a:uFillTx/>
                    <a:latin typeface="+mn-ea"/>
                    <a:ea typeface="+mn-ea"/>
                  </a:rPr>
                  <a:t>的非负实值函数，记作</a:t>
                </a:r>
                <a14:m>
                  <m:oMath xmlns:m="http://schemas.openxmlformats.org/officeDocument/2006/math">
                    <m:r>
                      <a:rPr kumimoji="1" lang="en-US" altLang="zh-CN" sz="2200" b="0" i="1" u="none" strike="noStrike" kern="0" cap="none" spc="0" normalizeH="0" baseline="0" noProof="0" dirty="0">
                        <a:ln>
                          <a:noFill/>
                        </a:ln>
                        <a:solidFill>
                          <a:srgbClr val="000000"/>
                        </a:solidFill>
                        <a:effectLst/>
                        <a:uLnTx/>
                        <a:uFillTx/>
                        <a:latin typeface="Cambria Math" panose="02040503050406030204" pitchFamily="18" charset="0"/>
                        <a:ea typeface="+mn-ea"/>
                      </a:rPr>
                      <m:t>𝑙</m:t>
                    </m:r>
                    <m:r>
                      <a:rPr kumimoji="1" lang="zh-CN" altLang="en-US" sz="2200" b="0" i="1" u="none" strike="noStrike" kern="0" cap="none" spc="0" normalizeH="0" baseline="0" noProof="0" dirty="0">
                        <a:ln>
                          <a:noFill/>
                        </a:ln>
                        <a:solidFill>
                          <a:srgbClr val="000000"/>
                        </a:solidFill>
                        <a:effectLst/>
                        <a:uLnTx/>
                        <a:uFillTx/>
                        <a:latin typeface="Cambria Math" panose="02040503050406030204" pitchFamily="18" charset="0"/>
                        <a:ea typeface="+mn-ea"/>
                      </a:rPr>
                      <m:t>（</m:t>
                    </m:r>
                    <m:r>
                      <a:rPr kumimoji="1" lang="en-US" altLang="zh-CN" sz="2200" b="0" i="1" u="none" strike="noStrike" kern="0" cap="none" spc="0" normalizeH="0" baseline="0" noProof="0" dirty="0" err="1">
                        <a:ln>
                          <a:noFill/>
                        </a:ln>
                        <a:solidFill>
                          <a:srgbClr val="000000"/>
                        </a:solidFill>
                        <a:effectLst/>
                        <a:uLnTx/>
                        <a:uFillTx/>
                        <a:latin typeface="Cambria Math" panose="02040503050406030204" pitchFamily="18" charset="0"/>
                        <a:ea typeface="+mn-ea"/>
                      </a:rPr>
                      <m:t>𝑦</m:t>
                    </m:r>
                    <m:r>
                      <a:rPr kumimoji="1" lang="zh-CN" altLang="en-US" sz="2200" b="0" i="1" u="none" strike="noStrike" kern="0" cap="none" spc="0" normalizeH="0" baseline="0" noProof="0" dirty="0">
                        <a:ln>
                          <a:noFill/>
                        </a:ln>
                        <a:solidFill>
                          <a:srgbClr val="000000"/>
                        </a:solidFill>
                        <a:effectLst/>
                        <a:uLnTx/>
                        <a:uFillTx/>
                        <a:latin typeface="Cambria Math" panose="02040503050406030204" pitchFamily="18" charset="0"/>
                        <a:ea typeface="+mn-ea"/>
                      </a:rPr>
                      <m:t>，</m:t>
                    </m:r>
                    <m:r>
                      <a:rPr kumimoji="1" lang="en-US" altLang="zh-CN" sz="2200" b="0" i="1" u="none" strike="noStrike" kern="0" cap="none" spc="0" normalizeH="0" baseline="0" noProof="0" dirty="0" err="1">
                        <a:ln>
                          <a:noFill/>
                        </a:ln>
                        <a:solidFill>
                          <a:srgbClr val="000000"/>
                        </a:solidFill>
                        <a:effectLst/>
                        <a:uLnTx/>
                        <a:uFillTx/>
                        <a:latin typeface="Cambria Math" panose="02040503050406030204" pitchFamily="18" charset="0"/>
                        <a:ea typeface="+mn-ea"/>
                      </a:rPr>
                      <m:t>𝑓</m:t>
                    </m:r>
                    <m:r>
                      <a:rPr kumimoji="1" lang="zh-CN" altLang="en-US" sz="2200" b="0" i="1" u="none" strike="noStrike" kern="0" cap="none" spc="0" normalizeH="0" baseline="0" noProof="0" dirty="0">
                        <a:ln>
                          <a:noFill/>
                        </a:ln>
                        <a:solidFill>
                          <a:srgbClr val="000000"/>
                        </a:solidFill>
                        <a:effectLst/>
                        <a:uLnTx/>
                        <a:uFillTx/>
                        <a:latin typeface="Cambria Math" panose="02040503050406030204" pitchFamily="18" charset="0"/>
                        <a:ea typeface="+mn-ea"/>
                      </a:rPr>
                      <m:t>（</m:t>
                    </m:r>
                    <m:r>
                      <a:rPr kumimoji="1" lang="en-US" altLang="zh-CN" sz="2200" b="0" i="1" u="none" strike="noStrike" kern="0" cap="none" spc="0" normalizeH="0" baseline="0" noProof="0" dirty="0">
                        <a:ln>
                          <a:noFill/>
                        </a:ln>
                        <a:solidFill>
                          <a:srgbClr val="000000"/>
                        </a:solidFill>
                        <a:effectLst/>
                        <a:uLnTx/>
                        <a:uFillTx/>
                        <a:latin typeface="Cambria Math" panose="02040503050406030204" pitchFamily="18" charset="0"/>
                        <a:ea typeface="+mn-ea"/>
                      </a:rPr>
                      <m:t>𝑥</m:t>
                    </m:r>
                    <m:r>
                      <a:rPr kumimoji="1" lang="zh-CN" altLang="en-US" sz="2200" b="0" i="1" u="none" strike="noStrike" kern="0" cap="none" spc="0" normalizeH="0" baseline="0" noProof="0" dirty="0">
                        <a:ln>
                          <a:noFill/>
                        </a:ln>
                        <a:solidFill>
                          <a:srgbClr val="000000"/>
                        </a:solidFill>
                        <a:effectLst/>
                        <a:uLnTx/>
                        <a:uFillTx/>
                        <a:latin typeface="Cambria Math" panose="02040503050406030204" pitchFamily="18" charset="0"/>
                        <a:ea typeface="+mn-ea"/>
                      </a:rPr>
                      <m:t>）），</m:t>
                    </m:r>
                  </m:oMath>
                </a14:m>
                <a:r>
                  <a:rPr kumimoji="1" lang="zh-CN" altLang="en-US" sz="2200" b="0" i="0" u="none" strike="noStrike" kern="0" cap="none" spc="0" normalizeH="0" baseline="0" noProof="0" dirty="0">
                    <a:ln>
                      <a:noFill/>
                    </a:ln>
                    <a:solidFill>
                      <a:srgbClr val="000000"/>
                    </a:solidFill>
                    <a:effectLst/>
                    <a:uLnTx/>
                    <a:uFillTx/>
                    <a:latin typeface="+mn-ea"/>
                    <a:ea typeface="+mn-ea"/>
                  </a:rPr>
                  <a:t>用它来解释模型在每个样本实例上的误差损失函数的值越小，说明预测值与实际值越接近，即模型的拟合效果越好；</a:t>
                </a:r>
                <a:endParaRPr kumimoji="1" lang="en-US" altLang="zh-CN" sz="2200" b="0" i="0" u="none" strike="noStrike" kern="0" cap="none" spc="0" normalizeH="0" baseline="0" noProof="0" dirty="0">
                  <a:ln>
                    <a:noFill/>
                  </a:ln>
                  <a:solidFill>
                    <a:srgbClr val="000000"/>
                  </a:solidFill>
                  <a:effectLst/>
                  <a:uLnTx/>
                  <a:uFillTx/>
                  <a:latin typeface="+mn-ea"/>
                  <a:ea typeface="+mn-ea"/>
                </a:endParaRPr>
              </a:p>
              <a:p>
                <a:pPr marL="742950" marR="0" lvl="1" indent="-28575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mn-ea"/>
                    <a:ea typeface="+mn-ea"/>
                  </a:rPr>
                  <a:t>损失函数主要包括以下几种：</a:t>
                </a:r>
                <a:r>
                  <a:rPr kumimoji="1" lang="en-US" altLang="zh-CN" sz="2200" b="0" i="0" u="none" strike="noStrike" kern="0" cap="none" spc="0" normalizeH="0" baseline="0" noProof="0" dirty="0">
                    <a:ln>
                      <a:noFill/>
                    </a:ln>
                    <a:solidFill>
                      <a:srgbClr val="000000"/>
                    </a:solidFill>
                    <a:effectLst/>
                    <a:uLnTx/>
                    <a:uFillTx/>
                    <a:latin typeface="+mn-ea"/>
                    <a:ea typeface="+mn-ea"/>
                  </a:rPr>
                  <a:t> </a:t>
                </a:r>
                <a:r>
                  <a:rPr kumimoji="1" lang="zh-CN" altLang="en-US" sz="2200" b="0" i="0" u="none" strike="noStrike" kern="0" cap="none" spc="0" normalizeH="0" baseline="0" noProof="0" dirty="0">
                    <a:ln>
                      <a:noFill/>
                    </a:ln>
                    <a:solidFill>
                      <a:srgbClr val="000000"/>
                    </a:solidFill>
                    <a:effectLst/>
                    <a:uLnTx/>
                    <a:uFillTx/>
                    <a:latin typeface="+mn-ea"/>
                    <a:ea typeface="+mn-ea"/>
                  </a:rPr>
                  <a:t>平方损失函数、绝对损失函数、对数损失函数。</a:t>
                </a:r>
                <a:endParaRPr kumimoji="1" lang="en-US" altLang="zh-CN" sz="2200" b="0" i="0" u="none" strike="noStrike" kern="0" cap="none" spc="0" normalizeH="0" baseline="0" noProof="0" dirty="0">
                  <a:ln>
                    <a:noFill/>
                  </a:ln>
                  <a:solidFill>
                    <a:srgbClr val="000000"/>
                  </a:solidFill>
                  <a:effectLst/>
                  <a:uLnTx/>
                  <a:uFillTx/>
                  <a:latin typeface="+mn-ea"/>
                  <a:ea typeface="+mn-ea"/>
                </a:endParaRPr>
              </a:p>
              <a:p>
                <a:pPr marL="0" marR="0" lvl="1" indent="0" defTabSz="457200" eaLnBrk="1" fontAlgn="auto" latinLnBrk="0" hangingPunct="1">
                  <a:lnSpc>
                    <a:spcPct val="100000"/>
                  </a:lnSpc>
                  <a:spcBef>
                    <a:spcPct val="20000"/>
                  </a:spcBef>
                  <a:spcAft>
                    <a:spcPts val="0"/>
                  </a:spcAft>
                  <a:buClrTx/>
                  <a:buSzTx/>
                  <a:buFont typeface="Arial" panose="020B0604020202020204" pitchFamily="34" charset="0"/>
                  <a:buNone/>
                  <a:defRPr/>
                </a:pPr>
                <a:r>
                  <a:rPr kumimoji="1" lang="zh-CN" altLang="en-US" sz="2200" b="0" i="0" u="none" strike="noStrike" kern="0" cap="none" spc="0" normalizeH="0" baseline="0" noProof="0" dirty="0">
                    <a:ln>
                      <a:noFill/>
                    </a:ln>
                    <a:solidFill>
                      <a:srgbClr val="000000"/>
                    </a:solidFill>
                    <a:effectLst/>
                    <a:uLnTx/>
                    <a:uFillTx/>
                    <a:latin typeface="+mn-ea"/>
                    <a:ea typeface="+mn-ea"/>
                  </a:rPr>
                  <a:t>     训练误差</a:t>
                </a:r>
                <a:endParaRPr kumimoji="1" lang="en-US" altLang="zh-CN" sz="2200" b="0" i="0" u="none" strike="noStrike" kern="0" cap="none" spc="0" normalizeH="0" baseline="0" noProof="0" dirty="0">
                  <a:ln>
                    <a:noFill/>
                  </a:ln>
                  <a:solidFill>
                    <a:srgbClr val="000000"/>
                  </a:solidFill>
                  <a:effectLst/>
                  <a:uLnTx/>
                  <a:uFillTx/>
                  <a:latin typeface="+mn-ea"/>
                  <a:ea typeface="+mn-ea"/>
                </a:endParaRPr>
              </a:p>
            </p:txBody>
          </p:sp>
        </mc:Choice>
        <mc:Fallback>
          <p:sp>
            <p:nvSpPr>
              <p:cNvPr id="11" name="矩形 3"/>
              <p:cNvSpPr>
                <a:spLocks noRot="1" noChangeAspect="1" noMove="1" noResize="1" noEditPoints="1" noAdjustHandles="1" noChangeArrowheads="1" noChangeShapeType="1" noTextEdit="1"/>
              </p:cNvSpPr>
              <p:nvPr/>
            </p:nvSpPr>
            <p:spPr bwMode="auto">
              <a:xfrm>
                <a:off x="611560" y="1292789"/>
                <a:ext cx="7652716" cy="3003899"/>
              </a:xfrm>
              <a:prstGeom prst="rect">
                <a:avLst/>
              </a:prstGeom>
              <a:blipFill rotWithShape="1">
                <a:blip r:embed="rId1"/>
                <a:stretch>
                  <a:fillRect l="-1" t="-19" r="5" b="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2834216" y="4410634"/>
                <a:ext cx="3475567" cy="772071"/>
              </a:xfrm>
              <a:prstGeom prst="rect">
                <a:avLst/>
              </a:prstGeom>
            </p:spPr>
            <p:txBody>
              <a:bodyPr wrap="none">
                <a:spAutoFit/>
              </a:bodyPr>
              <a:lstStyle/>
              <a:p>
                <a:pPr defTabSz="457200"/>
                <a14:m>
                  <m:oMathPara xmlns:m="http://schemas.openxmlformats.org/officeDocument/2006/math">
                    <m:oMathParaPr>
                      <m:jc m:val="centerGroup"/>
                    </m:oMathParaPr>
                    <m:oMath xmlns:m="http://schemas.openxmlformats.org/officeDocument/2006/math">
                      <m:r>
                        <m:rPr>
                          <m:sty m:val="p"/>
                        </m:rPr>
                        <a:rPr lang="en-US" altLang="zh-CN" sz="2200" i="1">
                          <a:solidFill>
                            <a:prstClr val="black"/>
                          </a:solidFill>
                          <a:latin typeface="Cambria Math" panose="02040503050406030204"/>
                        </a:rPr>
                        <m:t>J</m:t>
                      </m:r>
                      <m:r>
                        <a:rPr lang="zh-CN" altLang="en-US" sz="2200">
                          <a:solidFill>
                            <a:prstClr val="black"/>
                          </a:solidFill>
                          <a:latin typeface="Cambria Math" panose="02040503050406030204" pitchFamily="18" charset="0"/>
                        </a:rPr>
                        <m:t>=</m:t>
                      </m:r>
                      <m:limLow>
                        <m:limLowPr>
                          <m:ctrlPr>
                            <a:rPr lang="zh-CN" altLang="en-US" sz="2200" i="1">
                              <a:solidFill>
                                <a:prstClr val="black"/>
                              </a:solidFill>
                              <a:latin typeface="Cambria Math" panose="02040503050406030204" pitchFamily="18" charset="0"/>
                            </a:rPr>
                          </m:ctrlPr>
                        </m:limLowPr>
                        <m:e>
                          <m:r>
                            <m:rPr>
                              <m:sty m:val="p"/>
                            </m:rPr>
                            <a:rPr lang="zh-CN" altLang="en-US" sz="2200">
                              <a:solidFill>
                                <a:prstClr val="black"/>
                              </a:solidFill>
                              <a:latin typeface="Cambria Math" panose="02040503050406030204" pitchFamily="18" charset="0"/>
                            </a:rPr>
                            <m:t>min</m:t>
                          </m:r>
                        </m:e>
                        <m:lim>
                          <m:r>
                            <a:rPr lang="zh-CN" altLang="en-US" sz="2200" i="1">
                              <a:solidFill>
                                <a:prstClr val="black"/>
                              </a:solidFill>
                              <a:latin typeface="Cambria Math" panose="02040503050406030204" pitchFamily="18" charset="0"/>
                            </a:rPr>
                            <m:t>𝑓</m:t>
                          </m:r>
                          <m:r>
                            <a:rPr lang="zh-CN" altLang="en-US" sz="2200">
                              <a:solidFill>
                                <a:prstClr val="black"/>
                              </a:solidFill>
                              <a:latin typeface="Cambria Math" panose="02040503050406030204" pitchFamily="18" charset="0"/>
                            </a:rPr>
                            <m:t>∈</m:t>
                          </m:r>
                          <m:r>
                            <a:rPr lang="zh-CN" altLang="en-US" sz="2200">
                              <a:solidFill>
                                <a:prstClr val="black"/>
                              </a:solidFill>
                              <a:latin typeface="Cambria Math" panose="02040503050406030204" pitchFamily="18" charset="0"/>
                            </a:rPr>
                            <m:t>ℱ</m:t>
                          </m:r>
                        </m:lim>
                      </m:limLow>
                      <m:r>
                        <a:rPr lang="en-US" altLang="zh-CN" sz="2200" i="1" smtClean="0">
                          <a:solidFill>
                            <a:prstClr val="black"/>
                          </a:solidFill>
                          <a:latin typeface="Cambria Math" panose="02040503050406030204"/>
                        </a:rPr>
                        <m:t>   </m:t>
                      </m:r>
                      <m:f>
                        <m:fPr>
                          <m:ctrlPr>
                            <a:rPr lang="zh-CN" altLang="en-US" sz="2200" i="1">
                              <a:solidFill>
                                <a:prstClr val="black"/>
                              </a:solidFill>
                              <a:latin typeface="Cambria Math" panose="02040503050406030204" pitchFamily="18" charset="0"/>
                            </a:rPr>
                          </m:ctrlPr>
                        </m:fPr>
                        <m:num>
                          <m:r>
                            <a:rPr lang="zh-CN" altLang="en-US" sz="2200">
                              <a:solidFill>
                                <a:prstClr val="black"/>
                              </a:solidFill>
                              <a:latin typeface="Cambria Math" panose="02040503050406030204" pitchFamily="18" charset="0"/>
                            </a:rPr>
                            <m:t>1</m:t>
                          </m:r>
                        </m:num>
                        <m:den>
                          <m:r>
                            <a:rPr lang="zh-CN" altLang="en-US" sz="2200" i="1">
                              <a:solidFill>
                                <a:prstClr val="black"/>
                              </a:solidFill>
                              <a:latin typeface="Cambria Math" panose="02040503050406030204" pitchFamily="18" charset="0"/>
                            </a:rPr>
                            <m:t>𝑛</m:t>
                          </m:r>
                        </m:den>
                      </m:f>
                      <m:nary>
                        <m:naryPr>
                          <m:chr m:val="∑"/>
                          <m:limLoc m:val="subSup"/>
                          <m:ctrlPr>
                            <a:rPr lang="zh-CN" altLang="en-US" sz="2200" i="1">
                              <a:solidFill>
                                <a:prstClr val="black"/>
                              </a:solidFill>
                              <a:latin typeface="Cambria Math" panose="02040503050406030204" pitchFamily="18" charset="0"/>
                            </a:rPr>
                          </m:ctrlPr>
                        </m:naryPr>
                        <m:sub>
                          <m:r>
                            <a:rPr lang="zh-CN" altLang="en-US" sz="2200" i="1">
                              <a:solidFill>
                                <a:prstClr val="black"/>
                              </a:solidFill>
                              <a:latin typeface="Cambria Math" panose="02040503050406030204" pitchFamily="18" charset="0"/>
                            </a:rPr>
                            <m:t>𝑖</m:t>
                          </m:r>
                          <m:r>
                            <a:rPr lang="zh-CN" altLang="en-US" sz="2200">
                              <a:solidFill>
                                <a:prstClr val="black"/>
                              </a:solidFill>
                              <a:latin typeface="Cambria Math" panose="02040503050406030204" pitchFamily="18" charset="0"/>
                            </a:rPr>
                            <m:t>=</m:t>
                          </m:r>
                          <m:r>
                            <a:rPr lang="zh-CN" altLang="en-US" sz="2200">
                              <a:solidFill>
                                <a:prstClr val="black"/>
                              </a:solidFill>
                              <a:latin typeface="Cambria Math" panose="02040503050406030204" pitchFamily="18" charset="0"/>
                            </a:rPr>
                            <m:t>1</m:t>
                          </m:r>
                        </m:sub>
                        <m:sup>
                          <m:r>
                            <a:rPr lang="zh-CN" altLang="en-US" sz="2200" i="1">
                              <a:solidFill>
                                <a:prstClr val="black"/>
                              </a:solidFill>
                              <a:latin typeface="Cambria Math" panose="02040503050406030204" pitchFamily="18" charset="0"/>
                            </a:rPr>
                            <m:t>𝑛</m:t>
                          </m:r>
                        </m:sup>
                        <m:e>
                          <m:d>
                            <m:dPr>
                              <m:begChr m:val=""/>
                              <m:ctrlPr>
                                <a:rPr lang="zh-CN" altLang="en-US" sz="2200" i="1" smtClean="0">
                                  <a:solidFill>
                                    <a:srgbClr val="FF0000"/>
                                  </a:solidFill>
                                  <a:latin typeface="Cambria Math" panose="02040503050406030204" pitchFamily="18" charset="0"/>
                                </a:rPr>
                              </m:ctrlPr>
                            </m:dPr>
                            <m:e>
                              <m:r>
                                <m:rPr>
                                  <m:sty m:val="p"/>
                                </m:rPr>
                                <a:rPr lang="en-US" altLang="zh-CN" sz="2200" smtClean="0">
                                  <a:solidFill>
                                    <a:srgbClr val="FF0000"/>
                                  </a:solidFill>
                                  <a:latin typeface="Cambria Math" panose="02040503050406030204"/>
                                </a:rPr>
                                <m:t>l</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𝑦</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𝑓</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𝑥</m:t>
                              </m:r>
                              <m:r>
                                <a:rPr lang="zh-CN" altLang="en-US" sz="2200">
                                  <a:solidFill>
                                    <a:srgbClr val="FF0000"/>
                                  </a:solidFill>
                                  <a:latin typeface="Cambria Math" panose="02040503050406030204" pitchFamily="18" charset="0"/>
                                </a:rPr>
                                <m:t>)</m:t>
                              </m:r>
                            </m:e>
                          </m:d>
                        </m:e>
                      </m:nary>
                    </m:oMath>
                  </m:oMathPara>
                </a14:m>
                <a:endParaRPr lang="zh-CN" altLang="en-US" sz="2200" dirty="0">
                  <a:solidFill>
                    <a:prstClr val="black"/>
                  </a:solidFill>
                  <a:latin typeface="Calibri" panose="020F0502020204030204" pitchFamily="34" charset="0"/>
                </a:endParaRPr>
              </a:p>
            </p:txBody>
          </p:sp>
        </mc:Choice>
        <mc:Fallback>
          <p:sp>
            <p:nvSpPr>
              <p:cNvPr id="12" name="矩形 11"/>
              <p:cNvSpPr>
                <a:spLocks noRot="1" noChangeAspect="1" noMove="1" noResize="1" noEditPoints="1" noAdjustHandles="1" noChangeArrowheads="1" noChangeShapeType="1" noTextEdit="1"/>
              </p:cNvSpPr>
              <p:nvPr/>
            </p:nvSpPr>
            <p:spPr>
              <a:xfrm>
                <a:off x="2834216" y="4410634"/>
                <a:ext cx="3475567" cy="772071"/>
              </a:xfrm>
              <a:prstGeom prst="rect">
                <a:avLst/>
              </a:prstGeom>
              <a:blipFill rotWithShape="1">
                <a:blip r:embed="rId2"/>
                <a:stretch>
                  <a:fillRect l="-6" t="-72" r="12" b="61"/>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损失函数</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8" name="图片 7"/>
          <p:cNvPicPr>
            <a:picLocks noChangeAspect="1"/>
          </p:cNvPicPr>
          <p:nvPr/>
        </p:nvPicPr>
        <p:blipFill rotWithShape="1">
          <a:blip r:embed="rId1"/>
          <a:srcRect r="6913"/>
          <a:stretch>
            <a:fillRect/>
          </a:stretch>
        </p:blipFill>
        <p:spPr>
          <a:xfrm>
            <a:off x="251205" y="1484934"/>
            <a:ext cx="5961635" cy="4142281"/>
          </a:xfrm>
          <a:prstGeom prst="rect">
            <a:avLst/>
          </a:prstGeom>
        </p:spPr>
      </p:pic>
      <p:sp>
        <p:nvSpPr>
          <p:cNvPr id="5" name="文本框 4"/>
          <p:cNvSpPr txBox="1"/>
          <p:nvPr/>
        </p:nvSpPr>
        <p:spPr>
          <a:xfrm>
            <a:off x="6237605" y="1993265"/>
            <a:ext cx="2270760" cy="918210"/>
          </a:xfrm>
          <a:prstGeom prst="rect">
            <a:avLst/>
          </a:prstGeom>
          <a:solidFill>
            <a:srgbClr val="CCE3F5"/>
          </a:solidFill>
        </p:spPr>
        <p:txBody>
          <a:bodyPr wrap="square">
            <a:noAutofit/>
            <a:extLst>
              <a:ext uri="{4A0BC546-FE56-4ADE-93B0-CB8AF2F6F144}">
                <wpsdc:textFrameExt xmlns:wpsdc="http://www.wps.cn/officeDocument/2022/drawingmlCustomData" type="text"/>
              </a:ext>
            </a:extLst>
          </a:bodyPr>
          <a:p>
            <a:pPr algn="l"/>
            <a:r>
              <a:rPr lang="zh-CN" altLang="en-US" sz="1400">
                <a:latin typeface="Arial" panose="020B0604020202020204" pitchFamily="34" charset="0"/>
                <a:ea typeface="微软雅黑" panose="020B0503020204020204" charset="-122"/>
              </a:rPr>
              <a:t>分类问题，尤其是二分类，一般只做评价指标</a:t>
            </a:r>
            <a:endParaRPr lang="zh-CN" altLang="en-US" sz="1400">
              <a:latin typeface="Arial" panose="020B0604020202020204" pitchFamily="34" charset="0"/>
              <a:ea typeface="微软雅黑" panose="020B0503020204020204" charset="-122"/>
            </a:endParaRPr>
          </a:p>
        </p:txBody>
      </p:sp>
      <p:sp>
        <p:nvSpPr>
          <p:cNvPr id="6" name="文本框 5"/>
          <p:cNvSpPr txBox="1"/>
          <p:nvPr/>
        </p:nvSpPr>
        <p:spPr>
          <a:xfrm>
            <a:off x="6227445" y="1536065"/>
            <a:ext cx="2280920" cy="399415"/>
          </a:xfrm>
          <a:prstGeom prst="rect">
            <a:avLst/>
          </a:prstGeom>
          <a:solidFill>
            <a:srgbClr val="1CADE4"/>
          </a:solidFill>
        </p:spPr>
        <p:txBody>
          <a:bodyPr wrap="square">
            <a:noAutofit/>
            <a:extLst>
              <a:ext uri="{4A0BC546-FE56-4ADE-93B0-CB8AF2F6F144}">
                <wpsdc:textFrameExt xmlns:wpsdc="http://www.wps.cn/officeDocument/2022/drawingmlCustomData" type="text"/>
              </a:ext>
            </a:extLst>
          </a:bodyPr>
          <a:p>
            <a:pPr algn="ctr"/>
            <a:r>
              <a:rPr lang="zh-CN" altLang="en-US" sz="1800" b="1">
                <a:solidFill>
                  <a:schemeClr val="bg1"/>
                </a:solidFill>
                <a:latin typeface="微软雅黑" panose="020B0503020204020204" charset="-122"/>
                <a:ea typeface="微软雅黑" panose="020B0503020204020204" charset="-122"/>
              </a:rPr>
              <a:t>适用场景</a:t>
            </a:r>
            <a:endParaRPr lang="zh-CN" altLang="en-US" sz="1800" b="1">
              <a:solidFill>
                <a:schemeClr val="bg1"/>
              </a:solidFill>
              <a:latin typeface="微软雅黑" panose="020B0503020204020204" charset="-122"/>
              <a:ea typeface="微软雅黑" panose="020B0503020204020204" charset="-122"/>
            </a:endParaRPr>
          </a:p>
        </p:txBody>
      </p:sp>
      <p:sp>
        <p:nvSpPr>
          <p:cNvPr id="7" name="文本框 6"/>
          <p:cNvSpPr txBox="1"/>
          <p:nvPr/>
        </p:nvSpPr>
        <p:spPr>
          <a:xfrm>
            <a:off x="6237605" y="2933065"/>
            <a:ext cx="2270760" cy="435610"/>
          </a:xfrm>
          <a:prstGeom prst="rect">
            <a:avLst/>
          </a:prstGeom>
          <a:solidFill>
            <a:srgbClr val="E7F1FA"/>
          </a:solidFill>
        </p:spPr>
        <p:txBody>
          <a:bodyPr wrap="square">
            <a:noAutofit/>
            <a:extLst>
              <a:ext uri="{4A0BC546-FE56-4ADE-93B0-CB8AF2F6F144}">
                <wpsdc:textFrameExt xmlns:wpsdc="http://www.wps.cn/officeDocument/2022/drawingmlCustomData" type="text"/>
              </a:ext>
            </a:extLst>
          </a:bodyPr>
          <a:p>
            <a:pPr algn="l"/>
            <a:r>
              <a:rPr lang="zh-CN" altLang="en-US" sz="1400">
                <a:latin typeface="Arial" panose="020B0604020202020204" pitchFamily="34" charset="0"/>
                <a:ea typeface="微软雅黑" panose="020B0503020204020204" charset="-122"/>
              </a:rPr>
              <a:t>预测连续值的回归问题</a:t>
            </a:r>
            <a:endParaRPr lang="zh-CN" altLang="en-US" sz="1400">
              <a:latin typeface="Arial" panose="020B0604020202020204" pitchFamily="34" charset="0"/>
              <a:ea typeface="微软雅黑" panose="020B0503020204020204" charset="-122"/>
            </a:endParaRPr>
          </a:p>
        </p:txBody>
      </p:sp>
      <p:sp>
        <p:nvSpPr>
          <p:cNvPr id="9" name="文本框 8"/>
          <p:cNvSpPr txBox="1"/>
          <p:nvPr/>
        </p:nvSpPr>
        <p:spPr>
          <a:xfrm>
            <a:off x="6237605" y="3390265"/>
            <a:ext cx="2270760" cy="651510"/>
          </a:xfrm>
          <a:prstGeom prst="rect">
            <a:avLst/>
          </a:prstGeom>
          <a:solidFill>
            <a:srgbClr val="CCE3F5"/>
          </a:solidFill>
        </p:spPr>
        <p:txBody>
          <a:bodyPr wrap="square">
            <a:noAutofit/>
            <a:extLst>
              <a:ext uri="{4A0BC546-FE56-4ADE-93B0-CB8AF2F6F144}">
                <wpsdc:textFrameExt xmlns:wpsdc="http://www.wps.cn/officeDocument/2022/drawingmlCustomData" type="text"/>
              </a:ext>
            </a:extLst>
          </a:bodyPr>
          <a:p>
            <a:pPr algn="l"/>
            <a:r>
              <a:rPr lang="zh-CN" altLang="en-US" sz="1400">
                <a:latin typeface="Arial" panose="020B0604020202020204" pitchFamily="34" charset="0"/>
                <a:ea typeface="微软雅黑" panose="020B0503020204020204" charset="-122"/>
              </a:rPr>
              <a:t>含有异常值的回归问题，稳健，对异常值不敏感</a:t>
            </a:r>
            <a:endParaRPr lang="zh-CN" altLang="en-US" sz="1400">
              <a:latin typeface="Arial" panose="020B0604020202020204" pitchFamily="34" charset="0"/>
              <a:ea typeface="微软雅黑" panose="020B0503020204020204" charset="-122"/>
            </a:endParaRPr>
          </a:p>
        </p:txBody>
      </p:sp>
      <p:sp>
        <p:nvSpPr>
          <p:cNvPr id="10" name="文本框 9"/>
          <p:cNvSpPr txBox="1"/>
          <p:nvPr/>
        </p:nvSpPr>
        <p:spPr>
          <a:xfrm>
            <a:off x="6239510" y="4076700"/>
            <a:ext cx="2270760" cy="941070"/>
          </a:xfrm>
          <a:prstGeom prst="rect">
            <a:avLst/>
          </a:prstGeom>
          <a:solidFill>
            <a:srgbClr val="E7F1FA"/>
          </a:solidFill>
        </p:spPr>
        <p:txBody>
          <a:bodyPr wrap="square">
            <a:noAutofit/>
            <a:extLst>
              <a:ext uri="{4A0BC546-FE56-4ADE-93B0-CB8AF2F6F144}">
                <wpsdc:textFrameExt xmlns:wpsdc="http://www.wps.cn/officeDocument/2022/drawingmlCustomData" type="text"/>
              </a:ext>
            </a:extLst>
          </a:bodyPr>
          <a:p>
            <a:pPr algn="l"/>
            <a:r>
              <a:rPr lang="zh-CN" altLang="en-US" sz="1400">
                <a:latin typeface="Arial" panose="020B0604020202020204" pitchFamily="34" charset="0"/>
                <a:ea typeface="微软雅黑" panose="020B0503020204020204" charset="-122"/>
              </a:rPr>
              <a:t>需要输出类别概率而不只是类别标签的分类问题，比如逻辑回归、</a:t>
            </a:r>
            <a:r>
              <a:rPr lang="en-US" altLang="zh-CN" sz="1400">
                <a:latin typeface="Arial" panose="020B0604020202020204" pitchFamily="34" charset="0"/>
                <a:ea typeface="微软雅黑" panose="020B0503020204020204" charset="-122"/>
              </a:rPr>
              <a:t>Sigmoid/Softmax</a:t>
            </a:r>
            <a:r>
              <a:rPr lang="zh-CN" altLang="en-US" sz="1400">
                <a:latin typeface="Arial" panose="020B0604020202020204" pitchFamily="34" charset="0"/>
                <a:ea typeface="微软雅黑" panose="020B0503020204020204" charset="-122"/>
              </a:rPr>
              <a:t>的输出</a:t>
            </a:r>
            <a:endParaRPr lang="zh-CN" altLang="en-US" sz="1400">
              <a:latin typeface="Arial" panose="020B0604020202020204" pitchFamily="34" charset="0"/>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参数估计</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矩形 3"/>
          <p:cNvSpPr>
            <a:spLocks noChangeArrowheads="1"/>
          </p:cNvSpPr>
          <p:nvPr/>
        </p:nvSpPr>
        <p:spPr bwMode="auto">
          <a:xfrm>
            <a:off x="822960" y="1340768"/>
            <a:ext cx="7292676" cy="225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rPr>
              <a:t>参数估计是用样本统计量去估计总体的参数，即根据样本数据选择统计量去推断总体的分布或数字特征。</a:t>
            </a:r>
            <a:endParaRPr kumimoji="1" lang="en-US" altLang="zh-CN"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rPr>
              <a:t>参数估计</a:t>
            </a:r>
            <a:r>
              <a:rPr kumimoji="1" lang="zh-CN" altLang="en-US"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rPr>
              <a:t>是统计推断的种基本形式，其中除了最基本的最小二乘法和极大似然法，还有贝叶斯估计、极大后验估计、极小化极大熵法等。</a:t>
            </a:r>
            <a:endParaRPr kumimoji="1" lang="zh-CN" altLang="en-US"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endParaRPr kumimoji="1" lang="en-US" altLang="zh-CN" sz="2200" b="0" i="0" u="none" strike="noStrike" kern="0" cap="none" spc="0" normalizeH="0" baseline="0" noProof="0" dirty="0">
              <a:ln>
                <a:noFill/>
              </a:ln>
              <a:solidFill>
                <a:srgbClr val="000000"/>
              </a:solidFill>
              <a:effectLst/>
              <a:uLnTx/>
              <a:uFillTx/>
              <a:latin typeface="Calibri" panose="020F0502020204030204" pitchFamily="34" charset="0"/>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线性回归</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9" name="矩形 3"/>
          <p:cNvSpPr>
            <a:spLocks noChangeArrowheads="1"/>
          </p:cNvSpPr>
          <p:nvPr/>
        </p:nvSpPr>
        <p:spPr bwMode="auto">
          <a:xfrm>
            <a:off x="971600" y="1283797"/>
            <a:ext cx="7776864" cy="4109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mn-ea"/>
                <a:ea typeface="+mn-ea"/>
              </a:rPr>
              <a:t>线性回归是种通过拟合自变量与因变量之间最佳线性关系，来预测目标变量的方法。</a:t>
            </a:r>
            <a:endParaRPr kumimoji="1" lang="en-US" altLang="zh-CN" sz="2200" b="0" i="0" u="none" strike="noStrike" kern="0" cap="none" spc="0" normalizeH="0" baseline="0" noProof="0" dirty="0">
              <a:ln>
                <a:noFill/>
              </a:ln>
              <a:solidFill>
                <a:srgbClr val="000000"/>
              </a:solidFill>
              <a:effectLst/>
              <a:uLnTx/>
              <a:uFillTx/>
              <a:latin typeface="+mn-ea"/>
              <a:ea typeface="+mn-ea"/>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mn-ea"/>
                <a:ea typeface="+mn-ea"/>
              </a:rPr>
              <a:t>回归过程是给出一个样本集， 用函数拟合这个样本集，使样本集与拟合函数间的误差最小。</a:t>
            </a:r>
            <a:endParaRPr kumimoji="1" lang="en-US" altLang="zh-CN" sz="2200" b="0" i="0" u="none" strike="noStrike" kern="0" cap="none" spc="0" normalizeH="0" baseline="0" noProof="0" dirty="0">
              <a:ln>
                <a:noFill/>
              </a:ln>
              <a:solidFill>
                <a:srgbClr val="000000"/>
              </a:solidFill>
              <a:effectLst/>
              <a:uLnTx/>
              <a:uFillTx/>
              <a:latin typeface="+mn-ea"/>
              <a:ea typeface="+mn-ea"/>
            </a:endParaRPr>
          </a:p>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mn-ea"/>
                <a:ea typeface="+mn-ea"/>
              </a:rPr>
              <a:t>回归分析包括以下内容：</a:t>
            </a:r>
            <a:endParaRPr kumimoji="1" lang="en-US" altLang="zh-CN" sz="2200" b="0" i="0" u="none" strike="noStrike" kern="0" cap="none" spc="0" normalizeH="0" baseline="0" noProof="0" dirty="0">
              <a:ln>
                <a:noFill/>
              </a:ln>
              <a:solidFill>
                <a:srgbClr val="000000"/>
              </a:solidFill>
              <a:effectLst/>
              <a:uLnTx/>
              <a:uFillTx/>
              <a:latin typeface="+mn-ea"/>
              <a:ea typeface="+mn-ea"/>
            </a:endParaRPr>
          </a:p>
          <a:p>
            <a:pPr marL="742950" marR="0" lvl="1" indent="-28575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000" b="0" i="0" u="none" strike="noStrike" kern="0" cap="none" spc="0" normalizeH="0" baseline="0" noProof="0" dirty="0">
                <a:ln>
                  <a:noFill/>
                </a:ln>
                <a:solidFill>
                  <a:srgbClr val="000000"/>
                </a:solidFill>
                <a:effectLst/>
                <a:uLnTx/>
                <a:uFillTx/>
                <a:latin typeface="+mn-ea"/>
                <a:ea typeface="+mn-ea"/>
              </a:rPr>
              <a:t>从众多的输入变量中，</a:t>
            </a:r>
            <a:r>
              <a:rPr kumimoji="1" lang="zh-CN" altLang="en-US" sz="2000" b="0" i="0" u="none" strike="noStrike" kern="0" cap="none" spc="0" normalizeH="0" baseline="0" noProof="0" dirty="0">
                <a:ln>
                  <a:noFill/>
                </a:ln>
                <a:effectLst/>
                <a:uLnTx/>
                <a:uFillTx/>
                <a:latin typeface="+mn-ea"/>
                <a:ea typeface="+mn-ea"/>
              </a:rPr>
              <a:t>判断哪些变量对目标变量的影响是显著的</a:t>
            </a:r>
            <a:endParaRPr kumimoji="1" lang="en-US" altLang="zh-CN" sz="2000" b="0" i="0" u="none" strike="noStrike" kern="0" cap="none" spc="0" normalizeH="0" baseline="0" noProof="0" dirty="0">
              <a:ln>
                <a:noFill/>
              </a:ln>
              <a:effectLst/>
              <a:uLnTx/>
              <a:uFillTx/>
              <a:latin typeface="+mn-ea"/>
              <a:ea typeface="+mn-ea"/>
            </a:endParaRPr>
          </a:p>
          <a:p>
            <a:pPr marL="742950" marR="0" lvl="1" indent="-28575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000" b="0" i="0" u="none" strike="noStrike" kern="0" cap="none" spc="0" normalizeH="0" baseline="0" noProof="0" dirty="0">
                <a:ln>
                  <a:noFill/>
                </a:ln>
                <a:solidFill>
                  <a:srgbClr val="000000"/>
                </a:solidFill>
                <a:effectLst/>
                <a:uLnTx/>
                <a:uFillTx/>
                <a:latin typeface="+mn-ea"/>
                <a:ea typeface="+mn-ea"/>
              </a:rPr>
              <a:t>确定输入变量与目标变量间的回归模型</a:t>
            </a:r>
            <a:endParaRPr kumimoji="1" lang="en-US" altLang="zh-CN" sz="2000" b="0" i="0" u="none" strike="noStrike" kern="0" cap="none" spc="0" normalizeH="0" baseline="0" noProof="0" dirty="0">
              <a:ln>
                <a:noFill/>
              </a:ln>
              <a:solidFill>
                <a:srgbClr val="000000"/>
              </a:solidFill>
              <a:effectLst/>
              <a:uLnTx/>
              <a:uFillTx/>
              <a:latin typeface="+mn-ea"/>
              <a:ea typeface="+mn-ea"/>
            </a:endParaRPr>
          </a:p>
          <a:p>
            <a:pPr marL="742950" marR="0" lvl="1" indent="-28575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000" b="0" i="0" u="none" strike="noStrike" kern="0" cap="none" spc="0" normalizeH="0" baseline="0" noProof="0" dirty="0">
                <a:ln>
                  <a:noFill/>
                </a:ln>
                <a:solidFill>
                  <a:srgbClr val="000000"/>
                </a:solidFill>
                <a:effectLst/>
                <a:uLnTx/>
                <a:uFillTx/>
                <a:latin typeface="+mn-ea"/>
                <a:ea typeface="+mn-ea"/>
              </a:rPr>
              <a:t>根据样本估计并检验回归模型及未知参数</a:t>
            </a:r>
            <a:endParaRPr kumimoji="1" lang="en-US" altLang="zh-CN" sz="2000" b="0" i="0" u="none" strike="noStrike" kern="0" cap="none" spc="0" normalizeH="0" baseline="0" noProof="0" dirty="0">
              <a:ln>
                <a:noFill/>
              </a:ln>
              <a:solidFill>
                <a:srgbClr val="000000"/>
              </a:solidFill>
              <a:effectLst/>
              <a:uLnTx/>
              <a:uFillTx/>
              <a:latin typeface="+mn-ea"/>
              <a:ea typeface="+mn-ea"/>
            </a:endParaRPr>
          </a:p>
          <a:p>
            <a:pPr marL="742950" marR="0" lvl="1" indent="-28575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000" b="0" i="0" u="none" strike="noStrike" kern="0" cap="none" spc="0" normalizeH="0" baseline="0" noProof="0" dirty="0">
                <a:ln>
                  <a:noFill/>
                </a:ln>
                <a:solidFill>
                  <a:srgbClr val="000000"/>
                </a:solidFill>
                <a:effectLst/>
                <a:uLnTx/>
                <a:uFillTx/>
                <a:latin typeface="+mn-ea"/>
                <a:ea typeface="+mn-ea"/>
              </a:rPr>
              <a:t>模型检验与预测精度评估</a:t>
            </a:r>
            <a:endParaRPr kumimoji="1" lang="en-US" altLang="zh-CN" sz="2000" b="0" i="0" u="none" strike="noStrike" kern="0" cap="none" spc="0" normalizeH="0" baseline="0" noProof="0" dirty="0">
              <a:ln>
                <a:noFill/>
              </a:ln>
              <a:solidFill>
                <a:srgbClr val="000000"/>
              </a:solidFill>
              <a:effectLst/>
              <a:uLnTx/>
              <a:uFillTx/>
              <a:latin typeface="+mn-ea"/>
              <a:ea typeface="+mn-ea"/>
            </a:endParaRPr>
          </a:p>
          <a:p>
            <a:pPr marL="257175" marR="0" lvl="1" indent="-257175"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srgbClr val="000000"/>
                </a:solidFill>
                <a:effectLst/>
                <a:uLnTx/>
                <a:uFillTx/>
                <a:latin typeface="+mn-ea"/>
                <a:ea typeface="+mn-ea"/>
              </a:rPr>
              <a:t>一元线性回归和多元线性回归</a:t>
            </a:r>
            <a:endParaRPr kumimoji="1" lang="en-US" altLang="zh-CN" sz="2200" b="0" i="0" u="none" strike="noStrike" kern="0" cap="none" spc="0" normalizeH="0" baseline="0" noProof="0" dirty="0">
              <a:ln>
                <a:noFill/>
              </a:ln>
              <a:solidFill>
                <a:srgbClr val="000000"/>
              </a:solidFill>
              <a:effectLst/>
              <a:uLnTx/>
              <a:uFillTx/>
              <a:latin typeface="+mn-ea"/>
              <a:ea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一元线性回归</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5" name="矩形 3"/>
          <p:cNvSpPr>
            <a:spLocks noChangeArrowheads="1"/>
          </p:cNvSpPr>
          <p:nvPr/>
        </p:nvSpPr>
        <p:spPr bwMode="auto">
          <a:xfrm>
            <a:off x="822960" y="1202657"/>
            <a:ext cx="8069520" cy="1783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342900" marR="0" lvl="0" indent="-342900" defTabSz="45720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一元线性回归是描述两个变量之间线性相关关系的最简单的回归模型，如下图。在散点图中两个变量呈线性关系。一元线性回归模型表示为                  ，其中</a:t>
            </a:r>
            <a:r>
              <a:rPr kumimoji="1" lang="en-US" altLang="zh-CN" sz="2200" b="0" i="1"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a</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和</a:t>
            </a:r>
            <a:r>
              <a:rPr kumimoji="1" lang="en-US" altLang="zh-CN" sz="2200" b="0" i="1"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b</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是系数， 是随机变量。在这</a:t>
            </a:r>
            <a:r>
              <a:rPr kumimoji="1" lang="en-US" altLang="zh-CN"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 </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个线性模型中，自变量</a:t>
            </a:r>
            <a:r>
              <a:rPr kumimoji="1" lang="en-US" altLang="zh-CN"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x</a:t>
            </a:r>
            <a:r>
              <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rPr>
              <a:t>是非随机变量。随机变量要求服从正态分布。 </a:t>
            </a:r>
            <a:endParaRPr kumimoji="1" lang="zh-CN" altLang="en-US" sz="2200" b="0" i="0" u="none" strike="noStrike" kern="0" cap="none" spc="0" normalizeH="0" baseline="0" noProof="0" dirty="0">
              <a:ln>
                <a:noFill/>
              </a:ln>
              <a:solidFill>
                <a:prstClr val="black"/>
              </a:solidFill>
              <a:effectLst/>
              <a:uLnTx/>
              <a:uFillTx/>
              <a:latin typeface="Calibri" panose="020F0502020204030204" pitchFamily="34" charset="0"/>
              <a:ea typeface="宋体" panose="02010600030101010101" pitchFamily="2" charset="-122"/>
            </a:endParaRPr>
          </a:p>
        </p:txBody>
      </p:sp>
      <p:pic>
        <p:nvPicPr>
          <p:cNvPr id="16" name="图片 15"/>
          <p:cNvPicPr>
            <a:picLocks noChangeAspect="1"/>
          </p:cNvPicPr>
          <p:nvPr/>
        </p:nvPicPr>
        <p:blipFill>
          <a:blip r:embed="rId1"/>
          <a:stretch>
            <a:fillRect/>
          </a:stretch>
        </p:blipFill>
        <p:spPr>
          <a:xfrm>
            <a:off x="3779912" y="1916832"/>
            <a:ext cx="1124907" cy="387596"/>
          </a:xfrm>
          <a:prstGeom prst="rect">
            <a:avLst/>
          </a:prstGeom>
        </p:spPr>
      </p:pic>
      <p:pic>
        <p:nvPicPr>
          <p:cNvPr id="17" name="图片 16"/>
          <p:cNvPicPr>
            <a:picLocks noChangeAspect="1"/>
          </p:cNvPicPr>
          <p:nvPr/>
        </p:nvPicPr>
        <p:blipFill>
          <a:blip r:embed="rId2"/>
          <a:stretch>
            <a:fillRect/>
          </a:stretch>
        </p:blipFill>
        <p:spPr>
          <a:xfrm>
            <a:off x="2336512" y="3685355"/>
            <a:ext cx="4755768" cy="2476961"/>
          </a:xfrm>
          <a:prstGeom prst="rect">
            <a:avLst/>
          </a:prstGeom>
        </p:spPr>
      </p:pic>
      <p:sp>
        <p:nvSpPr>
          <p:cNvPr id="18" name="矩形 17"/>
          <p:cNvSpPr/>
          <p:nvPr/>
        </p:nvSpPr>
        <p:spPr>
          <a:xfrm>
            <a:off x="870059" y="3024642"/>
            <a:ext cx="8069520" cy="397032"/>
          </a:xfrm>
          <a:prstGeom prst="rect">
            <a:avLst/>
          </a:prstGeom>
        </p:spPr>
        <p:txBody>
          <a:bodyPr wrap="square">
            <a:spAutoFit/>
          </a:bodyPr>
          <a:lstStyle/>
          <a:p>
            <a:pPr marL="213995" indent="-213995" defTabSz="457200" eaLnBrk="1" hangingPunct="1">
              <a:lnSpc>
                <a:spcPct val="90000"/>
              </a:lnSpc>
              <a:buFont typeface="Wingdings" panose="05000000000000000000" pitchFamily="2" charset="2"/>
              <a:buChar char="Ø"/>
            </a:pPr>
            <a:r>
              <a:rPr lang="zh-CN" altLang="en-US" sz="2200" b="1" dirty="0">
                <a:solidFill>
                  <a:srgbClr val="FF0000"/>
                </a:solidFill>
                <a:latin typeface="Times New Roman" panose="02020603050405020304" pitchFamily="18" charset="0"/>
              </a:rPr>
              <a:t>发现一条拟合样本数据的直线，使得样本点尽量靠近直线</a:t>
            </a:r>
            <a:r>
              <a:rPr lang="zh-CN" altLang="en-US" sz="2000" b="1" dirty="0">
                <a:solidFill>
                  <a:srgbClr val="FF0000"/>
                </a:solidFill>
                <a:latin typeface="Times New Roman" panose="02020603050405020304" pitchFamily="18" charset="0"/>
              </a:rPr>
              <a:t>。</a:t>
            </a:r>
            <a:endParaRPr lang="zh-CN" altLang="en-US" sz="2000" b="1" dirty="0">
              <a:solidFill>
                <a:srgbClr val="FF0000"/>
              </a:solidFill>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一元线性回归</a:t>
            </a:r>
            <a:endParaRPr lang="zh-CN" altLang="en-US" spc="-100" dirty="0">
              <a:solidFill>
                <a:srgbClr val="D2533C"/>
              </a:solidFill>
              <a:latin typeface="Arial" panose="020B0604020202020204"/>
              <a:ea typeface="华文新魏" panose="02010800040101010101" pitchFamily="2" charset="-122"/>
            </a:endParaRPr>
          </a:p>
        </p:txBody>
      </p:sp>
      <p:sp>
        <p:nvSpPr>
          <p:cNvPr id="21" name="TextBox 1"/>
          <p:cNvSpPr txBox="1"/>
          <p:nvPr/>
        </p:nvSpPr>
        <p:spPr>
          <a:xfrm>
            <a:off x="565318" y="5663174"/>
            <a:ext cx="3474100" cy="483712"/>
          </a:xfrm>
          <a:prstGeom prst="rect">
            <a:avLst/>
          </a:prstGeom>
          <a:solidFill>
            <a:schemeClr val="bg1"/>
          </a:solidFill>
        </p:spPr>
        <p:txBody>
          <a:bodyPr wrap="square" rtlCol="0">
            <a:spAutoFit/>
          </a:bodyPr>
          <a:lstStyle/>
          <a:p>
            <a:endParaRPr lang="zh-CN" altLang="en-US" dirty="0">
              <a:noFill/>
            </a:endParaRPr>
          </a:p>
        </p:txBody>
      </p:sp>
      <p:pic>
        <p:nvPicPr>
          <p:cNvPr id="31" name="图片 30"/>
          <p:cNvPicPr>
            <a:picLocks noChangeAspect="1"/>
          </p:cNvPicPr>
          <p:nvPr/>
        </p:nvPicPr>
        <p:blipFill>
          <a:blip r:embed="rId1"/>
          <a:stretch>
            <a:fillRect/>
          </a:stretch>
        </p:blipFill>
        <p:spPr>
          <a:xfrm>
            <a:off x="107198" y="1268831"/>
            <a:ext cx="8693383" cy="46984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0100" y="134263"/>
            <a:ext cx="7543800" cy="1009030"/>
          </a:xfrm>
        </p:spPr>
        <p:txBody>
          <a:bodyPr/>
          <a:lstStyle/>
          <a:p>
            <a:r>
              <a:rPr lang="zh-CN" altLang="en-US" spc="-100" dirty="0">
                <a:solidFill>
                  <a:srgbClr val="D2533C"/>
                </a:solidFill>
                <a:latin typeface="Arial" panose="020B0604020202020204"/>
                <a:ea typeface="华文新魏" panose="02010800040101010101" pitchFamily="2" charset="-122"/>
              </a:rPr>
              <a:t>线性回归检验</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文本框 6"/>
              <p:cNvSpPr txBox="1"/>
              <p:nvPr/>
            </p:nvSpPr>
            <p:spPr>
              <a:xfrm>
                <a:off x="800100" y="1340768"/>
                <a:ext cx="7804348" cy="2826351"/>
              </a:xfrm>
              <a:prstGeom prst="rect">
                <a:avLst/>
              </a:prstGeom>
              <a:noFill/>
            </p:spPr>
            <p:txBody>
              <a:bodyPr wrap="square">
                <a:spAutoFit/>
              </a:bodyPr>
              <a:lstStyle/>
              <a:p>
                <a:r>
                  <a:rPr lang="zh-CN" altLang="en-US" sz="2200" dirty="0">
                    <a:solidFill>
                      <a:srgbClr val="000000"/>
                    </a:solidFill>
                  </a:rPr>
                  <a:t>一般使用</a:t>
                </a:r>
                <a14:m>
                  <m:oMath xmlns:m="http://schemas.openxmlformats.org/officeDocument/2006/math">
                    <m:r>
                      <a:rPr lang="en-US" altLang="zh-CN" sz="2200" i="1" dirty="0">
                        <a:solidFill>
                          <a:srgbClr val="000000"/>
                        </a:solidFill>
                        <a:latin typeface="Cambria Math" panose="02040503050406030204" pitchFamily="18" charset="0"/>
                      </a:rPr>
                      <m:t>𝑅</m:t>
                    </m:r>
                    <m:r>
                      <a:rPr lang="en-US" altLang="zh-CN" sz="2200" i="1" baseline="30000" dirty="0">
                        <a:solidFill>
                          <a:srgbClr val="000000"/>
                        </a:solidFill>
                        <a:latin typeface="Cambria Math" panose="02040503050406030204" pitchFamily="18" charset="0"/>
                      </a:rPr>
                      <m:t>2</m:t>
                    </m:r>
                  </m:oMath>
                </a14:m>
                <a:r>
                  <a:rPr lang="zh-CN" altLang="en-US" sz="2200" dirty="0">
                    <a:solidFill>
                      <a:srgbClr val="000000"/>
                    </a:solidFill>
                  </a:rPr>
                  <a:t>评价回归模型好坏</a:t>
                </a:r>
                <a:endParaRPr lang="en-US" altLang="zh-CN" sz="2200" dirty="0">
                  <a:solidFill>
                    <a:srgbClr val="000000"/>
                  </a:solidFill>
                </a:endParaRPr>
              </a:p>
              <a:p>
                <a:pPr marL="0" indent="0" algn="ctr">
                  <a:buNone/>
                </a:pPr>
                <a:r>
                  <a:rPr lang="en-US" altLang="zh-CN" sz="2200" i="1" dirty="0">
                    <a:solidFill>
                      <a:srgbClr val="000000"/>
                    </a:solidFill>
                  </a:rPr>
                  <a:t>R</a:t>
                </a:r>
                <a14:m>
                  <m:oMath xmlns:m="http://schemas.openxmlformats.org/officeDocument/2006/math">
                    <m:r>
                      <a:rPr lang="en-US" altLang="zh-CN" sz="3200" i="1" baseline="30000">
                        <a:solidFill>
                          <a:srgbClr val="000000"/>
                        </a:solidFill>
                        <a:latin typeface="Cambria Math" panose="02040503050406030204" pitchFamily="18" charset="0"/>
                      </a:rPr>
                      <m:t>2</m:t>
                    </m:r>
                    <m:r>
                      <a:rPr lang="en-US" altLang="zh-CN" sz="3200" i="1">
                        <a:solidFill>
                          <a:srgbClr val="000000"/>
                        </a:solidFill>
                        <a:latin typeface="Cambria Math" panose="02040503050406030204" pitchFamily="18" charset="0"/>
                      </a:rPr>
                      <m:t>=</m:t>
                    </m:r>
                    <m:f>
                      <m:fPr>
                        <m:ctrlPr>
                          <a:rPr lang="en-US" altLang="zh-CN" sz="3200" i="1">
                            <a:solidFill>
                              <a:srgbClr val="000000"/>
                            </a:solidFill>
                            <a:latin typeface="Cambria Math" panose="02040503050406030204" pitchFamily="18" charset="0"/>
                          </a:rPr>
                        </m:ctrlPr>
                      </m:fPr>
                      <m:num>
                        <m:r>
                          <a:rPr lang="en-US" altLang="zh-CN" sz="3200" i="1">
                            <a:solidFill>
                              <a:srgbClr val="000000"/>
                            </a:solidFill>
                            <a:latin typeface="Cambria Math" panose="02040503050406030204" pitchFamily="18" charset="0"/>
                          </a:rPr>
                          <m:t>𝑆𝑆</m:t>
                        </m:r>
                        <m:r>
                          <a:rPr lang="en-US" altLang="zh-CN" sz="3200" i="1" baseline="-25000">
                            <a:solidFill>
                              <a:srgbClr val="000000"/>
                            </a:solidFill>
                            <a:latin typeface="Cambria Math" panose="02040503050406030204" pitchFamily="18" charset="0"/>
                          </a:rPr>
                          <m:t>𝑅</m:t>
                        </m:r>
                      </m:num>
                      <m:den>
                        <m:r>
                          <a:rPr lang="en-US" altLang="zh-CN" sz="3200" i="1">
                            <a:solidFill>
                              <a:srgbClr val="000000"/>
                            </a:solidFill>
                            <a:latin typeface="Cambria Math" panose="02040503050406030204" pitchFamily="18" charset="0"/>
                          </a:rPr>
                          <m:t>𝑆𝑆</m:t>
                        </m:r>
                        <m:r>
                          <a:rPr lang="en-US" altLang="zh-CN" sz="3200" i="1" baseline="-25000">
                            <a:solidFill>
                              <a:srgbClr val="000000"/>
                            </a:solidFill>
                            <a:latin typeface="Cambria Math" panose="02040503050406030204" pitchFamily="18" charset="0"/>
                          </a:rPr>
                          <m:t>𝑇</m:t>
                        </m:r>
                      </m:den>
                    </m:f>
                    <m:r>
                      <a:rPr lang="en-US" altLang="zh-CN" sz="3200" i="1">
                        <a:solidFill>
                          <a:srgbClr val="000000"/>
                        </a:solidFill>
                        <a:latin typeface="Cambria Math" panose="02040503050406030204" pitchFamily="18" charset="0"/>
                      </a:rPr>
                      <m:t>=</m:t>
                    </m:r>
                    <m:r>
                      <a:rPr lang="en-US" altLang="zh-CN" sz="3200" i="1">
                        <a:solidFill>
                          <a:srgbClr val="000000"/>
                        </a:solidFill>
                        <a:latin typeface="Cambria Math" panose="02040503050406030204" pitchFamily="18" charset="0"/>
                      </a:rPr>
                      <m:t>1</m:t>
                    </m:r>
                    <m:r>
                      <a:rPr lang="en-US" altLang="zh-CN" sz="3200" i="1">
                        <a:solidFill>
                          <a:srgbClr val="000000"/>
                        </a:solidFill>
                        <a:latin typeface="Cambria Math" panose="02040503050406030204" pitchFamily="18" charset="0"/>
                      </a:rPr>
                      <m:t>−</m:t>
                    </m:r>
                    <m:f>
                      <m:fPr>
                        <m:ctrlPr>
                          <a:rPr lang="en-US" altLang="zh-CN" sz="3200" i="1">
                            <a:solidFill>
                              <a:srgbClr val="000000"/>
                            </a:solidFill>
                            <a:latin typeface="Cambria Math" panose="02040503050406030204" pitchFamily="18" charset="0"/>
                          </a:rPr>
                        </m:ctrlPr>
                      </m:fPr>
                      <m:num>
                        <m:r>
                          <a:rPr lang="en-US" altLang="zh-CN" sz="3200" i="1">
                            <a:solidFill>
                              <a:srgbClr val="000000"/>
                            </a:solidFill>
                            <a:latin typeface="Cambria Math" panose="02040503050406030204" pitchFamily="18" charset="0"/>
                          </a:rPr>
                          <m:t>𝑆𝑆</m:t>
                        </m:r>
                        <m:r>
                          <a:rPr lang="en-US" altLang="zh-CN" sz="3200" i="1" baseline="-25000">
                            <a:solidFill>
                              <a:srgbClr val="000000"/>
                            </a:solidFill>
                            <a:latin typeface="Cambria Math" panose="02040503050406030204" pitchFamily="18" charset="0"/>
                          </a:rPr>
                          <m:t>𝐸</m:t>
                        </m:r>
                      </m:num>
                      <m:den>
                        <m:r>
                          <a:rPr lang="en-US" altLang="zh-CN" sz="3200" i="1">
                            <a:solidFill>
                              <a:srgbClr val="000000"/>
                            </a:solidFill>
                            <a:latin typeface="Cambria Math" panose="02040503050406030204" pitchFamily="18" charset="0"/>
                          </a:rPr>
                          <m:t>𝑆𝑆</m:t>
                        </m:r>
                        <m:r>
                          <a:rPr lang="en-US" altLang="zh-CN" sz="3200" i="1" baseline="-25000">
                            <a:solidFill>
                              <a:srgbClr val="000000"/>
                            </a:solidFill>
                            <a:latin typeface="Cambria Math" panose="02040503050406030204" pitchFamily="18" charset="0"/>
                          </a:rPr>
                          <m:t>𝑇</m:t>
                        </m:r>
                      </m:den>
                    </m:f>
                  </m:oMath>
                </a14:m>
                <a:endParaRPr lang="en-US" altLang="zh-CN" sz="2200" dirty="0">
                  <a:solidFill>
                    <a:srgbClr val="000000"/>
                  </a:solidFill>
                </a:endParaRPr>
              </a:p>
              <a:p>
                <a:pPr marL="0" indent="0">
                  <a:buNone/>
                </a:pPr>
                <a:r>
                  <a:rPr lang="en-US" altLang="zh-CN" sz="2200" dirty="0">
                    <a:solidFill>
                      <a:srgbClr val="000000"/>
                    </a:solidFill>
                  </a:rPr>
                  <a:t>	</a:t>
                </a:r>
                <a:endParaRPr lang="en-US" altLang="zh-CN" sz="2200" dirty="0">
                  <a:solidFill>
                    <a:srgbClr val="000000"/>
                  </a:solidFill>
                </a:endParaRPr>
              </a:p>
              <a:p>
                <a:pPr marL="0" indent="0">
                  <a:buNone/>
                </a:pPr>
                <a:r>
                  <a:rPr lang="zh-CN" altLang="en-US" sz="2200" dirty="0">
                    <a:solidFill>
                      <a:srgbClr val="000000"/>
                    </a:solidFill>
                  </a:rPr>
                  <a:t>其中</a:t>
                </a:r>
                <a:r>
                  <a:rPr lang="en-US" altLang="zh-CN" sz="2200" dirty="0">
                    <a:solidFill>
                      <a:srgbClr val="000000"/>
                    </a:solidFill>
                  </a:rPr>
                  <a:t>SS</a:t>
                </a:r>
                <a:r>
                  <a:rPr lang="en-US" altLang="zh-CN" sz="2200" baseline="-25000" dirty="0">
                    <a:solidFill>
                      <a:srgbClr val="000000"/>
                    </a:solidFill>
                  </a:rPr>
                  <a:t>T</a:t>
                </a:r>
                <a:r>
                  <a:rPr lang="zh-CN" altLang="en-US" sz="2200" dirty="0">
                    <a:solidFill>
                      <a:srgbClr val="000000"/>
                    </a:solidFill>
                  </a:rPr>
                  <a:t>为总偏差平方，</a:t>
                </a:r>
                <a:r>
                  <a:rPr lang="en-US" altLang="zh-CN" sz="2200" dirty="0">
                    <a:solidFill>
                      <a:srgbClr val="000000"/>
                    </a:solidFill>
                  </a:rPr>
                  <a:t>SS</a:t>
                </a:r>
                <a:r>
                  <a:rPr lang="en-US" altLang="zh-CN" sz="2200" baseline="-25000" dirty="0">
                    <a:solidFill>
                      <a:srgbClr val="000000"/>
                    </a:solidFill>
                  </a:rPr>
                  <a:t>R</a:t>
                </a:r>
                <a:r>
                  <a:rPr lang="zh-CN" altLang="en-US" sz="2200" dirty="0">
                    <a:solidFill>
                      <a:srgbClr val="000000"/>
                    </a:solidFill>
                  </a:rPr>
                  <a:t>为回归平方和，</a:t>
                </a:r>
                <a:r>
                  <a:rPr lang="en-US" altLang="zh-CN" sz="2200" dirty="0">
                    <a:solidFill>
                      <a:srgbClr val="000000"/>
                    </a:solidFill>
                  </a:rPr>
                  <a:t>SS</a:t>
                </a:r>
                <a:r>
                  <a:rPr lang="en-US" altLang="zh-CN" sz="2200" baseline="-25000" dirty="0">
                    <a:solidFill>
                      <a:srgbClr val="000000"/>
                    </a:solidFill>
                  </a:rPr>
                  <a:t>E</a:t>
                </a:r>
                <a:r>
                  <a:rPr lang="zh-CN" altLang="en-US" sz="2200" dirty="0">
                    <a:solidFill>
                      <a:srgbClr val="000000"/>
                    </a:solidFill>
                  </a:rPr>
                  <a:t>为残差平方和</a:t>
                </a:r>
                <a:endParaRPr lang="en-US" altLang="zh-CN" sz="2200" dirty="0">
                  <a:solidFill>
                    <a:srgbClr val="000000"/>
                  </a:solidFill>
                </a:endParaRPr>
              </a:p>
              <a:p>
                <a:pPr marL="0" indent="0">
                  <a:buNone/>
                </a:pPr>
                <a:endParaRPr lang="en-US" altLang="zh-CN" sz="2200" dirty="0">
                  <a:solidFill>
                    <a:srgbClr val="000000"/>
                  </a:solidFill>
                </a:endParaRPr>
              </a:p>
              <a:p>
                <a:pPr marL="0" indent="0">
                  <a:buNone/>
                </a:pPr>
                <a:r>
                  <a:rPr lang="en-US" altLang="zh-CN" sz="2200" dirty="0"/>
                  <a:t>R</a:t>
                </a:r>
                <a:r>
                  <a:rPr lang="en-US" altLang="zh-CN" sz="2200" baseline="30000" dirty="0"/>
                  <a:t>2</a:t>
                </a:r>
                <a:r>
                  <a:rPr lang="zh-CN" altLang="en-US" sz="2200" dirty="0"/>
                  <a:t>判定系数度量一个线性回归方程的拟合程度，</a:t>
                </a:r>
                <a:r>
                  <a:rPr lang="zh-CN" altLang="en-US" sz="2200" dirty="0">
                    <a:solidFill>
                      <a:srgbClr val="FF0000"/>
                    </a:solidFill>
                  </a:rPr>
                  <a:t>越接近</a:t>
                </a:r>
                <a:r>
                  <a:rPr lang="en-US" altLang="zh-CN" sz="2200" dirty="0">
                    <a:solidFill>
                      <a:srgbClr val="FF0000"/>
                    </a:solidFill>
                  </a:rPr>
                  <a:t>1</a:t>
                </a:r>
                <a:r>
                  <a:rPr lang="zh-CN" altLang="en-US" sz="2200" dirty="0">
                    <a:solidFill>
                      <a:srgbClr val="FF0000"/>
                    </a:solidFill>
                  </a:rPr>
                  <a:t>拟合程度越好</a:t>
                </a:r>
                <a:endParaRPr lang="zh-CN" altLang="en-US" sz="2200" dirty="0"/>
              </a:p>
            </p:txBody>
          </p:sp>
        </mc:Choice>
        <mc:Fallback>
          <p:sp>
            <p:nvSpPr>
              <p:cNvPr id="7" name="文本框 6"/>
              <p:cNvSpPr txBox="1">
                <a:spLocks noRot="1" noChangeAspect="1" noMove="1" noResize="1" noEditPoints="1" noAdjustHandles="1" noChangeArrowheads="1" noChangeShapeType="1" noTextEdit="1"/>
              </p:cNvSpPr>
              <p:nvPr/>
            </p:nvSpPr>
            <p:spPr>
              <a:xfrm>
                <a:off x="800100" y="1340768"/>
                <a:ext cx="7804348" cy="2826351"/>
              </a:xfrm>
              <a:prstGeom prst="rect">
                <a:avLst/>
              </a:prstGeom>
              <a:blipFill rotWithShape="1">
                <a:blip r:embed="rId1"/>
                <a:stretch>
                  <a:fillRect t="-864" r="3" b="9"/>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多元线性回归</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3" name="图片 2"/>
          <p:cNvPicPr>
            <a:picLocks noChangeAspect="1"/>
          </p:cNvPicPr>
          <p:nvPr/>
        </p:nvPicPr>
        <p:blipFill>
          <a:blip r:embed="rId1"/>
          <a:stretch>
            <a:fillRect/>
          </a:stretch>
        </p:blipFill>
        <p:spPr>
          <a:xfrm>
            <a:off x="525045" y="1412776"/>
            <a:ext cx="8139630" cy="2808312"/>
          </a:xfrm>
          <a:prstGeom prst="rect">
            <a:avLst/>
          </a:prstGeom>
        </p:spPr>
      </p:pic>
      <p:sp>
        <p:nvSpPr>
          <p:cNvPr id="5" name="文本框 4"/>
          <p:cNvSpPr txBox="1"/>
          <p:nvPr/>
        </p:nvSpPr>
        <p:spPr>
          <a:xfrm>
            <a:off x="611505" y="4436745"/>
            <a:ext cx="4429125" cy="368300"/>
          </a:xfrm>
          <a:prstGeom prst="rect">
            <a:avLst/>
          </a:prstGeom>
        </p:spPr>
        <p:txBody>
          <a:bodyPr wrap="square">
            <a:spAutoFit/>
            <a:extLst>
              <a:ext uri="{4A0BC546-FE56-4ADE-93B0-CB8AF2F6F144}">
                <wpsdc:textFrameExt xmlns:wpsdc="http://www.wps.cn/officeDocument/2022/drawingmlCustomData" type="text"/>
              </a:ext>
            </a:extLst>
          </a:bodyPr>
          <a:p>
            <a:pPr marL="285750" indent="-285750" algn="l">
              <a:buClr>
                <a:srgbClr val="0070C0"/>
              </a:buClr>
              <a:buFont typeface="Wingdings" panose="05000000000000000000" charset="0"/>
              <a:buChar char="n"/>
            </a:pPr>
            <a:r>
              <a:rPr lang="zh-CN" altLang="en-US" sz="1800">
                <a:latin typeface="Arial" panose="020B0604020202020204" pitchFamily="34" charset="0"/>
                <a:ea typeface="微软雅黑" panose="020B0503020204020204" charset="-122"/>
              </a:rPr>
              <a:t>用最小二乘法</a:t>
            </a:r>
            <a:r>
              <a:rPr lang="en-US" altLang="zh-CN" sz="1800">
                <a:latin typeface="Arial" panose="020B0604020202020204" pitchFamily="34" charset="0"/>
                <a:ea typeface="微软雅黑" panose="020B0503020204020204" charset="-122"/>
              </a:rPr>
              <a:t>OLS</a:t>
            </a:r>
            <a:r>
              <a:rPr lang="zh-CN" altLang="en-US" sz="1800">
                <a:latin typeface="Arial" panose="020B0604020202020204" pitchFamily="34" charset="0"/>
                <a:ea typeface="微软雅黑" panose="020B0503020204020204" charset="-122"/>
              </a:rPr>
              <a:t>求解模型参数</a:t>
            </a:r>
            <a:endParaRPr lang="zh-CN" altLang="en-US" sz="1800">
              <a:latin typeface="Arial" panose="020B0604020202020204" pitchFamily="34" charset="0"/>
              <a:ea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多元线性回归</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F6DA434B-3FE0-453D-8E32-922B8A93A0FC}" type="slidenum">
              <a:rPr kumimoji="1" lang="en-US" altLang="zh-CN" sz="1050" b="0" i="0" u="none" strike="noStrike" kern="1200" cap="none" spc="0" normalizeH="0" baseline="0" noProof="0" smtClean="0">
                <a:ln>
                  <a:noFill/>
                </a:ln>
                <a:solidFill>
                  <a:srgbClr val="FFFFFF"/>
                </a:solidFill>
                <a:effectLst/>
                <a:uLnTx/>
                <a:uFillTx/>
                <a:latin typeface="Tahoma" panose="020B0604030504040204" pitchFamily="34" charset="0"/>
                <a:ea typeface="宋体" panose="02010600030101010101" pitchFamily="2" charset="-122"/>
                <a:cs typeface="+mn-cs"/>
              </a:rPr>
            </a:fld>
            <a:endParaRPr kumimoji="1" lang="en-US" altLang="zh-CN" sz="1050" b="0" i="0" u="none" strike="noStrike" kern="1200" cap="none" spc="0" normalizeH="0" baseline="0" noProof="0" dirty="0">
              <a:ln>
                <a:noFill/>
              </a:ln>
              <a:solidFill>
                <a:srgbClr val="FFFFFF"/>
              </a:solidFill>
              <a:effectLst/>
              <a:uLnTx/>
              <a:uFillTx/>
              <a:latin typeface="Tahoma" panose="020B0604030504040204" pitchFamily="34" charset="0"/>
              <a:ea typeface="宋体" panose="02010600030101010101" pitchFamily="2" charset="-122"/>
              <a:cs typeface="+mn-cs"/>
            </a:endParaRPr>
          </a:p>
        </p:txBody>
      </p:sp>
      <p:pic>
        <p:nvPicPr>
          <p:cNvPr id="3" name="图片 2"/>
          <p:cNvPicPr>
            <a:picLocks noChangeAspect="1"/>
          </p:cNvPicPr>
          <p:nvPr/>
        </p:nvPicPr>
        <p:blipFill>
          <a:blip r:embed="rId1"/>
          <a:stretch>
            <a:fillRect/>
          </a:stretch>
        </p:blipFill>
        <p:spPr>
          <a:xfrm>
            <a:off x="822960" y="1340768"/>
            <a:ext cx="8093291" cy="3065389"/>
          </a:xfrm>
          <a:prstGeom prst="rect">
            <a:avLst/>
          </a:prstGeom>
        </p:spPr>
      </p:pic>
      <p:sp>
        <p:nvSpPr>
          <p:cNvPr id="5" name="矩形 4"/>
          <p:cNvSpPr/>
          <p:nvPr/>
        </p:nvSpPr>
        <p:spPr>
          <a:xfrm>
            <a:off x="6228184" y="2348880"/>
            <a:ext cx="768159" cy="461665"/>
          </a:xfrm>
          <a:prstGeom prst="rect">
            <a:avLst/>
          </a:prstGeom>
        </p:spPr>
        <p:txBody>
          <a:bodyPr wrap="none">
            <a:spAutoFit/>
          </a:bodyPr>
          <a:lstStyle/>
          <a:p>
            <a:r>
              <a:rPr lang="en-US" altLang="zh-CN" i="1" dirty="0">
                <a:solidFill>
                  <a:srgbClr val="FF0000"/>
                </a:solidFill>
              </a:rPr>
              <a:t>N&gt;k</a:t>
            </a:r>
            <a:endParaRPr lang="zh-CN" altLang="en-US"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251262" y="980341"/>
            <a:ext cx="8469447" cy="4261498"/>
          </a:xfrm>
          <a:prstGeom prst="rect">
            <a:avLst/>
          </a:prstGeom>
        </p:spPr>
      </p:pic>
      <p:pic>
        <p:nvPicPr>
          <p:cNvPr id="1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9905" y="5516587"/>
            <a:ext cx="1933027" cy="629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标题 1"/>
          <p:cNvSpPr>
            <a:spLocks noGrp="1"/>
          </p:cNvSpPr>
          <p:nvPr>
            <p:ph type="title"/>
          </p:nvPr>
        </p:nvSpPr>
        <p:spPr>
          <a:xfrm>
            <a:off x="822960" y="286604"/>
            <a:ext cx="7543800" cy="892239"/>
          </a:xfrm>
        </p:spPr>
        <p:txBody>
          <a:bodyPr/>
          <a:lstStyle/>
          <a:p>
            <a:r>
              <a:rPr lang="zh-CN" altLang="en-US" spc="-100" dirty="0">
                <a:solidFill>
                  <a:srgbClr val="D2533C"/>
                </a:solidFill>
                <a:latin typeface="Arial" panose="020B0604020202020204"/>
                <a:ea typeface="华文新魏" panose="02010800040101010101" pitchFamily="2" charset="-122"/>
              </a:rPr>
              <a:t>多元线性回归</a:t>
            </a:r>
            <a:endParaRPr lang="zh-CN" altLang="en-US" spc="-100" dirty="0">
              <a:solidFill>
                <a:srgbClr val="D2533C"/>
              </a:solidFill>
              <a:latin typeface="Arial" panose="020B0604020202020204"/>
              <a:ea typeface="华文新魏" panose="02010800040101010101" pitchFamily="2" charset="-122"/>
            </a:endParaRPr>
          </a:p>
        </p:txBody>
      </p:sp>
      <p:pic>
        <p:nvPicPr>
          <p:cNvPr id="3" name="图片 2"/>
          <p:cNvPicPr>
            <a:picLocks noChangeAspect="1"/>
          </p:cNvPicPr>
          <p:nvPr/>
        </p:nvPicPr>
        <p:blipFill>
          <a:blip r:embed="rId3"/>
          <a:stretch>
            <a:fillRect/>
          </a:stretch>
        </p:blipFill>
        <p:spPr>
          <a:xfrm>
            <a:off x="3914775" y="2708910"/>
            <a:ext cx="766445" cy="400050"/>
          </a:xfrm>
          <a:prstGeom prst="rect">
            <a:avLst/>
          </a:prstGeom>
        </p:spPr>
      </p:pic>
      <p:pic>
        <p:nvPicPr>
          <p:cNvPr id="6" name="图片 5"/>
          <p:cNvPicPr>
            <a:picLocks noChangeAspect="1"/>
          </p:cNvPicPr>
          <p:nvPr/>
        </p:nvPicPr>
        <p:blipFill>
          <a:blip r:embed="rId4"/>
          <a:stretch>
            <a:fillRect/>
          </a:stretch>
        </p:blipFill>
        <p:spPr>
          <a:xfrm>
            <a:off x="4059555" y="2780665"/>
            <a:ext cx="509270" cy="328295"/>
          </a:xfrm>
          <a:prstGeom prst="rect">
            <a:avLst/>
          </a:prstGeom>
        </p:spPr>
      </p:pic>
      <p:pic>
        <p:nvPicPr>
          <p:cNvPr id="8" name="图片 7"/>
          <p:cNvPicPr>
            <a:picLocks noChangeAspect="1"/>
          </p:cNvPicPr>
          <p:nvPr/>
        </p:nvPicPr>
        <p:blipFill>
          <a:blip r:embed="rId5"/>
          <a:stretch>
            <a:fillRect/>
          </a:stretch>
        </p:blipFill>
        <p:spPr>
          <a:xfrm>
            <a:off x="971550" y="3392170"/>
            <a:ext cx="304800" cy="342900"/>
          </a:xfrm>
          <a:prstGeom prst="rect">
            <a:avLst/>
          </a:prstGeom>
        </p:spPr>
      </p:pic>
      <p:pic>
        <p:nvPicPr>
          <p:cNvPr id="9" name="图片 8"/>
          <p:cNvPicPr>
            <a:picLocks noChangeAspect="1"/>
          </p:cNvPicPr>
          <p:nvPr/>
        </p:nvPicPr>
        <p:blipFill>
          <a:blip r:embed="rId6"/>
          <a:stretch>
            <a:fillRect/>
          </a:stretch>
        </p:blipFill>
        <p:spPr>
          <a:xfrm>
            <a:off x="5648325" y="3458845"/>
            <a:ext cx="304800" cy="266700"/>
          </a:xfrm>
          <a:prstGeom prst="rect">
            <a:avLst/>
          </a:prstGeom>
        </p:spPr>
      </p:pic>
      <p:pic>
        <p:nvPicPr>
          <p:cNvPr id="10" name="图片 9"/>
          <p:cNvPicPr>
            <a:picLocks noChangeAspect="1"/>
          </p:cNvPicPr>
          <p:nvPr/>
        </p:nvPicPr>
        <p:blipFill>
          <a:blip r:embed="rId7"/>
          <a:stretch>
            <a:fillRect/>
          </a:stretch>
        </p:blipFill>
        <p:spPr>
          <a:xfrm>
            <a:off x="1979930" y="3460750"/>
            <a:ext cx="628015" cy="274320"/>
          </a:xfrm>
          <a:prstGeom prst="rect">
            <a:avLst/>
          </a:prstGeom>
        </p:spPr>
      </p:pic>
      <p:pic>
        <p:nvPicPr>
          <p:cNvPr id="11" name="图片 10"/>
          <p:cNvPicPr>
            <a:picLocks noChangeAspect="1"/>
          </p:cNvPicPr>
          <p:nvPr/>
        </p:nvPicPr>
        <p:blipFill>
          <a:blip r:embed="rId8"/>
          <a:stretch>
            <a:fillRect/>
          </a:stretch>
        </p:blipFill>
        <p:spPr>
          <a:xfrm>
            <a:off x="6732270" y="3458845"/>
            <a:ext cx="779145" cy="304800"/>
          </a:xfrm>
          <a:prstGeom prst="rect">
            <a:avLst/>
          </a:prstGeom>
        </p:spPr>
      </p:pic>
      <p:sp>
        <p:nvSpPr>
          <p:cNvPr id="13" name="文本框 12"/>
          <p:cNvSpPr txBox="1"/>
          <p:nvPr/>
        </p:nvSpPr>
        <p:spPr>
          <a:xfrm>
            <a:off x="611505" y="5241925"/>
            <a:ext cx="6555105" cy="783590"/>
          </a:xfrm>
          <a:prstGeom prst="rect">
            <a:avLst/>
          </a:prstGeom>
        </p:spPr>
        <p:txBody>
          <a:bodyPr wrap="square">
            <a:spAutoFit/>
          </a:bodyPr>
          <a:p>
            <a:pPr marL="0" indent="0" algn="l">
              <a:lnSpc>
                <a:spcPts val="1800"/>
              </a:lnSpc>
              <a:spcBef>
                <a:spcPct val="0"/>
              </a:spcBef>
              <a:spcAft>
                <a:spcPct val="0"/>
              </a:spcAft>
            </a:pPr>
            <a:r>
              <a:rPr lang="zh-CN" altLang="en-US" sz="1600" b="0">
                <a:solidFill>
                  <a:srgbClr val="000000"/>
                </a:solidFill>
              </a:rPr>
              <a:t>模型是 </a:t>
            </a:r>
            <a:r>
              <a:rPr lang="en-US" altLang="zh-CN" sz="2000" b="0">
                <a:solidFill>
                  <a:srgbClr val="000000"/>
                </a:solidFill>
              </a:rPr>
              <a:t>Y=Xβ+u,</a:t>
            </a:r>
            <a:r>
              <a:rPr lang="zh-CN" altLang="en-US" sz="1600" b="0">
                <a:solidFill>
                  <a:srgbClr val="000000"/>
                </a:solidFill>
              </a:rPr>
              <a:t>最小化残差平方和，对</a:t>
            </a:r>
            <a:r>
              <a:rPr lang="en-US" altLang="zh-CN" sz="2000" b="0">
                <a:solidFill>
                  <a:srgbClr val="000000"/>
                </a:solidFill>
              </a:rPr>
              <a:t>β</a:t>
            </a:r>
            <a:r>
              <a:rPr lang="zh-CN" altLang="en-US" sz="1600" b="0">
                <a:solidFill>
                  <a:srgbClr val="000000"/>
                </a:solidFill>
              </a:rPr>
              <a:t>求导等于 </a:t>
            </a:r>
            <a:r>
              <a:rPr lang="en-US" altLang="zh-CN" sz="1600" b="0">
                <a:solidFill>
                  <a:srgbClr val="000000"/>
                </a:solidFill>
              </a:rPr>
              <a:t>0</a:t>
            </a:r>
            <a:r>
              <a:rPr lang="zh-CN" altLang="en-US" sz="1600" b="0">
                <a:solidFill>
                  <a:srgbClr val="000000"/>
                </a:solidFill>
              </a:rPr>
              <a:t>，得到正规方程：</a:t>
            </a:r>
            <a:r>
              <a:rPr lang="en-US" altLang="zh-CN" sz="2000" b="0">
                <a:solidFill>
                  <a:srgbClr val="000000"/>
                </a:solidFill>
              </a:rPr>
              <a:t>X</a:t>
            </a:r>
            <a:r>
              <a:rPr lang="en-US" altLang="zh-CN" sz="2000" b="0" baseline="30000">
                <a:solidFill>
                  <a:srgbClr val="000000"/>
                </a:solidFill>
              </a:rPr>
              <a:t>T</a:t>
            </a:r>
            <a:r>
              <a:rPr lang="en-US" altLang="zh-CN" sz="2000" b="0">
                <a:solidFill>
                  <a:srgbClr val="000000"/>
                </a:solidFill>
              </a:rPr>
              <a:t>(Y−Xβ^​)=0,</a:t>
            </a:r>
            <a:r>
              <a:rPr lang="zh-CN" altLang="en-US" sz="1600" b="0">
                <a:solidFill>
                  <a:srgbClr val="000000"/>
                </a:solidFill>
              </a:rPr>
              <a:t>移项后就是：</a:t>
            </a:r>
            <a:r>
              <a:rPr lang="en-US" altLang="zh-CN" sz="2000" b="0">
                <a:solidFill>
                  <a:srgbClr val="000000"/>
                </a:solidFill>
              </a:rPr>
              <a:t>X</a:t>
            </a:r>
            <a:r>
              <a:rPr lang="en-US" altLang="zh-CN" sz="2000" b="0" baseline="30000">
                <a:solidFill>
                  <a:srgbClr val="000000"/>
                </a:solidFill>
              </a:rPr>
              <a:t>T</a:t>
            </a:r>
            <a:r>
              <a:rPr lang="en-US" altLang="zh-CN" sz="2000" b="0">
                <a:solidFill>
                  <a:srgbClr val="000000"/>
                </a:solidFill>
              </a:rPr>
              <a:t>Y=X</a:t>
            </a:r>
            <a:r>
              <a:rPr lang="en-US" altLang="zh-CN" sz="2000" b="0" baseline="30000">
                <a:solidFill>
                  <a:srgbClr val="000000"/>
                </a:solidFill>
              </a:rPr>
              <a:t>T</a:t>
            </a:r>
            <a:r>
              <a:rPr lang="en-US" altLang="zh-CN" sz="2000" b="0">
                <a:solidFill>
                  <a:srgbClr val="000000"/>
                </a:solidFill>
              </a:rPr>
              <a:t>Xβ^​,</a:t>
            </a:r>
            <a:r>
              <a:rPr lang="zh-CN" altLang="en-US" sz="1600" b="0">
                <a:solidFill>
                  <a:srgbClr val="000000"/>
                </a:solidFill>
              </a:rPr>
              <a:t>两边左乘</a:t>
            </a:r>
            <a:r>
              <a:rPr lang="en-US" altLang="zh-CN" sz="2000" b="0">
                <a:solidFill>
                  <a:srgbClr val="000000"/>
                </a:solidFill>
              </a:rPr>
              <a:t>(X</a:t>
            </a:r>
            <a:r>
              <a:rPr lang="en-US" altLang="zh-CN" sz="2000" b="0" baseline="30000">
                <a:solidFill>
                  <a:srgbClr val="000000"/>
                </a:solidFill>
              </a:rPr>
              <a:t>T</a:t>
            </a:r>
            <a:r>
              <a:rPr lang="en-US" altLang="zh-CN" sz="2000" b="0">
                <a:solidFill>
                  <a:srgbClr val="000000"/>
                </a:solidFill>
              </a:rPr>
              <a:t>X)</a:t>
            </a:r>
            <a:r>
              <a:rPr lang="en-US" altLang="zh-CN" sz="2000" b="0" baseline="30000">
                <a:solidFill>
                  <a:srgbClr val="000000"/>
                </a:solidFill>
              </a:rPr>
              <a:t>−1</a:t>
            </a:r>
            <a:r>
              <a:rPr lang="zh-CN" altLang="en-US" sz="1600" b="0">
                <a:solidFill>
                  <a:srgbClr val="000000"/>
                </a:solidFill>
              </a:rPr>
              <a:t>，就得到</a:t>
            </a:r>
            <a:r>
              <a:rPr lang="en-US" altLang="zh-CN" sz="2000" b="0">
                <a:solidFill>
                  <a:srgbClr val="000000"/>
                </a:solidFill>
              </a:rPr>
              <a:t>β^​=(X</a:t>
            </a:r>
            <a:r>
              <a:rPr lang="en-US" altLang="zh-CN" sz="2000" b="0" baseline="30000">
                <a:solidFill>
                  <a:srgbClr val="000000"/>
                </a:solidFill>
              </a:rPr>
              <a:t>T</a:t>
            </a:r>
            <a:r>
              <a:rPr lang="en-US" altLang="zh-CN" sz="2000" b="0">
                <a:solidFill>
                  <a:srgbClr val="000000"/>
                </a:solidFill>
              </a:rPr>
              <a:t>X)</a:t>
            </a:r>
            <a:r>
              <a:rPr lang="en-US" altLang="zh-CN" sz="2000" b="0" baseline="30000">
                <a:solidFill>
                  <a:srgbClr val="000000"/>
                </a:solidFill>
              </a:rPr>
              <a:t>−1</a:t>
            </a:r>
            <a:r>
              <a:rPr lang="en-US" altLang="zh-CN" sz="2000" b="0">
                <a:solidFill>
                  <a:srgbClr val="000000"/>
                </a:solidFill>
              </a:rPr>
              <a:t>X</a:t>
            </a:r>
            <a:r>
              <a:rPr lang="en-US" altLang="zh-CN" sz="2000" b="0" baseline="30000">
                <a:solidFill>
                  <a:srgbClr val="000000"/>
                </a:solidFill>
              </a:rPr>
              <a:t>T</a:t>
            </a:r>
            <a:r>
              <a:rPr lang="en-US" altLang="zh-CN" sz="2000" b="0">
                <a:solidFill>
                  <a:srgbClr val="000000"/>
                </a:solidFill>
              </a:rPr>
              <a:t>Y</a:t>
            </a:r>
            <a:endParaRPr lang="en-US" altLang="zh-CN" sz="2000" b="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
          <p:cNvSpPr>
            <a:spLocks noChangeArrowheads="1"/>
          </p:cNvSpPr>
          <p:nvPr/>
        </p:nvSpPr>
        <p:spPr bwMode="auto">
          <a:xfrm>
            <a:off x="838925" y="1331243"/>
            <a:ext cx="736441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dirty="0">
                <a:solidFill>
                  <a:srgbClr val="000000"/>
                </a:solidFill>
                <a:latin typeface="Times New Roman" panose="02020603050405020304" pitchFamily="18" charset="0"/>
              </a:rPr>
              <a:t>下表所示我国</a:t>
            </a:r>
            <a:r>
              <a:rPr kumimoji="0" lang="en-US" altLang="zh-CN" sz="2000" dirty="0">
                <a:solidFill>
                  <a:srgbClr val="000000"/>
                </a:solidFill>
                <a:latin typeface="Times New Roman" panose="02020603050405020304" pitchFamily="18" charset="0"/>
              </a:rPr>
              <a:t>1988–1998</a:t>
            </a:r>
            <a:r>
              <a:rPr kumimoji="0" lang="zh-CN" altLang="en-US" sz="2000" dirty="0">
                <a:solidFill>
                  <a:srgbClr val="000000"/>
                </a:solidFill>
                <a:latin typeface="Times New Roman" panose="02020603050405020304" pitchFamily="18" charset="0"/>
              </a:rPr>
              <a:t>年的城镇居民人均全年耐用消费品支出、人均全年可支配收入和耐用消费品价格指数的统计资料，试建立城镇居民人均全年耐用消费品支出</a:t>
            </a:r>
            <a:r>
              <a:rPr kumimoji="0" lang="en-US" altLang="zh-CN" sz="2000" dirty="0">
                <a:solidFill>
                  <a:srgbClr val="000000"/>
                </a:solidFill>
                <a:latin typeface="Times New Roman" panose="02020603050405020304" pitchFamily="18" charset="0"/>
              </a:rPr>
              <a:t>y</a:t>
            </a:r>
            <a:r>
              <a:rPr kumimoji="0" lang="zh-CN" altLang="en-US" sz="2000" dirty="0">
                <a:solidFill>
                  <a:srgbClr val="000000"/>
                </a:solidFill>
                <a:latin typeface="Times New Roman" panose="02020603050405020304" pitchFamily="18" charset="0"/>
              </a:rPr>
              <a:t>关于人均全年可支配收入</a:t>
            </a:r>
            <a:r>
              <a:rPr kumimoji="0" lang="en-US" altLang="zh-CN" sz="2000" dirty="0">
                <a:solidFill>
                  <a:srgbClr val="000000"/>
                </a:solidFill>
                <a:latin typeface="Times New Roman" panose="02020603050405020304" pitchFamily="18" charset="0"/>
              </a:rPr>
              <a:t>x</a:t>
            </a:r>
            <a:r>
              <a:rPr kumimoji="0" lang="en-US" altLang="zh-CN" sz="2000" baseline="-30000" dirty="0">
                <a:solidFill>
                  <a:srgbClr val="000000"/>
                </a:solidFill>
                <a:latin typeface="Times New Roman" panose="02020603050405020304" pitchFamily="18" charset="0"/>
              </a:rPr>
              <a:t>1</a:t>
            </a:r>
            <a:r>
              <a:rPr kumimoji="0" lang="zh-CN" altLang="en-US" sz="2000" dirty="0">
                <a:solidFill>
                  <a:srgbClr val="000000"/>
                </a:solidFill>
                <a:latin typeface="Times New Roman" panose="02020603050405020304" pitchFamily="18" charset="0"/>
              </a:rPr>
              <a:t>和耐用消费品价格指数</a:t>
            </a:r>
            <a:r>
              <a:rPr kumimoji="0" lang="en-US" altLang="zh-CN" sz="2000" dirty="0">
                <a:solidFill>
                  <a:srgbClr val="000000"/>
                </a:solidFill>
                <a:latin typeface="Times New Roman" panose="02020603050405020304" pitchFamily="18" charset="0"/>
              </a:rPr>
              <a:t>x</a:t>
            </a:r>
            <a:r>
              <a:rPr kumimoji="0" lang="en-US" altLang="zh-CN" sz="2000" baseline="-30000" dirty="0">
                <a:solidFill>
                  <a:srgbClr val="000000"/>
                </a:solidFill>
                <a:latin typeface="Times New Roman" panose="02020603050405020304" pitchFamily="18" charset="0"/>
              </a:rPr>
              <a:t>2</a:t>
            </a:r>
            <a:r>
              <a:rPr kumimoji="0" lang="zh-CN" altLang="en-US" sz="2000" dirty="0">
                <a:solidFill>
                  <a:srgbClr val="000000"/>
                </a:solidFill>
                <a:latin typeface="Times New Roman" panose="02020603050405020304" pitchFamily="18" charset="0"/>
              </a:rPr>
              <a:t>的回归模型。</a:t>
            </a:r>
            <a:endParaRPr kumimoji="0" lang="zh-CN" altLang="en-US" sz="2000" dirty="0">
              <a:latin typeface="Times New Roman" panose="02020603050405020304" pitchFamily="18" charset="0"/>
            </a:endParaRPr>
          </a:p>
        </p:txBody>
      </p:sp>
      <p:graphicFrame>
        <p:nvGraphicFramePr>
          <p:cNvPr id="33" name="Group 4"/>
          <p:cNvGraphicFramePr>
            <a:graphicFrameLocks noGrp="1"/>
          </p:cNvGraphicFramePr>
          <p:nvPr/>
        </p:nvGraphicFramePr>
        <p:xfrm>
          <a:off x="1218882" y="2852936"/>
          <a:ext cx="6706236" cy="3292056"/>
        </p:xfrm>
        <a:graphic>
          <a:graphicData uri="http://schemas.openxmlformats.org/drawingml/2006/table">
            <a:tbl>
              <a:tblPr/>
              <a:tblGrid>
                <a:gridCol w="709655"/>
                <a:gridCol w="2055041"/>
                <a:gridCol w="1944159"/>
                <a:gridCol w="1997381"/>
              </a:tblGrid>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年 份</a:t>
                      </a:r>
                      <a:endParaRPr kumimoji="0" lang="zh-CN" altLang="en-US"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人均耐用消费品支出</a:t>
                      </a:r>
                      <a:r>
                        <a:rPr kumimoji="0" lang="zh-CN" altLang="en-US" sz="12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 </a:t>
                      </a:r>
                      <a:r>
                        <a:rPr kumimoji="0" lang="en-US" altLang="zh-CN" sz="12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人均全年可支配收入</a:t>
                      </a:r>
                      <a:r>
                        <a:rPr kumimoji="0" lang="en-US" altLang="zh-CN" sz="1200" b="1" i="0" u="none" strike="noStrike" cap="none" normalizeH="0" baseline="0">
                          <a:ln>
                            <a:noFill/>
                          </a:ln>
                          <a:solidFill>
                            <a:srgbClr val="000000"/>
                          </a:solidFill>
                          <a:effectLst/>
                          <a:latin typeface="Times New Roman" panose="02020603050405020304" pitchFamily="18" charset="0"/>
                          <a:ea typeface="宋体" panose="02010600030101010101" pitchFamily="2" charset="-122"/>
                        </a:rPr>
                        <a:t>x</a:t>
                      </a:r>
                      <a:r>
                        <a:rPr kumimoji="0" lang="en-US" altLang="zh-CN" sz="1200" b="1" i="0" u="none" strike="noStrike" cap="none" normalizeH="0" baseline="-30000">
                          <a:ln>
                            <a:noFill/>
                          </a:ln>
                          <a:solidFill>
                            <a:srgbClr val="000000"/>
                          </a:solidFill>
                          <a:effectLst/>
                          <a:latin typeface="Times New Roman" panose="02020603050405020304" pitchFamily="18" charset="0"/>
                          <a:ea typeface="宋体" panose="02010600030101010101" pitchFamily="2" charset="-122"/>
                        </a:rPr>
                        <a:t>1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a:ln>
                            <a:noFill/>
                          </a:ln>
                          <a:solidFill>
                            <a:srgbClr val="000000"/>
                          </a:solidFill>
                          <a:effectLst/>
                          <a:latin typeface="宋体" panose="02010600030101010101" pitchFamily="2" charset="-122"/>
                          <a:ea typeface="宋体" panose="02010600030101010101" pitchFamily="2" charset="-122"/>
                        </a:rPr>
                        <a:t>耐用消费品价格指数</a:t>
                      </a:r>
                      <a:r>
                        <a:rPr kumimoji="0" lang="en-US" altLang="zh-CN" sz="1200" b="1" i="0" u="none" strike="noStrike" cap="none" normalizeH="0" baseline="0">
                          <a:ln>
                            <a:noFill/>
                          </a:ln>
                          <a:solidFill>
                            <a:srgbClr val="000000"/>
                          </a:solidFill>
                          <a:effectLst/>
                          <a:latin typeface="宋体" panose="02010600030101010101" pitchFamily="2" charset="-122"/>
                          <a:ea typeface="宋体" panose="02010600030101010101" pitchFamily="2" charset="-122"/>
                        </a:rPr>
                        <a:t>x</a:t>
                      </a:r>
                      <a:r>
                        <a:rPr kumimoji="0" lang="en-US" altLang="zh-CN" sz="1200" b="1" i="0" u="none" strike="noStrike" cap="none" normalizeH="0" baseline="-30000">
                          <a:ln>
                            <a:noFill/>
                          </a:ln>
                          <a:solidFill>
                            <a:srgbClr val="000000"/>
                          </a:solidFill>
                          <a:effectLst/>
                          <a:latin typeface="宋体" panose="02010600030101010101" pitchFamily="2" charset="-122"/>
                          <a:ea typeface="宋体" panose="02010600030101010101" pitchFamily="2" charset="-122"/>
                        </a:rPr>
                        <a:t>2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1988</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137.16</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1181.4</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115.96</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1989</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124.56</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1375.7</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133.35</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1990</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107.91</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1510.2</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128.21</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1991</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102.96</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1700.6</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124.85</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1992</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125.24</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2026.6</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122.49</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1993</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162.45</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2577.4</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129.86</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1994</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217.43</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3496.2</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139.52</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1995</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253.42</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4283.0</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140.44</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1996</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251.07</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4838.9</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139.12</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1997</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285.85</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5160.3</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133.35</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33699">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1998 </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327.26</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rgbClr val="000000"/>
                          </a:solidFill>
                          <a:effectLst/>
                          <a:latin typeface="宋体" panose="02010600030101010101" pitchFamily="2" charset="-122"/>
                          <a:ea typeface="宋体" panose="02010600030101010101" pitchFamily="2" charset="-122"/>
                        </a:rPr>
                        <a:t>5425.1</a:t>
                      </a:r>
                      <a:endPar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宋体" panose="02010600030101010101" pitchFamily="2" charset="-122"/>
                          <a:ea typeface="宋体" panose="02010600030101010101" pitchFamily="2" charset="-122"/>
                        </a:rPr>
                        <a:t>126.39</a:t>
                      </a:r>
                      <a:endParaRPr kumimoji="0" lang="en-US" altLang="zh-CN" sz="12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9" marB="45729"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
        <p:nvSpPr>
          <p:cNvPr id="36" name="标题 1"/>
          <p:cNvSpPr txBox="1"/>
          <p:nvPr/>
        </p:nvSpPr>
        <p:spPr>
          <a:xfrm>
            <a:off x="975360" y="439004"/>
            <a:ext cx="7543800" cy="892239"/>
          </a:xfrm>
          <a:prstGeom prst="rect">
            <a:avLst/>
          </a:prstGeom>
        </p:spPr>
        <p:txBody>
          <a:bodyPr vert="horz" lIns="91440" tIns="45720" rIns="91440" bIns="45720" rtlCol="0" anchor="b">
            <a:normAutofit/>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a:lstStyle>
          <a:p>
            <a:r>
              <a:rPr kumimoji="0" lang="zh-CN" altLang="en-US" spc="-100" dirty="0">
                <a:solidFill>
                  <a:srgbClr val="D2533C"/>
                </a:solidFill>
                <a:latin typeface="Arial" panose="020B0604020202020204"/>
                <a:ea typeface="华文新魏" panose="02010800040101010101" pitchFamily="2" charset="-122"/>
              </a:rPr>
              <a:t>多元线性回归案例</a:t>
            </a:r>
            <a:endParaRPr kumimoji="0" lang="zh-CN" altLang="en-US" spc="-100" dirty="0">
              <a:solidFill>
                <a:srgbClr val="D2533C"/>
              </a:solidFill>
              <a:latin typeface="Arial" panose="020B0604020202020204"/>
              <a:ea typeface="华文新魏" panose="02010800040101010101"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内容占位符 4"/>
          <p:cNvPicPr>
            <a:picLocks noChangeAspect="1"/>
          </p:cNvPicPr>
          <p:nvPr>
            <p:ph idx="1"/>
          </p:nvPr>
        </p:nvPicPr>
        <p:blipFill>
          <a:blip r:embed="rId1"/>
          <a:stretch>
            <a:fillRect/>
          </a:stretch>
        </p:blipFill>
        <p:spPr>
          <a:xfrm>
            <a:off x="1259840" y="260350"/>
            <a:ext cx="5374640" cy="602615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6" name="矩形 5"/>
          <p:cNvSpPr/>
          <p:nvPr/>
        </p:nvSpPr>
        <p:spPr>
          <a:xfrm>
            <a:off x="1259840" y="2447290"/>
            <a:ext cx="1656080" cy="64833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标题 1"/>
          <p:cNvSpPr txBox="1"/>
          <p:nvPr/>
        </p:nvSpPr>
        <p:spPr>
          <a:xfrm>
            <a:off x="975360" y="439004"/>
            <a:ext cx="7543800" cy="892239"/>
          </a:xfrm>
          <a:prstGeom prst="rect">
            <a:avLst/>
          </a:prstGeom>
        </p:spPr>
        <p:txBody>
          <a:bodyPr vert="horz" lIns="91440" tIns="45720" rIns="91440" bIns="45720" rtlCol="0" anchor="b">
            <a:normAutofit/>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a:lstStyle>
          <a:p>
            <a:r>
              <a:rPr kumimoji="0" lang="zh-CN" altLang="en-US" spc="-100" dirty="0">
                <a:solidFill>
                  <a:srgbClr val="D2533C"/>
                </a:solidFill>
                <a:latin typeface="Arial" panose="020B0604020202020204"/>
                <a:ea typeface="华文新魏" panose="02010800040101010101" pitchFamily="2" charset="-122"/>
              </a:rPr>
              <a:t>多元线性回归案例</a:t>
            </a:r>
            <a:endParaRPr kumimoji="0" lang="zh-CN" altLang="en-US" spc="-100" dirty="0">
              <a:solidFill>
                <a:srgbClr val="D2533C"/>
              </a:solidFill>
              <a:latin typeface="Arial" panose="020B0604020202020204"/>
              <a:ea typeface="华文新魏" panose="02010800040101010101" pitchFamily="2" charset="-122"/>
            </a:endParaRPr>
          </a:p>
        </p:txBody>
      </p:sp>
      <p:cxnSp>
        <p:nvCxnSpPr>
          <p:cNvPr id="37" name="直接连接符 13"/>
          <p:cNvCxnSpPr/>
          <p:nvPr/>
        </p:nvCxnSpPr>
        <p:spPr>
          <a:xfrm>
            <a:off x="746602" y="1345823"/>
            <a:ext cx="7891463" cy="3175"/>
          </a:xfrm>
          <a:prstGeom prst="line">
            <a:avLst/>
          </a:prstGeom>
          <a:ln>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38" name="Rectangle 7"/>
          <p:cNvSpPr>
            <a:spLocks noChangeArrowheads="1"/>
          </p:cNvSpPr>
          <p:nvPr/>
        </p:nvSpPr>
        <p:spPr bwMode="auto">
          <a:xfrm>
            <a:off x="1563090" y="5584795"/>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r>
              <a:rPr kumimoji="0" lang="zh-CN" altLang="en-US" sz="2000" dirty="0">
                <a:solidFill>
                  <a:srgbClr val="000000"/>
                </a:solidFill>
                <a:latin typeface="宋体" panose="02010600030101010101" pitchFamily="2" charset="-122"/>
              </a:rPr>
              <a:t>估计的回归方程</a:t>
            </a:r>
            <a:endParaRPr kumimoji="0" lang="zh-CN" altLang="en-US" sz="2000" dirty="0">
              <a:latin typeface="Times New Roman" panose="02020603050405020304" pitchFamily="18" charset="0"/>
            </a:endParaRPr>
          </a:p>
        </p:txBody>
      </p:sp>
      <p:pic>
        <p:nvPicPr>
          <p:cNvPr id="39"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19872" y="5612804"/>
            <a:ext cx="3744912" cy="36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651" y="1331243"/>
            <a:ext cx="5356666" cy="3911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8965"/>
                  </a:outerShdw>
                </a:effectLst>
              </a14:hiddenEffects>
            </a:ext>
          </a:extLst>
        </p:spPr>
      </p:pic>
      <p:sp>
        <p:nvSpPr>
          <p:cNvPr id="41" name="Rectangle 2"/>
          <p:cNvSpPr>
            <a:spLocks noChangeArrowheads="1"/>
          </p:cNvSpPr>
          <p:nvPr/>
        </p:nvSpPr>
        <p:spPr bwMode="auto">
          <a:xfrm>
            <a:off x="5966372" y="2727485"/>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42" name="对象 41"/>
          <p:cNvGraphicFramePr>
            <a:graphicFrameLocks noChangeAspect="1"/>
          </p:cNvGraphicFramePr>
          <p:nvPr/>
        </p:nvGraphicFramePr>
        <p:xfrm>
          <a:off x="5684968" y="1385039"/>
          <a:ext cx="2793445" cy="1269747"/>
        </p:xfrm>
        <a:graphic>
          <a:graphicData uri="http://schemas.openxmlformats.org/presentationml/2006/ole">
            <mc:AlternateContent xmlns:mc="http://schemas.openxmlformats.org/markup-compatibility/2006">
              <mc:Choice xmlns:v="urn:schemas-microsoft-com:vml" Requires="v">
                <p:oleObj spid="_x0000_s2" name="" r:id="rId3" imgW="1955800" imgH="889000" progId="Equation.DSMT4">
                  <p:embed/>
                </p:oleObj>
              </mc:Choice>
              <mc:Fallback>
                <p:oleObj name="" r:id="rId3" imgW="1955800" imgH="8890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4968" y="1385039"/>
                        <a:ext cx="2793445" cy="1269747"/>
                      </a:xfrm>
                      <a:prstGeom prst="rect">
                        <a:avLst/>
                      </a:prstGeom>
                      <a:noFill/>
                    </p:spPr>
                  </p:pic>
                </p:oleObj>
              </mc:Fallback>
            </mc:AlternateContent>
          </a:graphicData>
        </a:graphic>
      </p:graphicFrame>
      <p:pic>
        <p:nvPicPr>
          <p:cNvPr id="43" name="Picture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75395" y="3009852"/>
            <a:ext cx="3955254" cy="1074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4" name="椭圆 43"/>
          <p:cNvSpPr/>
          <p:nvPr/>
        </p:nvSpPr>
        <p:spPr>
          <a:xfrm>
            <a:off x="6571985" y="3252301"/>
            <a:ext cx="518432" cy="670872"/>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45" name="Rectangle 1"/>
          <p:cNvSpPr>
            <a:spLocks noChangeArrowheads="1"/>
          </p:cNvSpPr>
          <p:nvPr/>
        </p:nvSpPr>
        <p:spPr bwMode="auto">
          <a:xfrm>
            <a:off x="5658707" y="4420945"/>
            <a:ext cx="3135083" cy="408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defTabSz="914400" eaLnBrk="1" hangingPunct="1">
              <a:lnSpc>
                <a:spcPct val="150000"/>
              </a:lnSpc>
            </a:pPr>
            <a:r>
              <a:rPr lang="zh-CN" altLang="en-US" sz="2000" dirty="0">
                <a:solidFill>
                  <a:srgbClr val="FF0000"/>
                </a:solidFill>
              </a:rPr>
              <a:t>当自变量之间相关怎么办？</a:t>
            </a:r>
            <a:endParaRPr lang="zh-CN" altLang="zh-CN" sz="20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r>
              <a:rPr lang="zh-CN" altLang="en-US" b="1" dirty="0">
                <a:solidFill>
                  <a:srgbClr val="C00000"/>
                </a:solidFill>
                <a:sym typeface="+mn-ea"/>
              </a:rPr>
              <a:t>当多元线性回归方程中的自变量之间存在相关性，或者特征远多于样本（维度灾难）怎么办？</a:t>
            </a:r>
            <a:endParaRPr lang="zh-CN" altLang="en-US" b="1" dirty="0">
              <a:solidFill>
                <a:srgbClr val="C00000"/>
              </a:solidFill>
              <a:sym typeface="+mn-ea"/>
            </a:endParaRPr>
          </a:p>
          <a:p>
            <a:pPr>
              <a:buFont typeface="Wingdings" panose="05000000000000000000" charset="0"/>
              <a:buChar char="n"/>
            </a:pPr>
            <a:r>
              <a:rPr lang="zh-CN" altLang="en-US" b="1" dirty="0">
                <a:solidFill>
                  <a:schemeClr val="tx1"/>
                </a:solidFill>
                <a:sym typeface="+mn-ea"/>
              </a:rPr>
              <a:t>岭回归：数据存在严重的多重共线性，适用于特征多样本少的情形。通过不剔除变量的方式提升预测精度。（无法剔除无用特征）</a:t>
            </a:r>
            <a:endParaRPr lang="zh-CN" altLang="en-US" b="1" dirty="0">
              <a:solidFill>
                <a:schemeClr val="tx1"/>
              </a:solidFill>
              <a:sym typeface="+mn-ea"/>
            </a:endParaRPr>
          </a:p>
          <a:p>
            <a:pPr>
              <a:buFont typeface="Wingdings" panose="05000000000000000000" charset="0"/>
              <a:buChar char="n"/>
            </a:pPr>
            <a:r>
              <a:rPr lang="en-US" altLang="zh-CN" b="1" dirty="0">
                <a:solidFill>
                  <a:schemeClr val="tx1"/>
                </a:solidFill>
                <a:sym typeface="+mn-ea"/>
              </a:rPr>
              <a:t>LASSO</a:t>
            </a:r>
            <a:r>
              <a:rPr lang="zh-CN" altLang="en-US" b="1" dirty="0">
                <a:solidFill>
                  <a:schemeClr val="tx1"/>
                </a:solidFill>
                <a:sym typeface="+mn-ea"/>
              </a:rPr>
              <a:t>回归：可以把无用变量的系数压缩为 0，从而实现</a:t>
            </a:r>
            <a:r>
              <a:rPr lang="zh-CN" altLang="en-US" b="1" dirty="0">
                <a:solidFill>
                  <a:schemeClr val="tx1"/>
                </a:solidFill>
                <a:sym typeface="+mn-ea"/>
              </a:rPr>
              <a:t>变量</a:t>
            </a:r>
            <a:r>
              <a:rPr lang="zh-CN" altLang="en-US" b="1" dirty="0">
                <a:solidFill>
                  <a:schemeClr val="tx1"/>
                </a:solidFill>
                <a:sym typeface="+mn-ea"/>
              </a:rPr>
              <a:t>剔除。当特征间高度相关（强共线性）时，</a:t>
            </a:r>
            <a:r>
              <a:rPr lang="en-US" altLang="zh-CN" b="1" dirty="0">
                <a:solidFill>
                  <a:schemeClr val="tx1"/>
                </a:solidFill>
                <a:sym typeface="+mn-ea"/>
              </a:rPr>
              <a:t>Lasso </a:t>
            </a:r>
            <a:r>
              <a:rPr lang="zh-CN" altLang="en-US" b="1" dirty="0">
                <a:solidFill>
                  <a:schemeClr val="tx1"/>
                </a:solidFill>
                <a:sym typeface="+mn-ea"/>
              </a:rPr>
              <a:t>通常只会随机挑选其中一个，可能会漏掉真正重要的变量。</a:t>
            </a:r>
            <a:endParaRPr lang="zh-CN" altLang="en-US" b="1" dirty="0">
              <a:solidFill>
                <a:schemeClr val="tx1"/>
              </a:solidFill>
              <a:sym typeface="+mn-ea"/>
            </a:endParaRPr>
          </a:p>
          <a:p>
            <a:pPr>
              <a:buFont typeface="Wingdings" panose="05000000000000000000" charset="0"/>
              <a:buChar char="n"/>
            </a:pPr>
            <a:r>
              <a:rPr lang="zh-CN" altLang="en-US" b="1" dirty="0">
                <a:solidFill>
                  <a:schemeClr val="tx1"/>
                </a:solidFill>
                <a:sym typeface="+mn-ea"/>
              </a:rPr>
              <a:t>弹性网络：可以解决</a:t>
            </a:r>
            <a:r>
              <a:rPr lang="en-US" altLang="zh-CN" b="1" dirty="0">
                <a:solidFill>
                  <a:schemeClr val="tx1"/>
                </a:solidFill>
                <a:sym typeface="+mn-ea"/>
              </a:rPr>
              <a:t>LASSO</a:t>
            </a:r>
            <a:r>
              <a:rPr lang="zh-CN" altLang="en-US" b="1" dirty="0">
                <a:solidFill>
                  <a:schemeClr val="tx1"/>
                </a:solidFill>
                <a:sym typeface="+mn-ea"/>
              </a:rPr>
              <a:t>在解决强相关数据随机选取的问题，弹性网络则保留这一组强相关变量。适用于既存在多重共线性，特征数量又非常多（远多于样本）的情形。计算复杂度髙。</a:t>
            </a:r>
            <a:endParaRPr lang="zh-CN" altLang="en-US" b="1" dirty="0">
              <a:solidFill>
                <a:schemeClr val="tx1"/>
              </a:solidFill>
              <a:sym typeface="+mn-ea"/>
            </a:endParaRPr>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6" name="标题 1"/>
          <p:cNvSpPr>
            <a:spLocks noGrp="1"/>
          </p:cNvSpPr>
          <p:nvPr/>
        </p:nvSpPr>
        <p:spPr>
          <a:xfrm>
            <a:off x="539552" y="148161"/>
            <a:ext cx="8136904" cy="892175"/>
          </a:xfrm>
          <a:prstGeom prst="rect">
            <a:avLst/>
          </a:prstGeom>
        </p:spPr>
        <p:txBody>
          <a:bodyPr vert="horz" lIns="91440" tIns="45720" rIns="91440" bIns="45720" rtlCol="0" anchor="b">
            <a:normAutofit fontScale="90000"/>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岭回归、</a:t>
            </a:r>
            <a:r>
              <a:rPr lang="en-US" altLang="zh-CN" spc="-100" dirty="0">
                <a:solidFill>
                  <a:srgbClr val="D2533C"/>
                </a:solidFill>
                <a:latin typeface="Arial" panose="020B0604020202020204"/>
                <a:ea typeface="华文新魏" panose="02010800040101010101" pitchFamily="2" charset="-122"/>
              </a:rPr>
              <a:t>LASSO</a:t>
            </a:r>
            <a:r>
              <a:rPr lang="zh-CN" altLang="en-US" spc="-100" dirty="0">
                <a:solidFill>
                  <a:srgbClr val="D2533C"/>
                </a:solidFill>
                <a:latin typeface="Arial" panose="020B0604020202020204"/>
                <a:ea typeface="华文新魏" panose="02010800040101010101" pitchFamily="2" charset="-122"/>
              </a:rPr>
              <a:t>回归和弹性网络</a:t>
            </a:r>
            <a:endParaRPr lang="zh-CN" altLang="en-US" spc="-100" dirty="0">
              <a:solidFill>
                <a:srgbClr val="D2533C"/>
              </a:solidFill>
              <a:latin typeface="Arial" panose="020B0604020202020204"/>
              <a:ea typeface="华文新魏" panose="020108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图片 23"/>
          <p:cNvPicPr>
            <a:picLocks noChangeAspect="1"/>
          </p:cNvPicPr>
          <p:nvPr/>
        </p:nvPicPr>
        <p:blipFill>
          <a:blip r:embed="rId1"/>
          <a:srcRect l="7306" t="13403" r="19189" b="11125"/>
          <a:stretch>
            <a:fillRect/>
          </a:stretch>
        </p:blipFill>
        <p:spPr>
          <a:xfrm>
            <a:off x="1811106" y="5301468"/>
            <a:ext cx="4567946" cy="911975"/>
          </a:xfrm>
          <a:prstGeom prst="rect">
            <a:avLst/>
          </a:prstGeom>
        </p:spPr>
      </p:pic>
      <p:pic>
        <p:nvPicPr>
          <p:cNvPr id="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71600" y="1970175"/>
            <a:ext cx="6847322" cy="1863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标题 1"/>
          <p:cNvSpPr>
            <a:spLocks noGrp="1"/>
          </p:cNvSpPr>
          <p:nvPr>
            <p:ph type="title"/>
          </p:nvPr>
        </p:nvSpPr>
        <p:spPr>
          <a:xfrm>
            <a:off x="539552" y="363426"/>
            <a:ext cx="8136904" cy="892175"/>
          </a:xfrm>
        </p:spPr>
        <p:txBody>
          <a:bodyPr>
            <a:normAutofit fontScale="90000"/>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岭回归、</a:t>
            </a:r>
            <a:r>
              <a:rPr lang="en-US" altLang="zh-CN" spc="-100" dirty="0">
                <a:solidFill>
                  <a:srgbClr val="D2533C"/>
                </a:solidFill>
                <a:latin typeface="Arial" panose="020B0604020202020204"/>
                <a:ea typeface="华文新魏" panose="02010800040101010101" pitchFamily="2" charset="-122"/>
              </a:rPr>
              <a:t>LASSO</a:t>
            </a:r>
            <a:r>
              <a:rPr lang="zh-CN" altLang="en-US" spc="-100" dirty="0">
                <a:solidFill>
                  <a:srgbClr val="D2533C"/>
                </a:solidFill>
                <a:latin typeface="Arial" panose="020B0604020202020204"/>
                <a:ea typeface="华文新魏" panose="02010800040101010101" pitchFamily="2" charset="-122"/>
              </a:rPr>
              <a:t>回归和弹性网络</a:t>
            </a:r>
            <a:endParaRPr lang="zh-CN" altLang="en-US" spc="-100" dirty="0">
              <a:solidFill>
                <a:srgbClr val="D2533C"/>
              </a:solidFill>
              <a:latin typeface="Arial" panose="020B0604020202020204"/>
              <a:ea typeface="华文新魏" panose="02010800040101010101" pitchFamily="2" charset="-122"/>
            </a:endParaRPr>
          </a:p>
        </p:txBody>
      </p:sp>
      <p:sp>
        <p:nvSpPr>
          <p:cNvPr id="19" name="矩形 18"/>
          <p:cNvSpPr/>
          <p:nvPr/>
        </p:nvSpPr>
        <p:spPr>
          <a:xfrm>
            <a:off x="592978" y="3984869"/>
            <a:ext cx="1035861" cy="430887"/>
          </a:xfrm>
          <a:prstGeom prst="rect">
            <a:avLst/>
          </a:prstGeom>
        </p:spPr>
        <p:txBody>
          <a:bodyPr wrap="none">
            <a:spAutoFit/>
          </a:bodyPr>
          <a:lstStyle/>
          <a:p>
            <a:r>
              <a:rPr lang="zh-CN" altLang="en-US" sz="2200" b="1" dirty="0"/>
              <a:t>岭回归</a:t>
            </a:r>
            <a:endParaRPr lang="zh-CN" altLang="en-US" sz="2200" dirty="0"/>
          </a:p>
        </p:txBody>
      </p:sp>
      <p:sp>
        <p:nvSpPr>
          <p:cNvPr id="20" name="矩形 19"/>
          <p:cNvSpPr/>
          <p:nvPr/>
        </p:nvSpPr>
        <p:spPr>
          <a:xfrm>
            <a:off x="560704" y="4772363"/>
            <a:ext cx="1680268" cy="430887"/>
          </a:xfrm>
          <a:prstGeom prst="rect">
            <a:avLst/>
          </a:prstGeom>
        </p:spPr>
        <p:txBody>
          <a:bodyPr wrap="none">
            <a:spAutoFit/>
          </a:bodyPr>
          <a:lstStyle/>
          <a:p>
            <a:r>
              <a:rPr lang="en-US" altLang="zh-CN" sz="2200" b="1" dirty="0"/>
              <a:t>LASSO</a:t>
            </a:r>
            <a:r>
              <a:rPr lang="zh-CN" altLang="en-US" sz="2200" b="1" dirty="0"/>
              <a:t>回归</a:t>
            </a:r>
            <a:endParaRPr lang="zh-CN" altLang="en-US" sz="2200" dirty="0"/>
          </a:p>
        </p:txBody>
      </p:sp>
      <p:sp>
        <p:nvSpPr>
          <p:cNvPr id="21" name="矩形 20"/>
          <p:cNvSpPr/>
          <p:nvPr/>
        </p:nvSpPr>
        <p:spPr>
          <a:xfrm>
            <a:off x="568830" y="5542013"/>
            <a:ext cx="1319592" cy="430887"/>
          </a:xfrm>
          <a:prstGeom prst="rect">
            <a:avLst/>
          </a:prstGeom>
        </p:spPr>
        <p:txBody>
          <a:bodyPr wrap="none">
            <a:spAutoFit/>
          </a:bodyPr>
          <a:lstStyle/>
          <a:p>
            <a:pPr eaLnBrk="1" fontAlgn="auto" hangingPunct="1">
              <a:spcBef>
                <a:spcPts val="0"/>
              </a:spcBef>
              <a:spcAft>
                <a:spcPts val="0"/>
              </a:spcAft>
              <a:defRPr/>
            </a:pPr>
            <a:r>
              <a:rPr lang="zh-CN" altLang="en-US" sz="2200" b="1" dirty="0"/>
              <a:t>弹性网络</a:t>
            </a:r>
            <a:endParaRPr kumimoji="0" lang="zh-CN" altLang="en-US" sz="2200" dirty="0"/>
          </a:p>
        </p:txBody>
      </p:sp>
      <p:pic>
        <p:nvPicPr>
          <p:cNvPr id="22" name="图片 21"/>
          <p:cNvPicPr>
            <a:picLocks noChangeAspect="1"/>
          </p:cNvPicPr>
          <p:nvPr/>
        </p:nvPicPr>
        <p:blipFill>
          <a:blip r:embed="rId3"/>
          <a:stretch>
            <a:fillRect/>
          </a:stretch>
        </p:blipFill>
        <p:spPr>
          <a:xfrm>
            <a:off x="1811106" y="3779696"/>
            <a:ext cx="4071672" cy="851920"/>
          </a:xfrm>
          <a:prstGeom prst="rect">
            <a:avLst/>
          </a:prstGeom>
        </p:spPr>
      </p:pic>
      <p:pic>
        <p:nvPicPr>
          <p:cNvPr id="23" name="图片 22"/>
          <p:cNvPicPr>
            <a:picLocks noChangeAspect="1"/>
          </p:cNvPicPr>
          <p:nvPr/>
        </p:nvPicPr>
        <p:blipFill>
          <a:blip r:embed="rId4"/>
          <a:stretch>
            <a:fillRect/>
          </a:stretch>
        </p:blipFill>
        <p:spPr>
          <a:xfrm>
            <a:off x="2182308" y="4637128"/>
            <a:ext cx="4232884" cy="808096"/>
          </a:xfrm>
          <a:prstGeom prst="rect">
            <a:avLst/>
          </a:prstGeom>
        </p:spPr>
      </p:pic>
      <p:pic>
        <p:nvPicPr>
          <p:cNvPr id="25" name="图片 24"/>
          <p:cNvPicPr>
            <a:picLocks noChangeAspect="1"/>
          </p:cNvPicPr>
          <p:nvPr/>
        </p:nvPicPr>
        <p:blipFill>
          <a:blip r:embed="rId5"/>
          <a:stretch>
            <a:fillRect/>
          </a:stretch>
        </p:blipFill>
        <p:spPr>
          <a:xfrm>
            <a:off x="6238029" y="5465457"/>
            <a:ext cx="2905971" cy="747986"/>
          </a:xfrm>
          <a:prstGeom prst="rect">
            <a:avLst/>
          </a:prstGeom>
        </p:spPr>
      </p:pic>
      <p:sp>
        <p:nvSpPr>
          <p:cNvPr id="27" name="文本框 26"/>
          <p:cNvSpPr txBox="1"/>
          <p:nvPr/>
        </p:nvSpPr>
        <p:spPr>
          <a:xfrm>
            <a:off x="514847" y="1242694"/>
            <a:ext cx="8478688" cy="430887"/>
          </a:xfrm>
          <a:prstGeom prst="rect">
            <a:avLst/>
          </a:prstGeom>
          <a:noFill/>
        </p:spPr>
        <p:txBody>
          <a:bodyPr wrap="square">
            <a:spAutoFit/>
          </a:bodyPr>
          <a:lstStyle/>
          <a:p>
            <a:r>
              <a:rPr lang="zh-CN" altLang="en-US" sz="2200" dirty="0"/>
              <a:t>模型误差 </a:t>
            </a:r>
            <a:r>
              <a:rPr lang="en-US" altLang="zh-CN" sz="2200" dirty="0"/>
              <a:t>= </a:t>
            </a:r>
            <a:r>
              <a:rPr lang="zh-CN" altLang="en-US" sz="2200" dirty="0"/>
              <a:t>偏差（</a:t>
            </a:r>
            <a:r>
              <a:rPr lang="en-US" altLang="zh-CN" sz="2200" dirty="0"/>
              <a:t>Bias</a:t>
            </a:r>
            <a:r>
              <a:rPr lang="zh-CN" altLang="en-US" sz="2200" dirty="0"/>
              <a:t>）</a:t>
            </a:r>
            <a:r>
              <a:rPr lang="en-US" altLang="zh-CN" sz="2200" dirty="0"/>
              <a:t>+ </a:t>
            </a:r>
            <a:r>
              <a:rPr lang="zh-CN" altLang="en-US" sz="2200" dirty="0"/>
              <a:t>方差（</a:t>
            </a:r>
            <a:r>
              <a:rPr lang="en-US" altLang="zh-CN" sz="2200" dirty="0"/>
              <a:t>Variance</a:t>
            </a:r>
            <a:r>
              <a:rPr lang="zh-CN" altLang="en-US" sz="2200" dirty="0"/>
              <a:t>）</a:t>
            </a:r>
            <a:r>
              <a:rPr lang="en-US" altLang="zh-CN" sz="2200" dirty="0"/>
              <a:t>+ </a:t>
            </a:r>
            <a:r>
              <a:rPr lang="zh-CN" altLang="en-US" sz="2200" dirty="0"/>
              <a:t>数据本身的误差</a:t>
            </a:r>
            <a:endParaRPr lang="zh-CN" altLang="en-US" sz="2200" dirty="0"/>
          </a:p>
        </p:txBody>
      </p:sp>
      <p:sp>
        <p:nvSpPr>
          <p:cNvPr id="29" name="文本框 28"/>
          <p:cNvSpPr txBox="1"/>
          <p:nvPr/>
        </p:nvSpPr>
        <p:spPr>
          <a:xfrm>
            <a:off x="514847" y="1704333"/>
            <a:ext cx="3289539" cy="461665"/>
          </a:xfrm>
          <a:prstGeom prst="rect">
            <a:avLst/>
          </a:prstGeom>
          <a:noFill/>
        </p:spPr>
        <p:txBody>
          <a:bodyPr wrap="square">
            <a:spAutoFit/>
          </a:bodyPr>
          <a:lstStyle/>
          <a:p>
            <a:pPr eaLnBrk="1" fontAlgn="auto" hangingPunct="1">
              <a:spcBef>
                <a:spcPts val="0"/>
              </a:spcBef>
              <a:spcAft>
                <a:spcPts val="0"/>
              </a:spcAft>
              <a:defRPr/>
            </a:pPr>
            <a:r>
              <a:rPr kumimoji="0" lang="zh-CN" altLang="en-US" b="1" dirty="0">
                <a:solidFill>
                  <a:srgbClr val="FF0000"/>
                </a:solidFill>
              </a:rPr>
              <a:t>通过正则化防止过拟合</a:t>
            </a:r>
            <a:endParaRPr kumimoji="0" lang="zh-CN" altLang="en-US" b="1" dirty="0">
              <a:solidFill>
                <a:srgbClr val="FF0000"/>
              </a:solidFill>
            </a:endParaRPr>
          </a:p>
        </p:txBody>
      </p:sp>
      <p:sp>
        <p:nvSpPr>
          <p:cNvPr id="2" name="矩形 1"/>
          <p:cNvSpPr/>
          <p:nvPr/>
        </p:nvSpPr>
        <p:spPr>
          <a:xfrm>
            <a:off x="5004435" y="3789045"/>
            <a:ext cx="720090" cy="79184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5507990" y="4631690"/>
            <a:ext cx="720090" cy="79184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非线性回归</a:t>
            </a:r>
            <a:endParaRPr lang="zh-CN" altLang="en-US" spc="-100" dirty="0">
              <a:solidFill>
                <a:srgbClr val="D2533C"/>
              </a:solidFill>
              <a:latin typeface="Arial" panose="020B0604020202020204"/>
              <a:ea typeface="华文新魏" panose="02010800040101010101" pitchFamily="2" charset="-122"/>
            </a:endParaRPr>
          </a:p>
        </p:txBody>
      </p:sp>
      <p:sp>
        <p:nvSpPr>
          <p:cNvPr id="7" name="文本框 6"/>
          <p:cNvSpPr txBox="1"/>
          <p:nvPr/>
        </p:nvSpPr>
        <p:spPr>
          <a:xfrm>
            <a:off x="539552" y="1340768"/>
            <a:ext cx="7822704" cy="2339102"/>
          </a:xfrm>
          <a:prstGeom prst="rect">
            <a:avLst/>
          </a:prstGeom>
          <a:noFill/>
        </p:spPr>
        <p:txBody>
          <a:bodyPr wrap="square">
            <a:spAutoFit/>
          </a:bodyPr>
          <a:lstStyle/>
          <a:p>
            <a:pPr marL="342900" indent="-342900">
              <a:buFont typeface="Wingdings" panose="05000000000000000000" pitchFamily="2" charset="2"/>
              <a:buChar char="l"/>
            </a:pPr>
            <a:r>
              <a:rPr lang="zh-CN" altLang="en-US" sz="2200" dirty="0"/>
              <a:t>在统计学中，非线性回归是回归分析的一种形式， 非线性模型是由一个或多个自变量非线性组合。</a:t>
            </a:r>
            <a:endParaRPr lang="zh-CN" altLang="en-US" sz="2200" dirty="0"/>
          </a:p>
          <a:p>
            <a:pPr marL="342900" indent="-342900">
              <a:buFont typeface="Wingdings" panose="05000000000000000000" pitchFamily="2" charset="2"/>
              <a:buChar char="l"/>
            </a:pPr>
            <a:r>
              <a:rPr lang="zh-CN" altLang="en-US" sz="2200" dirty="0"/>
              <a:t>一些常见非线性模型</a:t>
            </a:r>
            <a:endParaRPr lang="zh-CN" altLang="en-US" sz="2200" dirty="0"/>
          </a:p>
          <a:p>
            <a:pPr marL="800100" lvl="1" indent="-342900">
              <a:buFont typeface="Wingdings" panose="05000000000000000000" pitchFamily="2" charset="2"/>
              <a:buChar char="ü"/>
            </a:pPr>
            <a:r>
              <a:rPr lang="zh-CN" altLang="en-US" sz="2000" dirty="0"/>
              <a:t>分段函数</a:t>
            </a:r>
            <a:endParaRPr lang="zh-CN" altLang="en-US" sz="2000" dirty="0"/>
          </a:p>
          <a:p>
            <a:pPr marL="800100" lvl="1" indent="-342900">
              <a:buFont typeface="Wingdings" panose="05000000000000000000" pitchFamily="2" charset="2"/>
              <a:buChar char="ü"/>
            </a:pPr>
            <a:r>
              <a:rPr lang="zh-CN" altLang="en-US" sz="2000" dirty="0"/>
              <a:t>样条曲线</a:t>
            </a:r>
            <a:endParaRPr lang="zh-CN" altLang="en-US" sz="2000" dirty="0"/>
          </a:p>
          <a:p>
            <a:pPr marL="800100" lvl="1" indent="-342900">
              <a:buFont typeface="Wingdings" panose="05000000000000000000" pitchFamily="2" charset="2"/>
              <a:buChar char="ü"/>
            </a:pPr>
            <a:r>
              <a:rPr lang="zh-CN" altLang="en-US" sz="2000" dirty="0"/>
              <a:t>多项式函数</a:t>
            </a:r>
            <a:endParaRPr lang="zh-CN" altLang="en-US" sz="2000" dirty="0"/>
          </a:p>
          <a:p>
            <a:pPr marL="800100" lvl="1" indent="-342900">
              <a:buFont typeface="Wingdings" panose="05000000000000000000" pitchFamily="2" charset="2"/>
              <a:buChar char="ü"/>
            </a:pPr>
            <a:r>
              <a:rPr lang="zh-CN" altLang="en-US" sz="2000" dirty="0"/>
              <a:t>其他</a:t>
            </a:r>
            <a:endParaRPr lang="zh-CN" altLang="en-US" sz="2000" dirty="0"/>
          </a:p>
        </p:txBody>
      </p:sp>
      <p:pic>
        <p:nvPicPr>
          <p:cNvPr id="8"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l="2516"/>
          <a:stretch>
            <a:fillRect/>
          </a:stretch>
        </p:blipFill>
        <p:spPr bwMode="auto">
          <a:xfrm>
            <a:off x="3563888" y="2060848"/>
            <a:ext cx="5580112" cy="4327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非线性回归</a:t>
            </a:r>
            <a:endParaRPr lang="zh-CN" altLang="en-US" spc="-100" dirty="0">
              <a:solidFill>
                <a:srgbClr val="D2533C"/>
              </a:solidFill>
              <a:latin typeface="Arial" panose="020B0604020202020204"/>
              <a:ea typeface="华文新魏" panose="02010800040101010101" pitchFamily="2" charset="-122"/>
            </a:endParaRPr>
          </a:p>
        </p:txBody>
      </p:sp>
      <p:pic>
        <p:nvPicPr>
          <p:cNvPr id="8" name="图片 7"/>
          <p:cNvPicPr>
            <a:picLocks noChangeAspect="1"/>
          </p:cNvPicPr>
          <p:nvPr/>
        </p:nvPicPr>
        <p:blipFill>
          <a:blip r:embed="rId1"/>
          <a:stretch>
            <a:fillRect/>
          </a:stretch>
        </p:blipFill>
        <p:spPr>
          <a:xfrm>
            <a:off x="1851228" y="2879716"/>
            <a:ext cx="2406927" cy="1349679"/>
          </a:xfrm>
          <a:prstGeom prst="rect">
            <a:avLst/>
          </a:prstGeom>
        </p:spPr>
      </p:pic>
      <p:pic>
        <p:nvPicPr>
          <p:cNvPr id="9" name="图片 8"/>
          <p:cNvPicPr>
            <a:picLocks noChangeAspect="1"/>
          </p:cNvPicPr>
          <p:nvPr/>
        </p:nvPicPr>
        <p:blipFill>
          <a:blip r:embed="rId2"/>
          <a:stretch>
            <a:fillRect/>
          </a:stretch>
        </p:blipFill>
        <p:spPr>
          <a:xfrm>
            <a:off x="4572000" y="2917447"/>
            <a:ext cx="2399429" cy="1349679"/>
          </a:xfrm>
          <a:prstGeom prst="rect">
            <a:avLst/>
          </a:prstGeom>
        </p:spPr>
      </p:pic>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1" y="1348656"/>
            <a:ext cx="8280921" cy="1206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椭圆 10"/>
          <p:cNvSpPr/>
          <p:nvPr/>
        </p:nvSpPr>
        <p:spPr>
          <a:xfrm>
            <a:off x="6563312" y="3010501"/>
            <a:ext cx="408117" cy="468070"/>
          </a:xfrm>
          <a:prstGeom prst="ellipse">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非线性回归</a:t>
            </a:r>
            <a:endParaRPr lang="zh-CN" altLang="en-US" spc="-100" dirty="0">
              <a:solidFill>
                <a:srgbClr val="D2533C"/>
              </a:solidFill>
              <a:latin typeface="Arial" panose="020B0604020202020204"/>
              <a:ea typeface="华文新魏" panose="02010800040101010101" pitchFamily="2" charset="-122"/>
            </a:endParaRPr>
          </a:p>
        </p:txBody>
      </p:sp>
      <p:pic>
        <p:nvPicPr>
          <p:cNvPr id="2"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79842" y="2204959"/>
            <a:ext cx="8103455" cy="3717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标题 1"/>
          <p:cNvSpPr>
            <a:spLocks noGrp="1"/>
          </p:cNvSpPr>
          <p:nvPr/>
        </p:nvSpPr>
        <p:spPr>
          <a:xfrm>
            <a:off x="459542" y="1284811"/>
            <a:ext cx="7543800" cy="892175"/>
          </a:xfrm>
          <a:prstGeom prst="rect">
            <a:avLst/>
          </a:prstGeom>
        </p:spPr>
        <p:txBody>
          <a:bodyPr vert="horz" lIns="91440" tIns="45720" rIns="91440" bIns="45720" rtlCol="0" anchor="b">
            <a:normAutofit/>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a:lstStyle>
          <a:p>
            <a:pPr marL="0" indent="0" eaLnBrk="1" fontAlgn="auto" hangingPunct="1">
              <a:lnSpc>
                <a:spcPct val="100000"/>
              </a:lnSpc>
              <a:spcAft>
                <a:spcPts val="0"/>
              </a:spcAft>
              <a:buFont typeface="Wingdings" panose="05000000000000000000" charset="0"/>
              <a:buNone/>
            </a:pPr>
            <a:r>
              <a:rPr lang="zh-CN" altLang="en-US" sz="2400" spc="-100" dirty="0">
                <a:solidFill>
                  <a:srgbClr val="D2533C"/>
                </a:solidFill>
                <a:latin typeface="Arial" panose="020B0604020202020204"/>
                <a:ea typeface="华文新魏" panose="02010800040101010101" pitchFamily="2" charset="-122"/>
              </a:rPr>
              <a:t>形式非线性但可以线性变换的伪非线性回归</a:t>
            </a:r>
            <a:endParaRPr lang="zh-CN" altLang="en-US" sz="2400" spc="-100" dirty="0">
              <a:solidFill>
                <a:srgbClr val="D2533C"/>
              </a:solidFill>
              <a:latin typeface="Arial" panose="020B0604020202020204"/>
              <a:ea typeface="华文新魏" panose="0201080004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rPr>
              <a:t>非线性回归</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539750" y="1557020"/>
            <a:ext cx="3462655" cy="4384040"/>
          </a:xfrm>
        </p:spPr>
        <p:txBody>
          <a:bodyPr/>
          <a:p>
            <a:pPr>
              <a:buFont typeface="Wingdings" panose="05000000000000000000" charset="0"/>
              <a:buChar char="n"/>
            </a:pPr>
            <a:r>
              <a:rPr lang="zh-CN" altLang="en-US"/>
              <a:t>用高次多项式自动拟合任何非线性数据</a:t>
            </a:r>
            <a:endParaRPr lang="zh-CN" altLang="en-US"/>
          </a:p>
          <a:p>
            <a:pPr>
              <a:buFont typeface="Wingdings" panose="05000000000000000000" charset="0"/>
              <a:buChar char="n"/>
            </a:pPr>
            <a:r>
              <a:rPr lang="en-US" altLang="zh-CN"/>
              <a:t>PolynomialFeatures(degree=n)</a:t>
            </a:r>
            <a:endParaRPr lang="en-US" altLang="zh-CN"/>
          </a:p>
          <a:p>
            <a:pPr>
              <a:buFont typeface="Wingdings" panose="05000000000000000000" charset="0"/>
              <a:buChar char="n"/>
            </a:pPr>
            <a:r>
              <a:rPr lang="zh-CN" altLang="en-US"/>
              <a:t>非线性回归的求解思想，用</a:t>
            </a:r>
            <a:r>
              <a:rPr lang="en-US" altLang="zh-CN"/>
              <a:t>fit</a:t>
            </a:r>
            <a:r>
              <a:rPr lang="zh-CN" altLang="en-US"/>
              <a:t>函数求解模型参数</a:t>
            </a:r>
            <a:endParaRPr lang="zh-CN" altLang="en-US"/>
          </a:p>
          <a:p>
            <a:pPr>
              <a:buFont typeface="Wingdings" panose="05000000000000000000" charset="0"/>
              <a:buChar char="n"/>
            </a:pPr>
            <a:r>
              <a:rPr lang="zh-CN" altLang="en-US"/>
              <a:t>如果已知了函数的具体形式，如指数函数、对数函数，直接用</a:t>
            </a:r>
            <a:r>
              <a:rPr lang="en-US" altLang="zh-CN"/>
              <a:t>curve_fit</a:t>
            </a:r>
            <a:r>
              <a:rPr lang="zh-CN" altLang="en-US"/>
              <a:t>函数求参数</a:t>
            </a:r>
            <a:endParaRPr lang="zh-CN" altLang="en-US"/>
          </a:p>
          <a:p>
            <a:pPr>
              <a:buFont typeface="Wingdings" panose="05000000000000000000" charset="0"/>
              <a:buChar char="n"/>
            </a:pP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5" name="图片 4"/>
          <p:cNvPicPr>
            <a:picLocks noChangeAspect="1"/>
          </p:cNvPicPr>
          <p:nvPr/>
        </p:nvPicPr>
        <p:blipFill>
          <a:blip r:embed="rId1"/>
          <a:stretch>
            <a:fillRect/>
          </a:stretch>
        </p:blipFill>
        <p:spPr>
          <a:xfrm>
            <a:off x="4500245" y="1052830"/>
            <a:ext cx="3733800" cy="5181600"/>
          </a:xfrm>
          <a:prstGeom prst="rect">
            <a:avLst/>
          </a:prstGeom>
        </p:spPr>
      </p:pic>
      <p:sp>
        <p:nvSpPr>
          <p:cNvPr id="6" name="矩形 5"/>
          <p:cNvSpPr/>
          <p:nvPr/>
        </p:nvSpPr>
        <p:spPr>
          <a:xfrm>
            <a:off x="4572000" y="3500755"/>
            <a:ext cx="2304415" cy="44450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rPr>
              <a:t>非线性回归</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22960" y="1484630"/>
            <a:ext cx="3326130" cy="4384040"/>
          </a:xfrm>
        </p:spPr>
        <p:txBody>
          <a:bodyPr/>
          <a:p>
            <a:pPr>
              <a:buFont typeface="Wingdings" panose="05000000000000000000" charset="0"/>
              <a:buChar char="n"/>
            </a:pPr>
            <a:r>
              <a:rPr lang="zh-CN" altLang="en-US">
                <a:sym typeface="+mn-ea"/>
              </a:rPr>
              <a:t>用全自动的黑箱非线性回归模型</a:t>
            </a:r>
            <a:endParaRPr lang="zh-CN" altLang="en-US">
              <a:sym typeface="+mn-ea"/>
            </a:endParaRPr>
          </a:p>
          <a:p>
            <a:pPr>
              <a:buFont typeface="Wingdings" panose="05000000000000000000" charset="0"/>
              <a:buChar char="n"/>
            </a:pPr>
            <a:r>
              <a:rPr lang="en-US" altLang="zh-CN">
                <a:sym typeface="+mn-ea"/>
              </a:rPr>
              <a:t>RandForestRegressor()</a:t>
            </a:r>
            <a:endParaRPr lang="en-US" altLang="zh-CN">
              <a:sym typeface="+mn-ea"/>
            </a:endParaRPr>
          </a:p>
          <a:p>
            <a:pPr>
              <a:buFont typeface="Wingdings" panose="05000000000000000000" charset="0"/>
              <a:buChar char="n"/>
            </a:pPr>
            <a:r>
              <a:rPr lang="zh-CN" altLang="en-US"/>
              <a:t>机器学习的思想，不是曲线拟合的思想，不需要估计参数，而是直接根据已知数据学习规律来进行预测。</a:t>
            </a:r>
            <a:endParaRPr lang="zh-CN" altLang="en-US"/>
          </a:p>
          <a:p>
            <a:pPr>
              <a:buFont typeface="Wingdings" panose="05000000000000000000" charset="0"/>
              <a:buChar char="n"/>
            </a:pP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6" name="矩形 5"/>
          <p:cNvSpPr/>
          <p:nvPr/>
        </p:nvSpPr>
        <p:spPr>
          <a:xfrm>
            <a:off x="4605655" y="3716655"/>
            <a:ext cx="2304415" cy="56007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7" name="图片 6"/>
          <p:cNvPicPr>
            <a:picLocks noChangeAspect="1"/>
          </p:cNvPicPr>
          <p:nvPr/>
        </p:nvPicPr>
        <p:blipFill>
          <a:blip r:embed="rId1"/>
          <a:stretch>
            <a:fillRect/>
          </a:stretch>
        </p:blipFill>
        <p:spPr>
          <a:xfrm>
            <a:off x="4605655" y="1785620"/>
            <a:ext cx="3467100" cy="3286125"/>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eaLnBrk="1" fontAlgn="auto" hangingPunct="1">
              <a:lnSpc>
                <a:spcPct val="100000"/>
              </a:lnSpc>
              <a:spcAft>
                <a:spcPts val="0"/>
              </a:spcAft>
              <a:buClrTx/>
              <a:buSzTx/>
              <a:buFontTx/>
            </a:pPr>
            <a:r>
              <a:rPr lang="zh-CN" altLang="en-US" spc="-100" dirty="0">
                <a:solidFill>
                  <a:srgbClr val="D2533C"/>
                </a:solidFill>
                <a:latin typeface="Arial" panose="020B0604020202020204"/>
                <a:ea typeface="华文新魏" panose="02010800040101010101" pitchFamily="2" charset="-122"/>
                <a:sym typeface="+mn-ea"/>
              </a:rPr>
              <a:t>广义线性回归GLM</a:t>
            </a:r>
            <a:endParaRPr lang="zh-CN" altLang="en-US" spc="-100" dirty="0">
              <a:solidFill>
                <a:srgbClr val="D2533C"/>
              </a:solidFill>
              <a:latin typeface="Arial" panose="020B0604020202020204"/>
              <a:ea typeface="华文新魏" panose="02010800040101010101" pitchFamily="2" charset="-122"/>
              <a:sym typeface="+mn-ea"/>
            </a:endParaRPr>
          </a:p>
        </p:txBody>
      </p:sp>
      <p:sp>
        <p:nvSpPr>
          <p:cNvPr id="3" name="内容占位符 2"/>
          <p:cNvSpPr>
            <a:spLocks noGrp="1"/>
          </p:cNvSpPr>
          <p:nvPr>
            <p:ph idx="1"/>
          </p:nvPr>
        </p:nvSpPr>
        <p:spPr>
          <a:xfrm>
            <a:off x="429260" y="1484630"/>
            <a:ext cx="8161655" cy="4384040"/>
          </a:xfrm>
        </p:spPr>
        <p:txBody>
          <a:bodyPr/>
          <a:p>
            <a:pPr latinLnBrk="0">
              <a:lnSpc>
                <a:spcPct val="150000"/>
              </a:lnSpc>
              <a:spcBef>
                <a:spcPts val="600"/>
              </a:spcBef>
              <a:spcAft>
                <a:spcPts val="600"/>
              </a:spcAft>
              <a:buFont typeface="Wingdings" panose="05000000000000000000" charset="0"/>
              <a:buChar char="Ø"/>
            </a:pPr>
            <a:r>
              <a:rPr lang="zh-CN" altLang="en-US"/>
              <a:t>普通线性回归的因变量</a:t>
            </a:r>
            <a:r>
              <a:rPr lang="en-US" altLang="zh-CN"/>
              <a:t>y</a:t>
            </a:r>
            <a:r>
              <a:rPr lang="zh-CN" altLang="en-US"/>
              <a:t>是连续数值，</a:t>
            </a:r>
            <a:r>
              <a:rPr lang="en-US" altLang="zh-CN"/>
              <a:t>y</a:t>
            </a:r>
            <a:r>
              <a:rPr lang="zh-CN" altLang="en-US"/>
              <a:t>和误差都服从正态分布，方差恒定，观测值独立。但现实中很多数据不满足这些条件：</a:t>
            </a:r>
            <a:endParaRPr lang="zh-CN" altLang="en-US"/>
          </a:p>
          <a:p>
            <a:pPr lvl="1" latinLnBrk="0">
              <a:lnSpc>
                <a:spcPct val="150000"/>
              </a:lnSpc>
              <a:spcBef>
                <a:spcPts val="600"/>
              </a:spcBef>
              <a:spcAft>
                <a:spcPts val="600"/>
              </a:spcAft>
              <a:buFont typeface="Wingdings" panose="05000000000000000000" charset="0"/>
              <a:buChar char="l"/>
            </a:pPr>
            <a:r>
              <a:rPr lang="zh-CN" altLang="en-US" b="1">
                <a:solidFill>
                  <a:srgbClr val="FF0000"/>
                </a:solidFill>
              </a:rPr>
              <a:t>分类数据</a:t>
            </a:r>
            <a:r>
              <a:rPr lang="zh-CN" altLang="en-US"/>
              <a:t>：二分类</a:t>
            </a:r>
            <a:r>
              <a:rPr lang="en-US" altLang="zh-CN"/>
              <a:t>0/1</a:t>
            </a:r>
            <a:r>
              <a:rPr lang="zh-CN" altLang="en-US"/>
              <a:t>（是否患病、是否违约等），多分类（优良中差等）</a:t>
            </a:r>
            <a:endParaRPr lang="zh-CN" altLang="en-US"/>
          </a:p>
          <a:p>
            <a:pPr lvl="1" latinLnBrk="0">
              <a:lnSpc>
                <a:spcPct val="150000"/>
              </a:lnSpc>
              <a:spcBef>
                <a:spcPts val="600"/>
              </a:spcBef>
              <a:spcAft>
                <a:spcPts val="600"/>
              </a:spcAft>
              <a:buFont typeface="Wingdings" panose="05000000000000000000" charset="0"/>
              <a:buChar char="l"/>
            </a:pPr>
            <a:r>
              <a:rPr lang="zh-CN" altLang="en-US" b="1">
                <a:solidFill>
                  <a:srgbClr val="FF0000"/>
                </a:solidFill>
              </a:rPr>
              <a:t>计数数据</a:t>
            </a:r>
            <a:r>
              <a:rPr lang="zh-CN" altLang="en-US"/>
              <a:t>：记录特定事件的发生次数（</a:t>
            </a:r>
            <a:r>
              <a:rPr lang="zh-CN" altLang="en-US">
                <a:sym typeface="+mn-ea"/>
              </a:rPr>
              <a:t>网站日访问量、点赞数、交通事故数等</a:t>
            </a:r>
            <a:r>
              <a:rPr lang="zh-CN" altLang="en-US"/>
              <a:t>），数据分布通常右偏态</a:t>
            </a:r>
            <a:endParaRPr lang="zh-CN" altLang="en-US"/>
          </a:p>
          <a:p>
            <a:pPr lvl="1" latinLnBrk="0">
              <a:lnSpc>
                <a:spcPct val="150000"/>
              </a:lnSpc>
              <a:spcBef>
                <a:spcPts val="600"/>
              </a:spcBef>
              <a:spcAft>
                <a:spcPts val="600"/>
              </a:spcAft>
              <a:buFont typeface="Wingdings" panose="05000000000000000000" charset="0"/>
              <a:buChar char="l"/>
            </a:pPr>
            <a:r>
              <a:rPr lang="zh-CN" altLang="en-US" b="1">
                <a:solidFill>
                  <a:srgbClr val="FF0000"/>
                </a:solidFill>
              </a:rPr>
              <a:t>非负连续数据</a:t>
            </a:r>
            <a:r>
              <a:rPr lang="zh-CN" altLang="en-US"/>
              <a:t>：收入、寿命、销售额等，数据天然大于等于零且常呈右偏分布。</a:t>
            </a:r>
            <a:r>
              <a:rPr lang="en-US" altLang="zh-CN"/>
              <a:t>OLS</a:t>
            </a:r>
            <a:r>
              <a:rPr lang="zh-CN" altLang="en-US"/>
              <a:t>不具备变量非负约束</a:t>
            </a:r>
            <a:endParaRPr lang="zh-CN" altLang="en-US"/>
          </a:p>
          <a:p>
            <a:pPr latinLnBrk="0">
              <a:lnSpc>
                <a:spcPct val="150000"/>
              </a:lnSpc>
              <a:spcBef>
                <a:spcPts val="600"/>
              </a:spcBef>
              <a:spcAft>
                <a:spcPts val="600"/>
              </a:spcAft>
              <a:buFont typeface="Wingdings" panose="05000000000000000000" charset="0"/>
              <a:buChar char="Ø"/>
            </a:pPr>
            <a:r>
              <a:rPr lang="en-US" altLang="zh-CN"/>
              <a:t>GLM</a:t>
            </a:r>
            <a:r>
              <a:rPr lang="zh-CN" altLang="en-US"/>
              <a:t>假设：因变量</a:t>
            </a:r>
            <a:r>
              <a:rPr lang="en-US" altLang="zh-CN"/>
              <a:t>y</a:t>
            </a:r>
            <a:r>
              <a:rPr lang="zh-CN" altLang="en-US"/>
              <a:t>服从一个来自</a:t>
            </a:r>
            <a:r>
              <a:rPr lang="zh-CN" altLang="en-US" b="1">
                <a:solidFill>
                  <a:srgbClr val="FF0000"/>
                </a:solidFill>
              </a:rPr>
              <a:t>指数族</a:t>
            </a:r>
            <a:r>
              <a:rPr lang="zh-CN" altLang="en-US"/>
              <a:t> (</a:t>
            </a:r>
            <a:r>
              <a:rPr lang="en-US" altLang="zh-CN"/>
              <a:t>Exponential Family)</a:t>
            </a:r>
            <a:r>
              <a:rPr lang="zh-CN" altLang="en-US"/>
              <a:t>的概率分布，这是</a:t>
            </a:r>
            <a:r>
              <a:rPr lang="en-US" altLang="zh-CN"/>
              <a:t>GLM</a:t>
            </a:r>
            <a:r>
              <a:rPr lang="zh-CN" altLang="en-US"/>
              <a:t>建模的基础假设，解决因变量取值范围受限的问题。</a:t>
            </a:r>
            <a:endParaRPr lang="zh-CN" altLang="en-US"/>
          </a:p>
          <a:p>
            <a:pPr>
              <a:buFont typeface="Wingdings" panose="05000000000000000000" charset="0"/>
              <a:buChar char="l"/>
            </a:pP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eaLnBrk="1" fontAlgn="auto" hangingPunct="1">
              <a:lnSpc>
                <a:spcPct val="100000"/>
              </a:lnSpc>
              <a:spcAft>
                <a:spcPts val="0"/>
              </a:spcAft>
              <a:buClrTx/>
              <a:buSzTx/>
              <a:buFontTx/>
            </a:pPr>
            <a:r>
              <a:rPr lang="zh-CN" altLang="en-US" spc="-100" dirty="0">
                <a:solidFill>
                  <a:srgbClr val="D2533C"/>
                </a:solidFill>
                <a:latin typeface="Arial" panose="020B0604020202020204"/>
                <a:ea typeface="华文新魏" panose="02010800040101010101" pitchFamily="2" charset="-122"/>
                <a:sym typeface="+mn-ea"/>
              </a:rPr>
              <a:t>广义线性回归GLM</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22960" y="1485265"/>
            <a:ext cx="8136890" cy="4384040"/>
          </a:xfrm>
        </p:spPr>
        <p:txBody>
          <a:bodyPr/>
          <a:p>
            <a:pPr latinLnBrk="0">
              <a:spcBef>
                <a:spcPts val="800"/>
              </a:spcBef>
              <a:spcAft>
                <a:spcPts val="800"/>
              </a:spcAft>
            </a:pPr>
            <a:r>
              <a:rPr lang="en-US" altLang="zh-CN"/>
              <a:t>GLM</a:t>
            </a:r>
            <a:r>
              <a:rPr lang="zh-CN" altLang="en-US"/>
              <a:t>的核心三要素：</a:t>
            </a:r>
            <a:endParaRPr lang="zh-CN" altLang="en-US"/>
          </a:p>
          <a:p>
            <a:pPr latinLnBrk="0">
              <a:spcBef>
                <a:spcPts val="800"/>
              </a:spcBef>
              <a:spcAft>
                <a:spcPts val="800"/>
              </a:spcAft>
              <a:buFont typeface="Wingdings" panose="05000000000000000000" charset="0"/>
              <a:buChar char="l"/>
            </a:pPr>
            <a:r>
              <a:rPr lang="zh-CN" altLang="en-US" b="1">
                <a:solidFill>
                  <a:srgbClr val="FF0000"/>
                </a:solidFill>
              </a:rPr>
              <a:t>线性预测</a:t>
            </a:r>
            <a:r>
              <a:rPr lang="zh-CN" altLang="en-US"/>
              <a:t>函数：</a:t>
            </a:r>
            <a:endParaRPr lang="zh-CN" altLang="en-US"/>
          </a:p>
          <a:p>
            <a:pPr latinLnBrk="0">
              <a:spcBef>
                <a:spcPts val="800"/>
              </a:spcBef>
              <a:spcAft>
                <a:spcPts val="800"/>
              </a:spcAft>
              <a:buFont typeface="Wingdings" panose="05000000000000000000" charset="0"/>
              <a:buChar char="l"/>
            </a:pPr>
            <a:r>
              <a:rPr lang="zh-CN" altLang="en-US"/>
              <a:t> 任意</a:t>
            </a:r>
            <a:r>
              <a:rPr lang="zh-CN" altLang="en-US" b="1">
                <a:solidFill>
                  <a:srgbClr val="FF0000"/>
                </a:solidFill>
              </a:rPr>
              <a:t>指数族分布</a:t>
            </a:r>
            <a:r>
              <a:rPr lang="zh-CN" altLang="en-US"/>
              <a:t>：正态分布（连续型数据）、二项分布（二元或比例数据）、泊松分布（计数型数据）</a:t>
            </a:r>
            <a:endParaRPr lang="zh-CN" altLang="en-US"/>
          </a:p>
          <a:p>
            <a:pPr latinLnBrk="0">
              <a:spcBef>
                <a:spcPts val="800"/>
              </a:spcBef>
              <a:spcAft>
                <a:spcPts val="800"/>
              </a:spcAft>
              <a:buFont typeface="Wingdings" panose="05000000000000000000" charset="0"/>
              <a:buChar char="l"/>
            </a:pPr>
            <a:r>
              <a:rPr lang="zh-CN" altLang="en-US" b="1">
                <a:solidFill>
                  <a:srgbClr val="FF0000"/>
                </a:solidFill>
              </a:rPr>
              <a:t>连接函数</a:t>
            </a:r>
            <a:r>
              <a:rPr lang="zh-CN" altLang="en-US"/>
              <a:t>：将因变量的期望值</a:t>
            </a:r>
            <a:r>
              <a:rPr lang="en-US" altLang="zh-CN"/>
              <a:t>μ = E(Y)</a:t>
            </a:r>
            <a:r>
              <a:rPr lang="zh-CN" altLang="en-US"/>
              <a:t>与线性预测器</a:t>
            </a:r>
            <a:r>
              <a:rPr lang="en-US" altLang="zh-CN"/>
              <a:t>η</a:t>
            </a:r>
            <a:r>
              <a:rPr lang="zh-CN" altLang="en-US"/>
              <a:t>建立起一一对应的数学联系</a:t>
            </a:r>
            <a:r>
              <a:rPr lang="en-US" altLang="zh-CN"/>
              <a:t>g(μ) = η = X</a:t>
            </a:r>
            <a:r>
              <a:rPr lang="en-US" altLang="en-US"/>
              <a:t>ᵀ</a:t>
            </a:r>
            <a:r>
              <a:rPr lang="en-US" altLang="zh-CN"/>
              <a:t>β</a:t>
            </a:r>
            <a:endParaRPr lang="en-US" altLang="zh-CN"/>
          </a:p>
          <a:p>
            <a:pPr lvl="2" latinLnBrk="0">
              <a:spcBef>
                <a:spcPts val="800"/>
              </a:spcBef>
              <a:spcAft>
                <a:spcPts val="800"/>
              </a:spcAft>
              <a:buFont typeface="Wingdings" panose="05000000000000000000" charset="0"/>
              <a:buChar char="l"/>
            </a:pPr>
            <a:r>
              <a:rPr lang="zh-CN" altLang="en-US" sz="1600"/>
              <a:t>恒等连接：</a:t>
            </a:r>
            <a:r>
              <a:rPr lang="en-US" altLang="zh-CN" sz="1600"/>
              <a:t>g(μ) = μ   </a:t>
            </a:r>
            <a:r>
              <a:rPr lang="zh-CN" altLang="en-US" sz="1600"/>
              <a:t>普通的线性回归，适用于因变量连续且无界</a:t>
            </a:r>
            <a:endParaRPr lang="en-US" altLang="zh-CN" sz="1600"/>
          </a:p>
          <a:p>
            <a:pPr lvl="2" latinLnBrk="0">
              <a:spcBef>
                <a:spcPts val="800"/>
              </a:spcBef>
              <a:spcAft>
                <a:spcPts val="800"/>
              </a:spcAft>
              <a:buFont typeface="Wingdings" panose="05000000000000000000" charset="0"/>
              <a:buChar char="l"/>
            </a:pPr>
            <a:r>
              <a:rPr lang="en-US" altLang="zh-CN" sz="1600"/>
              <a:t>Logit</a:t>
            </a:r>
            <a:r>
              <a:rPr lang="zh-CN" altLang="en-US" sz="1600"/>
              <a:t>连接：</a:t>
            </a:r>
            <a:r>
              <a:rPr lang="en-US" altLang="zh-CN" sz="1600"/>
              <a:t>g(μ) = log(μ / (1-μ))  </a:t>
            </a:r>
            <a:r>
              <a:rPr lang="zh-CN" altLang="en-US" sz="1600"/>
              <a:t>用于二项分布，将概率映射到</a:t>
            </a:r>
            <a:r>
              <a:rPr lang="en-US" altLang="zh-CN" sz="1600"/>
              <a:t> (-∞, +∞)。</a:t>
            </a:r>
            <a:endParaRPr lang="en-US" altLang="zh-CN" sz="1600"/>
          </a:p>
          <a:p>
            <a:pPr lvl="2" latinLnBrk="0">
              <a:spcBef>
                <a:spcPts val="800"/>
              </a:spcBef>
              <a:spcAft>
                <a:spcPts val="800"/>
              </a:spcAft>
              <a:buFont typeface="Wingdings" panose="05000000000000000000" charset="0"/>
              <a:buChar char="l"/>
            </a:pPr>
            <a:r>
              <a:rPr lang="en-US" altLang="zh-CN" sz="1600"/>
              <a:t>Log</a:t>
            </a:r>
            <a:r>
              <a:rPr lang="zh-CN" altLang="en-US" sz="1600"/>
              <a:t>连接：</a:t>
            </a:r>
            <a:r>
              <a:rPr lang="en-US" altLang="zh-CN" sz="1600"/>
              <a:t>g(μ) = log(μ)   </a:t>
            </a:r>
            <a:r>
              <a:rPr lang="zh-CN" altLang="en-US" sz="1600"/>
              <a:t>用于泊松分布，将计数均值 </a:t>
            </a:r>
            <a:r>
              <a:rPr lang="en-US" altLang="zh-CN" sz="1600"/>
              <a:t>μ ∈ (0, +∞) </a:t>
            </a:r>
            <a:r>
              <a:rPr lang="zh-CN" altLang="en-US" sz="1600"/>
              <a:t>映射至全实数轴。</a:t>
            </a:r>
            <a:endParaRPr lang="zh-CN" altLang="en-US" sz="1600"/>
          </a:p>
          <a:p>
            <a:pPr lvl="2" latinLnBrk="0">
              <a:spcBef>
                <a:spcPts val="800"/>
              </a:spcBef>
              <a:spcAft>
                <a:spcPts val="800"/>
              </a:spcAft>
              <a:buFont typeface="Wingdings" panose="05000000000000000000" charset="0"/>
              <a:buChar char="l"/>
            </a:pPr>
            <a:r>
              <a:rPr lang="zh-CN" altLang="en-US" sz="1600"/>
              <a:t>倒数连接 ：</a:t>
            </a:r>
            <a:r>
              <a:rPr lang="en-US" altLang="zh-CN" sz="1600"/>
              <a:t>g(μ) = 1/</a:t>
            </a:r>
            <a:r>
              <a:rPr lang="en-US" altLang="zh-CN" sz="1600">
                <a:sym typeface="+mn-ea"/>
              </a:rPr>
              <a:t>μ  </a:t>
            </a:r>
            <a:r>
              <a:rPr lang="zh-CN" altLang="en-US" sz="1600">
                <a:sym typeface="+mn-ea"/>
              </a:rPr>
              <a:t>用于伽马分布，即因变量是正的连续型数值变量</a:t>
            </a:r>
            <a:endParaRPr lang="en-US" altLang="zh-CN" sz="1600"/>
          </a:p>
          <a:p>
            <a:pPr marL="90805" lvl="1" indent="-90805" algn="l" latinLnBrk="0">
              <a:spcBef>
                <a:spcPts val="800"/>
              </a:spcBef>
              <a:spcAft>
                <a:spcPts val="800"/>
              </a:spcAft>
              <a:buSzTx/>
              <a:buFont typeface="Wingdings" panose="05000000000000000000" charset="0"/>
              <a:buChar char="l"/>
            </a:pPr>
            <a:r>
              <a:rPr lang="zh-CN" altLang="en-US" sz="2000"/>
              <a:t>参数β估计：最大似然估计法</a:t>
            </a:r>
            <a:endParaRPr lang="zh-CN" altLang="en-US" sz="2000"/>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5" name="图片 4"/>
          <p:cNvPicPr>
            <a:picLocks noChangeAspect="1"/>
          </p:cNvPicPr>
          <p:nvPr/>
        </p:nvPicPr>
        <p:blipFill>
          <a:blip r:embed="rId1"/>
          <a:stretch>
            <a:fillRect/>
          </a:stretch>
        </p:blipFill>
        <p:spPr>
          <a:xfrm>
            <a:off x="2628265" y="1917065"/>
            <a:ext cx="3201670" cy="41719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eaLnBrk="1" fontAlgn="auto" hangingPunct="1">
              <a:lnSpc>
                <a:spcPct val="100000"/>
              </a:lnSpc>
              <a:spcAft>
                <a:spcPts val="0"/>
              </a:spcAft>
              <a:buClrTx/>
              <a:buSzTx/>
              <a:buFontTx/>
            </a:pPr>
            <a:r>
              <a:rPr lang="zh-CN" altLang="en-US" spc="-100" dirty="0">
                <a:solidFill>
                  <a:srgbClr val="D2533C"/>
                </a:solidFill>
                <a:latin typeface="Arial" panose="020B0604020202020204"/>
                <a:ea typeface="华文新魏" panose="02010800040101010101" pitchFamily="2" charset="-122"/>
              </a:rPr>
              <a:t>常用的GLM模型</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a:buFont typeface="Wingdings" panose="05000000000000000000" charset="0"/>
              <a:buChar char="l"/>
            </a:pPr>
            <a:r>
              <a:rPr lang="zh-CN" altLang="en-US" sz="2400"/>
              <a:t>普通线性回归 (</a:t>
            </a:r>
            <a:r>
              <a:rPr lang="en-US" altLang="zh-CN" sz="2400"/>
              <a:t>Linear Regression)  </a:t>
            </a:r>
            <a:endParaRPr lang="en-US" altLang="zh-CN" sz="2400"/>
          </a:p>
          <a:p>
            <a:pPr lvl="2">
              <a:buFont typeface="Wingdings" panose="05000000000000000000" charset="0"/>
              <a:buChar char="l"/>
            </a:pPr>
            <a:r>
              <a:rPr lang="zh-CN" altLang="en-US" sz="1600"/>
              <a:t>因变量：连续数值型变量  </a:t>
            </a:r>
            <a:endParaRPr lang="zh-CN" altLang="en-US" sz="1600"/>
          </a:p>
          <a:p>
            <a:pPr lvl="2">
              <a:buFont typeface="Wingdings" panose="05000000000000000000" charset="0"/>
              <a:buChar char="l"/>
            </a:pPr>
            <a:r>
              <a:rPr lang="zh-CN" altLang="en-US" sz="1600"/>
              <a:t>模型配置：正态分布 + 恒等连接 </a:t>
            </a:r>
            <a:r>
              <a:rPr lang="en-US" altLang="zh-CN" sz="1600"/>
              <a:t>g(μ) = μ    </a:t>
            </a:r>
            <a:endParaRPr lang="en-US" altLang="zh-CN" sz="1600"/>
          </a:p>
          <a:p>
            <a:pPr lvl="0">
              <a:buFont typeface="Wingdings" panose="05000000000000000000" charset="0"/>
              <a:buChar char="l"/>
            </a:pPr>
            <a:r>
              <a:rPr lang="zh-CN" altLang="en-US" sz="2400"/>
              <a:t>逻辑回归 (</a:t>
            </a:r>
            <a:r>
              <a:rPr lang="en-US" altLang="zh-CN" sz="2400"/>
              <a:t>Logistic Regression)  </a:t>
            </a:r>
            <a:endParaRPr lang="en-US" altLang="zh-CN" sz="2400"/>
          </a:p>
          <a:p>
            <a:pPr lvl="2">
              <a:buFont typeface="Wingdings" panose="05000000000000000000" charset="0"/>
              <a:buChar char="l"/>
            </a:pPr>
            <a:r>
              <a:rPr lang="zh-CN" altLang="en-US" sz="1600"/>
              <a:t>因变量：二元离散变量 (0/1)  </a:t>
            </a:r>
            <a:endParaRPr lang="zh-CN" altLang="en-US" sz="1600"/>
          </a:p>
          <a:p>
            <a:pPr lvl="2">
              <a:buFont typeface="Wingdings" panose="05000000000000000000" charset="0"/>
              <a:buChar char="l"/>
            </a:pPr>
            <a:r>
              <a:rPr lang="zh-CN" altLang="en-US" sz="1600"/>
              <a:t>模型配置：二项分布 + </a:t>
            </a:r>
            <a:r>
              <a:rPr lang="en-US" altLang="zh-CN" sz="1600"/>
              <a:t>Logit</a:t>
            </a:r>
            <a:r>
              <a:rPr lang="zh-CN" altLang="en-US" sz="1600"/>
              <a:t>连接 </a:t>
            </a:r>
            <a:r>
              <a:rPr lang="en-US" altLang="zh-CN" sz="1600"/>
              <a:t>g(μ)=ln(μ/(1-μ))    </a:t>
            </a:r>
            <a:endParaRPr lang="en-US" altLang="zh-CN" sz="1600"/>
          </a:p>
          <a:p>
            <a:pPr lvl="0">
              <a:buFont typeface="Wingdings" panose="05000000000000000000" charset="0"/>
              <a:buChar char="l"/>
            </a:pPr>
            <a:r>
              <a:rPr lang="zh-CN" altLang="en-US" sz="2400"/>
              <a:t>泊松回归 (</a:t>
            </a:r>
            <a:r>
              <a:rPr lang="en-US" altLang="zh-CN" sz="2400"/>
              <a:t>Poisson Regression)  </a:t>
            </a:r>
            <a:endParaRPr lang="en-US" altLang="zh-CN" sz="2400"/>
          </a:p>
          <a:p>
            <a:pPr lvl="2">
              <a:buFont typeface="Wingdings" panose="05000000000000000000" charset="0"/>
              <a:buChar char="l"/>
            </a:pPr>
            <a:r>
              <a:rPr lang="zh-CN" altLang="en-US" sz="1600"/>
              <a:t>因变量：非负整数型计数数据  </a:t>
            </a:r>
            <a:endParaRPr lang="zh-CN" altLang="en-US" sz="1600"/>
          </a:p>
          <a:p>
            <a:pPr lvl="2">
              <a:buFont typeface="Wingdings" panose="05000000000000000000" charset="0"/>
              <a:buChar char="l"/>
            </a:pPr>
            <a:r>
              <a:rPr lang="zh-CN" altLang="en-US" sz="1600"/>
              <a:t>模型配置：泊松分布 + </a:t>
            </a:r>
            <a:r>
              <a:rPr lang="en-US" altLang="zh-CN" sz="1600"/>
              <a:t>Log</a:t>
            </a:r>
            <a:r>
              <a:rPr lang="zh-CN" altLang="en-US" sz="1600"/>
              <a:t>连接 </a:t>
            </a:r>
            <a:r>
              <a:rPr lang="en-US" altLang="zh-CN" sz="1600"/>
              <a:t>g(μ) = ln(μ)    </a:t>
            </a:r>
            <a:endParaRPr lang="en-US" altLang="zh-CN" sz="1600"/>
          </a:p>
          <a:p>
            <a:pPr lvl="0">
              <a:buFont typeface="Wingdings" panose="05000000000000000000" charset="0"/>
              <a:buChar char="l"/>
            </a:pPr>
            <a:r>
              <a:rPr lang="zh-CN" altLang="en-US" sz="2400"/>
              <a:t>伽马回归 (</a:t>
            </a:r>
            <a:r>
              <a:rPr lang="en-US" altLang="zh-CN" sz="2400"/>
              <a:t>Gamma Regression)  </a:t>
            </a:r>
            <a:endParaRPr lang="en-US" altLang="zh-CN" sz="2400"/>
          </a:p>
          <a:p>
            <a:pPr lvl="3">
              <a:buFont typeface="Wingdings" panose="05000000000000000000" charset="0"/>
              <a:buChar char="l"/>
            </a:pPr>
            <a:r>
              <a:rPr lang="zh-CN" altLang="en-US" sz="1600"/>
              <a:t>因变量：正的连续型数值变量  </a:t>
            </a:r>
            <a:endParaRPr lang="zh-CN" altLang="en-US" sz="1600"/>
          </a:p>
          <a:p>
            <a:pPr lvl="3">
              <a:buFont typeface="Wingdings" panose="05000000000000000000" charset="0"/>
              <a:buChar char="l"/>
            </a:pPr>
            <a:r>
              <a:rPr lang="zh-CN" altLang="en-US" sz="1600"/>
              <a:t>模型配置：伽马分布 + 倒数连接 </a:t>
            </a:r>
            <a:r>
              <a:rPr lang="en-US" altLang="zh-CN" sz="1600"/>
              <a:t>g(μ) = 1/μ</a:t>
            </a:r>
            <a:endParaRPr lang="en-US" altLang="zh-CN" sz="1600"/>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6" name="内容占位符 5"/>
          <p:cNvSpPr/>
          <p:nvPr>
            <p:ph idx="1"/>
          </p:nvPr>
        </p:nvSpPr>
        <p:spPr/>
        <p:txBody>
          <a:bodyPr/>
          <a:p>
            <a:pPr>
              <a:buFont typeface="Wingdings" panose="05000000000000000000" charset="0"/>
              <a:buChar char="n"/>
            </a:pPr>
            <a:r>
              <a:rPr lang="zh-CN" altLang="en-US"/>
              <a:t>逻辑斯蒂回归 (</a:t>
            </a:r>
            <a:r>
              <a:rPr lang="en-US" altLang="zh-CN"/>
              <a:t>logistic regression) </a:t>
            </a:r>
            <a:r>
              <a:rPr lang="zh-CN" altLang="en-US"/>
              <a:t>是统计中的经典分类方法。因变量是定性变量 (假设只取两个值)，而自变量可以是定量变量，也可以是定性变量。</a:t>
            </a:r>
            <a:endParaRPr lang="zh-CN" altLang="en-US"/>
          </a:p>
          <a:p>
            <a:pPr>
              <a:buFont typeface="Wingdings" panose="05000000000000000000" charset="0"/>
              <a:buChar char="n"/>
            </a:pPr>
            <a:r>
              <a:rPr lang="zh-CN" altLang="en-US"/>
              <a:t>对于定性变量，可以通过定义 “哑变量” 的方法把它数量化。</a:t>
            </a:r>
            <a:endParaRPr lang="zh-CN" altLang="en-US"/>
          </a:p>
          <a:p>
            <a:pPr>
              <a:buFont typeface="Wingdings" panose="05000000000000000000" charset="0"/>
              <a:buChar char="n"/>
            </a:pPr>
            <a:r>
              <a:rPr lang="zh-CN" altLang="en-US"/>
              <a:t>例如，假设因变量 </a:t>
            </a:r>
            <a:r>
              <a:rPr lang="en-US" altLang="zh-CN"/>
              <a:t>Y </a:t>
            </a:r>
            <a:r>
              <a:rPr lang="zh-CN" altLang="en-US"/>
              <a:t>表示信用卡持有人的违约状态，那么它取两个值：“违约” 和 “未违约”，可数量化为：</a:t>
            </a:r>
            <a:endParaRPr lang="en-US" altLang="zh-CN"/>
          </a:p>
        </p:txBody>
      </p:sp>
      <p:pic>
        <p:nvPicPr>
          <p:cNvPr id="7" name="图片 6"/>
          <p:cNvPicPr>
            <a:picLocks noChangeAspect="1"/>
          </p:cNvPicPr>
          <p:nvPr/>
        </p:nvPicPr>
        <p:blipFill>
          <a:blip r:embed="rId1"/>
          <a:stretch>
            <a:fillRect/>
          </a:stretch>
        </p:blipFill>
        <p:spPr>
          <a:xfrm>
            <a:off x="3204210" y="3861435"/>
            <a:ext cx="2438400" cy="94297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sp>
        <p:nvSpPr>
          <p:cNvPr id="3" name="内容占位符 2"/>
          <p:cNvSpPr>
            <a:spLocks noGrp="1"/>
          </p:cNvSpPr>
          <p:nvPr>
            <p:ph idx="1"/>
          </p:nvPr>
        </p:nvSpPr>
        <p:spPr/>
        <p:txBody>
          <a:bodyPr/>
          <a:p>
            <a:pPr latinLnBrk="0">
              <a:lnSpc>
                <a:spcPct val="150000"/>
              </a:lnSpc>
              <a:spcAft>
                <a:spcPts val="800"/>
              </a:spcAft>
            </a:pPr>
            <a:r>
              <a:rPr lang="zh-CN" altLang="en-US"/>
              <a:t>假设要基于一个人的年收入(</a:t>
            </a:r>
            <a:r>
              <a:rPr lang="en-US" altLang="zh-CN"/>
              <a:t>x</a:t>
            </a:r>
            <a:r>
              <a:rPr lang="en-US" altLang="zh-CN" baseline="-25000"/>
              <a:t>1​</a:t>
            </a:r>
            <a:r>
              <a:rPr lang="en-US" altLang="zh-CN"/>
              <a:t>)</a:t>
            </a:r>
            <a:r>
              <a:rPr lang="zh-CN" altLang="en-US"/>
              <a:t>和月信用卡余额(</a:t>
            </a:r>
            <a:r>
              <a:rPr lang="en-US" altLang="zh-CN"/>
              <a:t>x</a:t>
            </a:r>
            <a:r>
              <a:rPr lang="en-US" altLang="zh-CN" baseline="-25000"/>
              <a:t>2​</a:t>
            </a:r>
            <a:r>
              <a:rPr lang="en-US" altLang="zh-CN"/>
              <a:t>)</a:t>
            </a:r>
            <a:r>
              <a:rPr lang="zh-CN" altLang="en-US"/>
              <a:t>预测其违约状态。记</a:t>
            </a:r>
            <a:r>
              <a:rPr lang="en-US" altLang="zh-CN"/>
              <a:t>X=(X</a:t>
            </a:r>
            <a:r>
              <a:rPr lang="en-US" altLang="zh-CN" baseline="-25000"/>
              <a:t>1​</a:t>
            </a:r>
            <a:r>
              <a:rPr lang="en-US" altLang="zh-CN"/>
              <a:t>,X</a:t>
            </a:r>
            <a:r>
              <a:rPr lang="en-US" altLang="zh-CN" baseline="-25000"/>
              <a:t>2​</a:t>
            </a:r>
            <a:r>
              <a:rPr lang="en-US" altLang="zh-CN"/>
              <a:t>)</a:t>
            </a:r>
            <a:r>
              <a:rPr lang="en-US" altLang="zh-CN" baseline="30000"/>
              <a:t>T</a:t>
            </a:r>
            <a:r>
              <a:rPr lang="en-US" altLang="zh-CN"/>
              <a:t>，</a:t>
            </a:r>
            <a:r>
              <a:rPr lang="zh-CN" altLang="en-US"/>
              <a:t>建立：</a:t>
            </a:r>
            <a:r>
              <a:rPr lang="en-US" altLang="zh-CN"/>
              <a:t>p(X)=P(Y=1∣X)</a:t>
            </a:r>
            <a:r>
              <a:rPr lang="zh-CN" altLang="en-US"/>
              <a:t>与</a:t>
            </a:r>
            <a:r>
              <a:rPr lang="en-US" altLang="zh-CN"/>
              <a:t>X</a:t>
            </a:r>
            <a:r>
              <a:rPr lang="zh-CN" altLang="en-US"/>
              <a:t>之间的关系，利用</a:t>
            </a:r>
            <a:r>
              <a:rPr lang="en-US" altLang="zh-CN"/>
              <a:t>          </a:t>
            </a:r>
            <a:r>
              <a:rPr lang="zh-CN" altLang="en-US"/>
              <a:t>的大小对信用卡用户进行分类。假设，如果</a:t>
            </a:r>
            <a:r>
              <a:rPr lang="en-US" altLang="zh-CN"/>
              <a:t>           &gt;0.5，</a:t>
            </a:r>
            <a:r>
              <a:rPr lang="zh-CN" altLang="en-US"/>
              <a:t>我们把此个体归类为违约，否则归类为不违约。</a:t>
            </a:r>
            <a:endParaRPr lang="zh-CN" altLang="en-US"/>
          </a:p>
          <a:p>
            <a:pPr algn="ctr" latinLnBrk="0">
              <a:lnSpc>
                <a:spcPct val="150000"/>
              </a:lnSpc>
              <a:spcAft>
                <a:spcPts val="800"/>
              </a:spcAft>
            </a:pPr>
            <a:r>
              <a:rPr lang="zh-CN" altLang="en-US" sz="2800" b="1"/>
              <a:t>如何建立</a:t>
            </a:r>
            <a:r>
              <a:rPr lang="en-US" altLang="zh-CN" sz="2800" b="1">
                <a:sym typeface="+mn-ea"/>
              </a:rPr>
              <a:t>p(X)=P(Y=1∣X)</a:t>
            </a:r>
            <a:r>
              <a:rPr lang="zh-CN" altLang="en-US" sz="2800" b="1">
                <a:sym typeface="+mn-ea"/>
              </a:rPr>
              <a:t>与</a:t>
            </a:r>
            <a:r>
              <a:rPr lang="en-US" altLang="zh-CN" sz="2800" b="1">
                <a:sym typeface="+mn-ea"/>
              </a:rPr>
              <a:t>X</a:t>
            </a:r>
            <a:r>
              <a:rPr lang="zh-CN" altLang="en-US" sz="2800" b="1">
                <a:sym typeface="+mn-ea"/>
              </a:rPr>
              <a:t>之间的关系</a:t>
            </a:r>
            <a:r>
              <a:rPr lang="en-US" altLang="zh-CN" sz="2800" b="1">
                <a:sym typeface="+mn-ea"/>
              </a:rPr>
              <a:t>?</a:t>
            </a:r>
            <a:endParaRPr lang="en-US" altLang="zh-CN" sz="2800" b="1">
              <a:sym typeface="+mn-ea"/>
            </a:endParaRPr>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5" name="图片 4"/>
          <p:cNvPicPr>
            <a:picLocks noChangeAspect="1"/>
          </p:cNvPicPr>
          <p:nvPr/>
        </p:nvPicPr>
        <p:blipFill>
          <a:blip r:embed="rId1"/>
          <a:stretch>
            <a:fillRect/>
          </a:stretch>
        </p:blipFill>
        <p:spPr>
          <a:xfrm>
            <a:off x="7366000" y="2061210"/>
            <a:ext cx="536575" cy="430530"/>
          </a:xfrm>
          <a:prstGeom prst="rect">
            <a:avLst/>
          </a:prstGeom>
        </p:spPr>
      </p:pic>
      <p:pic>
        <p:nvPicPr>
          <p:cNvPr id="6" name="图片 5"/>
          <p:cNvPicPr>
            <a:picLocks noChangeAspect="1"/>
          </p:cNvPicPr>
          <p:nvPr/>
        </p:nvPicPr>
        <p:blipFill>
          <a:blip r:embed="rId1"/>
          <a:stretch>
            <a:fillRect/>
          </a:stretch>
        </p:blipFill>
        <p:spPr>
          <a:xfrm>
            <a:off x="5519420" y="2520950"/>
            <a:ext cx="536575" cy="43053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sp>
        <p:nvSpPr>
          <p:cNvPr id="3" name="内容占位符 2"/>
          <p:cNvSpPr>
            <a:spLocks noGrp="1"/>
          </p:cNvSpPr>
          <p:nvPr>
            <p:ph idx="1"/>
          </p:nvPr>
        </p:nvSpPr>
        <p:spPr/>
        <p:txBody>
          <a:bodyPr/>
          <a:p>
            <a:r>
              <a:rPr lang="zh-CN" altLang="en-US"/>
              <a:t>如果用线性回归模型来为概率大小建模：</a:t>
            </a:r>
            <a:endParaRPr lang="zh-CN" altLang="en-US"/>
          </a:p>
          <a:p>
            <a:endParaRPr lang="zh-CN" altLang="en-US"/>
          </a:p>
          <a:p>
            <a:endParaRPr lang="zh-CN" altLang="en-US"/>
          </a:p>
          <a:p>
            <a:endParaRPr lang="zh-CN" altLang="en-US"/>
          </a:p>
          <a:p>
            <a:r>
              <a:rPr lang="zh-CN" altLang="en-US" b="1">
                <a:solidFill>
                  <a:srgbClr val="FF0000"/>
                </a:solidFill>
              </a:rPr>
              <a:t>缺陷</a:t>
            </a:r>
            <a:r>
              <a:rPr lang="zh-CN" altLang="en-US"/>
              <a:t>：</a:t>
            </a:r>
            <a:r>
              <a:rPr lang="en-US" altLang="zh-CN"/>
              <a:t>p(X) </a:t>
            </a:r>
            <a:r>
              <a:rPr lang="zh-CN" altLang="en-US"/>
              <a:t>的取值范围为 [0,1]，而 </a:t>
            </a:r>
            <a:r>
              <a:rPr lang="en-US" altLang="zh-CN"/>
              <a:t>β</a:t>
            </a:r>
            <a:r>
              <a:rPr lang="en-US" altLang="zh-CN" baseline="-25000"/>
              <a:t>0​</a:t>
            </a:r>
            <a:r>
              <a:rPr lang="en-US" altLang="zh-CN"/>
              <a:t>+β</a:t>
            </a:r>
            <a:r>
              <a:rPr lang="en-US" altLang="zh-CN" baseline="-25000"/>
              <a:t>1​</a:t>
            </a:r>
            <a:r>
              <a:rPr lang="en-US" altLang="zh-CN"/>
              <a:t>X </a:t>
            </a:r>
            <a:r>
              <a:rPr lang="zh-CN" altLang="en-US"/>
              <a:t>的取值范围很可能不受 [0,1] 这个范围的限制，甚至有可能取值范围为 (−∞,∞)。</a:t>
            </a:r>
            <a:endParaRPr lang="zh-CN" altLang="en-US"/>
          </a:p>
          <a:p>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5" name="图片 4"/>
          <p:cNvPicPr>
            <a:picLocks noChangeAspect="1"/>
          </p:cNvPicPr>
          <p:nvPr/>
        </p:nvPicPr>
        <p:blipFill>
          <a:blip r:embed="rId1"/>
          <a:stretch>
            <a:fillRect/>
          </a:stretch>
        </p:blipFill>
        <p:spPr>
          <a:xfrm>
            <a:off x="3491865" y="1988820"/>
            <a:ext cx="2386330" cy="5403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sp>
        <p:nvSpPr>
          <p:cNvPr id="3" name="内容占位符 2"/>
          <p:cNvSpPr>
            <a:spLocks noGrp="1"/>
          </p:cNvSpPr>
          <p:nvPr>
            <p:ph idx="1"/>
          </p:nvPr>
        </p:nvSpPr>
        <p:spPr/>
        <p:txBody>
          <a:bodyPr/>
          <a:p>
            <a:r>
              <a:rPr lang="zh-CN" altLang="en-US"/>
              <a:t>需要找一个函数建立针对 </a:t>
            </a:r>
            <a:r>
              <a:rPr lang="en-US" altLang="zh-CN"/>
              <a:t>p (X) </a:t>
            </a:r>
            <a:r>
              <a:rPr lang="zh-CN" altLang="en-US"/>
              <a:t>的模型，使得对任意的 </a:t>
            </a:r>
            <a:r>
              <a:rPr lang="en-US" altLang="zh-CN"/>
              <a:t>X </a:t>
            </a:r>
            <a:r>
              <a:rPr lang="zh-CN" altLang="en-US"/>
              <a:t>值该函数的输出结果都在 0 到 1 之间。例如，随机变量的分布函数的反函数，用得更多的是逻辑斯蒂函数：</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5" name="图片 4"/>
          <p:cNvPicPr>
            <a:picLocks noChangeAspect="1"/>
          </p:cNvPicPr>
          <p:nvPr/>
        </p:nvPicPr>
        <p:blipFill>
          <a:blip r:embed="rId1"/>
          <a:stretch>
            <a:fillRect/>
          </a:stretch>
        </p:blipFill>
        <p:spPr>
          <a:xfrm>
            <a:off x="2339340" y="2708910"/>
            <a:ext cx="3771900" cy="10191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逻辑回归</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1" name="文本框 50"/>
          <p:cNvSpPr txBox="1"/>
          <p:nvPr/>
        </p:nvSpPr>
        <p:spPr>
          <a:xfrm>
            <a:off x="702344" y="1247932"/>
            <a:ext cx="7739312" cy="1337945"/>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sym typeface="+mn-ea"/>
              </a:rPr>
              <a:t>Logistic</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函数（又叫</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sym typeface="+mn-ea"/>
              </a:rPr>
              <a:t>Sigmoid</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函数）像一条</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S</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型的曲线，它具有单调递增、将自变量（负无穷，正无穷）的值域范围映射到（</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0</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1</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）之间等特征，非常适合用来表示某个事件发生的概率，即事件发生的“可能性”。</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p:pic>
        <p:nvPicPr>
          <p:cNvPr id="5" name="Picture 2" descr="https://timgsa.baidu.com/timg?image&amp;quality=80&amp;size=b9999_10000&amp;sec=1560224252523&amp;di=89edc2db22ac61e0bec78e94841947d1&amp;imgtype=0&amp;src=http%3A%2F%2Fs3.51cto.com%2Fwyfs02%2FM01%2F9B%2F19%2FwKiom1leAYyycx-4AABa3N7yDZQ504.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1080" y="2776545"/>
            <a:ext cx="4877768" cy="2925107"/>
          </a:xfrm>
          <a:prstGeom prst="rect">
            <a:avLst/>
          </a:prstGeom>
          <a:noFill/>
          <a:extLst>
            <a:ext uri="{909E8E84-426E-40DD-AFC4-6F175D3DCCD1}">
              <a14:hiddenFill xmlns:a14="http://schemas.microsoft.com/office/drawing/2010/main">
                <a:solidFill>
                  <a:srgbClr val="FFFFFF"/>
                </a:solidFill>
              </a14:hiddenFill>
            </a:ext>
          </a:extLst>
        </p:spPr>
      </p:pic>
      <p:pic>
        <p:nvPicPr>
          <p:cNvPr id="53" name="图片 52"/>
          <p:cNvPicPr>
            <a:picLocks noChangeAspect="1"/>
          </p:cNvPicPr>
          <p:nvPr/>
        </p:nvPicPr>
        <p:blipFill>
          <a:blip r:embed="rId2"/>
          <a:srcRect r="12142"/>
          <a:stretch>
            <a:fillRect/>
          </a:stretch>
        </p:blipFill>
        <p:spPr>
          <a:xfrm>
            <a:off x="5099582" y="3724564"/>
            <a:ext cx="3573338" cy="1943100"/>
          </a:xfrm>
          <a:prstGeom prst="rect">
            <a:avLst/>
          </a:prstGeom>
        </p:spPr>
      </p:pic>
      <p:pic>
        <p:nvPicPr>
          <p:cNvPr id="55" name="图片 54"/>
          <p:cNvPicPr>
            <a:picLocks noChangeAspect="1"/>
          </p:cNvPicPr>
          <p:nvPr/>
        </p:nvPicPr>
        <p:blipFill>
          <a:blip r:embed="rId3"/>
          <a:stretch>
            <a:fillRect/>
          </a:stretch>
        </p:blipFill>
        <p:spPr>
          <a:xfrm>
            <a:off x="5132250" y="2753991"/>
            <a:ext cx="3309406" cy="8941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sp>
        <p:nvSpPr>
          <p:cNvPr id="3" name="内容占位符 2"/>
          <p:cNvSpPr>
            <a:spLocks noGrp="1"/>
          </p:cNvSpPr>
          <p:nvPr>
            <p:ph idx="1"/>
          </p:nvPr>
        </p:nvSpPr>
        <p:spPr/>
        <p:txBody>
          <a:bodyPr/>
          <a:p>
            <a:r>
              <a:rPr lang="zh-CN" altLang="en-US"/>
              <a:t>逻辑斯蒂函数可以等价地写成：</a:t>
            </a:r>
            <a:endParaRPr lang="zh-CN" altLang="en-US"/>
          </a:p>
          <a:p>
            <a:endParaRPr lang="zh-CN" altLang="en-US"/>
          </a:p>
          <a:p>
            <a:endParaRPr lang="zh-CN" altLang="en-US"/>
          </a:p>
          <a:p>
            <a:endParaRPr lang="zh-CN" altLang="en-US"/>
          </a:p>
          <a:p>
            <a:r>
              <a:rPr lang="zh-CN" altLang="en-US"/>
              <a:t>称左边为 “发生比”，它的取值范围为 (0,∞)。</a:t>
            </a:r>
            <a:endParaRPr lang="zh-CN" altLang="en-US"/>
          </a:p>
          <a:p>
            <a:r>
              <a:rPr lang="zh-CN" altLang="en-US"/>
              <a:t>取对数，得：</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1"/>
          <a:stretch>
            <a:fillRect/>
          </a:stretch>
        </p:blipFill>
        <p:spPr>
          <a:xfrm>
            <a:off x="3419475" y="1988820"/>
            <a:ext cx="2886075" cy="897255"/>
          </a:xfrm>
          <a:prstGeom prst="rect">
            <a:avLst/>
          </a:prstGeom>
        </p:spPr>
      </p:pic>
      <p:pic>
        <p:nvPicPr>
          <p:cNvPr id="7" name="图片 6"/>
          <p:cNvPicPr>
            <a:picLocks noChangeAspect="1"/>
          </p:cNvPicPr>
          <p:nvPr/>
        </p:nvPicPr>
        <p:blipFill>
          <a:blip r:embed="rId2"/>
          <a:stretch>
            <a:fillRect/>
          </a:stretch>
        </p:blipFill>
        <p:spPr>
          <a:xfrm>
            <a:off x="3347720" y="4580890"/>
            <a:ext cx="3112770" cy="78549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170087" y="4926682"/>
            <a:ext cx="809625" cy="590550"/>
          </a:xfrm>
          <a:prstGeom prst="rect">
            <a:avLst/>
          </a:prstGeom>
        </p:spPr>
      </p:pic>
      <p:pic>
        <p:nvPicPr>
          <p:cNvPr id="9" name="图片 8"/>
          <p:cNvPicPr>
            <a:picLocks noChangeAspect="1"/>
          </p:cNvPicPr>
          <p:nvPr/>
        </p:nvPicPr>
        <p:blipFill>
          <a:blip r:embed="rId2"/>
          <a:stretch>
            <a:fillRect/>
          </a:stretch>
        </p:blipFill>
        <p:spPr>
          <a:xfrm>
            <a:off x="2987824" y="3488371"/>
            <a:ext cx="3049805" cy="824042"/>
          </a:xfrm>
          <a:prstGeom prst="rect">
            <a:avLst/>
          </a:prstGeom>
        </p:spPr>
      </p:pic>
      <mc:AlternateContent xmlns:mc="http://schemas.openxmlformats.org/markup-compatibility/2006">
        <mc:Choice xmlns:a14="http://schemas.microsoft.com/office/drawing/2010/main" Requires="a14">
          <p:sp>
            <p:nvSpPr>
              <p:cNvPr id="51" name="文本框 50"/>
              <p:cNvSpPr txBox="1"/>
              <p:nvPr/>
            </p:nvSpPr>
            <p:spPr>
              <a:xfrm>
                <a:off x="702344" y="1247932"/>
                <a:ext cx="7739312" cy="5077460"/>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假设</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Y</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是二分类变量（取值</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0</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或</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1</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），有</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d</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个影响因素</a:t>
                </a:r>
                <a14:m>
                  <m:oMath xmlns:m="http://schemas.openxmlformats.org/officeDocument/2006/math">
                    <m:sSub>
                      <m:sSubPr>
                        <m:ctrlPr>
                          <a:rPr lang="en-US" altLang="zh-CN" sz="1800" i="1" smtClean="0">
                            <a:solidFill>
                              <a:schemeClr val="tx1">
                                <a:lumMod val="85000"/>
                                <a:lumOff val="15000"/>
                              </a:schemeClr>
                            </a:solidFill>
                            <a:latin typeface="Cambria Math" panose="02040503050406030204" pitchFamily="18" charset="0"/>
                            <a:ea typeface="思源黑体 CN Medium" panose="020B0600000000000000" pitchFamily="34" charset="-122"/>
                          </a:rPr>
                        </m:ctrlPr>
                      </m:sSubPr>
                      <m:e>
                        <m:r>
                          <m:rPr>
                            <m:sty m:val="p"/>
                          </m:rPr>
                          <a:rPr lang="en-US" altLang="zh-CN" sz="1800" i="1">
                            <a:solidFill>
                              <a:schemeClr val="tx1">
                                <a:lumMod val="85000"/>
                                <a:lumOff val="15000"/>
                              </a:schemeClr>
                            </a:solidFill>
                            <a:latin typeface="Cambria Math" panose="02040503050406030204" pitchFamily="18" charset="0"/>
                            <a:ea typeface="思源黑体 CN Medium" panose="020B0600000000000000" pitchFamily="34" charset="-122"/>
                          </a:rPr>
                          <m:t>x</m:t>
                        </m:r>
                      </m:e>
                      <m:sub>
                        <m:r>
                          <a:rPr lang="en-US" altLang="zh-CN" sz="1800" i="1">
                            <a:solidFill>
                              <a:schemeClr val="tx1">
                                <a:lumMod val="85000"/>
                                <a:lumOff val="15000"/>
                              </a:schemeClr>
                            </a:solidFill>
                            <a:latin typeface="Cambria Math" panose="02040503050406030204" pitchFamily="18" charset="0"/>
                            <a:ea typeface="思源黑体 CN Medium" panose="020B0600000000000000" pitchFamily="34" charset="-122"/>
                          </a:rPr>
                          <m:t>1</m:t>
                        </m:r>
                      </m:sub>
                    </m:sSub>
                    <m:sSub>
                      <m:sSubPr>
                        <m:ctrlPr>
                          <a:rPr lang="en-US" altLang="zh-CN" sz="1800" i="1">
                            <a:solidFill>
                              <a:schemeClr val="tx1">
                                <a:lumMod val="85000"/>
                                <a:lumOff val="15000"/>
                              </a:schemeClr>
                            </a:solidFill>
                            <a:latin typeface="Cambria Math" panose="02040503050406030204" pitchFamily="18" charset="0"/>
                            <a:ea typeface="思源黑体 CN Medium" panose="020B0600000000000000" pitchFamily="34" charset="-122"/>
                          </a:rPr>
                        </m:ctrlPr>
                      </m:sSubPr>
                      <m:e>
                        <m:r>
                          <a:rPr lang="en-US" altLang="zh-CN" sz="1800" b="0" i="1" smtClean="0">
                            <a:solidFill>
                              <a:schemeClr val="tx1">
                                <a:lumMod val="85000"/>
                                <a:lumOff val="15000"/>
                              </a:schemeClr>
                            </a:solidFill>
                            <a:latin typeface="Cambria Math" panose="02040503050406030204" pitchFamily="18" charset="0"/>
                            <a:ea typeface="思源黑体 CN Medium" panose="020B0600000000000000" pitchFamily="34" charset="-122"/>
                          </a:rPr>
                          <m:t>,</m:t>
                        </m:r>
                        <m:r>
                          <m:rPr>
                            <m:sty m:val="p"/>
                          </m:rPr>
                          <a:rPr lang="en-US" altLang="zh-CN" sz="1800" i="1">
                            <a:solidFill>
                              <a:schemeClr val="tx1">
                                <a:lumMod val="85000"/>
                                <a:lumOff val="15000"/>
                              </a:schemeClr>
                            </a:solidFill>
                            <a:latin typeface="Cambria Math" panose="02040503050406030204" pitchFamily="18" charset="0"/>
                            <a:ea typeface="思源黑体 CN Medium" panose="020B0600000000000000" pitchFamily="34" charset="-122"/>
                          </a:rPr>
                          <m:t>x</m:t>
                        </m:r>
                      </m:e>
                      <m:sub>
                        <m:r>
                          <a:rPr lang="en-US" altLang="zh-CN" sz="1800" b="0" i="1" smtClean="0">
                            <a:solidFill>
                              <a:schemeClr val="tx1">
                                <a:lumMod val="85000"/>
                                <a:lumOff val="15000"/>
                              </a:schemeClr>
                            </a:solidFill>
                            <a:latin typeface="Cambria Math" panose="02040503050406030204" pitchFamily="18" charset="0"/>
                            <a:ea typeface="思源黑体 CN Medium" panose="020B0600000000000000" pitchFamily="34" charset="-122"/>
                          </a:rPr>
                          <m:t>1</m:t>
                        </m:r>
                      </m:sub>
                    </m:sSub>
                    <m:r>
                      <a:rPr lang="en-US" altLang="zh-CN" sz="1800" b="0" i="1" smtClean="0">
                        <a:solidFill>
                          <a:schemeClr val="tx1">
                            <a:lumMod val="85000"/>
                            <a:lumOff val="15000"/>
                          </a:schemeClr>
                        </a:solidFill>
                        <a:latin typeface="Cambria Math" panose="02040503050406030204" pitchFamily="18" charset="0"/>
                        <a:ea typeface="思源黑体 CN Medium" panose="020B0600000000000000" pitchFamily="34" charset="-122"/>
                      </a:rPr>
                      <m:t>,</m:t>
                    </m:r>
                    <m:r>
                      <a:rPr lang="en-US" altLang="zh-CN" sz="1800" b="0" i="1" smtClean="0">
                        <a:solidFill>
                          <a:schemeClr val="tx1">
                            <a:lumMod val="85000"/>
                            <a:lumOff val="15000"/>
                          </a:schemeClr>
                        </a:solidFill>
                        <a:latin typeface="Cambria Math" panose="02040503050406030204" pitchFamily="18" charset="0"/>
                        <a:ea typeface="Cambria Math" panose="02040503050406030204" pitchFamily="18" charset="0"/>
                      </a:rPr>
                      <m:t>⋯,</m:t>
                    </m:r>
                    <m:sSub>
                      <m:sSubPr>
                        <m:ctrlPr>
                          <a:rPr lang="en-US" altLang="zh-CN" sz="1800" i="1">
                            <a:solidFill>
                              <a:schemeClr val="tx1">
                                <a:lumMod val="85000"/>
                                <a:lumOff val="15000"/>
                              </a:schemeClr>
                            </a:solidFill>
                            <a:latin typeface="Cambria Math" panose="02040503050406030204" pitchFamily="18" charset="0"/>
                            <a:ea typeface="思源黑体 CN Medium" panose="020B0600000000000000" pitchFamily="34" charset="-122"/>
                          </a:rPr>
                        </m:ctrlPr>
                      </m:sSubPr>
                      <m:e>
                        <m:r>
                          <m:rPr>
                            <m:sty m:val="p"/>
                          </m:rPr>
                          <a:rPr lang="en-US" altLang="zh-CN" sz="1800" i="1">
                            <a:solidFill>
                              <a:schemeClr val="tx1">
                                <a:lumMod val="85000"/>
                                <a:lumOff val="15000"/>
                              </a:schemeClr>
                            </a:solidFill>
                            <a:latin typeface="Cambria Math" panose="02040503050406030204" pitchFamily="18" charset="0"/>
                            <a:ea typeface="思源黑体 CN Medium" panose="020B0600000000000000" pitchFamily="34" charset="-122"/>
                          </a:rPr>
                          <m:t>x</m:t>
                        </m:r>
                      </m:e>
                      <m:sub>
                        <m:r>
                          <a:rPr lang="en-US" altLang="zh-CN" sz="1800" b="0" i="1" smtClean="0">
                            <a:solidFill>
                              <a:schemeClr val="tx1">
                                <a:lumMod val="85000"/>
                                <a:lumOff val="15000"/>
                              </a:schemeClr>
                            </a:solidFill>
                            <a:latin typeface="Cambria Math" panose="02040503050406030204" pitchFamily="18" charset="0"/>
                            <a:ea typeface="思源黑体 CN Medium" panose="020B0600000000000000" pitchFamily="34" charset="-122"/>
                          </a:rPr>
                          <m:t>𝑑</m:t>
                        </m:r>
                      </m:sub>
                    </m:sSub>
                  </m:oMath>
                </a14:m>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我们希望通过这</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d</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个影响因素来预测样本属于某个分类（例如</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Y=1</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）的可能性，那么用逻辑回归模型来进行预测的过程如下：</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①构建线性回归函数</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②输入到</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Logistic</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函数</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③</a:t>
                </a:r>
                <a:r>
                  <a:rPr lang="en-US" altLang="zh-CN" sz="1800" dirty="0">
                    <a:solidFill>
                      <a:srgbClr val="000000">
                        <a:lumMod val="85000"/>
                        <a:lumOff val="15000"/>
                      </a:srgbClr>
                    </a:solidFill>
                    <a:latin typeface="Times New Roman" panose="02020603050405020304" pitchFamily="18" charset="0"/>
                    <a:ea typeface="思源黑体 CN Medium" panose="020B0600000000000000" pitchFamily="34" charset="-122"/>
                  </a:rPr>
                  <a:t>           </a:t>
                </a:r>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代表</a:t>
                </a:r>
                <a:r>
                  <a:rPr lang="en-US" altLang="zh-CN" sz="1800" dirty="0">
                    <a:solidFill>
                      <a:srgbClr val="000000">
                        <a:lumMod val="85000"/>
                        <a:lumOff val="15000"/>
                      </a:srgbClr>
                    </a:solidFill>
                    <a:latin typeface="Times New Roman" panose="02020603050405020304" pitchFamily="18" charset="0"/>
                    <a:ea typeface="思源黑体 CN Medium" panose="020B0600000000000000" pitchFamily="34" charset="-122"/>
                  </a:rPr>
                  <a:t>Y=1</a:t>
                </a:r>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的概率</a:t>
                </a:r>
                <a:r>
                  <a:rPr lang="en-US" altLang="zh-CN" sz="1800" dirty="0">
                    <a:solidFill>
                      <a:srgbClr val="000000">
                        <a:lumMod val="85000"/>
                        <a:lumOff val="15000"/>
                      </a:srgbClr>
                    </a:solidFill>
                    <a:latin typeface="Times New Roman" panose="02020603050405020304" pitchFamily="18" charset="0"/>
                    <a:ea typeface="思源黑体 CN Medium" panose="020B0600000000000000" pitchFamily="34" charset="-122"/>
                  </a:rPr>
                  <a:t>,</a:t>
                </a:r>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即</a:t>
                </a:r>
                <a:r>
                  <a:rPr lang="en-US" altLang="zh-CN" sz="1800" dirty="0">
                    <a:solidFill>
                      <a:srgbClr val="000000">
                        <a:lumMod val="85000"/>
                        <a:lumOff val="15000"/>
                      </a:srgbClr>
                    </a:solidFill>
                    <a:latin typeface="Times New Roman" panose="02020603050405020304" pitchFamily="18" charset="0"/>
                    <a:ea typeface="思源黑体 CN Medium" panose="020B0600000000000000" pitchFamily="34" charset="-122"/>
                  </a:rPr>
                  <a:t>P(Y = 1|X)</a:t>
                </a:r>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，在参数</a:t>
                </a:r>
                <a14:m>
                  <m:oMath xmlns:m="http://schemas.openxmlformats.org/officeDocument/2006/math">
                    <m:r>
                      <a:rPr lang="zh-CN" altLang="en-US" sz="1800" i="1" smtClean="0">
                        <a:solidFill>
                          <a:srgbClr val="000000">
                            <a:lumMod val="85000"/>
                            <a:lumOff val="15000"/>
                          </a:srgbClr>
                        </a:solidFill>
                        <a:latin typeface="Cambria Math" panose="02040503050406030204" pitchFamily="18" charset="0"/>
                        <a:ea typeface="思源黑体 CN Medium" panose="020B0600000000000000" pitchFamily="34" charset="-122"/>
                      </a:rPr>
                      <m:t>𝜃</m:t>
                    </m:r>
                  </m:oMath>
                </a14:m>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已知的情况下，就可以直接用上述模型来预测</a:t>
                </a:r>
                <a:r>
                  <a:rPr lang="en-US" altLang="zh-CN" sz="1800" dirty="0">
                    <a:solidFill>
                      <a:srgbClr val="000000">
                        <a:lumMod val="85000"/>
                        <a:lumOff val="15000"/>
                      </a:srgbClr>
                    </a:solidFill>
                    <a:latin typeface="Times New Roman" panose="02020603050405020304" pitchFamily="18" charset="0"/>
                    <a:ea typeface="思源黑体 CN Medium" panose="020B0600000000000000" pitchFamily="34" charset="-122"/>
                  </a:rPr>
                  <a:t>Y=1</a:t>
                </a:r>
                <a:r>
                  <a:rPr lang="zh-CN" altLang="en-US" sz="1800" dirty="0">
                    <a:solidFill>
                      <a:srgbClr val="000000">
                        <a:lumMod val="85000"/>
                        <a:lumOff val="15000"/>
                      </a:srgbClr>
                    </a:solidFill>
                    <a:latin typeface="Times New Roman" panose="02020603050405020304" pitchFamily="18" charset="0"/>
                    <a:ea typeface="思源黑体 CN Medium" panose="020B0600000000000000" pitchFamily="34" charset="-122"/>
                  </a:rPr>
                  <a:t>的可能性了</a:t>
                </a:r>
                <a:endParaRPr lang="en-US" altLang="zh-CN" sz="1800" dirty="0">
                  <a:solidFill>
                    <a:srgbClr val="000000">
                      <a:lumMod val="85000"/>
                      <a:lumOff val="15000"/>
                    </a:srgb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702344" y="1247932"/>
                <a:ext cx="7739312" cy="5077460"/>
              </a:xfrm>
              <a:prstGeom prst="rect">
                <a:avLst/>
              </a:prstGeom>
              <a:blipFill rotWithShape="1">
                <a:blip r:embed="rId3"/>
                <a:stretch>
                  <a:fillRect t="-3" r="8" b="3"/>
                </a:stretch>
              </a:blipFill>
            </p:spPr>
            <p:txBody>
              <a:bodyPr/>
              <a:lstStyle/>
              <a:p>
                <a:r>
                  <a:rPr lang="zh-CN" altLang="en-US">
                    <a:noFill/>
                  </a:rPr>
                  <a:t> </a:t>
                </a:r>
              </a:p>
            </p:txBody>
          </p:sp>
        </mc:Fallback>
      </mc:AlternateContent>
      <p:pic>
        <p:nvPicPr>
          <p:cNvPr id="11" name="图片 10"/>
          <p:cNvPicPr>
            <a:picLocks noChangeAspect="1"/>
          </p:cNvPicPr>
          <p:nvPr/>
        </p:nvPicPr>
        <p:blipFill>
          <a:blip r:embed="rId4"/>
          <a:srcRect r="2482"/>
          <a:stretch>
            <a:fillRect/>
          </a:stretch>
        </p:blipFill>
        <p:spPr>
          <a:xfrm>
            <a:off x="1583459" y="4198921"/>
            <a:ext cx="5927389" cy="799769"/>
          </a:xfrm>
          <a:prstGeom prst="rect">
            <a:avLst/>
          </a:prstGeom>
        </p:spPr>
      </p:pic>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逻辑回归</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8" name="图片 7"/>
          <p:cNvPicPr>
            <a:picLocks noChangeAspect="1"/>
          </p:cNvPicPr>
          <p:nvPr/>
        </p:nvPicPr>
        <p:blipFill>
          <a:blip r:embed="rId5"/>
          <a:stretch>
            <a:fillRect/>
          </a:stretch>
        </p:blipFill>
        <p:spPr>
          <a:xfrm>
            <a:off x="2195736" y="3033989"/>
            <a:ext cx="4924126" cy="35214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3772944" y="4725144"/>
            <a:ext cx="4111424" cy="1080120"/>
          </a:xfrm>
          <a:prstGeom prst="rect">
            <a:avLst/>
          </a:prstGeom>
        </p:spPr>
      </p:pic>
      <p:pic>
        <p:nvPicPr>
          <p:cNvPr id="5" name="图片 4"/>
          <p:cNvPicPr>
            <a:picLocks noChangeAspect="1"/>
          </p:cNvPicPr>
          <p:nvPr/>
        </p:nvPicPr>
        <p:blipFill>
          <a:blip r:embed="rId2"/>
          <a:stretch>
            <a:fillRect/>
          </a:stretch>
        </p:blipFill>
        <p:spPr>
          <a:xfrm>
            <a:off x="1423987" y="4057844"/>
            <a:ext cx="6296026" cy="914361"/>
          </a:xfrm>
          <a:prstGeom prst="rect">
            <a:avLst/>
          </a:prstGeom>
        </p:spPr>
      </p:pic>
      <mc:AlternateContent xmlns:mc="http://schemas.openxmlformats.org/markup-compatibility/2006">
        <mc:Choice xmlns:a14="http://schemas.microsoft.com/office/drawing/2010/main" Requires="a14">
          <p:sp>
            <p:nvSpPr>
              <p:cNvPr id="51" name="文本框 50"/>
              <p:cNvSpPr txBox="1"/>
              <p:nvPr/>
            </p:nvSpPr>
            <p:spPr>
              <a:xfrm>
                <a:off x="702344" y="1247932"/>
                <a:ext cx="7739312" cy="5029197"/>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但在实际中，模型的</a:t>
                </a:r>
                <a14:m>
                  <m:oMath xmlns:m="http://schemas.openxmlformats.org/officeDocument/2006/math">
                    <m:r>
                      <a:rPr lang="zh-CN" altLang="en-US" sz="1800" i="1">
                        <a:solidFill>
                          <a:srgbClr val="000000">
                            <a:lumMod val="85000"/>
                            <a:lumOff val="15000"/>
                          </a:srgbClr>
                        </a:solidFill>
                        <a:latin typeface="Cambria Math" panose="02040503050406030204" pitchFamily="18" charset="0"/>
                        <a:ea typeface="思源黑体 CN Medium" panose="020B0600000000000000" pitchFamily="34" charset="-122"/>
                      </a:rPr>
                      <m:t>𝜃</m:t>
                    </m:r>
                  </m:oMath>
                </a14:m>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参数值事先是不知道的，需要利用样本数据来拟合得到。理想情况下，希望模型预测得到的分类与样本的实际分类高度一致（预测准确率高），为此需要解决两个方面问题：</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①需要有一种方法来衡量模型预测结果与实际值的误差大小</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②需要有一种方法能够找到使得这种误差最小化的模型，即找到最佳</a:t>
                </a:r>
                <a14:m>
                  <m:oMath xmlns:m="http://schemas.openxmlformats.org/officeDocument/2006/math">
                    <m:r>
                      <a:rPr lang="zh-CN" altLang="en-US" sz="1800" i="1">
                        <a:solidFill>
                          <a:srgbClr val="000000">
                            <a:lumMod val="85000"/>
                            <a:lumOff val="15000"/>
                          </a:srgbClr>
                        </a:solidFill>
                        <a:latin typeface="Cambria Math" panose="02040503050406030204" pitchFamily="18" charset="0"/>
                        <a:ea typeface="思源黑体 CN Medium" panose="020B0600000000000000" pitchFamily="34" charset="-122"/>
                      </a:rPr>
                      <m:t>𝜃</m:t>
                    </m:r>
                  </m:oMath>
                </a14:m>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参数值</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损失函数（</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n</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个参数值）：</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从单个样本来看损失函数：</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学习目标： </a:t>
                </a:r>
                <a14:m>
                  <m:oMath xmlns:m="http://schemas.openxmlformats.org/officeDocument/2006/math">
                    <m:r>
                      <m:rPr>
                        <m:sty m:val="p"/>
                      </m:rPr>
                      <a:rPr lang="en-US" altLang="zh-CN" sz="1800" i="1" dirty="0" smtClean="0">
                        <a:solidFill>
                          <a:schemeClr val="tx1">
                            <a:lumMod val="85000"/>
                            <a:lumOff val="15000"/>
                          </a:schemeClr>
                        </a:solidFill>
                        <a:latin typeface="Cambria Math" panose="02040503050406030204" pitchFamily="18" charset="0"/>
                        <a:ea typeface="思源黑体 CN Medium" panose="020B0600000000000000" pitchFamily="34" charset="-122"/>
                      </a:rPr>
                      <m:t>min</m:t>
                    </m:r>
                    <m:r>
                      <a:rPr lang="en-US" altLang="zh-CN" sz="1800" i="1" dirty="0" smtClean="0">
                        <a:solidFill>
                          <a:schemeClr val="tx1">
                            <a:lumMod val="85000"/>
                            <a:lumOff val="15000"/>
                          </a:schemeClr>
                        </a:solidFill>
                        <a:latin typeface="Cambria Math" panose="02040503050406030204" pitchFamily="18" charset="0"/>
                        <a:ea typeface="思源黑体 CN Medium" panose="020B0600000000000000" pitchFamily="34" charset="-122"/>
                      </a:rPr>
                      <m:t>⁡</m:t>
                    </m:r>
                    <m:r>
                      <a:rPr lang="en-US" altLang="zh-CN" sz="1800" i="1" dirty="0" smtClean="0">
                        <a:solidFill>
                          <a:schemeClr val="tx1">
                            <a:lumMod val="85000"/>
                            <a:lumOff val="15000"/>
                          </a:schemeClr>
                        </a:solidFill>
                        <a:latin typeface="Cambria Math" panose="02040503050406030204" pitchFamily="18" charset="0"/>
                        <a:ea typeface="思源黑体 CN Medium" panose="020B0600000000000000" pitchFamily="34" charset="-122"/>
                      </a:rPr>
                      <m:t>𝐶</m:t>
                    </m:r>
                    <m:r>
                      <a:rPr lang="en-US" altLang="zh-CN" sz="1800" i="1" dirty="0" smtClean="0">
                        <a:solidFill>
                          <a:schemeClr val="tx1">
                            <a:lumMod val="85000"/>
                            <a:lumOff val="15000"/>
                          </a:schemeClr>
                        </a:solidFill>
                        <a:latin typeface="Cambria Math" panose="02040503050406030204" pitchFamily="18" charset="0"/>
                        <a:ea typeface="思源黑体 CN Medium" panose="020B0600000000000000" pitchFamily="34" charset="-122"/>
                      </a:rPr>
                      <m:t>(</m:t>
                    </m:r>
                    <m:r>
                      <a:rPr lang="zh-CN" altLang="en-US" sz="1800" i="1" dirty="0" smtClean="0">
                        <a:solidFill>
                          <a:schemeClr val="tx1">
                            <a:lumMod val="85000"/>
                            <a:lumOff val="15000"/>
                          </a:schemeClr>
                        </a:solidFill>
                        <a:latin typeface="Cambria Math" panose="02040503050406030204" pitchFamily="18" charset="0"/>
                        <a:ea typeface="思源黑体 CN Medium" panose="020B0600000000000000" pitchFamily="34" charset="-122"/>
                      </a:rPr>
                      <m:t>𝜃</m:t>
                    </m:r>
                    <m:r>
                      <a:rPr lang="en-US" altLang="zh-CN" sz="1800" i="1" dirty="0" smtClean="0">
                        <a:solidFill>
                          <a:schemeClr val="tx1">
                            <a:lumMod val="85000"/>
                            <a:lumOff val="15000"/>
                          </a:schemeClr>
                        </a:solidFill>
                        <a:latin typeface="Cambria Math" panose="02040503050406030204" pitchFamily="18" charset="0"/>
                        <a:ea typeface="思源黑体 CN Medium" panose="020B0600000000000000" pitchFamily="34" charset="-122"/>
                      </a:rPr>
                      <m:t>)</m:t>
                    </m:r>
                  </m:oMath>
                </a14:m>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，即找到合适的</a:t>
                </a:r>
                <a14:m>
                  <m:oMath xmlns:m="http://schemas.openxmlformats.org/officeDocument/2006/math">
                    <m:r>
                      <a:rPr lang="zh-CN" altLang="en-US" sz="1800" i="1" dirty="0">
                        <a:solidFill>
                          <a:schemeClr val="tx1">
                            <a:lumMod val="85000"/>
                            <a:lumOff val="15000"/>
                          </a:schemeClr>
                        </a:solidFill>
                        <a:latin typeface="Cambria Math" panose="02040503050406030204" pitchFamily="18" charset="0"/>
                        <a:ea typeface="思源黑体 CN Medium" panose="020B0600000000000000" pitchFamily="34" charset="-122"/>
                      </a:rPr>
                      <m:t>𝜃</m:t>
                    </m:r>
                  </m:oMath>
                </a14:m>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使得损失函数的值最小化。</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702344" y="1247932"/>
                <a:ext cx="7739312" cy="5029197"/>
              </a:xfrm>
              <a:prstGeom prst="rect">
                <a:avLst/>
              </a:prstGeom>
              <a:blipFill rotWithShape="1">
                <a:blip r:embed="rId3"/>
                <a:stretch>
                  <a:fillRect t="-3" r="8" b="3"/>
                </a:stretch>
              </a:blipFill>
            </p:spPr>
            <p:txBody>
              <a:bodyPr/>
              <a:lstStyle/>
              <a:p>
                <a:r>
                  <a:rPr lang="zh-CN" altLang="en-US">
                    <a:noFill/>
                  </a:rPr>
                  <a:t> </a:t>
                </a:r>
              </a:p>
            </p:txBody>
          </p:sp>
        </mc:Fallback>
      </mc:AlternateContent>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逻辑回归</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rcRect l="1152" t="1787" r="1962"/>
          <a:stretch>
            <a:fillRect/>
          </a:stretch>
        </p:blipFill>
        <p:spPr>
          <a:xfrm>
            <a:off x="-45163" y="3140968"/>
            <a:ext cx="9189163" cy="2664296"/>
          </a:xfrm>
          <a:prstGeom prst="rect">
            <a:avLst/>
          </a:prstGeom>
        </p:spPr>
      </p:pic>
      <p:sp>
        <p:nvSpPr>
          <p:cNvPr id="51" name="文本框 50"/>
          <p:cNvSpPr txBox="1"/>
          <p:nvPr/>
        </p:nvSpPr>
        <p:spPr>
          <a:xfrm>
            <a:off x="702344" y="1247932"/>
            <a:ext cx="7739312" cy="1705210"/>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极大似然估计提供了一种基于现有样本数据来评估模型参数的方法，其核心思想是利用已知的样本结果，反向推算最有可能导致这样结果的参数值，即寻找某组参数值使得样本数据出现的概率达到最大。</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逻辑回归模型损失函数可以通过极大似然估计方法</a:t>
            </a:r>
            <a:r>
              <a:rPr lang="zh-CN" altLang="en-US" sz="1800">
                <a:solidFill>
                  <a:schemeClr val="tx1">
                    <a:lumMod val="85000"/>
                    <a:lumOff val="15000"/>
                  </a:schemeClr>
                </a:solidFill>
                <a:latin typeface="Times New Roman" panose="02020603050405020304" pitchFamily="18" charset="0"/>
                <a:ea typeface="思源黑体 CN Medium" panose="020B0600000000000000" pitchFamily="34" charset="-122"/>
              </a:rPr>
              <a:t>推导得到。</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极大似然估计</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 name="文本框 50"/>
              <p:cNvSpPr txBox="1"/>
              <p:nvPr/>
            </p:nvSpPr>
            <p:spPr>
              <a:xfrm>
                <a:off x="696996" y="1095023"/>
                <a:ext cx="7739312" cy="6397777"/>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利用分类变量</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Y</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的正负样本用</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1</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和</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0</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表示的特点</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可以对每个样本的概率</a:t>
                </a: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rPr>
                  <a:t>,</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包括极大似然概率的表达形式做进一步的简化</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①每个样本概率的通用化表达</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sSup>
                        <m:sSupPr>
                          <m:ctrlPr>
                            <a:rPr lang="zh-CN" altLang="zh-CN" sz="1800" i="1">
                              <a:latin typeface="Cambria Math" panose="02040503050406030204" pitchFamily="18" charset="0"/>
                              <a:cs typeface="Euclid" panose="02020503060505020303" pitchFamily="18" charset="0"/>
                            </a:rPr>
                          </m:ctrlPr>
                        </m:sSupPr>
                        <m:e>
                          <m:r>
                            <a:rPr lang="en-US" altLang="zh-CN" sz="1800" b="0" i="1" smtClean="0">
                              <a:latin typeface="Cambria Math" panose="02040503050406030204" pitchFamily="18" charset="0"/>
                              <a:cs typeface="Euclid" panose="02020503060505020303" pitchFamily="18" charset="0"/>
                            </a:rPr>
                            <m:t>)</m:t>
                          </m:r>
                        </m:e>
                        <m:sup>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sup>
                      </m:s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m:t>
                          </m:r>
                        </m:e>
                        <m:sup>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sup>
                      </m:sSup>
                    </m:oMath>
                  </m:oMathPara>
                </a14:m>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②极大似然概率的通用化表达</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r>
                  <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Euclid" panose="02020503060505020303" pitchFamily="18" charset="0"/>
                  </a:rPr>
                  <a:t>          </a:t>
                </a:r>
                <a14:m>
                  <m:oMath xmlns:m="http://schemas.openxmlformats.org/officeDocument/2006/math">
                    <m:r>
                      <m:rPr>
                        <m:sty m:val="p"/>
                      </m:rPr>
                      <a:rPr lang="en-US" altLang="zh-CN" sz="1800">
                        <a:latin typeface="Cambria Math" panose="02040503050406030204" pitchFamily="18" charset="0"/>
                        <a:cs typeface="Euclid" panose="02020503060505020303" pitchFamily="18" charset="0"/>
                      </a:rPr>
                      <m:t>L</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𝑃</m:t>
                        </m:r>
                      </m:e>
                    </m:nary>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m:t>
                        </m:r>
                      </m:e>
                    </m:nary>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m:t>
                        </m:r>
                      </m:e>
                      <m:sup>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sup>
                    </m:s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m:t>
                        </m:r>
                      </m:e>
                      <m:sup>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sup>
                    </m:sSup>
                  </m:oMath>
                </a14:m>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为方便计算，取对数，</a:t>
                </a:r>
                <a:r>
                  <a:rPr kumimoji="0" lang="zh-CN" altLang="zh-CN" sz="1800" dirty="0">
                    <a:solidFill>
                      <a:srgbClr val="000000"/>
                    </a:solidFill>
                    <a:latin typeface="微软雅黑" panose="020B0503020204020204" charset="-122"/>
                    <a:ea typeface="微软雅黑" panose="020B0503020204020204" charset="-122"/>
                    <a:cs typeface="Euclid" panose="02020503060505020303" pitchFamily="18" charset="0"/>
                  </a:rPr>
                  <a:t>则连乘号变成了连加号：</a:t>
                </a:r>
                <a:endParaRPr kumimoji="0" lang="en-US" altLang="zh-CN" sz="1800" dirty="0">
                  <a:solidFill>
                    <a:srgbClr val="000000"/>
                  </a:solidFill>
                  <a:latin typeface="微软雅黑" panose="020B0503020204020204" charset="-122"/>
                  <a:ea typeface="微软雅黑" panose="020B0503020204020204" charset="-122"/>
                  <a:cs typeface="Euclid" panose="02020503060505020303" pitchFamily="18" charset="0"/>
                </a:endParaRPr>
              </a:p>
              <a:p>
                <a:pPr lvl="0">
                  <a:lnSpc>
                    <a:spcPct val="150000"/>
                  </a:lnSpc>
                  <a:spcAft>
                    <a:spcPts val="0"/>
                  </a:spcAft>
                  <a:defRPr/>
                </a:pPr>
                <a:r>
                  <a:rPr kumimoji="0" lang="en-US" altLang="zh-CN" sz="1800" dirty="0">
                    <a:solidFill>
                      <a:srgbClr val="000000"/>
                    </a:solidFill>
                    <a:cs typeface="Euclid" panose="02020503060505020303" pitchFamily="18" charset="0"/>
                  </a:rPr>
                  <a:t>       </a:t>
                </a:r>
                <a14:m>
                  <m:oMath xmlns:m="http://schemas.openxmlformats.org/officeDocument/2006/math">
                    <m:r>
                      <a:rPr kumimoji="0" lang="en-US" altLang="zh-CN" sz="1800" i="1">
                        <a:solidFill>
                          <a:srgbClr val="000000"/>
                        </a:solidFill>
                        <a:latin typeface="Cambria Math" panose="02040503050406030204" pitchFamily="18" charset="0"/>
                        <a:cs typeface="Euclid" panose="02020503060505020303" pitchFamily="18" charset="0"/>
                      </a:rPr>
                      <m:t>𝑙</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𝑤</m:t>
                    </m:r>
                    <m:r>
                      <a:rPr kumimoji="0" lang="en-US" altLang="zh-CN" sz="1800" i="1">
                        <a:solidFill>
                          <a:srgbClr val="000000"/>
                        </a:solidFill>
                        <a:latin typeface="Cambria Math" panose="02040503050406030204" pitchFamily="18" charset="0"/>
                        <a:cs typeface="Euclid" panose="02020503060505020303" pitchFamily="18" charset="0"/>
                      </a:rPr>
                      <m:t>)=</m:t>
                    </m:r>
                    <m:r>
                      <m:rPr>
                        <m:sty m:val="p"/>
                      </m:rPr>
                      <a:rPr kumimoji="0" lang="en-US" altLang="zh-CN" sz="1800">
                        <a:solidFill>
                          <a:srgbClr val="000000"/>
                        </a:solidFill>
                        <a:latin typeface="Cambria Math" panose="02040503050406030204" pitchFamily="18" charset="0"/>
                        <a:cs typeface="Euclid" panose="02020503060505020303" pitchFamily="18" charset="0"/>
                      </a:rPr>
                      <m:t>logL</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𝑤</m:t>
                    </m:r>
                    <m:r>
                      <a:rPr kumimoji="0" lang="en-US" altLang="zh-CN" sz="1800" i="1">
                        <a:solidFill>
                          <a:srgbClr val="000000"/>
                        </a:solidFill>
                        <a:latin typeface="Cambria Math" panose="02040503050406030204" pitchFamily="18" charset="0"/>
                        <a:cs typeface="Euclid" panose="02020503060505020303" pitchFamily="18" charset="0"/>
                      </a:rPr>
                      <m:t>)=</m:t>
                    </m:r>
                    <m:nary>
                      <m:naryPr>
                        <m:chr m:val="∑"/>
                        <m:limLoc m:val="undOvr"/>
                        <m:ctrlPr>
                          <a:rPr kumimoji="0" lang="zh-CN" altLang="zh-CN" sz="1800" i="1">
                            <a:solidFill>
                              <a:srgbClr val="000000"/>
                            </a:solidFill>
                            <a:latin typeface="Cambria Math" panose="02040503050406030204" pitchFamily="18" charset="0"/>
                            <a:cs typeface="Euclid" panose="02020503060505020303" pitchFamily="18" charset="0"/>
                          </a:rPr>
                        </m:ctrlPr>
                      </m:naryPr>
                      <m:sub>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1</m:t>
                        </m:r>
                      </m:sub>
                      <m:sup>
                        <m:r>
                          <a:rPr kumimoji="0" lang="en-US" altLang="zh-CN" sz="1800" i="1">
                            <a:solidFill>
                              <a:srgbClr val="000000"/>
                            </a:solidFill>
                            <a:latin typeface="Cambria Math" panose="02040503050406030204" pitchFamily="18" charset="0"/>
                            <a:cs typeface="Euclid" panose="02020503060505020303" pitchFamily="18" charset="0"/>
                          </a:rPr>
                          <m:t>𝑚</m:t>
                        </m:r>
                      </m:sup>
                      <m:e>
                        <m:r>
                          <a:rPr kumimoji="0" lang="en-US" altLang="zh-CN" sz="1800" i="1">
                            <a:solidFill>
                              <a:srgbClr val="000000"/>
                            </a:solidFill>
                            <a:latin typeface="Cambria Math" panose="02040503050406030204" pitchFamily="18" charset="0"/>
                            <a:cs typeface="Euclid" panose="02020503060505020303" pitchFamily="18" charset="0"/>
                          </a:rPr>
                          <m:t>(</m:t>
                        </m:r>
                      </m:e>
                    </m:nary>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𝑦</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m:rPr>
                        <m:sty m:val="p"/>
                      </m:rPr>
                      <a:rPr kumimoji="0" lang="en-US" altLang="zh-CN" sz="1800">
                        <a:solidFill>
                          <a:srgbClr val="000000"/>
                        </a:solidFill>
                        <a:latin typeface="Cambria Math" panose="02040503050406030204" pitchFamily="18" charset="0"/>
                        <a:cs typeface="Euclid" panose="02020503060505020303" pitchFamily="18" charset="0"/>
                      </a:rPr>
                      <m:t>log</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ℎ</m:t>
                    </m:r>
                    <m:r>
                      <a:rPr kumimoji="0" lang="en-US" altLang="zh-CN" sz="1800" i="1">
                        <a:solidFill>
                          <a:srgbClr val="000000"/>
                        </a:solidFill>
                        <a:latin typeface="Cambria Math" panose="02040503050406030204" pitchFamily="18" charset="0"/>
                        <a:cs typeface="Euclid" panose="02020503060505020303" pitchFamily="18" charset="0"/>
                      </a:rPr>
                      <m:t>(</m:t>
                    </m:r>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𝑥</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1</m:t>
                    </m:r>
                    <m:r>
                      <a:rPr kumimoji="0" lang="en-US" altLang="zh-CN" sz="1800" i="1">
                        <a:solidFill>
                          <a:srgbClr val="000000"/>
                        </a:solidFill>
                        <a:latin typeface="Cambria Math" panose="02040503050406030204" pitchFamily="18" charset="0"/>
                        <a:cs typeface="Euclid" panose="02020503060505020303" pitchFamily="18" charset="0"/>
                      </a:rPr>
                      <m:t>−</m:t>
                    </m:r>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𝑦</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a:rPr kumimoji="0" lang="en-US" altLang="zh-CN" sz="1800" i="1">
                        <a:solidFill>
                          <a:srgbClr val="000000"/>
                        </a:solidFill>
                        <a:latin typeface="Cambria Math" panose="02040503050406030204" pitchFamily="18" charset="0"/>
                        <a:cs typeface="Euclid" panose="02020503060505020303" pitchFamily="18" charset="0"/>
                      </a:rPr>
                      <m:t>)</m:t>
                    </m:r>
                    <m:r>
                      <m:rPr>
                        <m:sty m:val="p"/>
                      </m:rPr>
                      <a:rPr kumimoji="0" lang="en-US" altLang="zh-CN" sz="1800">
                        <a:solidFill>
                          <a:srgbClr val="000000"/>
                        </a:solidFill>
                        <a:latin typeface="Cambria Math" panose="02040503050406030204" pitchFamily="18" charset="0"/>
                        <a:cs typeface="Euclid" panose="02020503060505020303" pitchFamily="18" charset="0"/>
                      </a:rPr>
                      <m:t>log</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1</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ℎ</m:t>
                    </m:r>
                    <m:r>
                      <a:rPr kumimoji="0" lang="en-US" altLang="zh-CN" sz="1800" i="1">
                        <a:solidFill>
                          <a:srgbClr val="000000"/>
                        </a:solidFill>
                        <a:latin typeface="Cambria Math" panose="02040503050406030204" pitchFamily="18" charset="0"/>
                        <a:cs typeface="Euclid" panose="02020503060505020303" pitchFamily="18" charset="0"/>
                      </a:rPr>
                      <m:t>(</m:t>
                    </m:r>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𝑥</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a:rPr kumimoji="0" lang="en-US" altLang="zh-CN" sz="1800" i="1">
                        <a:solidFill>
                          <a:srgbClr val="000000"/>
                        </a:solidFill>
                        <a:latin typeface="Cambria Math" panose="02040503050406030204" pitchFamily="18" charset="0"/>
                        <a:cs typeface="Euclid" panose="02020503060505020303" pitchFamily="18" charset="0"/>
                      </a:rPr>
                      <m:t>)))</m:t>
                    </m:r>
                  </m:oMath>
                </a14:m>
                <a:endParaRPr kumimoji="0" lang="en-US" altLang="zh-CN" sz="1800" dirty="0">
                  <a:solidFill>
                    <a:srgbClr val="000000"/>
                  </a:solidFill>
                  <a:latin typeface="微软雅黑" panose="020B0503020204020204" charset="-122"/>
                  <a:ea typeface="微软雅黑" panose="020B0503020204020204" charset="-122"/>
                  <a:cs typeface="Euclid" panose="02020503060505020303" pitchFamily="18" charset="0"/>
                </a:endParaRPr>
              </a:p>
              <a:p>
                <a:pPr marL="285750" lvl="0" indent="-285750">
                  <a:lnSpc>
                    <a:spcPct val="150000"/>
                  </a:lnSpc>
                  <a:spcAft>
                    <a:spcPts val="0"/>
                  </a:spcAft>
                  <a:buFont typeface="Wingdings" panose="05000000000000000000" pitchFamily="2" charset="2"/>
                  <a:buChar char="l"/>
                  <a:defRPr/>
                </a:pPr>
                <a:r>
                  <a:rPr kumimoji="0" lang="zh-CN" altLang="en-US" sz="1800" dirty="0">
                    <a:solidFill>
                      <a:srgbClr val="000000"/>
                    </a:solidFill>
                    <a:latin typeface="微软雅黑" panose="020B0503020204020204" charset="-122"/>
                    <a:ea typeface="微软雅黑" panose="020B0503020204020204" charset="-122"/>
                    <a:cs typeface="Euclid" panose="02020503060505020303" pitchFamily="18" charset="0"/>
                  </a:rPr>
                  <a:t>添加负号，从求最大概率值，转换为求最小值，为消除样本个数影响，除以样本数</a:t>
                </a:r>
                <a:r>
                  <a:rPr kumimoji="0" lang="en-US" altLang="zh-CN" sz="1800" dirty="0">
                    <a:solidFill>
                      <a:srgbClr val="000000"/>
                    </a:solidFill>
                    <a:latin typeface="微软雅黑" panose="020B0503020204020204" charset="-122"/>
                    <a:ea typeface="微软雅黑" panose="020B0503020204020204" charset="-122"/>
                    <a:cs typeface="Euclid" panose="02020503060505020303" pitchFamily="18" charset="0"/>
                  </a:rPr>
                  <a:t>m</a:t>
                </a:r>
                <a:endParaRPr kumimoji="0" lang="zh-CN" altLang="zh-CN" sz="1800" dirty="0">
                  <a:solidFill>
                    <a:srgbClr val="000000"/>
                  </a:solidFill>
                  <a:latin typeface="微软雅黑" panose="020B0503020204020204" charset="-122"/>
                  <a:ea typeface="微软雅黑" panose="020B0503020204020204" charset="-122"/>
                  <a:cs typeface="Euclid" panose="02020503060505020303" pitchFamily="18" charset="0"/>
                </a:endParaRPr>
              </a:p>
              <a:p>
                <a:pPr lvl="0">
                  <a:spcAft>
                    <a:spcPts val="0"/>
                  </a:spcAft>
                  <a:defRPr/>
                </a:pPr>
                <a14:m>
                  <m:oMathPara xmlns:m="http://schemas.openxmlformats.org/officeDocument/2006/math">
                    <m:oMathParaPr>
                      <m:jc m:val="centerGroup"/>
                    </m:oMathParaPr>
                    <m:oMath xmlns:m="http://schemas.openxmlformats.org/officeDocument/2006/math">
                      <m:r>
                        <a:rPr kumimoji="0" lang="en-US" altLang="zh-CN" sz="1800" i="1">
                          <a:solidFill>
                            <a:srgbClr val="000000"/>
                          </a:solidFill>
                          <a:latin typeface="Cambria Math" panose="02040503050406030204" pitchFamily="18" charset="0"/>
                          <a:cs typeface="Euclid" panose="02020503060505020303" pitchFamily="18" charset="0"/>
                        </a:rPr>
                        <m:t>𝐽</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𝑤</m:t>
                      </m:r>
                      <m:r>
                        <a:rPr kumimoji="0" lang="en-US" altLang="zh-CN" sz="1800" i="1">
                          <a:solidFill>
                            <a:srgbClr val="000000"/>
                          </a:solidFill>
                          <a:latin typeface="Cambria Math" panose="02040503050406030204" pitchFamily="18" charset="0"/>
                          <a:cs typeface="Euclid" panose="02020503060505020303" pitchFamily="18" charset="0"/>
                        </a:rPr>
                        <m:t>)=−</m:t>
                      </m:r>
                      <m:f>
                        <m:fPr>
                          <m:ctrlPr>
                            <a:rPr kumimoji="0" lang="zh-CN" altLang="zh-CN" sz="1800" i="1">
                              <a:solidFill>
                                <a:srgbClr val="000000"/>
                              </a:solidFill>
                              <a:latin typeface="Cambria Math" panose="02040503050406030204" pitchFamily="18" charset="0"/>
                              <a:cs typeface="Euclid" panose="02020503060505020303" pitchFamily="18" charset="0"/>
                            </a:rPr>
                          </m:ctrlPr>
                        </m:fPr>
                        <m:num>
                          <m:r>
                            <a:rPr kumimoji="0" lang="en-US" altLang="zh-CN" sz="1800" i="1">
                              <a:solidFill>
                                <a:srgbClr val="000000"/>
                              </a:solidFill>
                              <a:latin typeface="Cambria Math" panose="02040503050406030204" pitchFamily="18" charset="0"/>
                              <a:cs typeface="Euclid" panose="02020503060505020303" pitchFamily="18" charset="0"/>
                            </a:rPr>
                            <m:t>1</m:t>
                          </m:r>
                        </m:num>
                        <m:den>
                          <m:r>
                            <a:rPr kumimoji="0" lang="en-US" altLang="zh-CN" sz="1800" b="0" i="1" smtClean="0">
                              <a:solidFill>
                                <a:srgbClr val="000000"/>
                              </a:solidFill>
                              <a:latin typeface="Cambria Math" panose="02040503050406030204" pitchFamily="18" charset="0"/>
                              <a:cs typeface="Euclid" panose="02020503060505020303" pitchFamily="18" charset="0"/>
                            </a:rPr>
                            <m:t>𝑚</m:t>
                          </m:r>
                        </m:den>
                      </m:f>
                      <m:r>
                        <a:rPr kumimoji="0" lang="en-US" altLang="zh-CN" sz="1800" i="1">
                          <a:solidFill>
                            <a:srgbClr val="000000"/>
                          </a:solidFill>
                          <a:latin typeface="Cambria Math" panose="02040503050406030204" pitchFamily="18" charset="0"/>
                          <a:cs typeface="Euclid" panose="02020503060505020303" pitchFamily="18" charset="0"/>
                        </a:rPr>
                        <m:t>𝑙</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𝑤</m:t>
                      </m:r>
                      <m:r>
                        <a:rPr kumimoji="0" lang="en-US" altLang="zh-CN" sz="1800" i="1">
                          <a:solidFill>
                            <a:srgbClr val="000000"/>
                          </a:solidFill>
                          <a:latin typeface="Cambria Math" panose="02040503050406030204" pitchFamily="18" charset="0"/>
                          <a:cs typeface="Euclid" panose="02020503060505020303" pitchFamily="18" charset="0"/>
                        </a:rPr>
                        <m:t>)=−</m:t>
                      </m:r>
                      <m:f>
                        <m:fPr>
                          <m:ctrlPr>
                            <a:rPr kumimoji="0" lang="zh-CN" altLang="zh-CN" sz="1800" i="1">
                              <a:solidFill>
                                <a:srgbClr val="000000"/>
                              </a:solidFill>
                              <a:latin typeface="Cambria Math" panose="02040503050406030204" pitchFamily="18" charset="0"/>
                              <a:cs typeface="Euclid" panose="02020503060505020303" pitchFamily="18" charset="0"/>
                            </a:rPr>
                          </m:ctrlPr>
                        </m:fPr>
                        <m:num>
                          <m:r>
                            <a:rPr kumimoji="0" lang="en-US" altLang="zh-CN" sz="1800" i="1">
                              <a:solidFill>
                                <a:srgbClr val="000000"/>
                              </a:solidFill>
                              <a:latin typeface="Cambria Math" panose="02040503050406030204" pitchFamily="18" charset="0"/>
                              <a:cs typeface="Euclid" panose="02020503060505020303" pitchFamily="18" charset="0"/>
                            </a:rPr>
                            <m:t>1</m:t>
                          </m:r>
                        </m:num>
                        <m:den>
                          <m:r>
                            <a:rPr kumimoji="0" lang="en-US" altLang="zh-CN" sz="1800" b="0" i="1" smtClean="0">
                              <a:solidFill>
                                <a:srgbClr val="000000"/>
                              </a:solidFill>
                              <a:latin typeface="Cambria Math" panose="02040503050406030204" pitchFamily="18" charset="0"/>
                              <a:cs typeface="Euclid" panose="02020503060505020303" pitchFamily="18" charset="0"/>
                            </a:rPr>
                            <m:t>𝑚</m:t>
                          </m:r>
                        </m:den>
                      </m:f>
                      <m:nary>
                        <m:naryPr>
                          <m:chr m:val="∑"/>
                          <m:limLoc m:val="undOvr"/>
                          <m:ctrlPr>
                            <a:rPr kumimoji="0" lang="zh-CN" altLang="zh-CN" sz="1800" i="1">
                              <a:solidFill>
                                <a:srgbClr val="000000"/>
                              </a:solidFill>
                              <a:latin typeface="Cambria Math" panose="02040503050406030204" pitchFamily="18" charset="0"/>
                              <a:cs typeface="Euclid" panose="02020503060505020303" pitchFamily="18" charset="0"/>
                            </a:rPr>
                          </m:ctrlPr>
                        </m:naryPr>
                        <m:sub>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1</m:t>
                          </m:r>
                        </m:sub>
                        <m:sup>
                          <m:r>
                            <a:rPr kumimoji="0" lang="en-US" altLang="zh-CN" sz="1800" b="0" i="1" smtClean="0">
                              <a:solidFill>
                                <a:srgbClr val="000000"/>
                              </a:solidFill>
                              <a:latin typeface="Cambria Math" panose="02040503050406030204" pitchFamily="18" charset="0"/>
                              <a:cs typeface="Euclid" panose="02020503060505020303" pitchFamily="18" charset="0"/>
                            </a:rPr>
                            <m:t>𝑚</m:t>
                          </m:r>
                        </m:sup>
                        <m:e>
                          <m:r>
                            <a:rPr kumimoji="0" lang="en-US" altLang="zh-CN" sz="1800" i="1">
                              <a:solidFill>
                                <a:srgbClr val="000000"/>
                              </a:solidFill>
                              <a:latin typeface="Cambria Math" panose="02040503050406030204" pitchFamily="18" charset="0"/>
                              <a:cs typeface="Euclid" panose="02020503060505020303" pitchFamily="18" charset="0"/>
                            </a:rPr>
                            <m:t>(</m:t>
                          </m:r>
                        </m:e>
                      </m:nary>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𝑦</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m:rPr>
                          <m:sty m:val="p"/>
                        </m:rPr>
                        <a:rPr kumimoji="0" lang="en-US" altLang="zh-CN" sz="1800">
                          <a:solidFill>
                            <a:srgbClr val="000000"/>
                          </a:solidFill>
                          <a:latin typeface="Cambria Math" panose="02040503050406030204" pitchFamily="18" charset="0"/>
                          <a:cs typeface="Euclid" panose="02020503060505020303" pitchFamily="18" charset="0"/>
                        </a:rPr>
                        <m:t>log</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ℎ</m:t>
                      </m:r>
                      <m:r>
                        <a:rPr kumimoji="0" lang="en-US" altLang="zh-CN" sz="1800" i="1">
                          <a:solidFill>
                            <a:srgbClr val="000000"/>
                          </a:solidFill>
                          <a:latin typeface="Cambria Math" panose="02040503050406030204" pitchFamily="18" charset="0"/>
                          <a:cs typeface="Euclid" panose="02020503060505020303" pitchFamily="18" charset="0"/>
                        </a:rPr>
                        <m:t>(</m:t>
                      </m:r>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𝑥</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1</m:t>
                      </m:r>
                      <m:r>
                        <a:rPr kumimoji="0" lang="en-US" altLang="zh-CN" sz="1800" i="1">
                          <a:solidFill>
                            <a:srgbClr val="000000"/>
                          </a:solidFill>
                          <a:latin typeface="Cambria Math" panose="02040503050406030204" pitchFamily="18" charset="0"/>
                          <a:cs typeface="Euclid" panose="02020503060505020303" pitchFamily="18" charset="0"/>
                        </a:rPr>
                        <m:t>−</m:t>
                      </m:r>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𝑦</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a:rPr kumimoji="0" lang="en-US" altLang="zh-CN" sz="1800" i="1">
                          <a:solidFill>
                            <a:srgbClr val="000000"/>
                          </a:solidFill>
                          <a:latin typeface="Cambria Math" panose="02040503050406030204" pitchFamily="18" charset="0"/>
                          <a:cs typeface="Euclid" panose="02020503060505020303" pitchFamily="18" charset="0"/>
                        </a:rPr>
                        <m:t>)</m:t>
                      </m:r>
                      <m:r>
                        <m:rPr>
                          <m:sty m:val="p"/>
                        </m:rPr>
                        <a:rPr kumimoji="0" lang="en-US" altLang="zh-CN" sz="1800">
                          <a:solidFill>
                            <a:srgbClr val="000000"/>
                          </a:solidFill>
                          <a:latin typeface="Cambria Math" panose="02040503050406030204" pitchFamily="18" charset="0"/>
                          <a:cs typeface="Euclid" panose="02020503060505020303" pitchFamily="18" charset="0"/>
                        </a:rPr>
                        <m:t>log</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1</m:t>
                      </m:r>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ℎ</m:t>
                      </m:r>
                      <m:r>
                        <a:rPr kumimoji="0" lang="en-US" altLang="zh-CN" sz="1800" i="1">
                          <a:solidFill>
                            <a:srgbClr val="000000"/>
                          </a:solidFill>
                          <a:latin typeface="Cambria Math" panose="02040503050406030204" pitchFamily="18" charset="0"/>
                          <a:cs typeface="Euclid" panose="02020503060505020303" pitchFamily="18" charset="0"/>
                        </a:rPr>
                        <m:t>(</m:t>
                      </m:r>
                      <m:sSup>
                        <m:sSupPr>
                          <m:ctrlPr>
                            <a:rPr kumimoji="0" lang="zh-CN" altLang="zh-CN" sz="1800" i="1">
                              <a:solidFill>
                                <a:srgbClr val="000000"/>
                              </a:solidFill>
                              <a:latin typeface="Cambria Math" panose="02040503050406030204" pitchFamily="18" charset="0"/>
                              <a:cs typeface="Euclid" panose="02020503060505020303" pitchFamily="18" charset="0"/>
                            </a:rPr>
                          </m:ctrlPr>
                        </m:sSupPr>
                        <m:e>
                          <m:r>
                            <a:rPr kumimoji="0" lang="en-US" altLang="zh-CN" sz="1800" i="1">
                              <a:solidFill>
                                <a:srgbClr val="000000"/>
                              </a:solidFill>
                              <a:latin typeface="Cambria Math" panose="02040503050406030204" pitchFamily="18" charset="0"/>
                              <a:cs typeface="Euclid" panose="02020503060505020303" pitchFamily="18" charset="0"/>
                            </a:rPr>
                            <m:t>𝑥</m:t>
                          </m:r>
                        </m:e>
                        <m:sup>
                          <m:r>
                            <a:rPr kumimoji="0" lang="en-US" altLang="zh-CN" sz="1800" i="1">
                              <a:solidFill>
                                <a:srgbClr val="000000"/>
                              </a:solidFill>
                              <a:latin typeface="Cambria Math" panose="02040503050406030204" pitchFamily="18" charset="0"/>
                              <a:cs typeface="Euclid" panose="02020503060505020303" pitchFamily="18" charset="0"/>
                            </a:rPr>
                            <m:t>(</m:t>
                          </m:r>
                          <m:r>
                            <a:rPr kumimoji="0" lang="en-US" altLang="zh-CN" sz="1800" i="1">
                              <a:solidFill>
                                <a:srgbClr val="000000"/>
                              </a:solidFill>
                              <a:latin typeface="Cambria Math" panose="02040503050406030204" pitchFamily="18" charset="0"/>
                              <a:cs typeface="Euclid" panose="02020503060505020303" pitchFamily="18" charset="0"/>
                            </a:rPr>
                            <m:t>𝑖</m:t>
                          </m:r>
                          <m:r>
                            <a:rPr kumimoji="0" lang="en-US" altLang="zh-CN" sz="1800" i="1">
                              <a:solidFill>
                                <a:srgbClr val="000000"/>
                              </a:solidFill>
                              <a:latin typeface="Cambria Math" panose="02040503050406030204" pitchFamily="18" charset="0"/>
                              <a:cs typeface="Euclid" panose="02020503060505020303" pitchFamily="18" charset="0"/>
                            </a:rPr>
                            <m:t>)</m:t>
                          </m:r>
                        </m:sup>
                      </m:sSup>
                      <m:r>
                        <a:rPr kumimoji="0" lang="en-US" altLang="zh-CN" sz="1800" i="1">
                          <a:solidFill>
                            <a:srgbClr val="000000"/>
                          </a:solidFill>
                          <a:latin typeface="Cambria Math" panose="02040503050406030204" pitchFamily="18" charset="0"/>
                          <a:cs typeface="Euclid" panose="02020503060505020303" pitchFamily="18" charset="0"/>
                        </a:rPr>
                        <m:t>)))</m:t>
                      </m:r>
                    </m:oMath>
                  </m:oMathPara>
                </a14:m>
                <a:endParaRPr kumimoji="0" lang="zh-CN" altLang="zh-CN" sz="1800" dirty="0">
                  <a:solidFill>
                    <a:srgbClr val="000000"/>
                  </a:solidFill>
                  <a:latin typeface="微软雅黑" panose="020B0503020204020204" charset="-122"/>
                  <a:ea typeface="微软雅黑" panose="020B0503020204020204" charset="-122"/>
                  <a:cs typeface="Euclid" panose="02020503060505020303" pitchFamily="18" charset="0"/>
                </a:endParaRPr>
              </a:p>
              <a:p>
                <a:pPr marL="257175" indent="-257175" algn="just">
                  <a:lnSpc>
                    <a:spcPct val="150000"/>
                  </a:lnSpc>
                  <a:buFont typeface="Wingdings" panose="05000000000000000000" pitchFamily="2" charset="2"/>
                  <a:buChar char="l"/>
                </a:pPr>
                <a:endParaRPr kumimoji="0" lang="zh-CN" altLang="zh-CN" sz="1800" dirty="0">
                  <a:solidFill>
                    <a:srgbClr val="000000"/>
                  </a:solidFill>
                  <a:latin typeface="微软雅黑" panose="020B0503020204020204" charset="-122"/>
                  <a:ea typeface="微软雅黑" panose="020B0503020204020204" charset="-122"/>
                  <a:cs typeface="Euclid" panose="02020503060505020303" pitchFamily="18" charset="0"/>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696996" y="1095023"/>
                <a:ext cx="7739312" cy="6397777"/>
              </a:xfrm>
              <a:prstGeom prst="rect">
                <a:avLst/>
              </a:prstGeom>
              <a:blipFill rotWithShape="1">
                <a:blip r:embed="rId1"/>
                <a:stretch>
                  <a:fillRect l="-5" t="-4" r="4" b="-450"/>
                </a:stretch>
              </a:blipFill>
            </p:spPr>
            <p:txBody>
              <a:bodyPr/>
              <a:lstStyle/>
              <a:p>
                <a:r>
                  <a:rPr lang="zh-CN" altLang="en-US">
                    <a:noFill/>
                  </a:rPr>
                  <a:t> </a:t>
                </a:r>
              </a:p>
            </p:txBody>
          </p:sp>
        </mc:Fallback>
      </mc:AlternateContent>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极大似然估计</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 name="文本框 50"/>
              <p:cNvSpPr txBox="1"/>
              <p:nvPr/>
            </p:nvSpPr>
            <p:spPr>
              <a:xfrm>
                <a:off x="696996" y="1178843"/>
                <a:ext cx="7739312" cy="4916410"/>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rPr>
                  <a:t>梯度下降求解过程</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spcAft>
                    <a:spcPts val="0"/>
                  </a:spcAft>
                </a:pPr>
                <a14:m>
                  <m:oMathPara xmlns:m="http://schemas.openxmlformats.org/officeDocument/2006/math">
                    <m:oMathParaPr>
                      <m:jc m:val="centerGroup"/>
                    </m:oMathParaPr>
                    <m:oMath xmlns:m="http://schemas.openxmlformats.org/officeDocument/2006/math">
                      <m:sSub>
                        <m:sSubPr>
                          <m:ctrlPr>
                            <a:rPr lang="zh-CN" altLang="zh-CN" sz="1800" i="1">
                              <a:latin typeface="Cambria Math" panose="02040503050406030204" pitchFamily="18" charset="0"/>
                              <a:cs typeface="Euclid" panose="02020503060505020303" pitchFamily="18" charset="0"/>
                            </a:rPr>
                          </m:ctrlPr>
                        </m:sSubPr>
                        <m:e>
                          <m:r>
                            <a:rPr lang="en-US" altLang="zh-CN" sz="1800" i="1">
                              <a:latin typeface="Cambria Math" panose="02040503050406030204" pitchFamily="18" charset="0"/>
                              <a:cs typeface="Euclid" panose="02020503060505020303" pitchFamily="18" charset="0"/>
                            </a:rPr>
                            <m:t>𝑤</m:t>
                          </m:r>
                        </m:e>
                        <m:sub>
                          <m:r>
                            <a:rPr lang="en-US" altLang="zh-CN" sz="1800" i="1">
                              <a:latin typeface="Cambria Math" panose="02040503050406030204" pitchFamily="18" charset="0"/>
                              <a:cs typeface="Euclid" panose="02020503060505020303" pitchFamily="18" charset="0"/>
                            </a:rPr>
                            <m:t>𝑗</m:t>
                          </m:r>
                        </m:sub>
                      </m:sSub>
                      <m:box>
                        <m:boxPr>
                          <m:ctrlPr>
                            <a:rPr lang="zh-CN" altLang="zh-CN" sz="1800" i="1">
                              <a:latin typeface="Cambria Math" panose="02040503050406030204" pitchFamily="18" charset="0"/>
                              <a:cs typeface="Euclid" panose="02020503060505020303" pitchFamily="18" charset="0"/>
                            </a:rPr>
                          </m:ctrlPr>
                        </m:boxPr>
                        <m:e>
                          <m:r>
                            <a:rPr lang="en-US" altLang="zh-CN" sz="1800" i="1">
                              <a:latin typeface="Cambria Math" panose="02040503050406030204" pitchFamily="18" charset="0"/>
                              <a:cs typeface="Euclid" panose="02020503060505020303" pitchFamily="18" charset="0"/>
                            </a:rPr>
                            <m:t>:=</m:t>
                          </m:r>
                        </m:e>
                      </m:box>
                      <m:sSub>
                        <m:sSubPr>
                          <m:ctrlPr>
                            <a:rPr lang="zh-CN" altLang="zh-CN" sz="1800" i="1">
                              <a:latin typeface="Cambria Math" panose="02040503050406030204" pitchFamily="18" charset="0"/>
                              <a:cs typeface="Euclid" panose="02020503060505020303" pitchFamily="18" charset="0"/>
                            </a:rPr>
                          </m:ctrlPr>
                        </m:sSubPr>
                        <m:e>
                          <m:r>
                            <a:rPr lang="en-US" altLang="zh-CN" sz="1800" i="1">
                              <a:latin typeface="Cambria Math" panose="02040503050406030204" pitchFamily="18" charset="0"/>
                              <a:cs typeface="Euclid" panose="02020503060505020303" pitchFamily="18" charset="0"/>
                            </a:rPr>
                            <m:t>𝑤</m:t>
                          </m:r>
                        </m:e>
                        <m:sub>
                          <m:r>
                            <a:rPr lang="en-US" altLang="zh-CN" sz="1800" i="1">
                              <a:latin typeface="Cambria Math" panose="02040503050406030204" pitchFamily="18" charset="0"/>
                              <a:cs typeface="Euclid" panose="02020503060505020303" pitchFamily="18" charset="0"/>
                            </a:rPr>
                            <m:t>𝑗</m:t>
                          </m:r>
                        </m:sub>
                      </m:sSub>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𝛼</m:t>
                      </m:r>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𝐽</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num>
                        <m:den>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den>
                      </m:f>
                      <m:r>
                        <m:rPr>
                          <m:nor/>
                        </m:rPr>
                        <a:rPr lang="en-US" altLang="zh-CN" sz="1800" dirty="0">
                          <a:latin typeface="+mj-ea"/>
                          <a:cs typeface="Euclid" panose="02020503060505020303" pitchFamily="18" charset="0"/>
                        </a:rPr>
                        <m:t> </m:t>
                      </m:r>
                    </m:oMath>
                  </m:oMathPara>
                </a14:m>
                <a:endParaRPr lang="en-US" altLang="zh-CN" sz="1800" dirty="0">
                  <a:latin typeface="+mj-ea"/>
                  <a:cs typeface="Euclid" panose="02020503060505020303" pitchFamily="18" charset="0"/>
                </a:endParaRPr>
              </a:p>
              <a:p>
                <a:pPr>
                  <a:spcAft>
                    <a:spcPts val="0"/>
                  </a:spcAft>
                </a:pPr>
                <a:endParaRPr lang="zh-CN" altLang="zh-CN" sz="1800" dirty="0">
                  <a:latin typeface="+mj-ea"/>
                  <a:cs typeface="Euclid" panose="02020503060505020303" pitchFamily="18" charset="0"/>
                </a:endParaRPr>
              </a:p>
              <a:p>
                <a:pPr>
                  <a:spcAft>
                    <a:spcPts val="0"/>
                  </a:spcAft>
                </a:pPr>
                <a14:m>
                  <m:oMathPara xmlns:m="http://schemas.openxmlformats.org/officeDocument/2006/math">
                    <m:oMathParaPr>
                      <m:jc m:val="centerGroup"/>
                    </m:oMathParaPr>
                    <m:oMath xmlns:m="http://schemas.openxmlformats.org/officeDocument/2006/math">
                      <m:r>
                        <a:rPr lang="en-US" altLang="zh-CN" sz="1800" i="1">
                          <a:latin typeface="Cambria Math" panose="02040503050406030204" pitchFamily="18" charset="0"/>
                          <a:cs typeface="Euclid" panose="02020503060505020303" pitchFamily="18" charset="0"/>
                        </a:rPr>
                        <m:t>𝐽</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1</m:t>
                          </m:r>
                        </m:num>
                        <m:den>
                          <m:r>
                            <a:rPr lang="en-US" altLang="zh-CN" sz="1800" i="1">
                              <a:latin typeface="Cambria Math" panose="02040503050406030204" pitchFamily="18" charset="0"/>
                              <a:cs typeface="Euclid" panose="02020503060505020303" pitchFamily="18" charset="0"/>
                            </a:rPr>
                            <m:t>𝑚</m:t>
                          </m:r>
                        </m:den>
                      </m:f>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m:t>
                          </m:r>
                        </m:e>
                      </m:nary>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d>
                            <m:dPr>
                              <m:ctrlPr>
                                <a:rPr lang="en-US" altLang="zh-CN" sz="1800" i="1">
                                  <a:latin typeface="Cambria Math" panose="02040503050406030204" pitchFamily="18" charset="0"/>
                                  <a:cs typeface="Euclid" panose="02020503060505020303" pitchFamily="18" charset="0"/>
                                </a:rPr>
                              </m:ctrlPr>
                            </m:dPr>
                            <m:e>
                              <m:r>
                                <a:rPr lang="en-US" altLang="zh-CN" sz="1800" i="1">
                                  <a:latin typeface="Cambria Math" panose="02040503050406030204" pitchFamily="18" charset="0"/>
                                  <a:cs typeface="Euclid" panose="02020503060505020303" pitchFamily="18" charset="0"/>
                                </a:rPr>
                                <m:t>𝑖</m:t>
                              </m:r>
                            </m:e>
                          </m:d>
                        </m:sup>
                      </m:sSup>
                      <m:r>
                        <m:rPr>
                          <m:sty m:val="p"/>
                        </m:rPr>
                        <a:rPr lang="en-US" altLang="zh-CN" sz="1800">
                          <a:latin typeface="Cambria Math" panose="02040503050406030204" pitchFamily="18" charset="0"/>
                          <a:cs typeface="Euclid" panose="02020503060505020303" pitchFamily="18" charset="0"/>
                        </a:rPr>
                        <m:t>log</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d>
                            <m:dPr>
                              <m:ctrlPr>
                                <a:rPr lang="en-US" altLang="zh-CN" sz="1800" i="1">
                                  <a:latin typeface="Cambria Math" panose="02040503050406030204" pitchFamily="18" charset="0"/>
                                  <a:cs typeface="Euclid" panose="02020503060505020303" pitchFamily="18" charset="0"/>
                                </a:rPr>
                              </m:ctrlPr>
                            </m:dPr>
                            <m:e>
                              <m:r>
                                <a:rPr lang="en-US" altLang="zh-CN" sz="1800" i="1">
                                  <a:latin typeface="Cambria Math" panose="02040503050406030204" pitchFamily="18" charset="0"/>
                                  <a:cs typeface="Euclid" panose="02020503060505020303" pitchFamily="18" charset="0"/>
                                </a:rPr>
                                <m:t>𝑖</m:t>
                              </m:r>
                            </m:e>
                          </m:d>
                        </m:sup>
                      </m:s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d>
                            <m:dPr>
                              <m:ctrlPr>
                                <a:rPr lang="en-US" altLang="zh-CN" sz="1800" i="1">
                                  <a:latin typeface="Cambria Math" panose="02040503050406030204" pitchFamily="18" charset="0"/>
                                  <a:cs typeface="Euclid" panose="02020503060505020303" pitchFamily="18" charset="0"/>
                                </a:rPr>
                              </m:ctrlPr>
                            </m:dPr>
                            <m:e>
                              <m:r>
                                <a:rPr lang="en-US" altLang="zh-CN" sz="1800" i="1">
                                  <a:latin typeface="Cambria Math" panose="02040503050406030204" pitchFamily="18" charset="0"/>
                                  <a:cs typeface="Euclid" panose="02020503060505020303" pitchFamily="18" charset="0"/>
                                </a:rPr>
                                <m:t>𝑖</m:t>
                              </m:r>
                            </m:e>
                          </m:d>
                        </m:sup>
                      </m:sSup>
                      <m:r>
                        <a:rPr lang="en-US" altLang="zh-CN" sz="1800" i="1">
                          <a:latin typeface="Cambria Math" panose="02040503050406030204" pitchFamily="18" charset="0"/>
                          <a:cs typeface="Euclid" panose="02020503060505020303" pitchFamily="18" charset="0"/>
                        </a:rPr>
                        <m:t>)</m:t>
                      </m:r>
                      <m:r>
                        <m:rPr>
                          <m:sty m:val="p"/>
                        </m:rPr>
                        <a:rPr lang="en-US" altLang="zh-CN" sz="1800">
                          <a:latin typeface="Cambria Math" panose="02040503050406030204" pitchFamily="18" charset="0"/>
                          <a:cs typeface="Euclid" panose="02020503060505020303" pitchFamily="18" charset="0"/>
                        </a:rPr>
                        <m:t>log</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d>
                            <m:dPr>
                              <m:ctrlPr>
                                <a:rPr lang="en-US" altLang="zh-CN" sz="1800" i="1">
                                  <a:latin typeface="Cambria Math" panose="02040503050406030204" pitchFamily="18" charset="0"/>
                                  <a:cs typeface="Euclid" panose="02020503060505020303" pitchFamily="18" charset="0"/>
                                </a:rPr>
                              </m:ctrlPr>
                            </m:dPr>
                            <m:e>
                              <m:r>
                                <a:rPr lang="en-US" altLang="zh-CN" sz="1800" i="1">
                                  <a:latin typeface="Cambria Math" panose="02040503050406030204" pitchFamily="18" charset="0"/>
                                  <a:cs typeface="Euclid" panose="02020503060505020303" pitchFamily="18" charset="0"/>
                                </a:rPr>
                                <m:t>𝑖</m:t>
                              </m:r>
                            </m:e>
                          </m:d>
                        </m:sup>
                      </m:sSup>
                      <m:r>
                        <a:rPr lang="en-US" altLang="zh-CN" sz="1800" i="1">
                          <a:latin typeface="Cambria Math" panose="02040503050406030204" pitchFamily="18" charset="0"/>
                          <a:cs typeface="Euclid" panose="02020503060505020303" pitchFamily="18" charset="0"/>
                        </a:rPr>
                        <m:t>)))</m:t>
                      </m:r>
                    </m:oMath>
                  </m:oMathPara>
                </a14:m>
                <a:endParaRPr lang="en-US" altLang="zh-CN" sz="1800" dirty="0">
                  <a:latin typeface="+mj-ea"/>
                  <a:cs typeface="Euclid" panose="02020503060505020303" pitchFamily="18" charset="0"/>
                </a:endParaRPr>
              </a:p>
              <a:p>
                <a:pPr>
                  <a:spcAft>
                    <a:spcPts val="0"/>
                  </a:spcAft>
                </a:pPr>
                <a:endParaRPr lang="zh-CN" altLang="zh-CN" sz="1800" dirty="0">
                  <a:latin typeface="+mj-ea"/>
                  <a:cs typeface="Euclid" panose="02020503060505020303" pitchFamily="18" charset="0"/>
                </a:endParaRPr>
              </a:p>
              <a:p>
                <a:pPr>
                  <a:spcAft>
                    <a:spcPts val="0"/>
                  </a:spcAft>
                </a:pPr>
                <a14:m>
                  <m:oMathPara xmlns:m="http://schemas.openxmlformats.org/officeDocument/2006/math">
                    <m:oMathParaPr>
                      <m:jc m:val="centerGroup"/>
                    </m:oMathParaPr>
                    <m:oMath xmlns:m="http://schemas.openxmlformats.org/officeDocument/2006/math">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m:t>
                          </m:r>
                        </m:num>
                        <m:den>
                          <m:r>
                            <a:rPr lang="en-US" altLang="zh-CN" sz="1800" i="1">
                              <a:latin typeface="Cambria Math" panose="02040503050406030204" pitchFamily="18" charset="0"/>
                              <a:cs typeface="Euclid" panose="02020503060505020303" pitchFamily="18" charset="0"/>
                            </a:rPr>
                            <m:t>𝜕</m:t>
                          </m:r>
                          <m:sSub>
                            <m:sSubPr>
                              <m:ctrlPr>
                                <a:rPr lang="zh-CN" altLang="zh-CN" sz="1800" i="1">
                                  <a:latin typeface="Cambria Math" panose="02040503050406030204" pitchFamily="18" charset="0"/>
                                  <a:cs typeface="Euclid" panose="02020503060505020303" pitchFamily="18" charset="0"/>
                                </a:rPr>
                              </m:ctrlPr>
                            </m:sSubPr>
                            <m:e>
                              <m:r>
                                <a:rPr lang="en-US" altLang="zh-CN" sz="1800" i="1">
                                  <a:latin typeface="Cambria Math" panose="02040503050406030204" pitchFamily="18" charset="0"/>
                                  <a:cs typeface="Euclid" panose="02020503060505020303" pitchFamily="18" charset="0"/>
                                </a:rPr>
                                <m:t>𝑤</m:t>
                              </m:r>
                            </m:e>
                            <m:sub>
                              <m:r>
                                <a:rPr lang="en-US" altLang="zh-CN" sz="1800" i="1">
                                  <a:latin typeface="Cambria Math" panose="02040503050406030204" pitchFamily="18" charset="0"/>
                                  <a:cs typeface="Euclid" panose="02020503060505020303" pitchFamily="18" charset="0"/>
                                </a:rPr>
                                <m:t>𝑗</m:t>
                              </m:r>
                            </m:sub>
                          </m:sSub>
                        </m:den>
                      </m:f>
                      <m:r>
                        <a:rPr lang="en-US" altLang="zh-CN" sz="1800" i="1">
                          <a:latin typeface="Cambria Math" panose="02040503050406030204" pitchFamily="18" charset="0"/>
                          <a:cs typeface="Euclid" panose="02020503060505020303" pitchFamily="18" charset="0"/>
                        </a:rPr>
                        <m:t>𝐽</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1</m:t>
                          </m:r>
                        </m:num>
                        <m:den>
                          <m:r>
                            <a:rPr lang="en-US" altLang="zh-CN" sz="1800" i="1">
                              <a:latin typeface="Cambria Math" panose="02040503050406030204" pitchFamily="18" charset="0"/>
                              <a:cs typeface="Euclid" panose="02020503060505020303" pitchFamily="18" charset="0"/>
                            </a:rPr>
                            <m:t>𝑚</m:t>
                          </m:r>
                        </m:den>
                      </m:f>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m:t>
                          </m:r>
                        </m:e>
                      </m:nary>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bSup>
                        <m:sSubSupPr>
                          <m:ctrlPr>
                            <a:rPr lang="zh-CN" altLang="zh-CN" sz="1800" i="1">
                              <a:latin typeface="Cambria Math" panose="02040503050406030204" pitchFamily="18" charset="0"/>
                              <a:cs typeface="Euclid" panose="02020503060505020303" pitchFamily="18" charset="0"/>
                            </a:rPr>
                          </m:ctrlPr>
                        </m:sSubSupPr>
                        <m:e>
                          <m:r>
                            <a:rPr lang="en-US" altLang="zh-CN" sz="1800" i="1">
                              <a:latin typeface="Cambria Math" panose="02040503050406030204" pitchFamily="18" charset="0"/>
                              <a:cs typeface="Euclid" panose="02020503060505020303" pitchFamily="18" charset="0"/>
                            </a:rPr>
                            <m:t>𝑥</m:t>
                          </m:r>
                        </m:e>
                        <m:sub>
                          <m:r>
                            <a:rPr lang="en-US" altLang="zh-CN" sz="1800" i="1">
                              <a:latin typeface="Cambria Math" panose="02040503050406030204" pitchFamily="18" charset="0"/>
                              <a:cs typeface="Euclid" panose="02020503060505020303" pitchFamily="18" charset="0"/>
                            </a:rPr>
                            <m:t>𝑗</m:t>
                          </m:r>
                        </m:sub>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bSup>
                    </m:oMath>
                  </m:oMathPara>
                </a14:m>
                <a:endParaRPr lang="zh-CN" altLang="zh-CN" sz="1800" dirty="0">
                  <a:latin typeface="+mj-ea"/>
                  <a:cs typeface="Euclid" panose="02020503060505020303" pitchFamily="18" charset="0"/>
                </a:endParaRPr>
              </a:p>
              <a:p>
                <a:pPr>
                  <a:spcAft>
                    <a:spcPts val="0"/>
                  </a:spcAft>
                </a:pPr>
                <a:endParaRPr lang="en-US" altLang="zh-CN" sz="1800" dirty="0">
                  <a:latin typeface="+mj-ea"/>
                  <a:cs typeface="Euclid" panose="02020503060505020303" pitchFamily="18" charset="0"/>
                </a:endParaRPr>
              </a:p>
              <a:p>
                <a:pPr>
                  <a:spcAft>
                    <a:spcPts val="0"/>
                  </a:spcAft>
                </a:pPr>
                <a14:m>
                  <m:oMathPara xmlns:m="http://schemas.openxmlformats.org/officeDocument/2006/math">
                    <m:oMathParaPr>
                      <m:jc m:val="centerGroup"/>
                    </m:oMathParaPr>
                    <m:oMath xmlns:m="http://schemas.openxmlformats.org/officeDocument/2006/math">
                      <m:r>
                        <m:rPr>
                          <m:nor/>
                        </m:rPr>
                        <a:rPr lang="zh-CN" altLang="zh-CN" sz="1800" dirty="0">
                          <a:latin typeface="+mj-ea"/>
                          <a:cs typeface="Euclid" panose="02020503060505020303" pitchFamily="18" charset="0"/>
                        </a:rPr>
                        <m:t>则：</m:t>
                      </m:r>
                      <m:sSub>
                        <m:sSubPr>
                          <m:ctrlPr>
                            <a:rPr lang="zh-CN" altLang="zh-CN" sz="1800" i="1">
                              <a:latin typeface="Cambria Math" panose="02040503050406030204" pitchFamily="18" charset="0"/>
                              <a:cs typeface="Euclid" panose="02020503060505020303" pitchFamily="18" charset="0"/>
                            </a:rPr>
                          </m:ctrlPr>
                        </m:sSubPr>
                        <m:e>
                          <m:r>
                            <a:rPr lang="en-US" altLang="zh-CN" sz="1800" i="1">
                              <a:latin typeface="Cambria Math" panose="02040503050406030204" pitchFamily="18" charset="0"/>
                              <a:cs typeface="Euclid" panose="02020503060505020303" pitchFamily="18" charset="0"/>
                            </a:rPr>
                            <m:t>𝑤</m:t>
                          </m:r>
                        </m:e>
                        <m:sub>
                          <m:r>
                            <a:rPr lang="en-US" altLang="zh-CN" sz="1800" i="1">
                              <a:latin typeface="Cambria Math" panose="02040503050406030204" pitchFamily="18" charset="0"/>
                              <a:cs typeface="Euclid" panose="02020503060505020303" pitchFamily="18" charset="0"/>
                            </a:rPr>
                            <m:t>𝑗</m:t>
                          </m:r>
                        </m:sub>
                      </m:sSub>
                      <m:box>
                        <m:boxPr>
                          <m:ctrlPr>
                            <a:rPr lang="zh-CN" altLang="zh-CN" sz="1800" i="1">
                              <a:latin typeface="Cambria Math" panose="02040503050406030204" pitchFamily="18" charset="0"/>
                              <a:cs typeface="Euclid" panose="02020503060505020303" pitchFamily="18" charset="0"/>
                            </a:rPr>
                          </m:ctrlPr>
                        </m:boxPr>
                        <m:e>
                          <m:r>
                            <a:rPr lang="en-US" altLang="zh-CN" sz="1800" i="1">
                              <a:latin typeface="Cambria Math" panose="02040503050406030204" pitchFamily="18" charset="0"/>
                              <a:cs typeface="Euclid" panose="02020503060505020303" pitchFamily="18" charset="0"/>
                            </a:rPr>
                            <m:t>:=</m:t>
                          </m:r>
                        </m:e>
                      </m:box>
                      <m:sSub>
                        <m:sSubPr>
                          <m:ctrlPr>
                            <a:rPr lang="zh-CN" altLang="zh-CN" sz="1800" i="1">
                              <a:latin typeface="Cambria Math" panose="02040503050406030204" pitchFamily="18" charset="0"/>
                              <a:cs typeface="Euclid" panose="02020503060505020303" pitchFamily="18" charset="0"/>
                            </a:rPr>
                          </m:ctrlPr>
                        </m:sSubPr>
                        <m:e>
                          <m:r>
                            <a:rPr lang="en-US" altLang="zh-CN" sz="1800" i="1">
                              <a:latin typeface="Cambria Math" panose="02040503050406030204" pitchFamily="18" charset="0"/>
                              <a:cs typeface="Euclid" panose="02020503060505020303" pitchFamily="18" charset="0"/>
                            </a:rPr>
                            <m:t>𝑤</m:t>
                          </m:r>
                        </m:e>
                        <m:sub>
                          <m:r>
                            <a:rPr lang="en-US" altLang="zh-CN" sz="1800" i="1">
                              <a:latin typeface="Cambria Math" panose="02040503050406030204" pitchFamily="18" charset="0"/>
                              <a:cs typeface="Euclid" panose="02020503060505020303" pitchFamily="18" charset="0"/>
                            </a:rPr>
                            <m:t>𝑗</m:t>
                          </m:r>
                        </m:sub>
                      </m:sSub>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𝛼</m:t>
                      </m:r>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1</m:t>
                          </m:r>
                        </m:num>
                        <m:den>
                          <m:r>
                            <a:rPr lang="en-US" altLang="zh-CN" sz="1800" i="1">
                              <a:latin typeface="Cambria Math" panose="02040503050406030204" pitchFamily="18" charset="0"/>
                              <a:cs typeface="Euclid" panose="02020503060505020303" pitchFamily="18" charset="0"/>
                            </a:rPr>
                            <m:t>𝑚</m:t>
                          </m:r>
                        </m:den>
                      </m:f>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m:t>
                          </m:r>
                        </m:e>
                      </m:nary>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bSup>
                        <m:sSubSupPr>
                          <m:ctrlPr>
                            <a:rPr lang="zh-CN" altLang="zh-CN" sz="1800" i="1">
                              <a:latin typeface="Cambria Math" panose="02040503050406030204" pitchFamily="18" charset="0"/>
                              <a:cs typeface="Euclid" panose="02020503060505020303" pitchFamily="18" charset="0"/>
                            </a:rPr>
                          </m:ctrlPr>
                        </m:sSubSupPr>
                        <m:e>
                          <m:r>
                            <a:rPr lang="en-US" altLang="zh-CN" sz="1800" i="1">
                              <a:latin typeface="Cambria Math" panose="02040503050406030204" pitchFamily="18" charset="0"/>
                              <a:cs typeface="Euclid" panose="02020503060505020303" pitchFamily="18" charset="0"/>
                            </a:rPr>
                            <m:t>𝑥</m:t>
                          </m:r>
                        </m:e>
                        <m:sub>
                          <m:r>
                            <a:rPr lang="en-US" altLang="zh-CN" sz="1800" i="1">
                              <a:latin typeface="Cambria Math" panose="02040503050406030204" pitchFamily="18" charset="0"/>
                              <a:cs typeface="Euclid" panose="02020503060505020303" pitchFamily="18" charset="0"/>
                            </a:rPr>
                            <m:t>𝑗</m:t>
                          </m:r>
                        </m:sub>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bSup>
                    </m:oMath>
                  </m:oMathPara>
                </a14:m>
                <a:endParaRPr kumimoji="0" lang="zh-CN" altLang="zh-CN" sz="1800" dirty="0">
                  <a:solidFill>
                    <a:srgbClr val="000000"/>
                  </a:solidFill>
                  <a:latin typeface="微软雅黑" panose="020B0503020204020204" charset="-122"/>
                  <a:ea typeface="微软雅黑" panose="020B0503020204020204" charset="-122"/>
                  <a:cs typeface="Euclid" panose="02020503060505020303" pitchFamily="18" charset="0"/>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696996" y="1178843"/>
                <a:ext cx="7739312" cy="4916410"/>
              </a:xfrm>
              <a:prstGeom prst="rect">
                <a:avLst/>
              </a:prstGeom>
              <a:blipFill rotWithShape="1">
                <a:blip r:embed="rId1"/>
                <a:stretch>
                  <a:fillRect l="-5" t="-6" r="4" b="11"/>
                </a:stretch>
              </a:blipFill>
            </p:spPr>
            <p:txBody>
              <a:bodyPr/>
              <a:lstStyle/>
              <a:p>
                <a:r>
                  <a:rPr lang="zh-CN" altLang="en-US">
                    <a:noFill/>
                  </a:rPr>
                  <a:t> </a:t>
                </a:r>
              </a:p>
            </p:txBody>
          </p:sp>
        </mc:Fallback>
      </mc:AlternateContent>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逻辑回归求解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 name="文本框 50"/>
              <p:cNvSpPr txBox="1"/>
              <p:nvPr/>
            </p:nvSpPr>
            <p:spPr>
              <a:xfrm>
                <a:off x="696996" y="1178843"/>
                <a:ext cx="7739312" cy="2388603"/>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14:m>
                  <m:oMath xmlns:m="http://schemas.openxmlformats.org/officeDocument/2006/math">
                    <m:f>
                      <m:fPr>
                        <m:ctrlPr>
                          <a:rPr lang="zh-CN" altLang="zh-CN" sz="1800" i="1" smtClean="0">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m:t>
                        </m:r>
                      </m:num>
                      <m:den>
                        <m:r>
                          <a:rPr lang="en-US" altLang="zh-CN" sz="1800" i="1">
                            <a:latin typeface="Cambria Math" panose="02040503050406030204" pitchFamily="18" charset="0"/>
                            <a:cs typeface="Euclid" panose="02020503060505020303" pitchFamily="18" charset="0"/>
                          </a:rPr>
                          <m:t>𝜕</m:t>
                        </m:r>
                        <m:sSub>
                          <m:sSubPr>
                            <m:ctrlPr>
                              <a:rPr lang="zh-CN" altLang="zh-CN" sz="1800" i="1">
                                <a:latin typeface="Cambria Math" panose="02040503050406030204" pitchFamily="18" charset="0"/>
                                <a:cs typeface="Euclid" panose="02020503060505020303" pitchFamily="18" charset="0"/>
                              </a:rPr>
                            </m:ctrlPr>
                          </m:sSubPr>
                          <m:e>
                            <m:r>
                              <a:rPr lang="en-US" altLang="zh-CN" sz="1800" i="1">
                                <a:latin typeface="Cambria Math" panose="02040503050406030204" pitchFamily="18" charset="0"/>
                                <a:cs typeface="Euclid" panose="02020503060505020303" pitchFamily="18" charset="0"/>
                              </a:rPr>
                              <m:t>𝑤</m:t>
                            </m:r>
                          </m:e>
                          <m:sub>
                            <m:r>
                              <a:rPr lang="en-US" altLang="zh-CN" sz="1800" i="1">
                                <a:latin typeface="Cambria Math" panose="02040503050406030204" pitchFamily="18" charset="0"/>
                                <a:cs typeface="Euclid" panose="02020503060505020303" pitchFamily="18" charset="0"/>
                              </a:rPr>
                              <m:t>𝑗</m:t>
                            </m:r>
                          </m:sub>
                        </m:sSub>
                      </m:den>
                    </m:f>
                    <m:r>
                      <a:rPr lang="en-US" altLang="zh-CN" sz="1800" i="1">
                        <a:latin typeface="Cambria Math" panose="02040503050406030204" pitchFamily="18" charset="0"/>
                        <a:cs typeface="Euclid" panose="02020503060505020303" pitchFamily="18" charset="0"/>
                      </a:rPr>
                      <m:t>𝐽</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1</m:t>
                        </m:r>
                      </m:num>
                      <m:den>
                        <m:r>
                          <a:rPr lang="en-US" altLang="zh-CN" sz="1800" i="1">
                            <a:latin typeface="Cambria Math" panose="02040503050406030204" pitchFamily="18" charset="0"/>
                            <a:cs typeface="Euclid" panose="02020503060505020303" pitchFamily="18" charset="0"/>
                          </a:rPr>
                          <m:t>𝑚</m:t>
                        </m:r>
                      </m:den>
                    </m:f>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m:t>
                        </m:r>
                      </m:e>
                    </m:nary>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sSubSup>
                      <m:sSubSupPr>
                        <m:ctrlPr>
                          <a:rPr lang="zh-CN" altLang="zh-CN" sz="1800" i="1">
                            <a:latin typeface="Cambria Math" panose="02040503050406030204" pitchFamily="18" charset="0"/>
                            <a:cs typeface="Euclid" panose="02020503060505020303" pitchFamily="18" charset="0"/>
                          </a:rPr>
                        </m:ctrlPr>
                      </m:sSubSupPr>
                      <m:e>
                        <m:r>
                          <a:rPr lang="en-US" altLang="zh-CN" sz="1800" i="1">
                            <a:latin typeface="Cambria Math" panose="02040503050406030204" pitchFamily="18" charset="0"/>
                            <a:cs typeface="Euclid" panose="02020503060505020303" pitchFamily="18" charset="0"/>
                          </a:rPr>
                          <m:t>𝑥</m:t>
                        </m:r>
                      </m:e>
                      <m:sub>
                        <m:r>
                          <a:rPr lang="en-US" altLang="zh-CN" sz="1800" i="1">
                            <a:latin typeface="Cambria Math" panose="02040503050406030204" pitchFamily="18" charset="0"/>
                            <a:cs typeface="Euclid" panose="02020503060505020303" pitchFamily="18" charset="0"/>
                          </a:rPr>
                          <m:t>𝑗</m:t>
                        </m:r>
                      </m:sub>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bSup>
                  </m:oMath>
                </a14:m>
                <a:r>
                  <a:rPr lang="en-US" altLang="zh-CN" sz="1800" dirty="0" err="1">
                    <a:latin typeface="+mj-ea"/>
                    <a:cs typeface="Euclid" panose="02020503060505020303" pitchFamily="18" charset="0"/>
                  </a:rPr>
                  <a:t>的推导过程</a:t>
                </a:r>
                <a:r>
                  <a:rPr lang="en-US" altLang="zh-CN" sz="1800" dirty="0">
                    <a:latin typeface="+mj-ea"/>
                    <a:cs typeface="Euclid" panose="02020503060505020303" pitchFamily="18" charset="0"/>
                  </a:rPr>
                  <a:t>：</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spcAft>
                    <a:spcPts val="0"/>
                  </a:spcAft>
                </a:pPr>
                <a:r>
                  <a:rPr lang="en-US" altLang="zh-CN" sz="1800" dirty="0">
                    <a:cs typeface="Euclid" panose="02020503060505020303" pitchFamily="18" charset="0"/>
                  </a:rPr>
                  <a:t> </a:t>
                </a:r>
                <a14:m>
                  <m:oMath xmlns:m="http://schemas.openxmlformats.org/officeDocument/2006/math">
                    <m:r>
                      <a:rPr lang="en-US" altLang="zh-CN" sz="1800" i="1">
                        <a:latin typeface="Cambria Math" panose="02040503050406030204" pitchFamily="18" charset="0"/>
                        <a:cs typeface="Euclid" panose="02020503060505020303" pitchFamily="18" charset="0"/>
                      </a:rPr>
                      <m:t>𝐽</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𝑤</m:t>
                    </m:r>
                    <m:r>
                      <a:rPr lang="en-US" altLang="zh-CN" sz="1800" i="1">
                        <a:latin typeface="Cambria Math" panose="02040503050406030204" pitchFamily="18" charset="0"/>
                        <a:cs typeface="Euclid" panose="02020503060505020303" pitchFamily="18" charset="0"/>
                      </a:rPr>
                      <m:t>)=−</m:t>
                    </m:r>
                    <m:f>
                      <m:fPr>
                        <m:ctrlPr>
                          <a:rPr lang="zh-CN" altLang="zh-CN" sz="1800" i="1">
                            <a:latin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cs typeface="Euclid" panose="02020503060505020303" pitchFamily="18" charset="0"/>
                          </a:rPr>
                          <m:t>1</m:t>
                        </m:r>
                      </m:num>
                      <m:den>
                        <m:r>
                          <a:rPr lang="en-US" altLang="zh-CN" sz="1800" i="1">
                            <a:latin typeface="Cambria Math" panose="02040503050406030204" pitchFamily="18" charset="0"/>
                            <a:cs typeface="Euclid" panose="02020503060505020303" pitchFamily="18" charset="0"/>
                          </a:rPr>
                          <m:t>𝑚</m:t>
                        </m:r>
                      </m:den>
                    </m:f>
                    <m:nary>
                      <m:naryPr>
                        <m:chr m:val="∑"/>
                        <m:limLoc m:val="undOvr"/>
                        <m:ctrlPr>
                          <a:rPr lang="zh-CN" altLang="zh-CN" sz="1800" i="1">
                            <a:latin typeface="Cambria Math" panose="02040503050406030204" pitchFamily="18" charset="0"/>
                            <a:cs typeface="Euclid" panose="02020503060505020303" pitchFamily="18" charset="0"/>
                          </a:rPr>
                        </m:ctrlPr>
                      </m:naryPr>
                      <m:sub>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sub>
                      <m:sup>
                        <m:r>
                          <a:rPr lang="en-US" altLang="zh-CN" sz="1800" i="1">
                            <a:latin typeface="Cambria Math" panose="02040503050406030204" pitchFamily="18" charset="0"/>
                            <a:cs typeface="Euclid" panose="02020503060505020303" pitchFamily="18" charset="0"/>
                          </a:rPr>
                          <m:t>𝑚</m:t>
                        </m:r>
                      </m:sup>
                      <m:e>
                        <m:r>
                          <a:rPr lang="en-US" altLang="zh-CN" sz="1800" i="1">
                            <a:latin typeface="Cambria Math" panose="02040503050406030204" pitchFamily="18" charset="0"/>
                            <a:cs typeface="Euclid" panose="02020503060505020303" pitchFamily="18" charset="0"/>
                          </a:rPr>
                          <m:t>(</m:t>
                        </m:r>
                      </m:e>
                    </m:nary>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m:rPr>
                        <m:sty m:val="p"/>
                      </m:rPr>
                      <a:rPr lang="en-US" altLang="zh-CN" sz="1800">
                        <a:latin typeface="Cambria Math" panose="02040503050406030204" pitchFamily="18" charset="0"/>
                        <a:cs typeface="Euclid" panose="02020503060505020303" pitchFamily="18" charset="0"/>
                      </a:rPr>
                      <m:t>log</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𝑦</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r>
                      <m:rPr>
                        <m:sty m:val="p"/>
                      </m:rPr>
                      <a:rPr lang="en-US" altLang="zh-CN" sz="1800">
                        <a:latin typeface="Cambria Math" panose="02040503050406030204" pitchFamily="18" charset="0"/>
                        <a:cs typeface="Euclid" panose="02020503060505020303" pitchFamily="18" charset="0"/>
                      </a:rPr>
                      <m:t>log</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1</m:t>
                    </m:r>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ℎ</m:t>
                    </m:r>
                    <m:r>
                      <a:rPr lang="en-US" altLang="zh-CN" sz="1800" i="1">
                        <a:latin typeface="Cambria Math" panose="02040503050406030204" pitchFamily="18" charset="0"/>
                        <a:cs typeface="Euclid" panose="02020503060505020303" pitchFamily="18" charset="0"/>
                      </a:rPr>
                      <m:t>(</m:t>
                    </m:r>
                    <m:sSup>
                      <m:sSupPr>
                        <m:ctrlPr>
                          <a:rPr lang="zh-CN" altLang="zh-CN" sz="1800" i="1">
                            <a:latin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cs typeface="Euclid" panose="02020503060505020303" pitchFamily="18" charset="0"/>
                          </a:rPr>
                          <m:t>𝑥</m:t>
                        </m:r>
                      </m:e>
                      <m:sup>
                        <m:r>
                          <a:rPr lang="en-US" altLang="zh-CN" sz="1800" i="1">
                            <a:latin typeface="Cambria Math" panose="02040503050406030204" pitchFamily="18" charset="0"/>
                            <a:cs typeface="Euclid" panose="02020503060505020303" pitchFamily="18" charset="0"/>
                          </a:rPr>
                          <m:t>(</m:t>
                        </m:r>
                        <m:r>
                          <a:rPr lang="en-US" altLang="zh-CN" sz="1800" i="1">
                            <a:latin typeface="Cambria Math" panose="02040503050406030204" pitchFamily="18" charset="0"/>
                            <a:cs typeface="Euclid" panose="02020503060505020303" pitchFamily="18" charset="0"/>
                          </a:rPr>
                          <m:t>𝑖</m:t>
                        </m:r>
                        <m:r>
                          <a:rPr lang="en-US" altLang="zh-CN" sz="1800" i="1">
                            <a:latin typeface="Cambria Math" panose="02040503050406030204" pitchFamily="18" charset="0"/>
                            <a:cs typeface="Euclid" panose="02020503060505020303" pitchFamily="18" charset="0"/>
                          </a:rPr>
                          <m:t>)</m:t>
                        </m:r>
                      </m:sup>
                    </m:sSup>
                    <m:r>
                      <a:rPr lang="en-US" altLang="zh-CN" sz="1800" i="1">
                        <a:latin typeface="Cambria Math" panose="02040503050406030204" pitchFamily="18" charset="0"/>
                        <a:cs typeface="Euclid" panose="02020503060505020303" pitchFamily="18" charset="0"/>
                      </a:rPr>
                      <m:t>))</m:t>
                    </m:r>
                    <m:r>
                      <a:rPr lang="en-US" altLang="zh-CN" sz="1800" i="1" smtClean="0">
                        <a:latin typeface="Cambria Math" panose="02040503050406030204" pitchFamily="18" charset="0"/>
                        <a:cs typeface="Euclid" panose="02020503060505020303" pitchFamily="18" charset="0"/>
                      </a:rPr>
                      <m:t>)</m:t>
                    </m:r>
                  </m:oMath>
                </a14:m>
                <a:endParaRPr lang="zh-CN" altLang="zh-CN" sz="1800" dirty="0">
                  <a:latin typeface="+mj-ea"/>
                  <a:cs typeface="Euclid" panose="02020503060505020303" pitchFamily="18" charset="0"/>
                </a:endParaRPr>
              </a:p>
              <a:p>
                <a:pPr algn="just">
                  <a:lnSpc>
                    <a:spcPct val="150000"/>
                  </a:lnSpc>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endParaRPr lang="zh-CN" altLang="en-US" sz="1800" dirty="0"/>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696996" y="1178843"/>
                <a:ext cx="7739312" cy="2388603"/>
              </a:xfrm>
              <a:prstGeom prst="rect">
                <a:avLst/>
              </a:prstGeom>
              <a:blipFill rotWithShape="1">
                <a:blip r:embed="rId1"/>
                <a:stretch>
                  <a:fillRect l="-5" t="-12" r="4" b="1"/>
                </a:stretch>
              </a:blipFill>
            </p:spPr>
            <p:txBody>
              <a:bodyPr/>
              <a:lstStyle/>
              <a:p>
                <a:r>
                  <a:rPr lang="zh-CN" altLang="en-US">
                    <a:noFill/>
                  </a:rPr>
                  <a:t> </a:t>
                </a:r>
              </a:p>
            </p:txBody>
          </p:sp>
        </mc:Fallback>
      </mc:AlternateContent>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逻辑回归求解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cxnSp>
        <p:nvCxnSpPr>
          <p:cNvPr id="3" name="直接连接符 2"/>
          <p:cNvCxnSpPr/>
          <p:nvPr/>
        </p:nvCxnSpPr>
        <p:spPr>
          <a:xfrm>
            <a:off x="2483768" y="2373144"/>
            <a:ext cx="4392488" cy="0"/>
          </a:xfrm>
          <a:prstGeom prst="line">
            <a:avLst/>
          </a:prstGeom>
          <a:ln>
            <a:solidFill>
              <a:srgbClr val="FF0000"/>
            </a:solidFill>
          </a:ln>
        </p:spPr>
        <p:style>
          <a:lnRef idx="2">
            <a:schemeClr val="accent6"/>
          </a:lnRef>
          <a:fillRef idx="0">
            <a:schemeClr val="accent6"/>
          </a:fillRef>
          <a:effectRef idx="1">
            <a:schemeClr val="accent6"/>
          </a:effectRef>
          <a:fontRef idx="minor">
            <a:schemeClr val="tx1"/>
          </a:fontRef>
        </p:style>
      </p:cxnSp>
      <mc:AlternateContent xmlns:mc="http://schemas.openxmlformats.org/markup-compatibility/2006">
        <mc:Choice xmlns:a14="http://schemas.microsoft.com/office/drawing/2010/main" Requires="a14">
          <p:sp>
            <p:nvSpPr>
              <p:cNvPr id="10" name="文本框 9"/>
              <p:cNvSpPr txBox="1"/>
              <p:nvPr/>
            </p:nvSpPr>
            <p:spPr>
              <a:xfrm>
                <a:off x="755576" y="2492896"/>
                <a:ext cx="5760640" cy="923843"/>
              </a:xfrm>
              <a:prstGeom prst="rect">
                <a:avLst/>
              </a:prstGeom>
              <a:noFill/>
            </p:spPr>
            <p:txBody>
              <a:bodyPr wrap="square">
                <a:spAutoFit/>
              </a:bodyPr>
              <a:lstStyle/>
              <a:p>
                <a:pPr algn="just"/>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zh-CN" sz="1800" i="1" smtClean="0">
                              <a:latin typeface="Cambria Math" panose="02040503050406030204" pitchFamily="18" charset="0"/>
                              <a:ea typeface="Cambria Math" panose="02040503050406030204" pitchFamily="18" charset="0"/>
                              <a:cs typeface="Euclid" panose="02020503060505020303" pitchFamily="18" charset="0"/>
                            </a:rPr>
                          </m:ctrlPr>
                        </m:mPr>
                        <m:mr>
                          <m:e>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𝑦</m:t>
                                </m:r>
                              </m:e>
                              <m:sup>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𝑖</m:t>
                                    </m:r>
                                  </m:e>
                                </m:d>
                              </m:sup>
                            </m:s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log</m:t>
                            </m:r>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ℎ</m:t>
                                </m:r>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𝑥</m:t>
                                        </m:r>
                                      </m:e>
                                      <m:sup>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𝑖</m:t>
                                            </m:r>
                                          </m:e>
                                        </m:d>
                                      </m:sup>
                                    </m:sSup>
                                  </m:e>
                                </m:d>
                              </m:e>
                            </m:d>
                            <m:r>
                              <a:rPr lang="en-US" altLang="zh-CN" sz="1800" i="1">
                                <a:latin typeface="Cambria Math" panose="02040503050406030204" pitchFamily="18" charset="0"/>
                                <a:ea typeface="Euclid" panose="02020503060505020303" pitchFamily="18" charset="0"/>
                                <a:cs typeface="Euclid" panose="02020503060505020303" pitchFamily="18" charset="0"/>
                              </a:rPr>
                              <m:t>+</m:t>
                            </m:r>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𝑦</m:t>
                                    </m:r>
                                  </m:e>
                                  <m:sup>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𝑖</m:t>
                                        </m:r>
                                      </m:e>
                                    </m:d>
                                  </m:sup>
                                </m:sSup>
                              </m:e>
                            </m:d>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log</m:t>
                            </m:r>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ℎ</m:t>
                                </m:r>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𝑥</m:t>
                                        </m:r>
                                      </m:e>
                                      <m:sup>
                                        <m:d>
                                          <m:dPr>
                                            <m:ctrlPr>
                                              <a:rPr lang="en-US" altLang="zh-CN" sz="1800" i="1">
                                                <a:latin typeface="Cambria Math" panose="02040503050406030204" pitchFamily="18" charset="0"/>
                                                <a:ea typeface="Euclid" panose="02020503060505020303" pitchFamily="18" charset="0"/>
                                                <a:cs typeface="Euclid" panose="02020503060505020303" pitchFamily="18" charset="0"/>
                                              </a:rPr>
                                            </m:ctrlPr>
                                          </m:dPr>
                                          <m:e>
                                            <m:r>
                                              <a:rPr lang="en-US" altLang="zh-CN" sz="1800" i="1">
                                                <a:latin typeface="Cambria Math" panose="02040503050406030204" pitchFamily="18" charset="0"/>
                                                <a:ea typeface="Euclid" panose="02020503060505020303" pitchFamily="18" charset="0"/>
                                                <a:cs typeface="Euclid" panose="02020503060505020303" pitchFamily="18" charset="0"/>
                                              </a:rPr>
                                              <m:t>𝑖</m:t>
                                            </m:r>
                                          </m:e>
                                        </m:d>
                                      </m:sup>
                                    </m:sSup>
                                  </m:e>
                                </m:d>
                              </m:e>
                            </m:d>
                          </m:e>
                        </m:mr>
                        <m:mr>
                          <m:e/>
                        </m:mr>
                        <m:mr>
                          <m:e/>
                        </m:mr>
                      </m:m>
                    </m:oMath>
                  </m:oMathPara>
                </a14:m>
                <a:endParaRPr lang="zh-CN" altLang="en-US" sz="1800" dirty="0"/>
              </a:p>
            </p:txBody>
          </p:sp>
        </mc:Choice>
        <mc:Fallback>
          <p:sp>
            <p:nvSpPr>
              <p:cNvPr id="10" name="文本框 9"/>
              <p:cNvSpPr txBox="1">
                <a:spLocks noRot="1" noChangeAspect="1" noMove="1" noResize="1" noEditPoints="1" noAdjustHandles="1" noChangeArrowheads="1" noChangeShapeType="1" noTextEdit="1"/>
              </p:cNvSpPr>
              <p:nvPr/>
            </p:nvSpPr>
            <p:spPr>
              <a:xfrm>
                <a:off x="755576" y="2492896"/>
                <a:ext cx="5760640" cy="923843"/>
              </a:xfrm>
              <a:prstGeom prst="rect">
                <a:avLst/>
              </a:prstGeom>
              <a:blipFill rotWithShape="1">
                <a:blip r:embed="rId2"/>
                <a:stretch>
                  <a:fillRect l="-10" t="-56" r="8" b="4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611560" y="3887966"/>
                <a:ext cx="4572000" cy="2547942"/>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m>
                        <m:mPr>
                          <m:mcs>
                            <m:mc>
                              <m:mcPr>
                                <m:count m:val="1"/>
                                <m:mcJc m:val="center"/>
                              </m:mcPr>
                            </m:mc>
                          </m:mcs>
                          <m:plcHide m:val="on"/>
                          <m:ctrlPr>
                            <a:rPr lang="zh-CN" altLang="zh-CN" sz="1800" i="1" smtClean="0">
                              <a:latin typeface="Cambria Math" panose="02040503050406030204" pitchFamily="18" charset="0"/>
                              <a:ea typeface="Cambria Math" panose="02040503050406030204" pitchFamily="18" charset="0"/>
                            </a:rPr>
                          </m:ctrlPr>
                        </m:mPr>
                        <m:mr>
                          <m:e>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m:t>
                                </m:r>
                              </m:num>
                              <m:den>
                                <m:r>
                                  <a:rPr lang="en-US" altLang="zh-CN" sz="1800" i="1" kern="1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rPr>
                                    </m:ctrlPr>
                                  </m:sSubPr>
                                  <m:e>
                                    <m:r>
                                      <a:rPr lang="en-US" altLang="zh-CN" sz="1800" i="1" kern="100">
                                        <a:latin typeface="Cambria Math" panose="02040503050406030204" pitchFamily="18" charset="0"/>
                                        <a:cs typeface="Times New Roman" panose="02020603050405020304" pitchFamily="18" charset="0"/>
                                      </a:rPr>
                                      <m:t>𝑤</m:t>
                                    </m:r>
                                  </m:e>
                                  <m:sub>
                                    <m:r>
                                      <a:rPr lang="en-US" altLang="zh-CN" sz="1800" i="1" kern="100">
                                        <a:latin typeface="Cambria Math" panose="02040503050406030204" pitchFamily="18" charset="0"/>
                                        <a:cs typeface="Times New Roman" panose="02020603050405020304" pitchFamily="18" charset="0"/>
                                      </a:rPr>
                                      <m:t>𝑗</m:t>
                                    </m:r>
                                  </m:sub>
                                </m:sSub>
                              </m:den>
                            </m:f>
                            <m:r>
                              <a:rPr lang="en-US" altLang="zh-CN" sz="1800" i="1" kern="100">
                                <a:latin typeface="Cambria Math" panose="02040503050406030204" pitchFamily="18" charset="0"/>
                                <a:cs typeface="Times New Roman" panose="02020603050405020304" pitchFamily="18" charset="0"/>
                              </a:rPr>
                              <m:t>𝐽</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𝑤</m:t>
                            </m:r>
                            <m:r>
                              <a:rPr lang="en-US" altLang="zh-CN" sz="1800" i="1" kern="1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m:t>
                                </m:r>
                              </m:num>
                              <m:den>
                                <m:r>
                                  <a:rPr lang="en-US" altLang="zh-CN" sz="1800" i="1" kern="100">
                                    <a:latin typeface="Cambria Math" panose="02040503050406030204" pitchFamily="18" charset="0"/>
                                    <a:cs typeface="Times New Roman" panose="02020603050405020304" pitchFamily="18" charset="0"/>
                                  </a:rPr>
                                  <m:t>𝜕</m:t>
                                </m:r>
                                <m:sSub>
                                  <m:sSubPr>
                                    <m:ctrlPr>
                                      <a:rPr lang="zh-CN" altLang="zh-CN" sz="1800" i="1">
                                        <a:latin typeface="Cambria Math" panose="02040503050406030204" pitchFamily="18" charset="0"/>
                                        <a:ea typeface="Cambria Math" panose="02040503050406030204" pitchFamily="18" charset="0"/>
                                      </a:rPr>
                                    </m:ctrlPr>
                                  </m:sSubPr>
                                  <m:e>
                                    <m:r>
                                      <a:rPr lang="en-US" altLang="zh-CN" sz="1800" i="1" kern="100">
                                        <a:latin typeface="Cambria Math" panose="02040503050406030204" pitchFamily="18" charset="0"/>
                                        <a:cs typeface="Times New Roman" panose="02020603050405020304" pitchFamily="18" charset="0"/>
                                      </a:rPr>
                                      <m:t>𝑤</m:t>
                                    </m:r>
                                  </m:e>
                                  <m:sub>
                                    <m:r>
                                      <a:rPr lang="en-US" altLang="zh-CN" sz="1800" i="1" kern="100">
                                        <a:latin typeface="Cambria Math" panose="02040503050406030204" pitchFamily="18" charset="0"/>
                                        <a:cs typeface="Times New Roman" panose="02020603050405020304" pitchFamily="18" charset="0"/>
                                      </a:rPr>
                                      <m:t>𝑗</m:t>
                                    </m:r>
                                  </m:sub>
                                </m:sSub>
                              </m:den>
                            </m:f>
                            <m:r>
                              <a:rPr lang="en-US" altLang="zh-CN" sz="1800" i="1" kern="1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1</m:t>
                                </m:r>
                              </m:num>
                              <m:den>
                                <m:r>
                                  <a:rPr lang="en-US" altLang="zh-CN" sz="1800" i="1" kern="100">
                                    <a:latin typeface="Cambria Math" panose="02040503050406030204" pitchFamily="18" charset="0"/>
                                    <a:cs typeface="Times New Roman" panose="02020603050405020304" pitchFamily="18" charset="0"/>
                                  </a:rPr>
                                  <m:t>𝑚</m:t>
                                </m:r>
                              </m:den>
                            </m:f>
                            <m:nary>
                              <m:naryPr>
                                <m:chr m:val="∑"/>
                                <m:limLoc m:val="undOvr"/>
                                <m:ctrlPr>
                                  <a:rPr lang="zh-CN" altLang="zh-CN" sz="1800" i="1">
                                    <a:latin typeface="Cambria Math" panose="02040503050406030204" pitchFamily="18" charset="0"/>
                                    <a:ea typeface="Cambria Math" panose="02040503050406030204" pitchFamily="18" charset="0"/>
                                  </a:rPr>
                                </m:ctrlPr>
                              </m:naryPr>
                              <m:sub>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1</m:t>
                                </m:r>
                              </m:sub>
                              <m:sup>
                                <m:r>
                                  <a:rPr lang="en-US" altLang="zh-CN" sz="1800" i="1" kern="100">
                                    <a:latin typeface="Cambria Math" panose="02040503050406030204" pitchFamily="18" charset="0"/>
                                    <a:cs typeface="Times New Roman" panose="02020603050405020304" pitchFamily="18" charset="0"/>
                                  </a:rPr>
                                  <m:t>𝑚</m:t>
                                </m:r>
                              </m:sup>
                              <m:e>
                                <m:r>
                                  <a:rPr lang="en-US" altLang="zh-CN" sz="1800" i="1" kern="100">
                                    <a:latin typeface="Cambria Math" panose="02040503050406030204" pitchFamily="18" charset="0"/>
                                    <a:cs typeface="Times New Roman" panose="02020603050405020304" pitchFamily="18" charset="0"/>
                                  </a:rPr>
                                  <m:t>(</m:t>
                                </m:r>
                              </m:e>
                            </m:nary>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𝑦</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r>
                              <m:rPr>
                                <m:sty m:val="p"/>
                              </m:rPr>
                              <a:rPr lang="en-US" altLang="zh-CN" sz="1800" kern="100">
                                <a:latin typeface="Cambria Math" panose="02040503050406030204" pitchFamily="18" charset="0"/>
                                <a:cs typeface="Times New Roman" panose="02020603050405020304" pitchFamily="18" charset="0"/>
                              </a:rPr>
                              <m:t>log</m:t>
                            </m:r>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1</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𝑒</m:t>
                                    </m:r>
                                  </m:e>
                                  <m:sup>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𝑤</m:t>
                                        </m:r>
                                      </m:e>
                                      <m:sup>
                                        <m:r>
                                          <m:rPr>
                                            <m:sty m:val="p"/>
                                          </m:rPr>
                                          <a:rPr lang="en-US" altLang="zh-CN" sz="1800" kern="100">
                                            <a:latin typeface="Cambria Math" panose="02040503050406030204" pitchFamily="18" charset="0"/>
                                            <a:cs typeface="Times New Roman" panose="02020603050405020304" pitchFamily="18" charset="0"/>
                                          </a:rPr>
                                          <m:t>T</m:t>
                                        </m:r>
                                      </m:sup>
                                    </m:s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sup>
                                </m:sSup>
                              </m:e>
                            </m:d>
                            <m:r>
                              <a:rPr lang="en-US" altLang="zh-CN" sz="1800" i="1" kern="100">
                                <a:latin typeface="Cambria Math" panose="02040503050406030204" pitchFamily="18" charset="0"/>
                                <a:cs typeface="Times New Roman" panose="02020603050405020304" pitchFamily="18" charset="0"/>
                              </a:rPr>
                              <m:t>−</m:t>
                            </m:r>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1</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𝑦</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e>
                            </m:d>
                            <m:r>
                              <m:rPr>
                                <m:sty m:val="p"/>
                              </m:rPr>
                              <a:rPr lang="en-US" altLang="zh-CN" sz="1800" kern="100">
                                <a:latin typeface="Cambria Math" panose="02040503050406030204" pitchFamily="18" charset="0"/>
                                <a:cs typeface="Times New Roman" panose="02020603050405020304" pitchFamily="18" charset="0"/>
                              </a:rPr>
                              <m:t>log</m:t>
                            </m:r>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1</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𝑒</m:t>
                                    </m:r>
                                  </m:e>
                                  <m: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𝑤</m:t>
                                        </m:r>
                                      </m:e>
                                      <m:sup>
                                        <m:r>
                                          <m:rPr>
                                            <m:sty m:val="p"/>
                                          </m:rPr>
                                          <a:rPr lang="en-US" altLang="zh-CN" sz="1800" kern="100">
                                            <a:latin typeface="Cambria Math" panose="02040503050406030204" pitchFamily="18" charset="0"/>
                                            <a:cs typeface="Times New Roman" panose="02020603050405020304" pitchFamily="18" charset="0"/>
                                          </a:rPr>
                                          <m:t>T</m:t>
                                        </m:r>
                                      </m:sup>
                                    </m:s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sup>
                                </m:sSup>
                              </m:e>
                            </m:d>
                            <m:r>
                              <a:rPr lang="en-US" altLang="zh-CN" sz="1800" i="1" kern="100">
                                <a:latin typeface="Cambria Math" panose="02040503050406030204" pitchFamily="18" charset="0"/>
                                <a:cs typeface="Times New Roman" panose="02020603050405020304" pitchFamily="18" charset="0"/>
                              </a:rPr>
                              <m:t>))</m:t>
                            </m:r>
                          </m:e>
                        </m:mr>
                        <m:mr>
                          <m:e>
                            <m:r>
                              <a:rPr lang="en-US" altLang="zh-CN" sz="1800" i="1" kern="1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1</m:t>
                                </m:r>
                              </m:num>
                              <m:den>
                                <m:r>
                                  <a:rPr lang="en-US" altLang="zh-CN" sz="1800" i="1" kern="100">
                                    <a:latin typeface="Cambria Math" panose="02040503050406030204" pitchFamily="18" charset="0"/>
                                    <a:cs typeface="Times New Roman" panose="02020603050405020304" pitchFamily="18" charset="0"/>
                                  </a:rPr>
                                  <m:t>𝑚</m:t>
                                </m:r>
                              </m:den>
                            </m:f>
                            <m:nary>
                              <m:naryPr>
                                <m:chr m:val="∑"/>
                                <m:limLoc m:val="undOvr"/>
                                <m:ctrlPr>
                                  <a:rPr lang="zh-CN" altLang="zh-CN" sz="1800" i="1">
                                    <a:latin typeface="Cambria Math" panose="02040503050406030204" pitchFamily="18" charset="0"/>
                                    <a:ea typeface="Cambria Math" panose="02040503050406030204" pitchFamily="18" charset="0"/>
                                  </a:rPr>
                                </m:ctrlPr>
                              </m:naryPr>
                              <m:sub>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1</m:t>
                                </m:r>
                              </m:sub>
                              <m:sup>
                                <m:r>
                                  <a:rPr lang="en-US" altLang="zh-CN" sz="1800" i="1" kern="100">
                                    <a:latin typeface="Cambria Math" panose="02040503050406030204" pitchFamily="18" charset="0"/>
                                    <a:cs typeface="Times New Roman" panose="02020603050405020304" pitchFamily="18" charset="0"/>
                                  </a:rPr>
                                  <m:t>𝑚</m:t>
                                </m:r>
                              </m:sup>
                              <m:e>
                                <m:r>
                                  <a:rPr lang="en-US" altLang="zh-CN" sz="1800" i="1" kern="100">
                                    <a:latin typeface="Cambria Math" panose="02040503050406030204" pitchFamily="18" charset="0"/>
                                    <a:cs typeface="Times New Roman" panose="02020603050405020304" pitchFamily="18" charset="0"/>
                                  </a:rPr>
                                  <m:t>(</m:t>
                                </m:r>
                              </m:e>
                            </m:nary>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𝑦</m:t>
                                </m:r>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p>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m:t>
                                </m:r>
                                <m:sSubSup>
                                  <m:sSubSupPr>
                                    <m:ctrlPr>
                                      <a:rPr lang="zh-CN" altLang="zh-CN" sz="1800" i="1">
                                        <a:latin typeface="Cambria Math" panose="02040503050406030204" pitchFamily="18" charset="0"/>
                                        <a:ea typeface="Cambria Math" panose="02040503050406030204" pitchFamily="18" charset="0"/>
                                      </a:rPr>
                                    </m:ctrlPr>
                                  </m:sSubSupPr>
                                  <m:e>
                                    <m:r>
                                      <a:rPr lang="en-US" altLang="zh-CN" sz="1800" i="1" kern="100">
                                        <a:latin typeface="Cambria Math" panose="02040503050406030204" pitchFamily="18" charset="0"/>
                                        <a:cs typeface="Times New Roman" panose="02020603050405020304" pitchFamily="18" charset="0"/>
                                      </a:rPr>
                                      <m:t>𝑥</m:t>
                                    </m:r>
                                  </m:e>
                                  <m:sub>
                                    <m:r>
                                      <a:rPr lang="en-US" altLang="zh-CN" sz="1800" i="1" kern="100">
                                        <a:latin typeface="Cambria Math" panose="02040503050406030204" pitchFamily="18" charset="0"/>
                                        <a:cs typeface="Times New Roman" panose="02020603050405020304" pitchFamily="18" charset="0"/>
                                      </a:rPr>
                                      <m:t>𝑗</m:t>
                                    </m:r>
                                  </m:sub>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b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𝑒</m:t>
                                    </m:r>
                                  </m:e>
                                  <m:sup>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𝑤</m:t>
                                        </m:r>
                                      </m:e>
                                      <m:sup>
                                        <m:r>
                                          <m:rPr>
                                            <m:sty m:val="p"/>
                                          </m:rPr>
                                          <a:rPr lang="en-US" altLang="zh-CN" sz="1800" kern="100">
                                            <a:latin typeface="Cambria Math" panose="02040503050406030204" pitchFamily="18" charset="0"/>
                                            <a:cs typeface="Times New Roman" panose="02020603050405020304" pitchFamily="18" charset="0"/>
                                          </a:rPr>
                                          <m:t>T</m:t>
                                        </m:r>
                                      </m:sup>
                                    </m:s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sup>
                                </m:sSup>
                              </m:num>
                              <m:den>
                                <m:r>
                                  <a:rPr lang="en-US" altLang="zh-CN" sz="1800" i="1" kern="100">
                                    <a:latin typeface="Cambria Math" panose="02040503050406030204" pitchFamily="18" charset="0"/>
                                    <a:cs typeface="Times New Roman" panose="02020603050405020304" pitchFamily="18" charset="0"/>
                                  </a:rPr>
                                  <m:t>1</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𝑒</m:t>
                                    </m:r>
                                  </m:e>
                                  <m:sup>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𝑤</m:t>
                                        </m:r>
                                      </m:e>
                                      <m:sup>
                                        <m:r>
                                          <m:rPr>
                                            <m:sty m:val="p"/>
                                          </m:rPr>
                                          <a:rPr lang="en-US" altLang="zh-CN" sz="1800" kern="100">
                                            <a:latin typeface="Cambria Math" panose="02040503050406030204" pitchFamily="18" charset="0"/>
                                            <a:cs typeface="Times New Roman" panose="02020603050405020304" pitchFamily="18" charset="0"/>
                                          </a:rPr>
                                          <m:t>T</m:t>
                                        </m:r>
                                      </m:sup>
                                    </m:s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sup>
                                </m:sSup>
                              </m:den>
                            </m:f>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1</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𝑦</m:t>
                                </m:r>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p>
                            <m:r>
                              <a:rPr lang="en-US" altLang="zh-CN" sz="1800" i="1" kern="1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rPr>
                                </m:ctrlPr>
                              </m:fPr>
                              <m:num>
                                <m:sSubSup>
                                  <m:sSubSupPr>
                                    <m:ctrlPr>
                                      <a:rPr lang="zh-CN" altLang="zh-CN" sz="1800" i="1">
                                        <a:latin typeface="Cambria Math" panose="02040503050406030204" pitchFamily="18" charset="0"/>
                                        <a:ea typeface="Cambria Math" panose="02040503050406030204" pitchFamily="18" charset="0"/>
                                      </a:rPr>
                                    </m:ctrlPr>
                                  </m:sSubSupPr>
                                  <m:e>
                                    <m:r>
                                      <a:rPr lang="en-US" altLang="zh-CN" sz="1800" i="1" kern="100">
                                        <a:latin typeface="Cambria Math" panose="02040503050406030204" pitchFamily="18" charset="0"/>
                                        <a:cs typeface="Times New Roman" panose="02020603050405020304" pitchFamily="18" charset="0"/>
                                      </a:rPr>
                                      <m:t>𝑥</m:t>
                                    </m:r>
                                  </m:e>
                                  <m:sub>
                                    <m:r>
                                      <a:rPr lang="en-US" altLang="zh-CN" sz="1800" i="1" kern="100">
                                        <a:latin typeface="Cambria Math" panose="02040503050406030204" pitchFamily="18" charset="0"/>
                                        <a:cs typeface="Times New Roman" panose="02020603050405020304" pitchFamily="18" charset="0"/>
                                      </a:rPr>
                                      <m:t>𝑗</m:t>
                                    </m:r>
                                  </m:sub>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b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𝑒</m:t>
                                    </m:r>
                                  </m:e>
                                  <m: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𝑤</m:t>
                                        </m:r>
                                      </m:e>
                                      <m:sup>
                                        <m:r>
                                          <m:rPr>
                                            <m:sty m:val="p"/>
                                          </m:rPr>
                                          <a:rPr lang="en-US" altLang="zh-CN" sz="1800" kern="100">
                                            <a:latin typeface="Cambria Math" panose="02040503050406030204" pitchFamily="18" charset="0"/>
                                            <a:cs typeface="Times New Roman" panose="02020603050405020304" pitchFamily="18" charset="0"/>
                                          </a:rPr>
                                          <m:t>T</m:t>
                                        </m:r>
                                      </m:sup>
                                    </m:s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sup>
                                </m:sSup>
                              </m:num>
                              <m:den>
                                <m:r>
                                  <a:rPr lang="en-US" altLang="zh-CN" sz="1800" i="1" kern="100">
                                    <a:latin typeface="Cambria Math" panose="02040503050406030204" pitchFamily="18" charset="0"/>
                                    <a:cs typeface="Times New Roman" panose="02020603050405020304" pitchFamily="18" charset="0"/>
                                  </a:rPr>
                                  <m:t>1</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𝑒</m:t>
                                    </m:r>
                                  </m:e>
                                  <m: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𝑤</m:t>
                                        </m:r>
                                      </m:e>
                                      <m:sup>
                                        <m:r>
                                          <m:rPr>
                                            <m:sty m:val="p"/>
                                          </m:rPr>
                                          <a:rPr lang="en-US" altLang="zh-CN" sz="1800" kern="100">
                                            <a:latin typeface="Cambria Math" panose="02040503050406030204" pitchFamily="18" charset="0"/>
                                            <a:cs typeface="Times New Roman" panose="02020603050405020304" pitchFamily="18" charset="0"/>
                                          </a:rPr>
                                          <m:t>T</m:t>
                                        </m:r>
                                      </m:sup>
                                    </m:sSup>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d>
                                          <m:dPr>
                                            <m:ctrlPr>
                                              <a:rPr lang="en-US" altLang="zh-CN" sz="1800" i="1" kern="100">
                                                <a:latin typeface="Cambria Math" panose="02040503050406030204" pitchFamily="18" charset="0"/>
                                                <a:cs typeface="Times New Roman" panose="02020603050405020304" pitchFamily="18" charset="0"/>
                                              </a:rPr>
                                            </m:ctrlPr>
                                          </m:dPr>
                                          <m:e>
                                            <m:r>
                                              <a:rPr lang="en-US" altLang="zh-CN" sz="1800" i="1" kern="100">
                                                <a:latin typeface="Cambria Math" panose="02040503050406030204" pitchFamily="18" charset="0"/>
                                                <a:cs typeface="Times New Roman" panose="02020603050405020304" pitchFamily="18" charset="0"/>
                                              </a:rPr>
                                              <m:t>𝑖</m:t>
                                            </m:r>
                                          </m:e>
                                        </m:d>
                                      </m:sup>
                                    </m:sSup>
                                  </m:sup>
                                </m:sSup>
                              </m:den>
                            </m:f>
                            <m:r>
                              <a:rPr lang="en-US" altLang="zh-CN" sz="1800" i="1" kern="100">
                                <a:latin typeface="Cambria Math" panose="02040503050406030204" pitchFamily="18" charset="0"/>
                                <a:cs typeface="Times New Roman" panose="02020603050405020304" pitchFamily="18" charset="0"/>
                              </a:rPr>
                              <m:t>)</m:t>
                            </m:r>
                          </m:e>
                        </m:mr>
                        <m:mr>
                          <m:e>
                            <m:r>
                              <a:rPr lang="en-US" altLang="zh-CN" sz="1800" i="1" kern="1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1</m:t>
                                </m:r>
                              </m:num>
                              <m:den>
                                <m:r>
                                  <a:rPr lang="en-US" altLang="zh-CN" sz="1800" i="1" kern="100">
                                    <a:latin typeface="Cambria Math" panose="02040503050406030204" pitchFamily="18" charset="0"/>
                                    <a:cs typeface="Times New Roman" panose="02020603050405020304" pitchFamily="18" charset="0"/>
                                  </a:rPr>
                                  <m:t>𝑚</m:t>
                                </m:r>
                              </m:den>
                            </m:f>
                            <m:nary>
                              <m:naryPr>
                                <m:chr m:val="∑"/>
                                <m:limLoc m:val="undOvr"/>
                                <m:ctrlPr>
                                  <a:rPr lang="zh-CN" altLang="zh-CN" sz="1800" i="1">
                                    <a:latin typeface="Cambria Math" panose="02040503050406030204" pitchFamily="18" charset="0"/>
                                    <a:ea typeface="Cambria Math" panose="02040503050406030204" pitchFamily="18" charset="0"/>
                                  </a:rPr>
                                </m:ctrlPr>
                              </m:naryPr>
                              <m:sub>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1</m:t>
                                </m:r>
                              </m:sub>
                              <m:sup>
                                <m:r>
                                  <a:rPr lang="en-US" altLang="zh-CN" sz="1800" i="1" kern="100">
                                    <a:latin typeface="Cambria Math" panose="02040503050406030204" pitchFamily="18" charset="0"/>
                                    <a:cs typeface="Times New Roman" panose="02020603050405020304" pitchFamily="18" charset="0"/>
                                  </a:rPr>
                                  <m:t>𝑚</m:t>
                                </m:r>
                              </m:sup>
                              <m:e>
                                <m:r>
                                  <a:rPr lang="en-US" altLang="zh-CN" sz="1800" i="1" kern="100">
                                    <a:latin typeface="Cambria Math" panose="02040503050406030204" pitchFamily="18" charset="0"/>
                                    <a:cs typeface="Times New Roman" panose="02020603050405020304" pitchFamily="18" charset="0"/>
                                  </a:rPr>
                                  <m:t>(</m:t>
                                </m:r>
                              </m:e>
                            </m:nary>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𝑦</m:t>
                                </m:r>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ℎ</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p>
                            <m:r>
                              <a:rPr lang="en-US" altLang="zh-CN" sz="1800" i="1" kern="100">
                                <a:latin typeface="Cambria Math" panose="02040503050406030204" pitchFamily="18" charset="0"/>
                                <a:cs typeface="Times New Roman" panose="02020603050405020304" pitchFamily="18" charset="0"/>
                              </a:rPr>
                              <m:t>))</m:t>
                            </m:r>
                            <m:sSubSup>
                              <m:sSubSupPr>
                                <m:ctrlPr>
                                  <a:rPr lang="zh-CN" altLang="zh-CN" sz="1800" i="1">
                                    <a:latin typeface="Cambria Math" panose="02040503050406030204" pitchFamily="18" charset="0"/>
                                    <a:ea typeface="Cambria Math" panose="02040503050406030204" pitchFamily="18" charset="0"/>
                                  </a:rPr>
                                </m:ctrlPr>
                              </m:sSubSupPr>
                              <m:e>
                                <m:r>
                                  <a:rPr lang="en-US" altLang="zh-CN" sz="1800" i="1" kern="100">
                                    <a:latin typeface="Cambria Math" panose="02040503050406030204" pitchFamily="18" charset="0"/>
                                    <a:cs typeface="Times New Roman" panose="02020603050405020304" pitchFamily="18" charset="0"/>
                                  </a:rPr>
                                  <m:t>𝑥</m:t>
                                </m:r>
                              </m:e>
                              <m:sub>
                                <m:r>
                                  <a:rPr lang="en-US" altLang="zh-CN" sz="1800" i="1" kern="100">
                                    <a:latin typeface="Cambria Math" panose="02040503050406030204" pitchFamily="18" charset="0"/>
                                    <a:cs typeface="Times New Roman" panose="02020603050405020304" pitchFamily="18" charset="0"/>
                                  </a:rPr>
                                  <m:t>𝑗</m:t>
                                </m:r>
                              </m:sub>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bSup>
                            <m:r>
                              <a:rPr lang="en-US" altLang="zh-CN" sz="1800" i="1" kern="100">
                                <a:latin typeface="Cambria Math" panose="02040503050406030204" pitchFamily="18" charset="0"/>
                                <a:cs typeface="Times New Roman" panose="02020603050405020304" pitchFamily="18" charset="0"/>
                              </a:rPr>
                              <m:t>=</m:t>
                            </m:r>
                            <m:f>
                              <m:fPr>
                                <m:ctrlPr>
                                  <a:rPr lang="zh-CN" altLang="zh-CN" sz="1800" i="1">
                                    <a:latin typeface="Cambria Math" panose="02040503050406030204" pitchFamily="18" charset="0"/>
                                    <a:ea typeface="Cambria Math" panose="02040503050406030204" pitchFamily="18" charset="0"/>
                                  </a:rPr>
                                </m:ctrlPr>
                              </m:fPr>
                              <m:num>
                                <m:r>
                                  <a:rPr lang="en-US" altLang="zh-CN" sz="1800" i="1" kern="100">
                                    <a:latin typeface="Cambria Math" panose="02040503050406030204" pitchFamily="18" charset="0"/>
                                    <a:cs typeface="Times New Roman" panose="02020603050405020304" pitchFamily="18" charset="0"/>
                                  </a:rPr>
                                  <m:t>1</m:t>
                                </m:r>
                              </m:num>
                              <m:den>
                                <m:r>
                                  <a:rPr lang="en-US" altLang="zh-CN" sz="1800" i="1" kern="100">
                                    <a:latin typeface="Cambria Math" panose="02040503050406030204" pitchFamily="18" charset="0"/>
                                    <a:cs typeface="Times New Roman" panose="02020603050405020304" pitchFamily="18" charset="0"/>
                                  </a:rPr>
                                  <m:t>𝑚</m:t>
                                </m:r>
                              </m:den>
                            </m:f>
                            <m:nary>
                              <m:naryPr>
                                <m:chr m:val="∑"/>
                                <m:limLoc m:val="undOvr"/>
                                <m:ctrlPr>
                                  <a:rPr lang="zh-CN" altLang="zh-CN" sz="1800" i="1">
                                    <a:latin typeface="Cambria Math" panose="02040503050406030204" pitchFamily="18" charset="0"/>
                                    <a:ea typeface="Cambria Math" panose="02040503050406030204" pitchFamily="18" charset="0"/>
                                  </a:rPr>
                                </m:ctrlPr>
                              </m:naryPr>
                              <m:sub>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1</m:t>
                                </m:r>
                              </m:sub>
                              <m:sup>
                                <m:r>
                                  <a:rPr lang="en-US" altLang="zh-CN" sz="1800" i="1" kern="100">
                                    <a:latin typeface="Cambria Math" panose="02040503050406030204" pitchFamily="18" charset="0"/>
                                    <a:cs typeface="Times New Roman" panose="02020603050405020304" pitchFamily="18" charset="0"/>
                                  </a:rPr>
                                  <m:t>𝑚</m:t>
                                </m:r>
                              </m:sup>
                              <m:e>
                                <m:r>
                                  <a:rPr lang="en-US" altLang="zh-CN" sz="1800" i="1" kern="100">
                                    <a:latin typeface="Cambria Math" panose="02040503050406030204" pitchFamily="18" charset="0"/>
                                    <a:cs typeface="Times New Roman" panose="02020603050405020304" pitchFamily="18" charset="0"/>
                                  </a:rPr>
                                  <m:t>(</m:t>
                                </m:r>
                              </m:e>
                            </m:nary>
                            <m:r>
                              <a:rPr lang="en-US" altLang="zh-CN" sz="1800" i="1" kern="100">
                                <a:latin typeface="Cambria Math" panose="02040503050406030204" pitchFamily="18" charset="0"/>
                                <a:cs typeface="Times New Roman" panose="02020603050405020304" pitchFamily="18" charset="0"/>
                              </a:rPr>
                              <m:t>ℎ</m:t>
                            </m:r>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𝑥</m:t>
                                </m:r>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p>
                            <m:r>
                              <a:rPr lang="en-US" altLang="zh-CN" sz="1800" i="1" kern="100">
                                <a:latin typeface="Cambria Math" panose="02040503050406030204" pitchFamily="18" charset="0"/>
                                <a:cs typeface="Times New Roman" panose="02020603050405020304" pitchFamily="18" charset="0"/>
                              </a:rPr>
                              <m:t>)−</m:t>
                            </m:r>
                            <m:sSup>
                              <m:sSupPr>
                                <m:ctrlPr>
                                  <a:rPr lang="zh-CN" altLang="zh-CN" sz="1800" i="1">
                                    <a:latin typeface="Cambria Math" panose="02040503050406030204" pitchFamily="18" charset="0"/>
                                    <a:ea typeface="Cambria Math" panose="02040503050406030204" pitchFamily="18" charset="0"/>
                                  </a:rPr>
                                </m:ctrlPr>
                              </m:sSupPr>
                              <m:e>
                                <m:r>
                                  <a:rPr lang="en-US" altLang="zh-CN" sz="1800" i="1" kern="100">
                                    <a:latin typeface="Cambria Math" panose="02040503050406030204" pitchFamily="18" charset="0"/>
                                    <a:cs typeface="Times New Roman" panose="02020603050405020304" pitchFamily="18" charset="0"/>
                                  </a:rPr>
                                  <m:t>𝑦</m:t>
                                </m:r>
                              </m:e>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p>
                            <m:r>
                              <a:rPr lang="en-US" altLang="zh-CN" sz="1800" i="1" kern="100">
                                <a:latin typeface="Cambria Math" panose="02040503050406030204" pitchFamily="18" charset="0"/>
                                <a:cs typeface="Times New Roman" panose="02020603050405020304" pitchFamily="18" charset="0"/>
                              </a:rPr>
                              <m:t>)</m:t>
                            </m:r>
                            <m:sSubSup>
                              <m:sSubSupPr>
                                <m:ctrlPr>
                                  <a:rPr lang="zh-CN" altLang="zh-CN" sz="1800" i="1">
                                    <a:latin typeface="Cambria Math" panose="02040503050406030204" pitchFamily="18" charset="0"/>
                                    <a:ea typeface="Cambria Math" panose="02040503050406030204" pitchFamily="18" charset="0"/>
                                  </a:rPr>
                                </m:ctrlPr>
                              </m:sSubSupPr>
                              <m:e>
                                <m:r>
                                  <a:rPr lang="en-US" altLang="zh-CN" sz="1800" i="1" kern="100">
                                    <a:latin typeface="Cambria Math" panose="02040503050406030204" pitchFamily="18" charset="0"/>
                                    <a:cs typeface="Times New Roman" panose="02020603050405020304" pitchFamily="18" charset="0"/>
                                  </a:rPr>
                                  <m:t>𝑥</m:t>
                                </m:r>
                              </m:e>
                              <m:sub>
                                <m:r>
                                  <a:rPr lang="en-US" altLang="zh-CN" sz="1800" i="1" kern="100">
                                    <a:latin typeface="Cambria Math" panose="02040503050406030204" pitchFamily="18" charset="0"/>
                                    <a:cs typeface="Times New Roman" panose="02020603050405020304" pitchFamily="18" charset="0"/>
                                  </a:rPr>
                                  <m:t>𝑗</m:t>
                                </m:r>
                              </m:sub>
                              <m:sup>
                                <m:r>
                                  <a:rPr lang="en-US" altLang="zh-CN" sz="1800" i="1" kern="100">
                                    <a:latin typeface="Cambria Math" panose="02040503050406030204" pitchFamily="18" charset="0"/>
                                    <a:cs typeface="Times New Roman" panose="02020603050405020304" pitchFamily="18" charset="0"/>
                                  </a:rPr>
                                  <m:t>(</m:t>
                                </m:r>
                                <m:r>
                                  <a:rPr lang="en-US" altLang="zh-CN" sz="1800" i="1" kern="100">
                                    <a:latin typeface="Cambria Math" panose="02040503050406030204" pitchFamily="18" charset="0"/>
                                    <a:cs typeface="Times New Roman" panose="02020603050405020304" pitchFamily="18" charset="0"/>
                                  </a:rPr>
                                  <m:t>𝑖</m:t>
                                </m:r>
                                <m:r>
                                  <a:rPr lang="en-US" altLang="zh-CN" sz="1800" i="1" kern="100">
                                    <a:latin typeface="Cambria Math" panose="02040503050406030204" pitchFamily="18" charset="0"/>
                                    <a:cs typeface="Times New Roman" panose="02020603050405020304" pitchFamily="18" charset="0"/>
                                  </a:rPr>
                                  <m:t>)</m:t>
                                </m:r>
                              </m:sup>
                            </m:sSubSup>
                          </m:e>
                        </m:mr>
                        <m:mr>
                          <m:e/>
                        </m:mr>
                      </m:m>
                    </m:oMath>
                  </m:oMathPara>
                </a14:m>
                <a:endParaRPr lang="zh-CN" altLang="en-US" sz="1800" dirty="0"/>
              </a:p>
            </p:txBody>
          </p:sp>
        </mc:Choice>
        <mc:Fallback>
          <p:sp>
            <p:nvSpPr>
              <p:cNvPr id="12" name="文本框 11"/>
              <p:cNvSpPr txBox="1">
                <a:spLocks noRot="1" noChangeAspect="1" noMove="1" noResize="1" noEditPoints="1" noAdjustHandles="1" noChangeArrowheads="1" noChangeShapeType="1" noTextEdit="1"/>
              </p:cNvSpPr>
              <p:nvPr/>
            </p:nvSpPr>
            <p:spPr>
              <a:xfrm>
                <a:off x="611560" y="3887966"/>
                <a:ext cx="4572000" cy="2547942"/>
              </a:xfrm>
              <a:prstGeom prst="rect">
                <a:avLst/>
              </a:prstGeom>
              <a:blipFill rotWithShape="1">
                <a:blip r:embed="rId3"/>
                <a:stretch>
                  <a:fillRect l="-1" t="-19" r="-73554" b="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p:cNvSpPr txBox="1"/>
              <p:nvPr/>
            </p:nvSpPr>
            <p:spPr>
              <a:xfrm>
                <a:off x="1115616" y="2906022"/>
                <a:ext cx="4572000" cy="1021433"/>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eqArr>
                        <m:eqArrPr>
                          <m:ctrlPr>
                            <a:rPr lang="en-US" altLang="zh-CN" sz="1800" i="1" smtClean="0">
                              <a:latin typeface="Cambria Math" panose="02040503050406030204" pitchFamily="18" charset="0"/>
                              <a:ea typeface="Euclid" panose="02020503060505020303" pitchFamily="18" charset="0"/>
                              <a:cs typeface="Euclid" panose="02020503060505020303" pitchFamily="18" charset="0"/>
                            </a:rPr>
                          </m:ctrlPr>
                        </m:eqArrPr>
                        <m:e>
                          <m:r>
                            <a:rPr lang="en-US" altLang="zh-CN" sz="1800" i="1" smtClean="0">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𝑦</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log</m:t>
                          </m:r>
                          <m:r>
                            <a:rPr lang="en-US" altLang="zh-CN" sz="1800" i="1">
                              <a:latin typeface="Cambria Math" panose="02040503050406030204" pitchFamily="18" charset="0"/>
                              <a:ea typeface="Euclid" panose="02020503060505020303" pitchFamily="18" charset="0"/>
                              <a:cs typeface="Euclid" panose="02020503060505020303" pitchFamily="18" charset="0"/>
                            </a:rPr>
                            <m:t>(</m:t>
                          </m:r>
                          <m:f>
                            <m:f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ea typeface="Euclid" panose="02020503060505020303" pitchFamily="18" charset="0"/>
                                  <a:cs typeface="Euclid" panose="02020503060505020303" pitchFamily="18" charset="0"/>
                                </a:rPr>
                                <m:t>1</m:t>
                              </m:r>
                            </m:num>
                            <m:den>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𝑒</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𝑤</m:t>
                                      </m:r>
                                    </m:e>
                                    <m: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T</m:t>
                                      </m:r>
                                    </m:sup>
                                  </m:sSup>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𝑥</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sup>
                              </m:sSup>
                            </m:den>
                          </m:f>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𝑦</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r>
                            <a:rPr lang="en-US" altLang="zh-CN" sz="1800" i="1">
                              <a:latin typeface="Cambria Math" panose="02040503050406030204" pitchFamily="18" charset="0"/>
                              <a:ea typeface="Euclid" panose="02020503060505020303" pitchFamily="18" charset="0"/>
                              <a:cs typeface="Euclid" panose="02020503060505020303" pitchFamily="18" charset="0"/>
                            </a:rPr>
                            <m:t>)</m:t>
                          </m:r>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log</m:t>
                          </m:r>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f>
                            <m:f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fPr>
                            <m:num>
                              <m:r>
                                <a:rPr lang="en-US" altLang="zh-CN" sz="1800" i="1">
                                  <a:latin typeface="Cambria Math" panose="02040503050406030204" pitchFamily="18" charset="0"/>
                                  <a:ea typeface="Euclid" panose="02020503060505020303" pitchFamily="18" charset="0"/>
                                  <a:cs typeface="Euclid" panose="02020503060505020303" pitchFamily="18" charset="0"/>
                                </a:rPr>
                                <m:t>1</m:t>
                              </m:r>
                            </m:num>
                            <m:den>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𝑒</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𝑤</m:t>
                                      </m:r>
                                    </m:e>
                                    <m: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T</m:t>
                                      </m:r>
                                    </m:sup>
                                  </m:sSup>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𝑥</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sup>
                              </m:sSup>
                            </m:den>
                          </m:f>
                          <m:r>
                            <a:rPr lang="en-US" altLang="zh-CN" sz="1800" i="1">
                              <a:latin typeface="Cambria Math" panose="02040503050406030204" pitchFamily="18" charset="0"/>
                              <a:ea typeface="Euclid" panose="02020503060505020303" pitchFamily="18" charset="0"/>
                              <a:cs typeface="Euclid" panose="02020503060505020303" pitchFamily="18" charset="0"/>
                            </a:rPr>
                            <m:t>)</m:t>
                          </m:r>
                        </m:e>
                        <m:e>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𝑦</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log</m:t>
                          </m:r>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𝑒</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𝑤</m:t>
                                  </m:r>
                                </m:e>
                                <m: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T</m:t>
                                  </m:r>
                                </m:sup>
                              </m:sSup>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𝑥</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sup>
                          </m:s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𝑦</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r>
                            <a:rPr lang="en-US" altLang="zh-CN" sz="1800" i="1">
                              <a:latin typeface="Cambria Math" panose="02040503050406030204" pitchFamily="18" charset="0"/>
                              <a:ea typeface="Euclid" panose="02020503060505020303" pitchFamily="18" charset="0"/>
                              <a:cs typeface="Euclid" panose="02020503060505020303" pitchFamily="18" charset="0"/>
                            </a:rPr>
                            <m:t>)</m:t>
                          </m:r>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log</m:t>
                          </m:r>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1</m:t>
                          </m:r>
                          <m:r>
                            <a:rPr lang="en-US" altLang="zh-CN" sz="1800"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𝑒</m:t>
                              </m:r>
                            </m:e>
                            <m:sup>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𝑤</m:t>
                                  </m:r>
                                </m:e>
                                <m:sup>
                                  <m:r>
                                    <m:rPr>
                                      <m:sty m:val="p"/>
                                    </m:rPr>
                                    <a:rPr lang="en-US" altLang="zh-CN" sz="1800">
                                      <a:latin typeface="Cambria Math" panose="02040503050406030204" pitchFamily="18" charset="0"/>
                                      <a:ea typeface="Euclid" panose="02020503060505020303" pitchFamily="18" charset="0"/>
                                      <a:cs typeface="Euclid" panose="02020503060505020303" pitchFamily="18" charset="0"/>
                                    </a:rPr>
                                    <m:t>T</m:t>
                                  </m:r>
                                </m:sup>
                              </m:sSup>
                              <m:sSup>
                                <m:sSupPr>
                                  <m:ctrlPr>
                                    <a:rPr lang="zh-CN" altLang="zh-CN" sz="1800" i="1">
                                      <a:latin typeface="Cambria Math" panose="02040503050406030204" pitchFamily="18" charset="0"/>
                                      <a:ea typeface="Cambria Math" panose="02040503050406030204" pitchFamily="18" charset="0"/>
                                      <a:cs typeface="Euclid" panose="02020503060505020303" pitchFamily="18" charset="0"/>
                                    </a:rPr>
                                  </m:ctrlPr>
                                </m:sSupPr>
                                <m:e>
                                  <m:r>
                                    <a:rPr lang="en-US" altLang="zh-CN" sz="1800" i="1">
                                      <a:latin typeface="Cambria Math" panose="02040503050406030204" pitchFamily="18" charset="0"/>
                                      <a:ea typeface="Euclid" panose="02020503060505020303" pitchFamily="18" charset="0"/>
                                      <a:cs typeface="Euclid" panose="02020503060505020303" pitchFamily="18" charset="0"/>
                                    </a:rPr>
                                    <m:t>𝑥</m:t>
                                  </m:r>
                                </m:e>
                                <m:sup>
                                  <m:r>
                                    <a:rPr lang="en-US" altLang="zh-CN" sz="1800" i="1">
                                      <a:latin typeface="Cambria Math" panose="02040503050406030204" pitchFamily="18" charset="0"/>
                                      <a:ea typeface="Euclid" panose="02020503060505020303" pitchFamily="18" charset="0"/>
                                      <a:cs typeface="Euclid" panose="02020503060505020303" pitchFamily="18" charset="0"/>
                                    </a:rPr>
                                    <m:t>(</m:t>
                                  </m:r>
                                  <m:r>
                                    <a:rPr lang="en-US" altLang="zh-CN" sz="1800" i="1">
                                      <a:latin typeface="Cambria Math" panose="02040503050406030204" pitchFamily="18" charset="0"/>
                                      <a:ea typeface="Euclid" panose="02020503060505020303" pitchFamily="18" charset="0"/>
                                      <a:cs typeface="Euclid" panose="02020503060505020303" pitchFamily="18" charset="0"/>
                                    </a:rPr>
                                    <m:t>𝑖</m:t>
                                  </m:r>
                                  <m:r>
                                    <a:rPr lang="en-US" altLang="zh-CN" sz="1800" i="1">
                                      <a:latin typeface="Cambria Math" panose="02040503050406030204" pitchFamily="18" charset="0"/>
                                      <a:ea typeface="Euclid" panose="02020503060505020303" pitchFamily="18" charset="0"/>
                                      <a:cs typeface="Euclid" panose="02020503060505020303" pitchFamily="18" charset="0"/>
                                    </a:rPr>
                                    <m:t>)</m:t>
                                  </m:r>
                                </m:sup>
                              </m:sSup>
                            </m:sup>
                          </m:sSup>
                          <m:r>
                            <a:rPr lang="en-US" altLang="zh-CN" sz="1800" i="1">
                              <a:latin typeface="Cambria Math" panose="02040503050406030204" pitchFamily="18" charset="0"/>
                              <a:ea typeface="Euclid" panose="02020503060505020303" pitchFamily="18" charset="0"/>
                              <a:cs typeface="Euclid" panose="02020503060505020303" pitchFamily="18" charset="0"/>
                            </a:rPr>
                            <m:t>)</m:t>
                          </m:r>
                        </m:e>
                      </m:eqArr>
                    </m:oMath>
                  </m:oMathPara>
                </a14:m>
                <a:endParaRPr lang="zh-CN" altLang="en-US" sz="1800" dirty="0"/>
              </a:p>
            </p:txBody>
          </p:sp>
        </mc:Choice>
        <mc:Fallback>
          <p:sp>
            <p:nvSpPr>
              <p:cNvPr id="14" name="文本框 13"/>
              <p:cNvSpPr txBox="1">
                <a:spLocks noRot="1" noChangeAspect="1" noMove="1" noResize="1" noEditPoints="1" noAdjustHandles="1" noChangeArrowheads="1" noChangeShapeType="1" noTextEdit="1"/>
              </p:cNvSpPr>
              <p:nvPr/>
            </p:nvSpPr>
            <p:spPr>
              <a:xfrm>
                <a:off x="1115616" y="2906022"/>
                <a:ext cx="4572000" cy="1021433"/>
              </a:xfrm>
              <a:prstGeom prst="rect">
                <a:avLst/>
              </a:prstGeom>
              <a:blipFill rotWithShape="1">
                <a:blip r:embed="rId4"/>
                <a:stretch>
                  <a:fillRect l="-12" t="-26" r="-22891" b="60"/>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1" name="文本框 50"/>
              <p:cNvSpPr txBox="1"/>
              <p:nvPr/>
            </p:nvSpPr>
            <p:spPr>
              <a:xfrm>
                <a:off x="696996" y="1178843"/>
                <a:ext cx="7739312" cy="2492092"/>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14:m>
                  <m:oMath xmlns:m="http://schemas.openxmlformats.org/officeDocument/2006/math">
                    <m:r>
                      <a:rPr lang="zh-CN" altLang="en-US" sz="1800" i="1" smtClean="0">
                        <a:latin typeface="Cambria Math" panose="02040503050406030204" pitchFamily="18" charset="0"/>
                        <a:cs typeface="Euclid" panose="02020503060505020303" pitchFamily="18" charset="0"/>
                      </a:rPr>
                      <m:t>正则化</m:t>
                    </m:r>
                  </m:oMath>
                </a14:m>
                <a:r>
                  <a:rPr lang="zh-CN" altLang="en-US" sz="1800" dirty="0">
                    <a:cs typeface="Euclid" panose="02020503060505020303" pitchFamily="18" charset="0"/>
                  </a:rPr>
                  <a:t>：目的是为了防止过拟合</a:t>
                </a:r>
                <a:endParaRPr lang="en-US" altLang="zh-CN" sz="1800" dirty="0">
                  <a:cs typeface="Euclid" panose="02020503060505020303" pitchFamily="18" charset="0"/>
                </a:endParaRPr>
              </a:p>
              <a:p>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𝐽</m:t>
                      </m:r>
                      <m:d>
                        <m:dPr>
                          <m:ctrlPr>
                            <a:rPr lang="zh-CN" altLang="en-US" sz="1800" i="1">
                              <a:latin typeface="Cambria Math" panose="02040503050406030204" pitchFamily="18" charset="0"/>
                            </a:rPr>
                          </m:ctrlPr>
                        </m:dPr>
                        <m:e>
                          <m:r>
                            <a:rPr lang="en-US" altLang="zh-CN" sz="1800" i="1">
                              <a:latin typeface="Cambria Math" panose="02040503050406030204" pitchFamily="18" charset="0"/>
                            </a:rPr>
                            <m:t>𝑤</m:t>
                          </m:r>
                        </m:e>
                      </m:d>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1</m:t>
                          </m:r>
                        </m:num>
                        <m:den>
                          <m:r>
                            <a:rPr lang="zh-CN" altLang="en-US" sz="1800" i="1">
                              <a:latin typeface="Cambria Math" panose="02040503050406030204" pitchFamily="18" charset="0"/>
                            </a:rPr>
                            <m:t>𝑚</m:t>
                          </m:r>
                        </m:den>
                      </m:f>
                      <m:nary>
                        <m:naryPr>
                          <m:chr m:val="∑"/>
                          <m:limLoc m:val="undOvr"/>
                          <m:ctrlPr>
                            <a:rPr lang="zh-CN" altLang="en-US" sz="1800" i="1">
                              <a:latin typeface="Cambria Math" panose="02040503050406030204" pitchFamily="18" charset="0"/>
                            </a:rPr>
                          </m:ctrlPr>
                        </m:naryPr>
                        <m:sub>
                          <m:r>
                            <a:rPr lang="zh-CN" altLang="en-US" sz="1800" i="1">
                              <a:latin typeface="Cambria Math" panose="02040503050406030204" pitchFamily="18" charset="0"/>
                            </a:rPr>
                            <m:t>𝑖</m:t>
                          </m:r>
                          <m:r>
                            <a:rPr lang="zh-CN" altLang="en-US" sz="1800">
                              <a:latin typeface="Cambria Math" panose="02040503050406030204" pitchFamily="18" charset="0"/>
                            </a:rPr>
                            <m:t>=</m:t>
                          </m:r>
                          <m:r>
                            <a:rPr lang="zh-CN" altLang="en-US" sz="1800">
                              <a:latin typeface="Cambria Math" panose="02040503050406030204" pitchFamily="18" charset="0"/>
                            </a:rPr>
                            <m:t>1</m:t>
                          </m:r>
                        </m:sub>
                        <m:sup>
                          <m:r>
                            <a:rPr lang="zh-CN" altLang="en-US" sz="1800" i="1">
                              <a:latin typeface="Cambria Math" panose="02040503050406030204" pitchFamily="18" charset="0"/>
                            </a:rPr>
                            <m:t>𝑚</m:t>
                          </m:r>
                        </m:sup>
                        <m:e>
                          <m:d>
                            <m:dPr>
                              <m:begChr m:val="["/>
                              <m:endChr m:val="]"/>
                              <m:ctrlPr>
                                <a:rPr lang="zh-CN" altLang="en-US" sz="1800" i="1">
                                  <a:latin typeface="Cambria Math" panose="02040503050406030204" pitchFamily="18" charset="0"/>
                                </a:rPr>
                              </m:ctrlPr>
                            </m:dPr>
                            <m:e>
                              <m:r>
                                <a:rPr lang="zh-CN" altLang="en-US" sz="1800">
                                  <a:latin typeface="Cambria Math" panose="02040503050406030204" pitchFamily="18" charset="0"/>
                                </a:rPr>
                                <m:t>−</m:t>
                              </m:r>
                              <m:sSup>
                                <m:sSupPr>
                                  <m:ctrlPr>
                                    <a:rPr lang="zh-CN" altLang="en-US" sz="1800" i="1">
                                      <a:latin typeface="Cambria Math" panose="02040503050406030204" pitchFamily="18" charset="0"/>
                                    </a:rPr>
                                  </m:ctrlPr>
                                </m:sSupPr>
                                <m:e>
                                  <m:r>
                                    <a:rPr lang="zh-CN" altLang="en-US" sz="1800" i="1">
                                      <a:latin typeface="Cambria Math" panose="02040503050406030204" pitchFamily="18" charset="0"/>
                                    </a:rPr>
                                    <m:t>𝑦</m:t>
                                  </m:r>
                                </m:e>
                                <m:sup>
                                  <m:d>
                                    <m:dPr>
                                      <m:ctrlPr>
                                        <a:rPr lang="zh-CN" altLang="en-US" sz="1800" i="1">
                                          <a:latin typeface="Cambria Math" panose="02040503050406030204" pitchFamily="18" charset="0"/>
                                        </a:rPr>
                                      </m:ctrlPr>
                                    </m:dPr>
                                    <m:e>
                                      <m:r>
                                        <a:rPr lang="zh-CN" altLang="en-US" sz="1800" i="1">
                                          <a:latin typeface="Cambria Math" panose="02040503050406030204" pitchFamily="18" charset="0"/>
                                        </a:rPr>
                                        <m:t>𝑖</m:t>
                                      </m:r>
                                    </m:e>
                                  </m:d>
                                </m:sup>
                              </m:sSup>
                              <m:r>
                                <m:rPr>
                                  <m:sty m:val="p"/>
                                </m:rPr>
                                <a:rPr lang="zh-CN" altLang="en-US" sz="1800">
                                  <a:latin typeface="Cambria Math" panose="02040503050406030204" pitchFamily="18" charset="0"/>
                                </a:rPr>
                                <m:t>log</m:t>
                              </m:r>
                              <m:d>
                                <m:dPr>
                                  <m:ctrlPr>
                                    <a:rPr lang="zh-CN" altLang="en-US" sz="1800" i="1">
                                      <a:latin typeface="Cambria Math" panose="02040503050406030204" pitchFamily="18" charset="0"/>
                                    </a:rPr>
                                  </m:ctrlPr>
                                </m:dPr>
                                <m:e>
                                  <m:r>
                                    <a:rPr lang="en-US" altLang="zh-CN" sz="1800" i="1">
                                      <a:latin typeface="Cambria Math" panose="02040503050406030204" pitchFamily="18" charset="0"/>
                                    </a:rPr>
                                    <m:t>ℎ</m:t>
                                  </m:r>
                                  <m:d>
                                    <m:dPr>
                                      <m:ctrlPr>
                                        <a:rPr lang="zh-CN" altLang="en-US" sz="1800" i="1">
                                          <a:latin typeface="Cambria Math" panose="02040503050406030204" pitchFamily="18" charset="0"/>
                                        </a:rPr>
                                      </m:ctrlPr>
                                    </m:dPr>
                                    <m:e>
                                      <m:sSup>
                                        <m:sSupPr>
                                          <m:ctrlPr>
                                            <a:rPr lang="zh-CN" altLang="en-US" sz="1800" i="1">
                                              <a:latin typeface="Cambria Math" panose="02040503050406030204" pitchFamily="18" charset="0"/>
                                            </a:rPr>
                                          </m:ctrlPr>
                                        </m:sSupPr>
                                        <m:e>
                                          <m:r>
                                            <a:rPr lang="zh-CN" altLang="en-US" sz="1800" i="1">
                                              <a:latin typeface="Cambria Math" panose="02040503050406030204" pitchFamily="18" charset="0"/>
                                            </a:rPr>
                                            <m:t>𝑥</m:t>
                                          </m:r>
                                        </m:e>
                                        <m:sup>
                                          <m:d>
                                            <m:dPr>
                                              <m:ctrlPr>
                                                <a:rPr lang="zh-CN" altLang="en-US" sz="1800" i="1">
                                                  <a:latin typeface="Cambria Math" panose="02040503050406030204" pitchFamily="18" charset="0"/>
                                                </a:rPr>
                                              </m:ctrlPr>
                                            </m:dPr>
                                            <m:e>
                                              <m:r>
                                                <a:rPr lang="zh-CN" altLang="en-US" sz="1800" i="1">
                                                  <a:latin typeface="Cambria Math" panose="02040503050406030204" pitchFamily="18" charset="0"/>
                                                </a:rPr>
                                                <m:t>𝑖</m:t>
                                              </m:r>
                                            </m:e>
                                          </m:d>
                                        </m:sup>
                                      </m:sSup>
                                    </m:e>
                                  </m:d>
                                </m:e>
                              </m:d>
                              <m:r>
                                <a:rPr lang="zh-CN" altLang="en-US" sz="1800">
                                  <a:latin typeface="Cambria Math" panose="02040503050406030204" pitchFamily="18" charset="0"/>
                                </a:rPr>
                                <m:t>−</m:t>
                              </m:r>
                              <m:d>
                                <m:dPr>
                                  <m:ctrlPr>
                                    <a:rPr lang="zh-CN" altLang="en-US" sz="1800" i="1">
                                      <a:latin typeface="Cambria Math" panose="02040503050406030204" pitchFamily="18" charset="0"/>
                                    </a:rPr>
                                  </m:ctrlPr>
                                </m:dPr>
                                <m:e>
                                  <m:r>
                                    <a:rPr lang="zh-CN" altLang="en-US" sz="1800">
                                      <a:latin typeface="Cambria Math" panose="02040503050406030204" pitchFamily="18" charset="0"/>
                                    </a:rPr>
                                    <m:t>1</m:t>
                                  </m:r>
                                  <m:r>
                                    <a:rPr lang="zh-CN" altLang="en-US" sz="1800">
                                      <a:latin typeface="Cambria Math" panose="02040503050406030204" pitchFamily="18" charset="0"/>
                                    </a:rPr>
                                    <m:t>−</m:t>
                                  </m:r>
                                  <m:sSup>
                                    <m:sSupPr>
                                      <m:ctrlPr>
                                        <a:rPr lang="zh-CN" altLang="en-US" sz="1800" i="1">
                                          <a:latin typeface="Cambria Math" panose="02040503050406030204" pitchFamily="18" charset="0"/>
                                        </a:rPr>
                                      </m:ctrlPr>
                                    </m:sSupPr>
                                    <m:e>
                                      <m:r>
                                        <a:rPr lang="zh-CN" altLang="en-US" sz="1800" i="1">
                                          <a:latin typeface="Cambria Math" panose="02040503050406030204" pitchFamily="18" charset="0"/>
                                        </a:rPr>
                                        <m:t>𝑦</m:t>
                                      </m:r>
                                    </m:e>
                                    <m:sup>
                                      <m:d>
                                        <m:dPr>
                                          <m:ctrlPr>
                                            <a:rPr lang="zh-CN" altLang="en-US" sz="1800" i="1">
                                              <a:latin typeface="Cambria Math" panose="02040503050406030204" pitchFamily="18" charset="0"/>
                                            </a:rPr>
                                          </m:ctrlPr>
                                        </m:dPr>
                                        <m:e>
                                          <m:r>
                                            <a:rPr lang="zh-CN" altLang="en-US" sz="1800" i="1">
                                              <a:latin typeface="Cambria Math" panose="02040503050406030204" pitchFamily="18" charset="0"/>
                                            </a:rPr>
                                            <m:t>𝑖</m:t>
                                          </m:r>
                                        </m:e>
                                      </m:d>
                                    </m:sup>
                                  </m:sSup>
                                </m:e>
                              </m:d>
                              <m:r>
                                <m:rPr>
                                  <m:sty m:val="p"/>
                                </m:rPr>
                                <a:rPr lang="zh-CN" altLang="en-US" sz="1800">
                                  <a:latin typeface="Cambria Math" panose="02040503050406030204" pitchFamily="18" charset="0"/>
                                </a:rPr>
                                <m:t>log</m:t>
                              </m:r>
                              <m:d>
                                <m:dPr>
                                  <m:ctrlPr>
                                    <a:rPr lang="zh-CN" altLang="en-US" sz="1800" i="1">
                                      <a:latin typeface="Cambria Math" panose="02040503050406030204" pitchFamily="18" charset="0"/>
                                    </a:rPr>
                                  </m:ctrlPr>
                                </m:dPr>
                                <m:e>
                                  <m:r>
                                    <a:rPr lang="zh-CN" altLang="en-US" sz="1800">
                                      <a:latin typeface="Cambria Math" panose="02040503050406030204" pitchFamily="18" charset="0"/>
                                    </a:rPr>
                                    <m:t>1</m:t>
                                  </m:r>
                                  <m:r>
                                    <a:rPr lang="zh-CN" altLang="en-US" sz="1800">
                                      <a:latin typeface="Cambria Math" panose="02040503050406030204" pitchFamily="18" charset="0"/>
                                    </a:rPr>
                                    <m:t>−</m:t>
                                  </m:r>
                                  <m:r>
                                    <a:rPr lang="en-US" altLang="zh-CN" sz="1800" i="1">
                                      <a:latin typeface="Cambria Math" panose="02040503050406030204" pitchFamily="18" charset="0"/>
                                    </a:rPr>
                                    <m:t>ℎ</m:t>
                                  </m:r>
                                  <m:d>
                                    <m:dPr>
                                      <m:ctrlPr>
                                        <a:rPr lang="zh-CN" altLang="en-US" sz="1800" i="1">
                                          <a:latin typeface="Cambria Math" panose="02040503050406030204" pitchFamily="18" charset="0"/>
                                        </a:rPr>
                                      </m:ctrlPr>
                                    </m:dPr>
                                    <m:e>
                                      <m:sSup>
                                        <m:sSupPr>
                                          <m:ctrlPr>
                                            <a:rPr lang="zh-CN" altLang="en-US" sz="1800" i="1">
                                              <a:latin typeface="Cambria Math" panose="02040503050406030204" pitchFamily="18" charset="0"/>
                                            </a:rPr>
                                          </m:ctrlPr>
                                        </m:sSupPr>
                                        <m:e>
                                          <m:r>
                                            <a:rPr lang="zh-CN" altLang="en-US" sz="1800" i="1">
                                              <a:latin typeface="Cambria Math" panose="02040503050406030204" pitchFamily="18" charset="0"/>
                                            </a:rPr>
                                            <m:t>𝑥</m:t>
                                          </m:r>
                                        </m:e>
                                        <m:sup>
                                          <m:d>
                                            <m:dPr>
                                              <m:ctrlPr>
                                                <a:rPr lang="zh-CN" altLang="en-US" sz="1800" i="1">
                                                  <a:latin typeface="Cambria Math" panose="02040503050406030204" pitchFamily="18" charset="0"/>
                                                </a:rPr>
                                              </m:ctrlPr>
                                            </m:dPr>
                                            <m:e>
                                              <m:r>
                                                <a:rPr lang="zh-CN" altLang="en-US" sz="1800" i="1">
                                                  <a:latin typeface="Cambria Math" panose="02040503050406030204" pitchFamily="18" charset="0"/>
                                                </a:rPr>
                                                <m:t>𝑖</m:t>
                                              </m:r>
                                            </m:e>
                                          </m:d>
                                        </m:sup>
                                      </m:sSup>
                                    </m:e>
                                  </m:d>
                                </m:e>
                              </m:d>
                            </m:e>
                          </m:d>
                        </m:e>
                      </m:nary>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𝜆</m:t>
                          </m:r>
                        </m:num>
                        <m:den>
                          <m:r>
                            <a:rPr lang="zh-CN" altLang="en-US" sz="1800">
                              <a:latin typeface="Cambria Math" panose="02040503050406030204" pitchFamily="18" charset="0"/>
                            </a:rPr>
                            <m:t>2</m:t>
                          </m:r>
                          <m:r>
                            <a:rPr lang="zh-CN" altLang="en-US" sz="1800" i="1">
                              <a:latin typeface="Cambria Math" panose="02040503050406030204" pitchFamily="18" charset="0"/>
                            </a:rPr>
                            <m:t>𝑚</m:t>
                          </m:r>
                        </m:den>
                      </m:f>
                      <m:nary>
                        <m:naryPr>
                          <m:chr m:val="∑"/>
                          <m:limLoc m:val="undOvr"/>
                          <m:ctrlPr>
                            <a:rPr lang="zh-CN" altLang="en-US" sz="1800" i="1">
                              <a:latin typeface="Cambria Math" panose="02040503050406030204" pitchFamily="18" charset="0"/>
                            </a:rPr>
                          </m:ctrlPr>
                        </m:naryPr>
                        <m:sub>
                          <m:r>
                            <a:rPr lang="zh-CN" altLang="en-US" sz="1800" i="1">
                              <a:latin typeface="Cambria Math" panose="02040503050406030204" pitchFamily="18" charset="0"/>
                            </a:rPr>
                            <m:t>𝑗</m:t>
                          </m:r>
                          <m:r>
                            <a:rPr lang="zh-CN" altLang="en-US" sz="1800">
                              <a:latin typeface="Cambria Math" panose="02040503050406030204" pitchFamily="18" charset="0"/>
                            </a:rPr>
                            <m:t>=</m:t>
                          </m:r>
                          <m:r>
                            <a:rPr lang="zh-CN" altLang="en-US" sz="1800">
                              <a:latin typeface="Cambria Math" panose="02040503050406030204" pitchFamily="18" charset="0"/>
                            </a:rPr>
                            <m:t>1</m:t>
                          </m:r>
                        </m:sub>
                        <m:sup>
                          <m:r>
                            <a:rPr lang="zh-CN" altLang="en-US" sz="1800" i="1">
                              <a:latin typeface="Cambria Math" panose="02040503050406030204" pitchFamily="18" charset="0"/>
                            </a:rPr>
                            <m:t>𝑛</m:t>
                          </m:r>
                        </m:sup>
                        <m:e>
                          <m:sSubSup>
                            <m:sSubSupPr>
                              <m:ctrlPr>
                                <a:rPr lang="zh-CN" altLang="en-US" sz="1800" i="1">
                                  <a:latin typeface="Cambria Math" panose="02040503050406030204" pitchFamily="18" charset="0"/>
                                </a:rPr>
                              </m:ctrlPr>
                            </m:sSubSupPr>
                            <m:e>
                              <m:r>
                                <a:rPr lang="en-US" altLang="zh-CN" sz="1800" i="1">
                                  <a:latin typeface="Cambria Math" panose="02040503050406030204" pitchFamily="18" charset="0"/>
                                </a:rPr>
                                <m:t>𝑤</m:t>
                              </m:r>
                            </m:e>
                            <m:sub>
                              <m:r>
                                <a:rPr lang="zh-CN" altLang="en-US" sz="1800" i="1">
                                  <a:latin typeface="Cambria Math" panose="02040503050406030204" pitchFamily="18" charset="0"/>
                                </a:rPr>
                                <m:t>𝑗</m:t>
                              </m:r>
                            </m:sub>
                            <m:sup>
                              <m:r>
                                <a:rPr lang="zh-CN" altLang="en-US" sz="1800">
                                  <a:latin typeface="Cambria Math" panose="02040503050406030204" pitchFamily="18" charset="0"/>
                                </a:rPr>
                                <m:t>2</m:t>
                              </m:r>
                            </m:sup>
                          </m:sSubSup>
                        </m:e>
                      </m:nary>
                    </m:oMath>
                  </m:oMathPara>
                </a14:m>
                <a:endParaRPr lang="zh-CN" altLang="en-US" sz="1800" dirty="0"/>
              </a:p>
              <a:p>
                <a:pPr algn="just">
                  <a:lnSpc>
                    <a:spcPct val="150000"/>
                  </a:lnSpc>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a:p>
                <a:pPr algn="just">
                  <a:lnSpc>
                    <a:spcPct val="150000"/>
                  </a:lnSpc>
                </a:pPr>
                <a:endParaRPr lang="zh-CN" altLang="en-US" sz="1800" dirty="0"/>
              </a:p>
              <a:p>
                <a:pPr marL="257175" indent="-257175" algn="just">
                  <a:lnSpc>
                    <a:spcPct val="150000"/>
                  </a:lnSpc>
                  <a:buFont typeface="Wingdings" panose="05000000000000000000" pitchFamily="2" charset="2"/>
                  <a:buChar char="l"/>
                </a:pP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mc:Choice>
        <mc:Fallback>
          <p:sp>
            <p:nvSpPr>
              <p:cNvPr id="51" name="文本框 50"/>
              <p:cNvSpPr txBox="1">
                <a:spLocks noRot="1" noChangeAspect="1" noMove="1" noResize="1" noEditPoints="1" noAdjustHandles="1" noChangeArrowheads="1" noChangeShapeType="1" noTextEdit="1"/>
              </p:cNvSpPr>
              <p:nvPr/>
            </p:nvSpPr>
            <p:spPr>
              <a:xfrm>
                <a:off x="696996" y="1178843"/>
                <a:ext cx="7739312" cy="2492092"/>
              </a:xfrm>
              <a:prstGeom prst="rect">
                <a:avLst/>
              </a:prstGeom>
              <a:blipFill rotWithShape="1">
                <a:blip r:embed="rId1"/>
                <a:stretch>
                  <a:fillRect l="-5" t="-11" r="4"/>
                </a:stretch>
              </a:blipFill>
            </p:spPr>
            <p:txBody>
              <a:bodyPr/>
              <a:lstStyle/>
              <a:p>
                <a:r>
                  <a:rPr lang="zh-CN" altLang="en-US">
                    <a:noFill/>
                  </a:rPr>
                  <a:t> </a:t>
                </a:r>
              </a:p>
            </p:txBody>
          </p:sp>
        </mc:Fallback>
      </mc:AlternateContent>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逻辑回归求解</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6" name="圆角矩形 22"/>
          <p:cNvSpPr/>
          <p:nvPr/>
        </p:nvSpPr>
        <p:spPr>
          <a:xfrm>
            <a:off x="7201303" y="1612366"/>
            <a:ext cx="1181900" cy="92946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7" name="文本框 6"/>
          <p:cNvSpPr txBox="1"/>
          <p:nvPr/>
        </p:nvSpPr>
        <p:spPr>
          <a:xfrm>
            <a:off x="7216999" y="975186"/>
            <a:ext cx="1802278" cy="369332"/>
          </a:xfrm>
          <a:prstGeom prst="rect">
            <a:avLst/>
          </a:prstGeom>
          <a:noFill/>
        </p:spPr>
        <p:txBody>
          <a:bodyPr wrap="square" rtlCol="0">
            <a:spAutoFit/>
          </a:bodyPr>
          <a:lstStyle/>
          <a:p>
            <a:r>
              <a:rPr lang="zh-CN" altLang="en-US" sz="1800" dirty="0"/>
              <a:t>正则化项</a:t>
            </a:r>
            <a:endParaRPr lang="zh-CN" altLang="en-US" sz="1800" dirty="0"/>
          </a:p>
        </p:txBody>
      </p:sp>
      <p:sp>
        <p:nvSpPr>
          <p:cNvPr id="8" name="下箭头 12"/>
          <p:cNvSpPr/>
          <p:nvPr/>
        </p:nvSpPr>
        <p:spPr>
          <a:xfrm>
            <a:off x="7727592" y="1378102"/>
            <a:ext cx="117684" cy="196133"/>
          </a:xfrm>
          <a:prstGeom prst="downArrow">
            <a:avLst/>
          </a:prstGeom>
          <a:solidFill>
            <a:srgbClr val="FF0000"/>
          </a:solidFill>
          <a:ln>
            <a:solidFill>
              <a:srgbClr val="FF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9" name="矩形 8"/>
          <p:cNvSpPr/>
          <p:nvPr/>
        </p:nvSpPr>
        <p:spPr>
          <a:xfrm>
            <a:off x="5224256" y="2602387"/>
            <a:ext cx="4531579" cy="646331"/>
          </a:xfrm>
          <a:prstGeom prst="rect">
            <a:avLst/>
          </a:prstGeom>
        </p:spPr>
        <p:txBody>
          <a:bodyPr wrap="square">
            <a:spAutoFit/>
          </a:bodyPr>
          <a:lstStyle/>
          <a:p>
            <a:r>
              <a:rPr lang="zh-CN" altLang="en-US" sz="1800" dirty="0">
                <a:solidFill>
                  <a:srgbClr val="FF0000"/>
                </a:solidFill>
              </a:rPr>
              <a:t>当 </a:t>
            </a:r>
            <a:r>
              <a:rPr lang="en-US" altLang="zh-CN" sz="1800" dirty="0">
                <a:solidFill>
                  <a:srgbClr val="FF0000"/>
                </a:solidFill>
              </a:rPr>
              <a:t>λ </a:t>
            </a:r>
            <a:r>
              <a:rPr lang="zh-CN" altLang="en-US" sz="1800" dirty="0">
                <a:solidFill>
                  <a:srgbClr val="FF0000"/>
                </a:solidFill>
              </a:rPr>
              <a:t>的值开始上升时，降低了方差</a:t>
            </a:r>
            <a:endParaRPr lang="en-US" altLang="zh-CN" sz="1800" dirty="0">
              <a:solidFill>
                <a:srgbClr val="FF0000"/>
              </a:solidFill>
            </a:endParaRPr>
          </a:p>
          <a:p>
            <a:endParaRPr lang="zh-CN" altLang="en-US" sz="1800" dirty="0"/>
          </a:p>
        </p:txBody>
      </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772" y="3113949"/>
            <a:ext cx="2940337" cy="2617086"/>
          </a:xfrm>
          <a:prstGeom prst="rect">
            <a:avLst/>
          </a:prstGeom>
        </p:spPr>
      </p:pic>
      <p:sp>
        <p:nvSpPr>
          <p:cNvPr id="13" name="文本框 12"/>
          <p:cNvSpPr txBox="1"/>
          <p:nvPr/>
        </p:nvSpPr>
        <p:spPr>
          <a:xfrm>
            <a:off x="696996" y="5813386"/>
            <a:ext cx="3000580" cy="369332"/>
          </a:xfrm>
          <a:prstGeom prst="rect">
            <a:avLst/>
          </a:prstGeom>
          <a:noFill/>
        </p:spPr>
        <p:txBody>
          <a:bodyPr wrap="square" rtlCol="0">
            <a:spAutoFit/>
          </a:bodyPr>
          <a:lstStyle/>
          <a:p>
            <a:r>
              <a:rPr lang="zh-CN" altLang="en-US" sz="1800" dirty="0"/>
              <a:t>没有正则化，过拟合</a:t>
            </a:r>
            <a:endParaRPr lang="zh-CN" altLang="en-US" sz="1800" dirty="0"/>
          </a:p>
        </p:txBody>
      </p:sp>
      <p:pic>
        <p:nvPicPr>
          <p:cNvPr id="15" name="图片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1863" y="3099989"/>
            <a:ext cx="3203493" cy="2617086"/>
          </a:xfrm>
          <a:prstGeom prst="rect">
            <a:avLst/>
          </a:prstGeom>
        </p:spPr>
      </p:pic>
      <p:sp>
        <p:nvSpPr>
          <p:cNvPr id="16" name="文本框 15"/>
          <p:cNvSpPr txBox="1"/>
          <p:nvPr/>
        </p:nvSpPr>
        <p:spPr>
          <a:xfrm>
            <a:off x="3483190" y="5813386"/>
            <a:ext cx="3000580" cy="369332"/>
          </a:xfrm>
          <a:prstGeom prst="rect">
            <a:avLst/>
          </a:prstGeom>
          <a:noFill/>
        </p:spPr>
        <p:txBody>
          <a:bodyPr wrap="square" rtlCol="0">
            <a:spAutoFit/>
          </a:bodyPr>
          <a:lstStyle/>
          <a:p>
            <a:r>
              <a:rPr lang="zh-CN" altLang="en-US" sz="1800" dirty="0"/>
              <a:t>正则化过度，欠拟合</a:t>
            </a:r>
            <a:endParaRPr lang="zh-CN" altLang="en-US" sz="1800" dirty="0"/>
          </a:p>
        </p:txBody>
      </p:sp>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3414" y="3099989"/>
            <a:ext cx="3051321" cy="2617086"/>
          </a:xfrm>
          <a:prstGeom prst="rect">
            <a:avLst/>
          </a:prstGeom>
        </p:spPr>
      </p:pic>
      <p:sp>
        <p:nvSpPr>
          <p:cNvPr id="18" name="文本框 17"/>
          <p:cNvSpPr txBox="1"/>
          <p:nvPr/>
        </p:nvSpPr>
        <p:spPr>
          <a:xfrm>
            <a:off x="6683988" y="5813386"/>
            <a:ext cx="3000580" cy="369332"/>
          </a:xfrm>
          <a:prstGeom prst="rect">
            <a:avLst/>
          </a:prstGeom>
          <a:noFill/>
        </p:spPr>
        <p:txBody>
          <a:bodyPr wrap="square" rtlCol="0">
            <a:spAutoFit/>
          </a:bodyPr>
          <a:lstStyle/>
          <a:p>
            <a:r>
              <a:rPr lang="zh-CN" altLang="en-US" sz="1800" dirty="0"/>
              <a:t>适当的正则化</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sp>
        <p:nvSpPr>
          <p:cNvPr id="3" name="内容占位符 2"/>
          <p:cNvSpPr>
            <a:spLocks noGrp="1"/>
          </p:cNvSpPr>
          <p:nvPr>
            <p:ph idx="1"/>
          </p:nvPr>
        </p:nvSpPr>
        <p:spPr/>
        <p:txBody>
          <a:bodyPr/>
          <a:p>
            <a:r>
              <a:rPr lang="zh-CN" altLang="en-US"/>
              <a:t>求出</a:t>
            </a:r>
            <a:r>
              <a:rPr lang="en-US" altLang="zh-CN"/>
              <a:t>                </a:t>
            </a:r>
            <a:r>
              <a:rPr lang="zh-CN" altLang="en-US"/>
              <a:t>后，可以用下面的式子来预测概率大小并作分类：</a:t>
            </a:r>
            <a:endParaRPr lang="zh-CN" altLang="en-US"/>
          </a:p>
          <a:p>
            <a:endParaRPr lang="zh-CN" altLang="en-US"/>
          </a:p>
          <a:p>
            <a:endParaRPr lang="zh-CN" altLang="en-US"/>
          </a:p>
          <a:p>
            <a:endParaRPr lang="zh-CN" altLang="en-US"/>
          </a:p>
          <a:p>
            <a:r>
              <a:rPr lang="zh-CN" altLang="en-US"/>
              <a:t>例如前面提到的信用卡违约的例子，如果某人的</a:t>
            </a:r>
            <a:r>
              <a:rPr lang="en-US" altLang="zh-CN"/>
              <a:t>                        ，</a:t>
            </a:r>
            <a:r>
              <a:rPr lang="zh-CN" altLang="en-US"/>
              <a:t>则预测这个人违约。</a:t>
            </a:r>
            <a:endParaRPr lang="zh-CN" altLang="en-US"/>
          </a:p>
          <a:p>
            <a:r>
              <a:rPr lang="zh-CN" altLang="en-US"/>
              <a:t>若这家公司希望对预测一个人是否发生违约风险持谨慎态度，则可以选择一个更小的阈值来进行分类，比如当 </a:t>
            </a:r>
            <a:r>
              <a:rPr lang="en-US" altLang="zh-CN"/>
              <a:t>                      </a:t>
            </a:r>
            <a:r>
              <a:rPr lang="zh-CN" altLang="en-US"/>
              <a:t>时就预测这个人违约。</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1"/>
          <a:stretch>
            <a:fillRect/>
          </a:stretch>
        </p:blipFill>
        <p:spPr>
          <a:xfrm>
            <a:off x="1475740" y="1484630"/>
            <a:ext cx="822960" cy="398145"/>
          </a:xfrm>
          <a:prstGeom prst="rect">
            <a:avLst/>
          </a:prstGeom>
        </p:spPr>
      </p:pic>
      <p:pic>
        <p:nvPicPr>
          <p:cNvPr id="9" name="图片 8"/>
          <p:cNvPicPr>
            <a:picLocks noChangeAspect="1"/>
          </p:cNvPicPr>
          <p:nvPr/>
        </p:nvPicPr>
        <p:blipFill>
          <a:blip r:embed="rId2"/>
          <a:stretch>
            <a:fillRect/>
          </a:stretch>
        </p:blipFill>
        <p:spPr>
          <a:xfrm>
            <a:off x="2987675" y="2204720"/>
            <a:ext cx="2705100" cy="923925"/>
          </a:xfrm>
          <a:prstGeom prst="rect">
            <a:avLst/>
          </a:prstGeom>
        </p:spPr>
      </p:pic>
      <p:pic>
        <p:nvPicPr>
          <p:cNvPr id="10" name="图片 9"/>
          <p:cNvPicPr>
            <a:picLocks noChangeAspect="1"/>
          </p:cNvPicPr>
          <p:nvPr/>
        </p:nvPicPr>
        <p:blipFill>
          <a:blip r:embed="rId3"/>
          <a:stretch>
            <a:fillRect/>
          </a:stretch>
        </p:blipFill>
        <p:spPr>
          <a:xfrm>
            <a:off x="6228080" y="3243580"/>
            <a:ext cx="1423670" cy="370205"/>
          </a:xfrm>
          <a:prstGeom prst="rect">
            <a:avLst/>
          </a:prstGeom>
        </p:spPr>
      </p:pic>
      <p:pic>
        <p:nvPicPr>
          <p:cNvPr id="11" name="图片 10"/>
          <p:cNvPicPr>
            <a:picLocks noChangeAspect="1"/>
          </p:cNvPicPr>
          <p:nvPr/>
        </p:nvPicPr>
        <p:blipFill>
          <a:blip r:embed="rId4"/>
          <a:stretch>
            <a:fillRect/>
          </a:stretch>
        </p:blipFill>
        <p:spPr>
          <a:xfrm>
            <a:off x="5754370" y="4323080"/>
            <a:ext cx="1253490" cy="3530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逻辑回归</a:t>
            </a:r>
            <a:endParaRPr lang="zh-CN" altLang="en-US"/>
          </a:p>
        </p:txBody>
      </p:sp>
      <p:pic>
        <p:nvPicPr>
          <p:cNvPr id="5" name="内容占位符 4"/>
          <p:cNvPicPr>
            <a:picLocks noChangeAspect="1"/>
          </p:cNvPicPr>
          <p:nvPr>
            <p:ph idx="1"/>
          </p:nvPr>
        </p:nvPicPr>
        <p:blipFill>
          <a:blip r:embed="rId1"/>
          <a:stretch>
            <a:fillRect/>
          </a:stretch>
        </p:blipFill>
        <p:spPr>
          <a:xfrm>
            <a:off x="179705" y="1268730"/>
            <a:ext cx="4384675" cy="438467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6" name="图片 5"/>
          <p:cNvPicPr>
            <a:picLocks noChangeAspect="1"/>
          </p:cNvPicPr>
          <p:nvPr/>
        </p:nvPicPr>
        <p:blipFill>
          <a:blip r:embed="rId2"/>
          <a:stretch>
            <a:fillRect/>
          </a:stretch>
        </p:blipFill>
        <p:spPr>
          <a:xfrm>
            <a:off x="4716145" y="44450"/>
            <a:ext cx="4333875" cy="66103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mc:AlternateContent xmlns:mc="http://schemas.openxmlformats.org/markup-compatibility/2006">
        <mc:Choice xmlns:a14="http://schemas.microsoft.com/office/drawing/2010/main" Requires="a14">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回归分析</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solidFill>
                      <a:srgbClr val="C00000"/>
                    </a:solidFill>
                    <a:latin typeface="Arial" panose="020B0604020202020204"/>
                    <a:ea typeface="宋体" panose="02010600030101010101" pitchFamily="2" charset="-122"/>
                  </a:rPr>
                  <a:t>决策树</a:t>
                </a:r>
                <a:endParaRPr kumimoji="0" lang="en-US" altLang="zh-CN"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集成学习</a:t>
                </a:r>
                <a:endParaRPr kumimoji="0" lang="en-US" altLang="zh-CN" dirty="0">
                  <a:latin typeface="Arial" panose="020B0604020202020204"/>
                  <a:ea typeface="宋体" panose="02010600030101010101" pitchFamily="2" charset="-122"/>
                </a:endParaRPr>
              </a:p>
              <a:p>
                <a:pPr lvl="0" eaLnBrk="1" hangingPunct="1">
                  <a:lnSpc>
                    <a:spcPct val="90000"/>
                  </a:lnSpc>
                  <a:spcBef>
                    <a:spcPct val="40000"/>
                  </a:spcBef>
                  <a:defRPr/>
                </a:pPr>
                <a14:m>
                  <m:oMath xmlns:m="http://schemas.openxmlformats.org/officeDocument/2006/math">
                    <m:r>
                      <a:rPr lang="en-US" altLang="zh-CN" i="1" kern="100">
                        <a:latin typeface="Cambria Math" panose="02040503050406030204" pitchFamily="18" charset="0"/>
                      </a:rPr>
                      <m:t>𝑘</m:t>
                    </m:r>
                  </m:oMath>
                </a14:m>
                <a:r>
                  <a:rPr lang="zh-CN" altLang="zh-CN" kern="100" dirty="0">
                    <a:latin typeface="+mj-ea"/>
                  </a:rPr>
                  <a:t>近邻法</a:t>
                </a:r>
                <a:endParaRPr lang="en-US" altLang="zh-CN" kern="100" dirty="0">
                  <a:latin typeface="+mj-ea"/>
                </a:endParaRPr>
              </a:p>
              <a:p>
                <a:pPr lvl="0" eaLnBrk="1" hangingPunct="1">
                  <a:lnSpc>
                    <a:spcPct val="90000"/>
                  </a:lnSpc>
                  <a:spcBef>
                    <a:spcPct val="40000"/>
                  </a:spcBef>
                  <a:defRPr/>
                </a:pPr>
                <a:r>
                  <a:rPr kumimoji="0" lang="zh-CN" altLang="en-US" kern="100" dirty="0">
                    <a:latin typeface="+mj-ea"/>
                    <a:ea typeface="宋体" panose="02010600030101010101" pitchFamily="2" charset="-122"/>
                  </a:rPr>
                  <a:t>支持向量机</a:t>
                </a:r>
                <a:endParaRPr kumimoji="0" lang="en-US" altLang="zh-CN" dirty="0">
                  <a:latin typeface="Arial" panose="020B0604020202020204"/>
                  <a:ea typeface="宋体" panose="02010600030101010101" pitchFamily="2" charset="-122"/>
                </a:endParaRPr>
              </a:p>
              <a:p>
                <a:pPr marL="0" marR="0" lvl="0" indent="0" algn="l" defTabSz="914400" rtl="0" eaLnBrk="1" fontAlgn="ctr" latinLnBrk="0" hangingPunct="1">
                  <a:lnSpc>
                    <a:spcPct val="90000"/>
                  </a:lnSpc>
                  <a:spcBef>
                    <a:spcPct val="40000"/>
                  </a:spcBef>
                  <a:spcAft>
                    <a:spcPct val="0"/>
                  </a:spcAft>
                  <a:buClr>
                    <a:srgbClr val="E46B1F"/>
                  </a:buClr>
                  <a:buSzPct val="80000"/>
                  <a:buNone/>
                  <a:defRPr/>
                </a:pP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mc:Choice>
        <mc:Fallback>
          <p:sp>
            <p:nvSpPr>
              <p:cNvPr id="7" name="Rectangle 3"/>
              <p:cNvSpPr txBox="1">
                <a:spLocks noRot="1" noChangeAspect="1" noMove="1" noResize="1" noEditPoints="1" noAdjustHandles="1" noChangeArrowheads="1" noChangeShapeType="1" noTextEdit="1"/>
              </p:cNvSpPr>
              <p:nvPr/>
            </p:nvSpPr>
            <p:spPr bwMode="auto">
              <a:xfrm>
                <a:off x="395536" y="1484784"/>
                <a:ext cx="7416824" cy="4060825"/>
              </a:xfrm>
              <a:prstGeom prst="rect">
                <a:avLst/>
              </a:prstGeom>
              <a:blipFill rotWithShape="1">
                <a:blip r:embed="rId1"/>
                <a:stretch>
                  <a:fillRect l="-8" t="-4" r="8" b="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决策树原理</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grpSp>
        <p:nvGrpSpPr>
          <p:cNvPr id="6" name="Group 4"/>
          <p:cNvGrpSpPr/>
          <p:nvPr/>
        </p:nvGrpSpPr>
        <p:grpSpPr bwMode="auto">
          <a:xfrm>
            <a:off x="4118357" y="2355241"/>
            <a:ext cx="1835944" cy="2808684"/>
            <a:chOff x="0" y="0"/>
            <a:chExt cx="3600" cy="3600"/>
          </a:xfrm>
        </p:grpSpPr>
        <p:sp>
          <p:nvSpPr>
            <p:cNvPr id="7" name="Rectangle 4"/>
            <p:cNvSpPr>
              <a:spLocks noChangeArrowheads="1"/>
            </p:cNvSpPr>
            <p:nvPr/>
          </p:nvSpPr>
          <p:spPr bwMode="auto">
            <a:xfrm>
              <a:off x="0" y="0"/>
              <a:ext cx="3600" cy="3600"/>
            </a:xfrm>
            <a:prstGeom prst="rect">
              <a:avLst/>
            </a:prstGeom>
            <a:noFill/>
            <a:ln w="9525" cmpd="sng">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8" name="Oval 5"/>
            <p:cNvSpPr>
              <a:spLocks noChangeArrowheads="1"/>
            </p:cNvSpPr>
            <p:nvPr/>
          </p:nvSpPr>
          <p:spPr bwMode="auto">
            <a:xfrm>
              <a:off x="1440" y="18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9" name="Line 6"/>
            <p:cNvSpPr>
              <a:spLocks noChangeShapeType="1"/>
            </p:cNvSpPr>
            <p:nvPr/>
          </p:nvSpPr>
          <p:spPr bwMode="auto">
            <a:xfrm flipH="1">
              <a:off x="1080" y="360"/>
              <a:ext cx="360" cy="36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10" name="Line 7"/>
            <p:cNvSpPr>
              <a:spLocks noChangeShapeType="1"/>
            </p:cNvSpPr>
            <p:nvPr/>
          </p:nvSpPr>
          <p:spPr bwMode="auto">
            <a:xfrm>
              <a:off x="1620" y="360"/>
              <a:ext cx="360" cy="36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11" name="Oval 8"/>
            <p:cNvSpPr>
              <a:spLocks noChangeArrowheads="1"/>
            </p:cNvSpPr>
            <p:nvPr/>
          </p:nvSpPr>
          <p:spPr bwMode="auto">
            <a:xfrm>
              <a:off x="900" y="72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12" name="Line 9"/>
            <p:cNvSpPr>
              <a:spLocks noChangeShapeType="1"/>
            </p:cNvSpPr>
            <p:nvPr/>
          </p:nvSpPr>
          <p:spPr bwMode="auto">
            <a:xfrm flipH="1">
              <a:off x="540" y="900"/>
              <a:ext cx="360" cy="36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13" name="Line 10"/>
            <p:cNvSpPr>
              <a:spLocks noChangeShapeType="1"/>
            </p:cNvSpPr>
            <p:nvPr/>
          </p:nvSpPr>
          <p:spPr bwMode="auto">
            <a:xfrm>
              <a:off x="1080" y="900"/>
              <a:ext cx="180" cy="36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14" name="Oval 11"/>
            <p:cNvSpPr>
              <a:spLocks noChangeArrowheads="1"/>
            </p:cNvSpPr>
            <p:nvPr/>
          </p:nvSpPr>
          <p:spPr bwMode="auto">
            <a:xfrm>
              <a:off x="1980" y="72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15" name="Line 12"/>
            <p:cNvSpPr>
              <a:spLocks noChangeShapeType="1"/>
            </p:cNvSpPr>
            <p:nvPr/>
          </p:nvSpPr>
          <p:spPr bwMode="auto">
            <a:xfrm flipH="1">
              <a:off x="1800" y="900"/>
              <a:ext cx="180" cy="36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16" name="Line 13"/>
            <p:cNvSpPr>
              <a:spLocks noChangeShapeType="1"/>
            </p:cNvSpPr>
            <p:nvPr/>
          </p:nvSpPr>
          <p:spPr bwMode="auto">
            <a:xfrm>
              <a:off x="2160" y="900"/>
              <a:ext cx="360" cy="36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17" name="Rectangle 14"/>
            <p:cNvSpPr>
              <a:spLocks noChangeArrowheads="1"/>
            </p:cNvSpPr>
            <p:nvPr/>
          </p:nvSpPr>
          <p:spPr bwMode="auto">
            <a:xfrm>
              <a:off x="360" y="126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18" name="Rectangle 15"/>
            <p:cNvSpPr>
              <a:spLocks noChangeArrowheads="1"/>
            </p:cNvSpPr>
            <p:nvPr/>
          </p:nvSpPr>
          <p:spPr bwMode="auto">
            <a:xfrm>
              <a:off x="1620" y="126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19" name="Oval 16"/>
            <p:cNvSpPr>
              <a:spLocks noChangeArrowheads="1"/>
            </p:cNvSpPr>
            <p:nvPr/>
          </p:nvSpPr>
          <p:spPr bwMode="auto">
            <a:xfrm>
              <a:off x="2340" y="126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20" name="Line 17"/>
            <p:cNvSpPr>
              <a:spLocks noChangeShapeType="1"/>
            </p:cNvSpPr>
            <p:nvPr/>
          </p:nvSpPr>
          <p:spPr bwMode="auto">
            <a:xfrm flipH="1">
              <a:off x="1980" y="1440"/>
              <a:ext cx="360" cy="54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21" name="Line 18"/>
            <p:cNvSpPr>
              <a:spLocks noChangeShapeType="1"/>
            </p:cNvSpPr>
            <p:nvPr/>
          </p:nvSpPr>
          <p:spPr bwMode="auto">
            <a:xfrm>
              <a:off x="2520" y="1440"/>
              <a:ext cx="360" cy="54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22" name="Rectangle 19"/>
            <p:cNvSpPr>
              <a:spLocks noChangeArrowheads="1"/>
            </p:cNvSpPr>
            <p:nvPr/>
          </p:nvSpPr>
          <p:spPr bwMode="auto">
            <a:xfrm>
              <a:off x="1800" y="198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23" name="Oval 20"/>
            <p:cNvSpPr>
              <a:spLocks noChangeArrowheads="1"/>
            </p:cNvSpPr>
            <p:nvPr/>
          </p:nvSpPr>
          <p:spPr bwMode="auto">
            <a:xfrm>
              <a:off x="2700" y="198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24" name="Oval 21"/>
            <p:cNvSpPr>
              <a:spLocks noChangeArrowheads="1"/>
            </p:cNvSpPr>
            <p:nvPr/>
          </p:nvSpPr>
          <p:spPr bwMode="auto">
            <a:xfrm flipH="1">
              <a:off x="1260" y="126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25" name="Line 22"/>
            <p:cNvSpPr>
              <a:spLocks noChangeShapeType="1"/>
            </p:cNvSpPr>
            <p:nvPr/>
          </p:nvSpPr>
          <p:spPr bwMode="auto">
            <a:xfrm flipH="1">
              <a:off x="720" y="1440"/>
              <a:ext cx="540" cy="72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26" name="Line 23"/>
            <p:cNvSpPr>
              <a:spLocks noChangeShapeType="1"/>
            </p:cNvSpPr>
            <p:nvPr/>
          </p:nvSpPr>
          <p:spPr bwMode="auto">
            <a:xfrm>
              <a:off x="1260" y="1440"/>
              <a:ext cx="180" cy="72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27" name="Rectangle 24"/>
            <p:cNvSpPr>
              <a:spLocks noChangeArrowheads="1"/>
            </p:cNvSpPr>
            <p:nvPr/>
          </p:nvSpPr>
          <p:spPr bwMode="auto">
            <a:xfrm>
              <a:off x="540" y="216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28" name="Oval 25"/>
            <p:cNvSpPr>
              <a:spLocks noChangeArrowheads="1"/>
            </p:cNvSpPr>
            <p:nvPr/>
          </p:nvSpPr>
          <p:spPr bwMode="auto">
            <a:xfrm>
              <a:off x="1440" y="2160"/>
              <a:ext cx="180" cy="180"/>
            </a:xfrm>
            <a:prstGeom prst="ellipse">
              <a:avLst/>
            </a:prstGeom>
            <a:solidFill>
              <a:srgbClr val="FFFFFF"/>
            </a:solidFill>
            <a:ln w="9525" cmpd="sng">
              <a:solidFill>
                <a:srgbClr val="000000"/>
              </a:solidFill>
              <a:rou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29" name="Line 26"/>
            <p:cNvSpPr>
              <a:spLocks noChangeShapeType="1"/>
            </p:cNvSpPr>
            <p:nvPr/>
          </p:nvSpPr>
          <p:spPr bwMode="auto">
            <a:xfrm flipH="1">
              <a:off x="1080" y="2340"/>
              <a:ext cx="360" cy="54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30" name="Line 27"/>
            <p:cNvSpPr>
              <a:spLocks noChangeShapeType="1"/>
            </p:cNvSpPr>
            <p:nvPr/>
          </p:nvSpPr>
          <p:spPr bwMode="auto">
            <a:xfrm>
              <a:off x="1440" y="2340"/>
              <a:ext cx="180" cy="54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31" name="Line 28"/>
            <p:cNvSpPr>
              <a:spLocks noChangeShapeType="1"/>
            </p:cNvSpPr>
            <p:nvPr/>
          </p:nvSpPr>
          <p:spPr bwMode="auto">
            <a:xfrm flipH="1">
              <a:off x="2340" y="2160"/>
              <a:ext cx="360" cy="72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32" name="Line 29"/>
            <p:cNvSpPr>
              <a:spLocks noChangeShapeType="1"/>
            </p:cNvSpPr>
            <p:nvPr/>
          </p:nvSpPr>
          <p:spPr bwMode="auto">
            <a:xfrm>
              <a:off x="2700" y="2160"/>
              <a:ext cx="360" cy="720"/>
            </a:xfrm>
            <a:prstGeom prst="line">
              <a:avLst/>
            </a:prstGeom>
            <a:noFill/>
            <a:ln w="9525" cmpd="sng">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33" name="Rectangle 30"/>
            <p:cNvSpPr>
              <a:spLocks noChangeArrowheads="1"/>
            </p:cNvSpPr>
            <p:nvPr/>
          </p:nvSpPr>
          <p:spPr bwMode="auto">
            <a:xfrm>
              <a:off x="900" y="288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34" name="Rectangle 31"/>
            <p:cNvSpPr>
              <a:spLocks noChangeArrowheads="1"/>
            </p:cNvSpPr>
            <p:nvPr/>
          </p:nvSpPr>
          <p:spPr bwMode="auto">
            <a:xfrm>
              <a:off x="1440" y="288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35" name="Rectangle 32"/>
            <p:cNvSpPr>
              <a:spLocks noChangeArrowheads="1"/>
            </p:cNvSpPr>
            <p:nvPr/>
          </p:nvSpPr>
          <p:spPr bwMode="auto">
            <a:xfrm>
              <a:off x="2160" y="288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36" name="Rectangle 33"/>
            <p:cNvSpPr>
              <a:spLocks noChangeArrowheads="1"/>
            </p:cNvSpPr>
            <p:nvPr/>
          </p:nvSpPr>
          <p:spPr bwMode="auto">
            <a:xfrm>
              <a:off x="2880" y="2880"/>
              <a:ext cx="360" cy="540"/>
            </a:xfrm>
            <a:prstGeom prst="rect">
              <a:avLst/>
            </a:prstGeom>
            <a:solidFill>
              <a:srgbClr val="FFFFFF"/>
            </a:solidFill>
            <a:ln w="9525" cmpd="sng">
              <a:solidFill>
                <a:srgbClr val="000000"/>
              </a:solidFill>
              <a:miter lim="800000"/>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grpSp>
      <p:sp>
        <p:nvSpPr>
          <p:cNvPr id="37" name="Oval 34"/>
          <p:cNvSpPr>
            <a:spLocks noChangeArrowheads="1"/>
          </p:cNvSpPr>
          <p:nvPr/>
        </p:nvSpPr>
        <p:spPr bwMode="auto">
          <a:xfrm>
            <a:off x="4712480" y="2410010"/>
            <a:ext cx="378619" cy="377428"/>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38" name="Oval 35"/>
          <p:cNvSpPr>
            <a:spLocks noChangeArrowheads="1"/>
          </p:cNvSpPr>
          <p:nvPr/>
        </p:nvSpPr>
        <p:spPr bwMode="auto">
          <a:xfrm>
            <a:off x="4549363" y="2354050"/>
            <a:ext cx="647700" cy="485775"/>
          </a:xfrm>
          <a:prstGeom prst="ellipse">
            <a:avLst/>
          </a:prstGeom>
          <a:noFill/>
          <a:ln w="12700" cmpd="sng">
            <a:solidFill>
              <a:schemeClr val="hlink"/>
            </a:solidFill>
            <a:rou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39" name="Line 36"/>
          <p:cNvSpPr>
            <a:spLocks noChangeShapeType="1"/>
          </p:cNvSpPr>
          <p:nvPr/>
        </p:nvSpPr>
        <p:spPr bwMode="auto">
          <a:xfrm>
            <a:off x="5198255" y="2625513"/>
            <a:ext cx="972740" cy="0"/>
          </a:xfrm>
          <a:prstGeom prst="line">
            <a:avLst/>
          </a:prstGeom>
          <a:noFill/>
          <a:ln w="12700" cmpd="sng">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40" name="Text Box 37"/>
          <p:cNvSpPr txBox="1">
            <a:spLocks noChangeArrowheads="1"/>
          </p:cNvSpPr>
          <p:nvPr/>
        </p:nvSpPr>
        <p:spPr bwMode="auto">
          <a:xfrm>
            <a:off x="5783327" y="2486105"/>
            <a:ext cx="36171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hlink"/>
              </a:buClr>
              <a:buSzPct val="55000"/>
              <a:buFont typeface="Wingdings" panose="05000000000000000000" pitchFamily="2" charset="2"/>
              <a:buNone/>
            </a:pPr>
            <a:r>
              <a:rPr lang="zh-TW" altLang="en-US" sz="1600" dirty="0">
                <a:solidFill>
                  <a:srgbClr val="0070C0"/>
                </a:solidFill>
                <a:latin typeface="思源黑体 CN Normal" panose="020B0400000000000000" pitchFamily="34" charset="-122"/>
                <a:ea typeface="思源黑体 CN Normal" panose="020B0400000000000000" pitchFamily="34" charset="-122"/>
                <a:cs typeface="Times New Roman" panose="02020603050405020304" pitchFamily="18" charset="0"/>
              </a:rPr>
              <a:t>根节点 </a:t>
            </a:r>
            <a:r>
              <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rPr>
              <a:t>(root node)</a:t>
            </a:r>
            <a:endPar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endParaRPr>
          </a:p>
        </p:txBody>
      </p:sp>
      <p:sp>
        <p:nvSpPr>
          <p:cNvPr id="41" name="Rectangle 38"/>
          <p:cNvSpPr>
            <a:spLocks noChangeArrowheads="1"/>
          </p:cNvSpPr>
          <p:nvPr/>
        </p:nvSpPr>
        <p:spPr bwMode="auto">
          <a:xfrm>
            <a:off x="4442207" y="2895785"/>
            <a:ext cx="1026319" cy="161925"/>
          </a:xfrm>
          <a:prstGeom prst="rect">
            <a:avLst/>
          </a:prstGeom>
          <a:noFill/>
          <a:ln w="12700" cmpd="sng">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42" name="Line 39"/>
          <p:cNvSpPr>
            <a:spLocks noChangeShapeType="1"/>
          </p:cNvSpPr>
          <p:nvPr/>
        </p:nvSpPr>
        <p:spPr bwMode="auto">
          <a:xfrm>
            <a:off x="5468526" y="3004131"/>
            <a:ext cx="756047" cy="0"/>
          </a:xfrm>
          <a:prstGeom prst="line">
            <a:avLst/>
          </a:prstGeom>
          <a:noFill/>
          <a:ln w="12700" cmpd="sng">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43" name="Text Box 40"/>
          <p:cNvSpPr txBox="1">
            <a:spLocks noChangeArrowheads="1"/>
          </p:cNvSpPr>
          <p:nvPr/>
        </p:nvSpPr>
        <p:spPr bwMode="auto">
          <a:xfrm>
            <a:off x="5782137" y="2917112"/>
            <a:ext cx="35609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hlink"/>
              </a:buClr>
              <a:buSzPct val="55000"/>
              <a:buFont typeface="Wingdings" panose="05000000000000000000" pitchFamily="2" charset="2"/>
              <a:buNone/>
            </a:pPr>
            <a:r>
              <a:rPr lang="zh-CN" altLang="en-US" sz="1600" dirty="0">
                <a:solidFill>
                  <a:srgbClr val="0070C0"/>
                </a:solidFill>
                <a:latin typeface="思源黑体 CN Normal" panose="020B0400000000000000" pitchFamily="34" charset="-122"/>
                <a:ea typeface="思源黑体 CN Normal" panose="020B0400000000000000" pitchFamily="34" charset="-122"/>
                <a:cs typeface="Times New Roman" panose="02020603050405020304" pitchFamily="18" charset="0"/>
              </a:rPr>
              <a:t>非叶子</a:t>
            </a:r>
            <a:r>
              <a:rPr lang="zh-TW" altLang="en-US" sz="1600" dirty="0">
                <a:solidFill>
                  <a:srgbClr val="0070C0"/>
                </a:solidFill>
                <a:latin typeface="思源黑体 CN Normal" panose="020B0400000000000000" pitchFamily="34" charset="-122"/>
                <a:ea typeface="思源黑体 CN Normal" panose="020B0400000000000000" pitchFamily="34" charset="-122"/>
                <a:cs typeface="Times New Roman" panose="02020603050405020304" pitchFamily="18" charset="0"/>
              </a:rPr>
              <a:t>节点</a:t>
            </a:r>
            <a:r>
              <a:rPr lang="zh-TW" altLang="en-US" sz="1600" dirty="0">
                <a:solidFill>
                  <a:srgbClr val="0070C0"/>
                </a:solidFill>
                <a:latin typeface="Times New Roman" panose="02020603050405020304" pitchFamily="18" charset="0"/>
                <a:ea typeface="思源黑体 CN Normal" panose="020B0400000000000000" pitchFamily="34" charset="-122"/>
                <a:cs typeface="Times New Roman" panose="02020603050405020304" pitchFamily="18" charset="0"/>
              </a:rPr>
              <a:t> </a:t>
            </a:r>
            <a:r>
              <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rPr>
              <a:t>(non-leaf node)</a:t>
            </a:r>
            <a:endPar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spcBef>
                <a:spcPct val="50000"/>
              </a:spcBef>
              <a:buClr>
                <a:schemeClr val="hlink"/>
              </a:buClr>
              <a:buSzPct val="55000"/>
              <a:buFont typeface="Wingdings" panose="05000000000000000000" pitchFamily="2" charset="2"/>
              <a:buNone/>
            </a:pP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r>
              <a:rPr lang="zh-TW" altLang="en-US" sz="1600" dirty="0">
                <a:solidFill>
                  <a:srgbClr val="FF0000"/>
                </a:solidFill>
                <a:latin typeface="思源黑体 CN Normal" panose="020B0400000000000000" pitchFamily="34" charset="-122"/>
                <a:ea typeface="思源黑体 CN Normal" panose="020B0400000000000000" pitchFamily="34" charset="-122"/>
                <a:cs typeface="Times New Roman" panose="02020603050405020304" pitchFamily="18" charset="0"/>
              </a:rPr>
              <a:t>测试</a:t>
            </a:r>
            <a:r>
              <a:rPr lang="zh-TW" altLang="en-US" sz="1600" dirty="0">
                <a:solidFill>
                  <a:srgbClr val="FF0000"/>
                </a:solidFill>
                <a:latin typeface="微软雅黑" panose="020B0503020204020204" charset="-122"/>
                <a:ea typeface="微软雅黑" panose="020B0503020204020204" charset="-122"/>
                <a:cs typeface="Times New Roman" panose="02020603050405020304" pitchFamily="18" charset="0"/>
              </a:rPr>
              <a:t>条件</a:t>
            </a:r>
            <a:r>
              <a:rPr lang="zh-CN" altLang="en-US"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r>
              <a:rPr lang="zh-CN" altLang="en-US" sz="1600" dirty="0">
                <a:solidFill>
                  <a:srgbClr val="FF0000"/>
                </a:solidFill>
                <a:latin typeface="思源黑体 CN Normal" panose="020B0400000000000000" pitchFamily="34" charset="-122"/>
                <a:ea typeface="思源黑体 CN Normal" panose="020B0400000000000000" pitchFamily="34" charset="-122"/>
                <a:cs typeface="Times New Roman" panose="02020603050405020304" pitchFamily="18" charset="0"/>
              </a:rPr>
              <a:t>对数据属性的测试</a:t>
            </a: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endPar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endParaRPr>
          </a:p>
        </p:txBody>
      </p:sp>
      <p:sp>
        <p:nvSpPr>
          <p:cNvPr id="44" name="Text Box 41"/>
          <p:cNvSpPr txBox="1">
            <a:spLocks noChangeArrowheads="1"/>
          </p:cNvSpPr>
          <p:nvPr/>
        </p:nvSpPr>
        <p:spPr bwMode="auto">
          <a:xfrm>
            <a:off x="5782136" y="4158934"/>
            <a:ext cx="39969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50000"/>
              </a:spcBef>
              <a:buClr>
                <a:schemeClr val="hlink"/>
              </a:buClr>
              <a:buSzPct val="55000"/>
              <a:buFont typeface="Wingdings" panose="05000000000000000000" pitchFamily="2" charset="2"/>
              <a:buNone/>
            </a:pPr>
            <a:r>
              <a:rPr lang="zh-TW" altLang="en-US" sz="1600" dirty="0">
                <a:solidFill>
                  <a:srgbClr val="0070C0"/>
                </a:solidFill>
                <a:latin typeface="思源黑体 CN Normal" panose="020B0400000000000000" pitchFamily="34" charset="-122"/>
                <a:ea typeface="思源黑体 CN Normal" panose="020B0400000000000000" pitchFamily="34" charset="-122"/>
                <a:cs typeface="Times New Roman" panose="02020603050405020304" pitchFamily="18" charset="0"/>
              </a:rPr>
              <a:t>分支</a:t>
            </a:r>
            <a:r>
              <a:rPr lang="zh-TW" altLang="en-US" sz="1600" dirty="0">
                <a:latin typeface="Times New Roman" panose="02020603050405020304" pitchFamily="18" charset="0"/>
                <a:ea typeface="思源黑体 CN Normal" panose="020B0400000000000000" pitchFamily="34" charset="-122"/>
                <a:cs typeface="Times New Roman" panose="02020603050405020304" pitchFamily="18" charset="0"/>
              </a:rPr>
              <a:t> </a:t>
            </a:r>
            <a:r>
              <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rPr>
              <a:t>(branches)</a:t>
            </a: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 </a:t>
            </a:r>
            <a:endPar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endParaRPr>
          </a:p>
          <a:p>
            <a:pPr>
              <a:spcBef>
                <a:spcPct val="50000"/>
              </a:spcBef>
              <a:buClr>
                <a:schemeClr val="hlink"/>
              </a:buClr>
              <a:buSzPct val="55000"/>
              <a:buFont typeface="Wingdings" panose="05000000000000000000" pitchFamily="2" charset="2"/>
              <a:buNone/>
            </a:pP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r>
              <a:rPr lang="zh-TW" altLang="en-US" sz="1600" dirty="0">
                <a:solidFill>
                  <a:srgbClr val="FF0000"/>
                </a:solidFill>
                <a:latin typeface="思源黑体 CN Normal" panose="020B0400000000000000" pitchFamily="34" charset="-122"/>
                <a:ea typeface="思源黑体 CN Normal" panose="020B0400000000000000" pitchFamily="34" charset="-122"/>
                <a:cs typeface="Times New Roman" panose="02020603050405020304" pitchFamily="18" charset="0"/>
              </a:rPr>
              <a:t>测试结果</a:t>
            </a: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endPar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endParaRPr>
          </a:p>
        </p:txBody>
      </p:sp>
      <p:sp>
        <p:nvSpPr>
          <p:cNvPr id="45" name="Rectangle 42"/>
          <p:cNvSpPr>
            <a:spLocks noChangeArrowheads="1"/>
          </p:cNvSpPr>
          <p:nvPr/>
        </p:nvSpPr>
        <p:spPr bwMode="auto">
          <a:xfrm>
            <a:off x="5144676" y="4084029"/>
            <a:ext cx="702469" cy="377428"/>
          </a:xfrm>
          <a:prstGeom prst="rect">
            <a:avLst/>
          </a:prstGeom>
          <a:noFill/>
          <a:ln w="12700" cmpd="sng">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46" name="Line 43"/>
          <p:cNvSpPr>
            <a:spLocks noChangeShapeType="1"/>
          </p:cNvSpPr>
          <p:nvPr/>
        </p:nvSpPr>
        <p:spPr bwMode="auto">
          <a:xfrm>
            <a:off x="5847145" y="4299531"/>
            <a:ext cx="485775" cy="0"/>
          </a:xfrm>
          <a:prstGeom prst="line">
            <a:avLst/>
          </a:prstGeom>
          <a:noFill/>
          <a:ln w="12700" cmpd="sng">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47" name="Rectangle 44"/>
          <p:cNvSpPr>
            <a:spLocks noChangeArrowheads="1"/>
          </p:cNvSpPr>
          <p:nvPr/>
        </p:nvSpPr>
        <p:spPr bwMode="auto">
          <a:xfrm>
            <a:off x="4280282" y="4569804"/>
            <a:ext cx="1782366" cy="540544"/>
          </a:xfrm>
          <a:prstGeom prst="rect">
            <a:avLst/>
          </a:prstGeom>
          <a:noFill/>
          <a:ln w="12700" cmpd="sng">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TW" altLang="en-US" sz="1350">
              <a:latin typeface="Times New Roman" panose="02020603050405020304" pitchFamily="18" charset="0"/>
              <a:cs typeface="Times New Roman" panose="02020603050405020304" pitchFamily="18" charset="0"/>
            </a:endParaRPr>
          </a:p>
        </p:txBody>
      </p:sp>
      <p:sp>
        <p:nvSpPr>
          <p:cNvPr id="48" name="Line 45"/>
          <p:cNvSpPr>
            <a:spLocks noChangeShapeType="1"/>
          </p:cNvSpPr>
          <p:nvPr/>
        </p:nvSpPr>
        <p:spPr bwMode="auto">
          <a:xfrm>
            <a:off x="5576873" y="5110348"/>
            <a:ext cx="0" cy="215503"/>
          </a:xfrm>
          <a:prstGeom prst="line">
            <a:avLst/>
          </a:prstGeom>
          <a:noFill/>
          <a:ln w="9525" cmpd="sng">
            <a:solidFill>
              <a:schemeClr val="hlink"/>
            </a:solidFill>
            <a:roun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49" name="Line 46"/>
          <p:cNvSpPr>
            <a:spLocks noChangeShapeType="1"/>
          </p:cNvSpPr>
          <p:nvPr/>
        </p:nvSpPr>
        <p:spPr bwMode="auto">
          <a:xfrm>
            <a:off x="5576873" y="5325850"/>
            <a:ext cx="594122" cy="0"/>
          </a:xfrm>
          <a:prstGeom prst="line">
            <a:avLst/>
          </a:prstGeom>
          <a:noFill/>
          <a:ln w="12700" cmpd="sng">
            <a:solidFill>
              <a:schemeClr val="hlink"/>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Times New Roman" panose="02020603050405020304" pitchFamily="18" charset="0"/>
              <a:cs typeface="Times New Roman" panose="02020603050405020304" pitchFamily="18" charset="0"/>
            </a:endParaRPr>
          </a:p>
        </p:txBody>
      </p:sp>
      <p:sp>
        <p:nvSpPr>
          <p:cNvPr id="50" name="Text Box 47"/>
          <p:cNvSpPr txBox="1">
            <a:spLocks noChangeArrowheads="1"/>
          </p:cNvSpPr>
          <p:nvPr/>
        </p:nvSpPr>
        <p:spPr bwMode="auto">
          <a:xfrm>
            <a:off x="5652120" y="5276361"/>
            <a:ext cx="3996928" cy="47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SzPct val="100000"/>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chemeClr val="hlink"/>
              </a:buClr>
              <a:buSzPct val="55000"/>
              <a:buFont typeface="Wingdings" panose="05000000000000000000" pitchFamily="2" charset="2"/>
              <a:buNone/>
            </a:pPr>
            <a:r>
              <a:rPr lang="zh-TW" altLang="en-US" sz="1600" dirty="0">
                <a:solidFill>
                  <a:srgbClr val="0070C0"/>
                </a:solidFill>
                <a:latin typeface="思源黑体 CN Normal" panose="020B0400000000000000" pitchFamily="34" charset="-122"/>
                <a:ea typeface="思源黑体 CN Normal" panose="020B0400000000000000" pitchFamily="34" charset="-122"/>
                <a:cs typeface="Times New Roman" panose="02020603050405020304" pitchFamily="18" charset="0"/>
              </a:rPr>
              <a:t>叶节点 </a:t>
            </a:r>
            <a:r>
              <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rPr>
              <a:t>(leaf node)</a:t>
            </a:r>
            <a:endParaRPr lang="en-US" altLang="zh-CN" sz="1600" dirty="0">
              <a:latin typeface="Times New Roman" panose="02020603050405020304" pitchFamily="18" charset="0"/>
              <a:ea typeface="思源黑体 CN Normal" panose="020B0400000000000000" pitchFamily="34" charset="-122"/>
              <a:cs typeface="Times New Roman" panose="02020603050405020304" pitchFamily="18" charset="0"/>
            </a:endParaRPr>
          </a:p>
          <a:p>
            <a:pPr>
              <a:lnSpc>
                <a:spcPct val="50000"/>
              </a:lnSpc>
              <a:spcBef>
                <a:spcPct val="50000"/>
              </a:spcBef>
              <a:buClr>
                <a:schemeClr val="hlink"/>
              </a:buClr>
              <a:buSzPct val="55000"/>
              <a:buFont typeface="Wingdings" panose="05000000000000000000" pitchFamily="2" charset="2"/>
              <a:buNone/>
            </a:pP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r>
              <a:rPr lang="zh-CN" altLang="en-US" sz="1600" dirty="0">
                <a:latin typeface="思源黑体 CN Normal" panose="020B0400000000000000" pitchFamily="34" charset="-122"/>
                <a:ea typeface="思源黑体 CN Normal" panose="020B0400000000000000" pitchFamily="34" charset="-122"/>
                <a:cs typeface="Times New Roman" panose="02020603050405020304" pitchFamily="18" charset="0"/>
              </a:rPr>
              <a:t>代表分类后所获得</a:t>
            </a:r>
            <a:r>
              <a:rPr lang="zh-TW" altLang="en-US" sz="1600" dirty="0">
                <a:latin typeface="思源黑体 CN Normal" panose="020B0400000000000000" pitchFamily="34" charset="-122"/>
                <a:ea typeface="思源黑体 CN Normal" panose="020B0400000000000000" pitchFamily="34" charset="-122"/>
                <a:cs typeface="Times New Roman" panose="02020603050405020304" pitchFamily="18" charset="0"/>
              </a:rPr>
              <a:t>的</a:t>
            </a:r>
            <a:r>
              <a:rPr lang="zh-TW" altLang="en-US" sz="1600" dirty="0">
                <a:solidFill>
                  <a:srgbClr val="FF0000"/>
                </a:solidFill>
                <a:latin typeface="思源黑体 CN Normal" panose="020B0400000000000000" pitchFamily="34" charset="-122"/>
                <a:ea typeface="思源黑体 CN Normal" panose="020B0400000000000000" pitchFamily="34" charset="-122"/>
                <a:cs typeface="Times New Roman" panose="02020603050405020304" pitchFamily="18" charset="0"/>
              </a:rPr>
              <a:t>分类标记</a:t>
            </a:r>
            <a:r>
              <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rPr>
              <a:t>)</a:t>
            </a:r>
            <a:endParaRPr lang="en-US" altLang="zh-CN" sz="1600" dirty="0">
              <a:latin typeface="思源黑体 CN Normal" panose="020B0400000000000000" pitchFamily="34" charset="-122"/>
              <a:ea typeface="思源黑体 CN Normal" panose="020B0400000000000000" pitchFamily="34" charset="-122"/>
              <a:cs typeface="Times New Roman" panose="02020603050405020304" pitchFamily="18" charset="0"/>
            </a:endParaRPr>
          </a:p>
        </p:txBody>
      </p:sp>
      <p:sp>
        <p:nvSpPr>
          <p:cNvPr id="51" name="文本框 50"/>
          <p:cNvSpPr txBox="1"/>
          <p:nvPr/>
        </p:nvSpPr>
        <p:spPr>
          <a:xfrm>
            <a:off x="702344" y="1247932"/>
            <a:ext cx="7739312" cy="874214"/>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决策树算法是一种归纳分类算法，它通过对训练集的学习，挖掘出有用的规则，用于对新数据进行预测。决策树算法属于</a:t>
            </a:r>
            <a:r>
              <a:rPr lang="zh-CN" altLang="en-US" sz="1800"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监督学习</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方法。</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p:sp>
        <p:nvSpPr>
          <p:cNvPr id="3" name="文本框 2"/>
          <p:cNvSpPr txBox="1"/>
          <p:nvPr/>
        </p:nvSpPr>
        <p:spPr>
          <a:xfrm>
            <a:off x="711361" y="2122146"/>
            <a:ext cx="3454455" cy="4198201"/>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决策树是一种树状结构，通过做出一系列决策（选择）来对数据进行划分，这类似于针对一系列问题进行选择。</a:t>
            </a:r>
            <a:endPar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lnSpc>
                <a:spcPct val="150000"/>
              </a:lnSpc>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决策树的决策过程就是从根节点开始，测试待分类项中对应的特征属性，并按照其值选择输出分支，直到叶子节点，将叶子节点的存放的类别作为决策结果。</a:t>
            </a:r>
            <a:endPar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决策树原理</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1" name="文本框 50"/>
          <p:cNvSpPr txBox="1"/>
          <p:nvPr/>
        </p:nvSpPr>
        <p:spPr>
          <a:xfrm>
            <a:off x="702344" y="1247932"/>
            <a:ext cx="7739312" cy="1337945"/>
          </a:xfrm>
          <a:prstGeom prst="rect">
            <a:avLst/>
          </a:prstGeom>
          <a:noFill/>
        </p:spPr>
        <p:txBody>
          <a:bodyPr wrap="square">
            <a:spAutoFit/>
          </a:bodyPr>
          <a:lstStyle/>
          <a:p>
            <a:pPr marL="257175" indent="-257175" algn="just">
              <a:lnSpc>
                <a:spcPct val="150000"/>
              </a:lnSpc>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决策树归纳的基本算法是贪心算法，自顶向下来构建决策树。</a:t>
            </a:r>
            <a:endPar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lnSpc>
                <a:spcPct val="150000"/>
              </a:lnSpc>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贪心算法：在每一步选择中都采取在</a:t>
            </a:r>
            <a:r>
              <a:rPr lang="zh-CN" altLang="en-US" sz="1800" b="1"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当前状态下最好</a:t>
            </a:r>
            <a:r>
              <a:rPr lang="en-US" altLang="zh-CN" sz="1800" b="1"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a:t>
            </a:r>
            <a:r>
              <a:rPr lang="zh-CN" altLang="en-US" sz="1800" b="1"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优的选择</a:t>
            </a: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a:t>
            </a:r>
            <a:endPar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lnSpc>
                <a:spcPct val="150000"/>
              </a:lnSpc>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在决策树的生成过程中，分割方法即</a:t>
            </a:r>
            <a:r>
              <a:rPr lang="zh-CN" altLang="en-US" sz="1800"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属性选择的度量</a:t>
            </a: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是关键。</a:t>
            </a:r>
            <a:endParaRPr lang="en-US" altLang="zh-CN" sz="18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sp>
        <p:nvSpPr>
          <p:cNvPr id="57" name="文本框 17"/>
          <p:cNvSpPr txBox="1"/>
          <p:nvPr/>
        </p:nvSpPr>
        <p:spPr>
          <a:xfrm>
            <a:off x="822959" y="2686705"/>
            <a:ext cx="7925505" cy="1633652"/>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r>
              <a:rPr lang="zh-CN" altLang="en-US" sz="1800"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优点</a:t>
            </a: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推理过程容易理解，计算简单，可解释性强。</a:t>
            </a:r>
            <a:endPar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比较适合处理有缺失属性的样本。</a:t>
            </a:r>
            <a:endPar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buFont typeface="Wingdings" panose="05000000000000000000" pitchFamily="2" charset="2"/>
              <a:buChar char="l"/>
            </a:pPr>
            <a:r>
              <a:rPr lang="zh-CN" altLang="en-US" sz="1800" dirty="0">
                <a:solidFill>
                  <a:schemeClr val="tx1">
                    <a:lumMod val="85000"/>
                    <a:lumOff val="15000"/>
                  </a:schemeClr>
                </a:solidFill>
                <a:latin typeface="Times New Roman" panose="02020603050405020304" pitchFamily="18" charset="0"/>
                <a:ea typeface="思源黑体 CN Medium" panose="020B0600000000000000" pitchFamily="34" charset="-122"/>
                <a:cs typeface="Times New Roman" panose="02020603050405020304" pitchFamily="18" charset="0"/>
              </a:rPr>
              <a:t>可自动忽略目标变量没有贡献的属性变量，也为判断属性变量的重要性，减少变量的数目提供参考。</a:t>
            </a:r>
            <a:endParaRPr lang="en-US" altLang="zh-CN" sz="1800" dirty="0">
              <a:solidFill>
                <a:schemeClr val="tx1">
                  <a:lumMod val="85000"/>
                  <a:lumOff val="15000"/>
                </a:schemeClr>
              </a:solidFill>
              <a:latin typeface="Times New Roman" panose="02020603050405020304" pitchFamily="18" charset="0"/>
              <a:ea typeface="思源黑体 CN Medium" panose="020B0600000000000000" pitchFamily="34" charset="-122"/>
            </a:endParaRPr>
          </a:p>
        </p:txBody>
      </p:sp>
      <p:sp>
        <p:nvSpPr>
          <p:cNvPr id="58" name="文本框 17"/>
          <p:cNvSpPr txBox="1"/>
          <p:nvPr/>
        </p:nvSpPr>
        <p:spPr>
          <a:xfrm>
            <a:off x="763326" y="4390885"/>
            <a:ext cx="8129154" cy="1301254"/>
          </a:xfrm>
          <a:prstGeom prst="rect">
            <a:avLst/>
          </a:prstGeom>
        </p:spPr>
        <p:txBody>
          <a:bodyPr vert="horz" wrap="square" lIns="0" tIns="0" rIns="0" bIns="0" anchor="t">
            <a:spAutoFit/>
          </a:bodyPr>
          <a:lstStyle>
            <a:defPPr>
              <a:defRPr lang="zh-CN"/>
            </a:defPPr>
            <a:lvl1pPr>
              <a:lnSpc>
                <a:spcPct val="120000"/>
              </a:lnSpc>
              <a:defRPr sz="2200">
                <a:latin typeface="华文中宋" panose="02010600040101010101" pitchFamily="2" charset="-122"/>
                <a:ea typeface="华文中宋" panose="02010600040101010101" pitchFamily="2" charset="-122"/>
              </a:defRPr>
            </a:lvl1pPr>
          </a:lstStyle>
          <a:p>
            <a:pPr algn="just"/>
            <a:r>
              <a:rPr lang="zh-CN" altLang="en-US" sz="1800" dirty="0">
                <a:solidFill>
                  <a:srgbClr val="FF0000"/>
                </a:solidFill>
                <a:latin typeface="Times New Roman" panose="02020603050405020304" pitchFamily="18" charset="0"/>
                <a:ea typeface="思源黑体 CN Medium" panose="020B0600000000000000" pitchFamily="34" charset="-122"/>
                <a:cs typeface="Times New Roman" panose="02020603050405020304" pitchFamily="18" charset="0"/>
              </a:rPr>
              <a:t>缺点</a:t>
            </a: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a:t>
            </a:r>
            <a:endParaRPr lang="en-US" altLang="zh-CN" sz="18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容易造成过拟合，需要采用剪枝操作。</a:t>
            </a:r>
            <a:endPar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忽略了数据之间的相关性。</a:t>
            </a:r>
            <a:endPar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endParaRPr>
          </a:p>
          <a:p>
            <a:pPr marL="257175" indent="-257175" algn="just">
              <a:buFont typeface="Wingdings" panose="05000000000000000000" pitchFamily="2" charset="2"/>
              <a:buChar char="l"/>
            </a:pPr>
            <a:r>
              <a:rPr lang="zh-CN" altLang="en-US" sz="1800" dirty="0">
                <a:latin typeface="Times New Roman" panose="02020603050405020304" pitchFamily="18" charset="0"/>
                <a:ea typeface="思源黑体 CN Medium" panose="020B0600000000000000" pitchFamily="34" charset="-122"/>
                <a:cs typeface="Times New Roman" panose="02020603050405020304" pitchFamily="18" charset="0"/>
              </a:rPr>
              <a:t>对于各类别样本数量不一致的数据，信息增益会偏向于那些更多数值的特征。</a:t>
            </a:r>
            <a:endParaRPr lang="en-US" altLang="zh-CN" sz="1800" dirty="0">
              <a:latin typeface="Times New Roman" panose="02020603050405020304" pitchFamily="18" charset="0"/>
              <a:ea typeface="思源黑体 CN Medium" panose="020B0600000000000000"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500"/>
                                        <p:tgtEl>
                                          <p:spTgt spid="5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wipe(left)">
                                      <p:cBhvr>
                                        <p:cTn id="1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graphicFrame>
        <p:nvGraphicFramePr>
          <p:cNvPr id="8" name="表格 6"/>
          <p:cNvGraphicFramePr>
            <a:graphicFrameLocks noGrp="1"/>
          </p:cNvGraphicFramePr>
          <p:nvPr/>
        </p:nvGraphicFramePr>
        <p:xfrm>
          <a:off x="805735" y="3210429"/>
          <a:ext cx="7532530" cy="1989452"/>
        </p:xfrm>
        <a:graphic>
          <a:graphicData uri="http://schemas.openxmlformats.org/drawingml/2006/table">
            <a:tbl>
              <a:tblPr firstRow="1" bandRow="1">
                <a:tableStyleId>{21E4AEA4-8DFA-4A89-87EB-49C32662AFE0}</a:tableStyleId>
              </a:tblPr>
              <a:tblGrid>
                <a:gridCol w="656630"/>
                <a:gridCol w="873699"/>
                <a:gridCol w="720433"/>
                <a:gridCol w="1041058"/>
                <a:gridCol w="1021763"/>
                <a:gridCol w="990600"/>
                <a:gridCol w="696652"/>
                <a:gridCol w="1531695"/>
              </a:tblGrid>
              <a:tr h="584530">
                <a:tc>
                  <a:txBody>
                    <a:bodyPr/>
                    <a:lstStyle/>
                    <a:p>
                      <a:pPr algn="ctr"/>
                      <a:r>
                        <a:rPr lang="zh-CN" altLang="en-US" sz="1300" dirty="0">
                          <a:latin typeface="+mj-ea"/>
                          <a:ea typeface="+mj-ea"/>
                        </a:rPr>
                        <a:t>算法</a:t>
                      </a:r>
                      <a:endParaRPr lang="zh-CN" altLang="en-US" sz="1300" dirty="0">
                        <a:latin typeface="+mj-ea"/>
                        <a:ea typeface="+mj-ea"/>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300" dirty="0">
                          <a:latin typeface="+mj-ea"/>
                          <a:ea typeface="+mj-ea"/>
                        </a:rPr>
                        <a:t>支持模型</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树结构</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特征选择</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连续值处理</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缺失值处理</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剪枝</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特征属性多次使用</a:t>
                      </a:r>
                      <a:endParaRPr lang="zh-CN" altLang="en-US" sz="1300" dirty="0">
                        <a:latin typeface="+mj-ea"/>
                        <a:ea typeface="+mj-ea"/>
                      </a:endParaRPr>
                    </a:p>
                  </a:txBody>
                  <a:tcPr marL="68580" marR="68580" marT="34290" marB="34290" anchor="ctr"/>
                </a:tc>
              </a:tr>
              <a:tr h="410196">
                <a:tc>
                  <a:txBody>
                    <a:bodyPr/>
                    <a:lstStyle/>
                    <a:p>
                      <a:pPr algn="ctr"/>
                      <a:r>
                        <a:rPr lang="en-US" altLang="zh-CN" sz="1300" dirty="0">
                          <a:latin typeface="+mj-ea"/>
                          <a:ea typeface="+mj-ea"/>
                        </a:rPr>
                        <a:t>ID3</a:t>
                      </a:r>
                      <a:endParaRPr lang="zh-CN" altLang="en-US" sz="1300" dirty="0">
                        <a:latin typeface="+mj-ea"/>
                        <a:ea typeface="+mj-ea"/>
                        <a:cs typeface="Times New Roman" panose="02020603050405020304" pitchFamily="18" charset="0"/>
                      </a:endParaRPr>
                    </a:p>
                  </a:txBody>
                  <a:tcPr marL="68580" marR="68580" marT="34290" marB="34290" anchor="ctr"/>
                </a:tc>
                <a:tc>
                  <a:txBody>
                    <a:bodyPr/>
                    <a:lstStyle/>
                    <a:p>
                      <a:pPr algn="ctr"/>
                      <a:r>
                        <a:rPr lang="zh-CN" altLang="en-US" sz="1300" dirty="0">
                          <a:latin typeface="+mj-ea"/>
                          <a:ea typeface="+mj-ea"/>
                        </a:rPr>
                        <a:t>分类</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多叉树</a:t>
                      </a:r>
                      <a:endParaRPr lang="zh-CN" altLang="en-US" sz="1300" dirty="0">
                        <a:latin typeface="+mj-ea"/>
                        <a:ea typeface="+mj-ea"/>
                      </a:endParaRPr>
                    </a:p>
                  </a:txBody>
                  <a:tcPr marL="68580" marR="68580" marT="34290" marB="34290" anchor="ctr"/>
                </a:tc>
                <a:tc>
                  <a:txBody>
                    <a:bodyPr/>
                    <a:lstStyle/>
                    <a:p>
                      <a:pPr algn="ctr"/>
                      <a:r>
                        <a:rPr lang="zh-CN" altLang="en-US" sz="1300" dirty="0">
                          <a:solidFill>
                            <a:srgbClr val="FF0000"/>
                          </a:solidFill>
                          <a:latin typeface="+mj-ea"/>
                          <a:ea typeface="+mj-ea"/>
                        </a:rPr>
                        <a:t>信息增益</a:t>
                      </a:r>
                      <a:endParaRPr lang="zh-CN" altLang="en-US" sz="1300" dirty="0">
                        <a:solidFill>
                          <a:srgbClr val="FF0000"/>
                        </a:solidFill>
                        <a:latin typeface="+mj-ea"/>
                        <a:ea typeface="+mj-ea"/>
                      </a:endParaRPr>
                    </a:p>
                  </a:txBody>
                  <a:tcPr marL="68580" marR="68580" marT="34290" marB="34290" anchor="ctr"/>
                </a:tc>
                <a:tc>
                  <a:txBody>
                    <a:bodyPr/>
                    <a:lstStyle/>
                    <a:p>
                      <a:pPr algn="ctr"/>
                      <a:r>
                        <a:rPr lang="zh-CN" altLang="en-US" sz="1300" dirty="0">
                          <a:latin typeface="+mj-ea"/>
                          <a:ea typeface="+mj-ea"/>
                        </a:rPr>
                        <a:t>不支持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不支持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不支持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不支持</a:t>
                      </a:r>
                      <a:endParaRPr lang="zh-CN" altLang="en-US" sz="1300" dirty="0">
                        <a:latin typeface="+mj-ea"/>
                        <a:ea typeface="+mj-ea"/>
                      </a:endParaRPr>
                    </a:p>
                  </a:txBody>
                  <a:tcPr marL="68580" marR="68580" marT="34290" marB="34290" anchor="ctr"/>
                </a:tc>
              </a:tr>
              <a:tr h="410196">
                <a:tc>
                  <a:txBody>
                    <a:bodyPr/>
                    <a:lstStyle/>
                    <a:p>
                      <a:pPr algn="ctr"/>
                      <a:r>
                        <a:rPr lang="en-US" altLang="zh-CN" sz="1300" dirty="0">
                          <a:latin typeface="+mj-ea"/>
                          <a:ea typeface="+mj-ea"/>
                        </a:rPr>
                        <a:t>C4.5</a:t>
                      </a:r>
                      <a:endParaRPr lang="zh-CN" altLang="en-US" sz="1300" dirty="0">
                        <a:latin typeface="+mj-ea"/>
                        <a:ea typeface="+mj-ea"/>
                        <a:cs typeface="Times New Roman" panose="02020603050405020304" pitchFamily="18" charset="0"/>
                      </a:endParaRPr>
                    </a:p>
                  </a:txBody>
                  <a:tcPr marL="68580" marR="68580" marT="34290" marB="34290" anchor="ctr"/>
                </a:tc>
                <a:tc>
                  <a:txBody>
                    <a:bodyPr/>
                    <a:lstStyle/>
                    <a:p>
                      <a:pPr algn="ctr"/>
                      <a:r>
                        <a:rPr lang="zh-CN" altLang="en-US" sz="1300" dirty="0">
                          <a:latin typeface="+mj-ea"/>
                          <a:ea typeface="+mj-ea"/>
                        </a:rPr>
                        <a:t>分类</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多叉树</a:t>
                      </a:r>
                      <a:endParaRPr lang="zh-CN" altLang="en-US" sz="1300" dirty="0">
                        <a:latin typeface="+mj-ea"/>
                        <a:ea typeface="+mj-ea"/>
                      </a:endParaRPr>
                    </a:p>
                  </a:txBody>
                  <a:tcPr marL="68580" marR="68580" marT="34290" marB="34290" anchor="ctr"/>
                </a:tc>
                <a:tc>
                  <a:txBody>
                    <a:bodyPr/>
                    <a:lstStyle/>
                    <a:p>
                      <a:pPr algn="ctr"/>
                      <a:r>
                        <a:rPr lang="zh-CN" altLang="en-US" sz="1300" dirty="0">
                          <a:solidFill>
                            <a:srgbClr val="FF0000"/>
                          </a:solidFill>
                          <a:latin typeface="+mj-ea"/>
                          <a:ea typeface="+mj-ea"/>
                        </a:rPr>
                        <a:t>信息增益率</a:t>
                      </a:r>
                      <a:endParaRPr lang="zh-CN" altLang="en-US" sz="1300" dirty="0">
                        <a:solidFill>
                          <a:srgbClr val="FF0000"/>
                        </a:solidFill>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不支持</a:t>
                      </a:r>
                      <a:endParaRPr lang="zh-CN" altLang="en-US" sz="1300" dirty="0">
                        <a:latin typeface="+mj-ea"/>
                        <a:ea typeface="+mj-ea"/>
                      </a:endParaRPr>
                    </a:p>
                  </a:txBody>
                  <a:tcPr marL="68580" marR="68580" marT="34290" marB="34290" anchor="ctr"/>
                </a:tc>
              </a:tr>
              <a:tr h="584530">
                <a:tc>
                  <a:txBody>
                    <a:bodyPr/>
                    <a:lstStyle/>
                    <a:p>
                      <a:pPr algn="ctr"/>
                      <a:r>
                        <a:rPr lang="en-US" altLang="zh-CN" sz="1300" dirty="0">
                          <a:latin typeface="+mj-ea"/>
                          <a:ea typeface="+mj-ea"/>
                        </a:rPr>
                        <a:t>CART</a:t>
                      </a:r>
                      <a:endParaRPr lang="zh-CN" altLang="en-US" sz="1300" dirty="0">
                        <a:latin typeface="+mj-ea"/>
                        <a:ea typeface="+mj-ea"/>
                        <a:cs typeface="Times New Roman" panose="02020603050405020304" pitchFamily="18" charset="0"/>
                      </a:endParaRPr>
                    </a:p>
                  </a:txBody>
                  <a:tcPr marL="68580" marR="68580" marT="34290" marB="34290" anchor="ctr"/>
                </a:tc>
                <a:tc>
                  <a:txBody>
                    <a:bodyPr/>
                    <a:lstStyle/>
                    <a:p>
                      <a:pPr algn="ctr"/>
                      <a:r>
                        <a:rPr lang="zh-CN" altLang="en-US" sz="1300" dirty="0">
                          <a:latin typeface="+mj-ea"/>
                          <a:ea typeface="+mj-ea"/>
                        </a:rPr>
                        <a:t>分类</a:t>
                      </a:r>
                      <a:endParaRPr lang="en-US" altLang="zh-CN" sz="1300" dirty="0">
                        <a:latin typeface="+mj-ea"/>
                        <a:ea typeface="+mj-ea"/>
                      </a:endParaRPr>
                    </a:p>
                    <a:p>
                      <a:pPr algn="ctr"/>
                      <a:r>
                        <a:rPr lang="zh-CN" altLang="en-US" sz="1300" dirty="0">
                          <a:latin typeface="+mj-ea"/>
                          <a:ea typeface="+mj-ea"/>
                        </a:rPr>
                        <a:t>回归</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二叉树</a:t>
                      </a:r>
                      <a:endParaRPr lang="zh-CN" altLang="en-US" sz="1300" dirty="0">
                        <a:latin typeface="+mj-ea"/>
                        <a:ea typeface="+mj-ea"/>
                      </a:endParaRPr>
                    </a:p>
                  </a:txBody>
                  <a:tcPr marL="68580" marR="68580" marT="34290" marB="34290" anchor="ctr"/>
                </a:tc>
                <a:tc>
                  <a:txBody>
                    <a:bodyPr/>
                    <a:lstStyle/>
                    <a:p>
                      <a:pPr algn="ctr"/>
                      <a:r>
                        <a:rPr lang="zh-CN" altLang="en-US" sz="1300" dirty="0">
                          <a:solidFill>
                            <a:srgbClr val="FF0000"/>
                          </a:solidFill>
                          <a:latin typeface="+mj-ea"/>
                          <a:ea typeface="+mj-ea"/>
                        </a:rPr>
                        <a:t>基尼指数</a:t>
                      </a:r>
                      <a:endParaRPr lang="en-US" altLang="zh-CN" sz="1300" dirty="0">
                        <a:solidFill>
                          <a:srgbClr val="FF0000"/>
                        </a:solidFill>
                        <a:latin typeface="+mj-ea"/>
                        <a:ea typeface="+mj-ea"/>
                      </a:endParaRPr>
                    </a:p>
                    <a:p>
                      <a:pPr algn="ctr"/>
                      <a:r>
                        <a:rPr lang="zh-CN" altLang="en-US" sz="1300" dirty="0">
                          <a:solidFill>
                            <a:srgbClr val="FF0000"/>
                          </a:solidFill>
                          <a:latin typeface="+mj-ea"/>
                          <a:ea typeface="+mj-ea"/>
                        </a:rPr>
                        <a:t>均方差</a:t>
                      </a:r>
                      <a:endParaRPr lang="zh-CN" altLang="en-US" sz="1300" dirty="0">
                        <a:solidFill>
                          <a:srgbClr val="FF0000"/>
                        </a:solidFill>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c>
                  <a:txBody>
                    <a:bodyPr/>
                    <a:lstStyle/>
                    <a:p>
                      <a:pPr algn="ctr"/>
                      <a:r>
                        <a:rPr lang="zh-CN" altLang="en-US" sz="1300" dirty="0">
                          <a:latin typeface="+mj-ea"/>
                          <a:ea typeface="+mj-ea"/>
                        </a:rPr>
                        <a:t>支持</a:t>
                      </a:r>
                      <a:endParaRPr lang="zh-CN" altLang="en-US" sz="1300" dirty="0">
                        <a:latin typeface="+mj-ea"/>
                        <a:ea typeface="+mj-ea"/>
                      </a:endParaRPr>
                    </a:p>
                  </a:txBody>
                  <a:tcPr marL="68580" marR="68580" marT="34290" marB="34290" anchor="ctr"/>
                </a:tc>
              </a:tr>
            </a:tbl>
          </a:graphicData>
        </a:graphic>
      </p:graphicFrame>
      <p:sp>
        <p:nvSpPr>
          <p:cNvPr id="9" name="文本框 8"/>
          <p:cNvSpPr txBox="1"/>
          <p:nvPr/>
        </p:nvSpPr>
        <p:spPr>
          <a:xfrm>
            <a:off x="720587" y="1340768"/>
            <a:ext cx="7702826" cy="1689373"/>
          </a:xfrm>
          <a:prstGeom prst="rect">
            <a:avLst/>
          </a:prstGeom>
          <a:noFill/>
        </p:spPr>
        <p:txBody>
          <a:bodyPr wrap="square">
            <a:spAutoFit/>
          </a:bodyPr>
          <a:lstStyle/>
          <a:p>
            <a:pPr algn="just">
              <a:lnSpc>
                <a:spcPct val="150000"/>
              </a:lnSpc>
            </a:pPr>
            <a:r>
              <a:rPr lang="zh-CN" altLang="zh-CN" sz="1800" kern="100" dirty="0">
                <a:latin typeface="+mn-ea"/>
                <a:ea typeface="+mn-ea"/>
              </a:rPr>
              <a:t>建立决策树的关键，即在当前状态下</a:t>
            </a:r>
            <a:r>
              <a:rPr lang="zh-CN" altLang="zh-CN" sz="1800" kern="100" dirty="0">
                <a:solidFill>
                  <a:srgbClr val="FF0000"/>
                </a:solidFill>
                <a:latin typeface="+mn-ea"/>
                <a:ea typeface="+mn-ea"/>
              </a:rPr>
              <a:t>选择哪个属性</a:t>
            </a:r>
            <a:r>
              <a:rPr lang="zh-CN" altLang="zh-CN" sz="1800" kern="100" dirty="0">
                <a:latin typeface="+mn-ea"/>
                <a:ea typeface="+mn-ea"/>
              </a:rPr>
              <a:t>作为分类依据</a:t>
            </a:r>
            <a:r>
              <a:rPr lang="en-US" altLang="zh-CN" sz="1800" kern="100" dirty="0">
                <a:latin typeface="+mn-ea"/>
                <a:ea typeface="+mn-ea"/>
              </a:rPr>
              <a:t>,</a:t>
            </a:r>
            <a:r>
              <a:rPr lang="zh-CN" altLang="en-US" sz="1800" dirty="0">
                <a:solidFill>
                  <a:srgbClr val="000000"/>
                </a:solidFill>
                <a:latin typeface="+mn-ea"/>
                <a:ea typeface="+mn-ea"/>
              </a:rPr>
              <a:t>要求每个分支中样本的类别纯度尽可能高，而且不要产生样本数量太少的分支</a:t>
            </a:r>
            <a:r>
              <a:rPr lang="zh-CN" altLang="zh-CN" sz="1800" kern="100" dirty="0">
                <a:latin typeface="+mn-ea"/>
                <a:ea typeface="+mn-ea"/>
              </a:rPr>
              <a:t>。根据不同的目标函数，建立决策树主要有</a:t>
            </a:r>
            <a:r>
              <a:rPr lang="zh-CN" altLang="en-US" sz="1800" kern="100" dirty="0">
                <a:latin typeface="+mn-ea"/>
                <a:ea typeface="+mn-ea"/>
              </a:rPr>
              <a:t>以下</a:t>
            </a:r>
            <a:r>
              <a:rPr lang="zh-CN" altLang="zh-CN" sz="1800" kern="100" dirty="0">
                <a:latin typeface="+mn-ea"/>
                <a:ea typeface="+mn-ea"/>
              </a:rPr>
              <a:t>三种算法：</a:t>
            </a:r>
            <a:r>
              <a:rPr lang="en-US" altLang="zh-CN" sz="1800" kern="100" dirty="0">
                <a:latin typeface="+mn-ea"/>
                <a:ea typeface="+mn-ea"/>
              </a:rPr>
              <a:t> ID3(Iterative </a:t>
            </a:r>
            <a:r>
              <a:rPr lang="en-US" altLang="zh-CN" sz="1800" kern="100" dirty="0" err="1">
                <a:latin typeface="+mn-ea"/>
                <a:ea typeface="+mn-ea"/>
              </a:rPr>
              <a:t>Dichotomiser</a:t>
            </a:r>
            <a:r>
              <a:rPr lang="en-US" altLang="zh-CN" sz="1800" kern="100" dirty="0">
                <a:latin typeface="+mn-ea"/>
                <a:ea typeface="+mn-ea"/>
              </a:rPr>
              <a:t>)</a:t>
            </a:r>
            <a:r>
              <a:rPr lang="zh-CN" altLang="zh-CN" sz="1800" kern="100" dirty="0">
                <a:latin typeface="+mn-ea"/>
                <a:ea typeface="+mn-ea"/>
              </a:rPr>
              <a:t>、</a:t>
            </a:r>
            <a:r>
              <a:rPr lang="en-US" altLang="zh-CN" sz="1800" kern="100" dirty="0">
                <a:latin typeface="+mn-ea"/>
                <a:ea typeface="+mn-ea"/>
              </a:rPr>
              <a:t>C4.5</a:t>
            </a:r>
            <a:r>
              <a:rPr lang="zh-CN" altLang="zh-CN" sz="1800" kern="100" dirty="0">
                <a:latin typeface="+mn-ea"/>
                <a:ea typeface="+mn-ea"/>
              </a:rPr>
              <a:t>、</a:t>
            </a:r>
            <a:r>
              <a:rPr lang="en-US" altLang="zh-CN" sz="1800" kern="100" dirty="0">
                <a:latin typeface="+mn-ea"/>
                <a:ea typeface="+mn-ea"/>
              </a:rPr>
              <a:t>CART(Classification And Regression Tree)</a:t>
            </a:r>
            <a:r>
              <a:rPr lang="zh-CN" altLang="zh-CN" sz="1800" kern="100" dirty="0">
                <a:latin typeface="+mn-ea"/>
                <a:ea typeface="+mn-ea"/>
              </a:rPr>
              <a:t>。</a:t>
            </a:r>
            <a:endParaRPr lang="zh-CN" altLang="zh-CN" sz="1800" kern="100" dirty="0">
              <a:latin typeface="+mn-ea"/>
              <a:ea typeface="+mn-ea"/>
            </a:endParaRPr>
          </a:p>
        </p:txBody>
      </p:sp>
      <p:sp>
        <p:nvSpPr>
          <p:cNvPr id="13"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决策树原理</a:t>
            </a:r>
            <a:endParaRPr lang="zh-CN" altLang="en-US" spc="-100" dirty="0">
              <a:solidFill>
                <a:srgbClr val="D2533C"/>
              </a:solidFill>
              <a:latin typeface="Arial" panose="020B0604020202020204"/>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ID3</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7" name="矩形 3"/>
              <p:cNvSpPr>
                <a:spLocks noChangeArrowheads="1"/>
              </p:cNvSpPr>
              <p:nvPr/>
            </p:nvSpPr>
            <p:spPr bwMode="auto">
              <a:xfrm>
                <a:off x="488474" y="1447400"/>
                <a:ext cx="832104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ID3</a:t>
                </a:r>
                <a:r>
                  <a:rPr lang="zh-CN" altLang="en-US" sz="2000" dirty="0">
                    <a:solidFill>
                      <a:srgbClr val="000000"/>
                    </a:solidFill>
                  </a:rPr>
                  <a:t>算法是在每个结点处选取能获得最高信息增益的分支属性进行分裂</a:t>
                </a:r>
                <a:endParaRPr lang="en-US" altLang="zh-CN" sz="2000" dirty="0">
                  <a:solidFill>
                    <a:srgbClr val="000000"/>
                  </a:solidFill>
                </a:endParaRPr>
              </a:p>
              <a:p>
                <a:r>
                  <a:rPr lang="zh-CN" altLang="en-US" sz="2000" dirty="0">
                    <a:solidFill>
                      <a:srgbClr val="000000"/>
                    </a:solidFill>
                  </a:rPr>
                  <a:t>在每个决策结点处划分分支、选取分支属性的目的是将整个决策树的样本纯度提升</a:t>
                </a:r>
                <a:endParaRPr lang="en-US" altLang="zh-CN" sz="2000" dirty="0">
                  <a:solidFill>
                    <a:srgbClr val="000000"/>
                  </a:solidFill>
                </a:endParaRPr>
              </a:p>
              <a:p>
                <a:r>
                  <a:rPr lang="zh-CN" altLang="en-US" sz="2000" dirty="0">
                    <a:solidFill>
                      <a:srgbClr val="000000"/>
                    </a:solidFill>
                  </a:rPr>
                  <a:t>衡量样本集合纯度的指标则是熵</a:t>
                </a:r>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r>
                  <a:rPr lang="zh-CN" altLang="en-US" sz="2000" dirty="0">
                    <a:solidFill>
                      <a:srgbClr val="000000"/>
                    </a:solidFill>
                  </a:rPr>
                  <a:t>举例来说，如果有一个大小为</a:t>
                </a:r>
                <a:r>
                  <a:rPr lang="en-US" altLang="zh-CN" sz="2000" dirty="0">
                    <a:solidFill>
                      <a:srgbClr val="000000"/>
                    </a:solidFill>
                  </a:rPr>
                  <a:t>10</a:t>
                </a:r>
                <a:r>
                  <a:rPr lang="zh-CN" altLang="en-US" sz="2000" dirty="0">
                    <a:solidFill>
                      <a:srgbClr val="000000"/>
                    </a:solidFill>
                  </a:rPr>
                  <a:t>的布尔值样本集</a:t>
                </a:r>
                <a14:m>
                  <m:oMath xmlns:m="http://schemas.openxmlformats.org/officeDocument/2006/math">
                    <m:sSub>
                      <m:sSubPr>
                        <m:ctrlPr>
                          <a:rPr lang="zh-CN" altLang="en-US" sz="2000" i="1">
                            <a:latin typeface="Cambria Math" panose="02040503050406030204" pitchFamily="18" charset="0"/>
                          </a:rPr>
                        </m:ctrlPr>
                      </m:sSubPr>
                      <m:e>
                        <m:r>
                          <m:rPr>
                            <m:sty m:val="p"/>
                          </m:rPr>
                          <a:rPr lang="zh-CN" altLang="en-US" sz="2000">
                            <a:latin typeface="Cambria Math" panose="02040503050406030204" pitchFamily="18" charset="0"/>
                          </a:rPr>
                          <m:t>S</m:t>
                        </m:r>
                      </m:e>
                      <m:sub>
                        <m:r>
                          <a:rPr lang="zh-CN" altLang="en-US" sz="2000" i="1">
                            <a:latin typeface="Cambria Math" panose="02040503050406030204" pitchFamily="18" charset="0"/>
                          </a:rPr>
                          <m:t>𝑏</m:t>
                        </m:r>
                      </m:sub>
                    </m:sSub>
                  </m:oMath>
                </a14:m>
                <a:r>
                  <a:rPr lang="zh-CN" altLang="en-US" sz="2000" dirty="0">
                    <a:solidFill>
                      <a:srgbClr val="000000"/>
                    </a:solidFill>
                  </a:rPr>
                  <a:t>，其中有</a:t>
                </a:r>
                <a:r>
                  <a:rPr lang="en-US" altLang="zh-CN" sz="2000" dirty="0">
                    <a:solidFill>
                      <a:srgbClr val="000000"/>
                    </a:solidFill>
                  </a:rPr>
                  <a:t>6</a:t>
                </a:r>
                <a:r>
                  <a:rPr lang="zh-CN" altLang="en-US" sz="2000" dirty="0">
                    <a:solidFill>
                      <a:srgbClr val="000000"/>
                    </a:solidFill>
                  </a:rPr>
                  <a:t>个真值、</a:t>
                </a:r>
                <a:r>
                  <a:rPr lang="en-US" altLang="zh-CN" sz="2000" dirty="0">
                    <a:solidFill>
                      <a:srgbClr val="000000"/>
                    </a:solidFill>
                  </a:rPr>
                  <a:t>4</a:t>
                </a:r>
                <a:r>
                  <a:rPr lang="zh-CN" altLang="en-US" sz="2000" dirty="0">
                    <a:solidFill>
                      <a:srgbClr val="000000"/>
                    </a:solidFill>
                  </a:rPr>
                  <a:t>个假值，那么该布尔型样本分类的熵为：</a:t>
                </a:r>
                <a:endParaRPr lang="zh-CN" altLang="en-US" sz="2000" dirty="0">
                  <a:solidFill>
                    <a:srgbClr val="000000"/>
                  </a:solidFill>
                </a:endParaRPr>
              </a:p>
            </p:txBody>
          </p:sp>
        </mc:Choice>
        <mc:Fallback>
          <p:sp>
            <p:nvSpPr>
              <p:cNvPr id="17" name="矩形 3"/>
              <p:cNvSpPr>
                <a:spLocks noRot="1" noChangeAspect="1" noMove="1" noResize="1" noEditPoints="1" noAdjustHandles="1" noChangeArrowheads="1" noChangeShapeType="1" noTextEdit="1"/>
              </p:cNvSpPr>
              <p:nvPr/>
            </p:nvSpPr>
            <p:spPr bwMode="auto">
              <a:xfrm>
                <a:off x="488474" y="1447400"/>
                <a:ext cx="8321040" cy="3231654"/>
              </a:xfrm>
              <a:prstGeom prst="rect">
                <a:avLst/>
              </a:prstGeom>
              <a:blipFill rotWithShape="1">
                <a:blip r:embed="rId1"/>
                <a:stretch>
                  <a:fillRect l="-2" t="-7" r="2" b="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2005688" y="2939899"/>
                <a:ext cx="5132624" cy="71487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𝐸𝑛𝑡𝑟𝑜𝑝𝑦</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𝑆</m:t>
                          </m:r>
                        </m:e>
                      </m:d>
                      <m:r>
                        <a:rPr lang="zh-CN" altLang="en-US" sz="2000" i="0">
                          <a:latin typeface="Cambria Math" panose="02040503050406030204" pitchFamily="18" charset="0"/>
                        </a:rPr>
                        <m:t>=−</m:t>
                      </m:r>
                      <m:nary>
                        <m:naryPr>
                          <m:chr m:val="∑"/>
                          <m:limLoc m:val="subSup"/>
                          <m:ctrlPr>
                            <a:rPr lang="zh-CN" altLang="en-US" sz="2000" i="1">
                              <a:latin typeface="Cambria Math" panose="02040503050406030204" pitchFamily="18" charset="0"/>
                            </a:rPr>
                          </m:ctrlPr>
                        </m:naryPr>
                        <m:sub>
                          <m:r>
                            <m:rPr>
                              <m:sty m:val="p"/>
                            </m:rPr>
                            <a:rPr lang="zh-CN" altLang="en-US" sz="2000" i="0">
                              <a:latin typeface="Cambria Math" panose="02040503050406030204" pitchFamily="18" charset="0"/>
                            </a:rPr>
                            <m:t>i</m:t>
                          </m:r>
                          <m:r>
                            <a:rPr lang="zh-CN" altLang="en-US" sz="2000" i="0">
                              <a:latin typeface="Cambria Math" panose="02040503050406030204" pitchFamily="18" charset="0"/>
                            </a:rPr>
                            <m:t>=</m:t>
                          </m:r>
                          <m:r>
                            <a:rPr lang="zh-CN" altLang="en-US" sz="2000" i="0">
                              <a:latin typeface="Cambria Math" panose="02040503050406030204" pitchFamily="18" charset="0"/>
                            </a:rPr>
                            <m:t>1</m:t>
                          </m:r>
                        </m:sub>
                        <m:sup>
                          <m:r>
                            <m:rPr>
                              <m:sty m:val="p"/>
                            </m:rPr>
                            <a:rPr lang="zh-CN" altLang="en-US" sz="2000" i="0">
                              <a:latin typeface="Cambria Math" panose="02040503050406030204" pitchFamily="18" charset="0"/>
                            </a:rPr>
                            <m:t>m</m:t>
                          </m:r>
                        </m:sup>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𝑝</m:t>
                              </m:r>
                            </m:e>
                            <m:sub>
                              <m:r>
                                <a:rPr lang="zh-CN" altLang="en-US" sz="2000" i="1">
                                  <a:latin typeface="Cambria Math" panose="02040503050406030204" pitchFamily="18" charset="0"/>
                                </a:rPr>
                                <m:t>𝑖</m:t>
                              </m:r>
                            </m:sub>
                          </m:sSub>
                          <m:sSubSup>
                            <m:sSubSupPr>
                              <m:ctrlPr>
                                <a:rPr lang="zh-CN" altLang="en-US" sz="2000" i="1">
                                  <a:latin typeface="Cambria Math" panose="02040503050406030204" pitchFamily="18" charset="0"/>
                                </a:rPr>
                              </m:ctrlPr>
                            </m:sSubSupPr>
                            <m:e>
                              <m:r>
                                <a:rPr lang="zh-CN" altLang="en-US" sz="2000" i="1">
                                  <a:latin typeface="Cambria Math" panose="02040503050406030204" pitchFamily="18" charset="0"/>
                                </a:rPr>
                                <m:t>𝑙𝑜𝑔</m:t>
                              </m:r>
                            </m:e>
                            <m:sub>
                              <m:r>
                                <a:rPr lang="zh-CN" altLang="en-US" sz="2000" i="0">
                                  <a:latin typeface="Cambria Math" panose="02040503050406030204" pitchFamily="18" charset="0"/>
                                </a:rPr>
                                <m:t>2</m:t>
                              </m:r>
                            </m:sub>
                            <m:sup/>
                          </m:sSubSup>
                        </m:e>
                      </m:nary>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𝑝</m:t>
                              </m:r>
                            </m:e>
                            <m:sub>
                              <m:r>
                                <a:rPr lang="zh-CN" altLang="en-US" sz="2000" i="1">
                                  <a:latin typeface="Cambria Math" panose="02040503050406030204" pitchFamily="18" charset="0"/>
                                </a:rPr>
                                <m:t>𝑖</m:t>
                              </m:r>
                            </m:sub>
                          </m:sSub>
                        </m:e>
                      </m:d>
                      <m:r>
                        <a:rPr lang="zh-CN" altLang="en-US" sz="2000" i="0">
                          <a:latin typeface="Cambria Math" panose="02040503050406030204" pitchFamily="18" charset="0"/>
                        </a:rPr>
                        <m:t> , </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𝑝</m:t>
                          </m:r>
                        </m:e>
                        <m:sub>
                          <m:r>
                            <a:rPr lang="zh-CN" altLang="en-US" sz="2000" i="1">
                              <a:latin typeface="Cambria Math" panose="02040503050406030204" pitchFamily="18" charset="0"/>
                            </a:rPr>
                            <m:t>𝑖</m:t>
                          </m:r>
                        </m:sub>
                      </m:sSub>
                      <m:r>
                        <a:rPr lang="zh-CN" altLang="en-US" sz="2000" i="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𝐶</m:t>
                              </m:r>
                            </m:e>
                            <m:sub>
                              <m:r>
                                <a:rPr lang="zh-CN" altLang="en-US" sz="2000" i="1">
                                  <a:latin typeface="Cambria Math" panose="02040503050406030204" pitchFamily="18" charset="0"/>
                                </a:rPr>
                                <m:t>𝑖</m:t>
                              </m:r>
                            </m:sub>
                          </m:sSub>
                          <m:r>
                            <a:rPr lang="zh-CN" altLang="en-US" sz="2000" i="0">
                              <a:latin typeface="Cambria Math" panose="02040503050406030204" pitchFamily="18" charset="0"/>
                            </a:rPr>
                            <m:t>|</m:t>
                          </m:r>
                        </m:num>
                        <m:den>
                          <m:r>
                            <a:rPr lang="zh-CN" altLang="en-US" sz="2000" i="1">
                              <a:latin typeface="Cambria Math" panose="02040503050406030204" pitchFamily="18" charset="0"/>
                            </a:rPr>
                            <m:t>𝑛</m:t>
                          </m:r>
                        </m:den>
                      </m:f>
                    </m:oMath>
                  </m:oMathPara>
                </a14:m>
                <a:endParaRPr lang="zh-CN" altLang="en-US" sz="2000" dirty="0"/>
              </a:p>
            </p:txBody>
          </p:sp>
        </mc:Choice>
        <mc:Fallback>
          <p:sp>
            <p:nvSpPr>
              <p:cNvPr id="18" name="矩形 17"/>
              <p:cNvSpPr>
                <a:spLocks noRot="1" noChangeAspect="1" noMove="1" noResize="1" noEditPoints="1" noAdjustHandles="1" noChangeArrowheads="1" noChangeShapeType="1" noTextEdit="1"/>
              </p:cNvSpPr>
              <p:nvPr/>
            </p:nvSpPr>
            <p:spPr>
              <a:xfrm>
                <a:off x="2005688" y="2939899"/>
                <a:ext cx="5132624" cy="714876"/>
              </a:xfrm>
              <a:prstGeom prst="rect">
                <a:avLst/>
              </a:prstGeom>
              <a:blipFill rotWithShape="1">
                <a:blip r:embed="rId2"/>
                <a:stretch>
                  <a:fillRect l="-7" t="-68" r="5"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831644" y="4867718"/>
                <a:ext cx="7119662" cy="783869"/>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𝐸𝑛𝑡𝑟𝑜𝑝𝑦</m:t>
                      </m:r>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m:rPr>
                                  <m:sty m:val="p"/>
                                </m:rPr>
                                <a:rPr lang="zh-CN" altLang="en-US" sz="2000" i="0">
                                  <a:latin typeface="Cambria Math" panose="02040503050406030204" pitchFamily="18" charset="0"/>
                                </a:rPr>
                                <m:t>S</m:t>
                              </m:r>
                            </m:e>
                            <m:sub>
                              <m:r>
                                <a:rPr lang="zh-CN" altLang="en-US" sz="2000" i="1">
                                  <a:latin typeface="Cambria Math" panose="02040503050406030204" pitchFamily="18" charset="0"/>
                                </a:rPr>
                                <m:t>𝑏</m:t>
                              </m:r>
                            </m:sub>
                          </m:sSub>
                        </m:e>
                      </m:d>
                      <m:r>
                        <a:rPr lang="zh-CN" altLang="en-US" sz="2000" i="0">
                          <a:latin typeface="Cambria Math" panose="02040503050406030204" pitchFamily="18" charset="0"/>
                        </a:rPr>
                        <m:t>=−</m:t>
                      </m:r>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0">
                                  <a:latin typeface="Cambria Math" panose="02040503050406030204" pitchFamily="18" charset="0"/>
                                </a:rPr>
                                <m:t>6</m:t>
                              </m:r>
                            </m:num>
                            <m:den>
                              <m:r>
                                <a:rPr lang="zh-CN" altLang="en-US" sz="2000" i="0">
                                  <a:latin typeface="Cambria Math" panose="02040503050406030204" pitchFamily="18" charset="0"/>
                                </a:rPr>
                                <m:t>10</m:t>
                              </m:r>
                            </m:den>
                          </m:f>
                        </m:e>
                      </m:d>
                      <m:sSub>
                        <m:sSubPr>
                          <m:ctrlPr>
                            <a:rPr lang="zh-CN" altLang="en-US" sz="2000" i="1">
                              <a:latin typeface="Cambria Math" panose="02040503050406030204" pitchFamily="18" charset="0"/>
                            </a:rPr>
                          </m:ctrlPr>
                        </m:sSubPr>
                        <m:e>
                          <m:r>
                            <m:rPr>
                              <m:sty m:val="p"/>
                            </m:rPr>
                            <a:rPr lang="zh-CN" altLang="en-US" sz="2000" i="0">
                              <a:latin typeface="Cambria Math" panose="02040503050406030204" pitchFamily="18" charset="0"/>
                            </a:rPr>
                            <m:t>log</m:t>
                          </m:r>
                        </m:e>
                        <m:sub>
                          <m:r>
                            <a:rPr lang="zh-CN" altLang="en-US" sz="2000" i="0">
                              <a:latin typeface="Cambria Math" panose="02040503050406030204" pitchFamily="18" charset="0"/>
                            </a:rPr>
                            <m:t>2</m:t>
                          </m:r>
                        </m:sub>
                      </m:sSub>
                      <m:f>
                        <m:fPr>
                          <m:ctrlPr>
                            <a:rPr lang="zh-CN" altLang="en-US" sz="2000" i="1">
                              <a:latin typeface="Cambria Math" panose="02040503050406030204" pitchFamily="18" charset="0"/>
                            </a:rPr>
                          </m:ctrlPr>
                        </m:fPr>
                        <m:num>
                          <m:r>
                            <a:rPr lang="zh-CN" altLang="en-US" sz="2000" i="0">
                              <a:latin typeface="Cambria Math" panose="02040503050406030204" pitchFamily="18" charset="0"/>
                            </a:rPr>
                            <m:t>6</m:t>
                          </m:r>
                        </m:num>
                        <m:den>
                          <m:r>
                            <a:rPr lang="zh-CN" altLang="en-US" sz="2000" i="0">
                              <a:latin typeface="Cambria Math" panose="02040503050406030204" pitchFamily="18" charset="0"/>
                            </a:rPr>
                            <m:t>10</m:t>
                          </m:r>
                        </m:den>
                      </m:f>
                      <m:r>
                        <a:rPr lang="zh-CN" altLang="en-US" sz="2000" i="0">
                          <a:latin typeface="Cambria Math" panose="02040503050406030204" pitchFamily="18" charset="0"/>
                        </a:rPr>
                        <m:t>−</m:t>
                      </m:r>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0">
                                  <a:latin typeface="Cambria Math" panose="02040503050406030204" pitchFamily="18" charset="0"/>
                                </a:rPr>
                                <m:t>4</m:t>
                              </m:r>
                            </m:num>
                            <m:den>
                              <m:r>
                                <a:rPr lang="zh-CN" altLang="en-US" sz="2000" i="0">
                                  <a:latin typeface="Cambria Math" panose="02040503050406030204" pitchFamily="18" charset="0"/>
                                </a:rPr>
                                <m:t>10</m:t>
                              </m:r>
                            </m:den>
                          </m:f>
                        </m:e>
                      </m:d>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𝑙𝑜𝑔</m:t>
                          </m:r>
                        </m:e>
                        <m:sub>
                          <m:r>
                            <a:rPr lang="zh-CN" altLang="en-US" sz="2000" i="0">
                              <a:latin typeface="Cambria Math" panose="02040503050406030204" pitchFamily="18" charset="0"/>
                            </a:rPr>
                            <m:t>2</m:t>
                          </m:r>
                        </m:sub>
                      </m:sSub>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i="0">
                                  <a:latin typeface="Cambria Math" panose="02040503050406030204" pitchFamily="18" charset="0"/>
                                </a:rPr>
                                <m:t>4</m:t>
                              </m:r>
                            </m:num>
                            <m:den>
                              <m:r>
                                <a:rPr lang="zh-CN" altLang="en-US" sz="2000" i="0">
                                  <a:latin typeface="Cambria Math" panose="02040503050406030204" pitchFamily="18" charset="0"/>
                                </a:rPr>
                                <m:t>10</m:t>
                              </m:r>
                            </m:den>
                          </m:f>
                        </m:e>
                      </m:d>
                      <m:r>
                        <a:rPr lang="zh-CN" altLang="en-US" sz="2000" i="0">
                          <a:latin typeface="Cambria Math" panose="02040503050406030204" pitchFamily="18" charset="0"/>
                        </a:rPr>
                        <m:t>=</m:t>
                      </m:r>
                      <m:r>
                        <a:rPr lang="zh-CN" altLang="en-US" sz="2000" i="0">
                          <a:latin typeface="Cambria Math" panose="02040503050406030204" pitchFamily="18" charset="0"/>
                        </a:rPr>
                        <m:t>0</m:t>
                      </m:r>
                      <m:r>
                        <a:rPr lang="zh-CN" altLang="en-US" sz="2000" i="0">
                          <a:latin typeface="Cambria Math" panose="02040503050406030204" pitchFamily="18" charset="0"/>
                        </a:rPr>
                        <m:t>.</m:t>
                      </m:r>
                      <m:r>
                        <a:rPr lang="zh-CN" altLang="en-US" sz="2000" i="0">
                          <a:latin typeface="Cambria Math" panose="02040503050406030204" pitchFamily="18" charset="0"/>
                        </a:rPr>
                        <m:t>9710</m:t>
                      </m:r>
                    </m:oMath>
                  </m:oMathPara>
                </a14:m>
                <a:endParaRPr lang="zh-CN" altLang="en-US" dirty="0"/>
              </a:p>
            </p:txBody>
          </p:sp>
        </mc:Choice>
        <mc:Fallback>
          <p:sp>
            <p:nvSpPr>
              <p:cNvPr id="19" name="矩形 18"/>
              <p:cNvSpPr>
                <a:spLocks noRot="1" noChangeAspect="1" noMove="1" noResize="1" noEditPoints="1" noAdjustHandles="1" noChangeArrowheads="1" noChangeShapeType="1" noTextEdit="1"/>
              </p:cNvSpPr>
              <p:nvPr/>
            </p:nvSpPr>
            <p:spPr>
              <a:xfrm>
                <a:off x="831644" y="4867718"/>
                <a:ext cx="7119662" cy="783869"/>
              </a:xfrm>
              <a:prstGeom prst="rect">
                <a:avLst/>
              </a:prstGeom>
              <a:blipFill rotWithShape="1">
                <a:blip r:embed="rId3"/>
                <a:stretch>
                  <a:fillRect l="-6" t="-57" r="7" b="11"/>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ID3</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395719" y="1178772"/>
            <a:ext cx="8045450" cy="175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2000" dirty="0">
                <a:solidFill>
                  <a:srgbClr val="000000"/>
                </a:solidFill>
                <a:sym typeface="+mn-ea"/>
              </a:rPr>
              <a:t>信息增益：</a:t>
            </a:r>
            <a:r>
              <a:rPr lang="zh-CN" altLang="zh-CN" sz="2000" dirty="0">
                <a:solidFill>
                  <a:srgbClr val="000000"/>
                </a:solidFill>
              </a:rPr>
              <a:t>计算分支属性对于样本集分类好坏程度的度量，也即</a:t>
            </a:r>
            <a:r>
              <a:rPr lang="zh-CN" altLang="en-US" sz="2000" dirty="0">
                <a:solidFill>
                  <a:srgbClr val="000000"/>
                </a:solidFill>
              </a:rPr>
              <a:t>用来衡量某一个特征 / 维度，对降低整体不确定性的能力。</a:t>
            </a:r>
            <a:endParaRPr lang="zh-CN" altLang="en-US" sz="2000" dirty="0">
              <a:solidFill>
                <a:srgbClr val="000000"/>
              </a:solidFill>
            </a:endParaRPr>
          </a:p>
          <a:p>
            <a:r>
              <a:rPr lang="zh-CN" altLang="zh-CN" sz="2000" dirty="0">
                <a:solidFill>
                  <a:srgbClr val="000000"/>
                </a:solidFill>
              </a:rPr>
              <a:t>由于分裂后样本集的纯度提高，则样本集的熵降低，熵降低的值即为该分裂方法的信息增益</a:t>
            </a:r>
            <a:endParaRPr lang="en-US" altLang="zh-CN" sz="2000" dirty="0">
              <a:solidFill>
                <a:srgbClr val="000000"/>
              </a:solidFill>
            </a:endParaRPr>
          </a:p>
          <a:p>
            <a:endParaRPr lang="zh-CN" altLang="zh-CN" sz="2000" dirty="0">
              <a:solidFill>
                <a:srgbClr val="000000"/>
              </a:solidFill>
            </a:endParaRPr>
          </a:p>
        </p:txBody>
      </p:sp>
      <mc:AlternateContent xmlns:mc="http://schemas.openxmlformats.org/markup-compatibility/2006">
        <mc:Choice xmlns:a14="http://schemas.microsoft.com/office/drawing/2010/main" Requires="a14">
          <p:sp>
            <p:nvSpPr>
              <p:cNvPr id="8" name="矩形 7"/>
              <p:cNvSpPr/>
              <p:nvPr/>
            </p:nvSpPr>
            <p:spPr>
              <a:xfrm>
                <a:off x="898957" y="2348549"/>
                <a:ext cx="6669157" cy="72866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𝐺𝑎𝑖𝑛</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𝑆</m:t>
                          </m:r>
                          <m:r>
                            <a:rPr lang="zh-CN" altLang="en-US" sz="2000" i="0">
                              <a:latin typeface="Cambria Math" panose="02040503050406030204" pitchFamily="18" charset="0"/>
                            </a:rPr>
                            <m:t>,</m:t>
                          </m:r>
                          <m:r>
                            <a:rPr lang="zh-CN" altLang="en-US" sz="2000" i="1">
                              <a:latin typeface="Cambria Math" panose="02040503050406030204" pitchFamily="18" charset="0"/>
                            </a:rPr>
                            <m:t>𝐴</m:t>
                          </m:r>
                        </m:e>
                      </m:d>
                      <m:r>
                        <a:rPr lang="zh-CN" altLang="en-US" sz="2000" i="0">
                          <a:latin typeface="Cambria Math" panose="02040503050406030204" pitchFamily="18" charset="0"/>
                        </a:rPr>
                        <m:t>=</m:t>
                      </m:r>
                      <m:r>
                        <a:rPr lang="zh-CN" altLang="en-US" sz="2000" i="1">
                          <a:latin typeface="Cambria Math" panose="02040503050406030204" pitchFamily="18" charset="0"/>
                        </a:rPr>
                        <m:t>𝐸𝑛𝑡𝑟𝑜𝑝𝑦</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𝑆</m:t>
                          </m:r>
                        </m:e>
                      </m:d>
                      <m:r>
                        <a:rPr lang="zh-CN" altLang="en-US" sz="2000" i="0">
                          <a:latin typeface="Cambria Math" panose="02040503050406030204" pitchFamily="18" charset="0"/>
                        </a:rPr>
                        <m:t>−</m:t>
                      </m:r>
                      <m:nary>
                        <m:naryPr>
                          <m:chr m:val="∑"/>
                          <m:limLoc m:val="subSup"/>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r>
                            <a:rPr lang="zh-CN" altLang="en-US" sz="2000" i="0">
                              <a:latin typeface="Cambria Math" panose="02040503050406030204" pitchFamily="18" charset="0"/>
                            </a:rPr>
                            <m:t>=</m:t>
                          </m:r>
                          <m:r>
                            <a:rPr lang="zh-CN" altLang="en-US" sz="2000" i="0">
                              <a:latin typeface="Cambria Math" panose="02040503050406030204" pitchFamily="18" charset="0"/>
                            </a:rPr>
                            <m:t>1</m:t>
                          </m:r>
                        </m:sub>
                        <m:sup>
                          <m:r>
                            <a:rPr lang="zh-CN" altLang="en-US" sz="2000" i="1">
                              <a:latin typeface="Cambria Math" panose="02040503050406030204" pitchFamily="18" charset="0"/>
                            </a:rPr>
                            <m:t>𝑣</m:t>
                          </m:r>
                        </m:sup>
                        <m:e>
                          <m:f>
                            <m:fPr>
                              <m:ctrlPr>
                                <a:rPr lang="zh-CN" altLang="en-US" sz="2000" i="1">
                                  <a:latin typeface="Cambria Math" panose="02040503050406030204" pitchFamily="18" charset="0"/>
                                </a:rPr>
                              </m:ctrlPr>
                            </m:fPr>
                            <m:num>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𝑖</m:t>
                                      </m:r>
                                    </m:sub>
                                  </m:sSub>
                                </m:e>
                              </m:d>
                            </m:num>
                            <m:den>
                              <m:d>
                                <m:dPr>
                                  <m:begChr m:val="|"/>
                                  <m:endChr m:val="|"/>
                                  <m:ctrlPr>
                                    <a:rPr lang="zh-CN" altLang="en-US" sz="2000" i="1">
                                      <a:latin typeface="Cambria Math" panose="02040503050406030204" pitchFamily="18" charset="0"/>
                                    </a:rPr>
                                  </m:ctrlPr>
                                </m:dPr>
                                <m:e>
                                  <m:r>
                                    <a:rPr lang="zh-CN" altLang="en-US" sz="2000" i="1">
                                      <a:latin typeface="Cambria Math" panose="02040503050406030204" pitchFamily="18" charset="0"/>
                                    </a:rPr>
                                    <m:t>𝑆</m:t>
                                  </m:r>
                                </m:e>
                              </m:d>
                            </m:den>
                          </m:f>
                        </m:e>
                      </m:nary>
                      <m:r>
                        <a:rPr lang="zh-CN" altLang="en-US" sz="2000" i="1">
                          <a:latin typeface="Cambria Math" panose="02040503050406030204" pitchFamily="18" charset="0"/>
                        </a:rPr>
                        <m:t>𝐸𝑛𝑡𝑟𝑜𝑝𝑦</m:t>
                      </m:r>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𝑆</m:t>
                              </m:r>
                            </m:e>
                            <m:sub>
                              <m:r>
                                <a:rPr lang="zh-CN" altLang="en-US" sz="2000" i="1">
                                  <a:latin typeface="Cambria Math" panose="02040503050406030204" pitchFamily="18" charset="0"/>
                                </a:rPr>
                                <m:t>𝑖</m:t>
                              </m:r>
                            </m:sub>
                          </m:sSub>
                        </m:e>
                      </m:d>
                    </m:oMath>
                  </m:oMathPara>
                </a14:m>
                <a:endParaRPr lang="zh-CN" altLang="en-US" sz="2000" dirty="0"/>
              </a:p>
            </p:txBody>
          </p:sp>
        </mc:Choice>
        <mc:Fallback>
          <p:sp>
            <p:nvSpPr>
              <p:cNvPr id="8" name="矩形 7"/>
              <p:cNvSpPr>
                <a:spLocks noRot="1" noChangeAspect="1" noMove="1" noResize="1" noEditPoints="1" noAdjustHandles="1" noChangeArrowheads="1" noChangeShapeType="1" noTextEdit="1"/>
              </p:cNvSpPr>
              <p:nvPr/>
            </p:nvSpPr>
            <p:spPr>
              <a:xfrm>
                <a:off x="898957" y="2348549"/>
                <a:ext cx="6669157" cy="728661"/>
              </a:xfrm>
              <a:prstGeom prst="rect">
                <a:avLst/>
              </a:prstGeom>
              <a:blipFill rotWithShape="1">
                <a:blip r:embed="rId1"/>
                <a:stretch>
                  <a:fillRect l="-6" t="-44" r="3"/>
                </a:stretch>
              </a:blipFill>
            </p:spPr>
            <p:txBody>
              <a:bodyPr/>
              <a:lstStyle/>
              <a:p>
                <a:r>
                  <a:rPr lang="zh-CN" altLang="en-US">
                    <a:noFill/>
                  </a:rPr>
                  <a:t> </a:t>
                </a:r>
              </a:p>
            </p:txBody>
          </p:sp>
        </mc:Fallback>
      </mc:AlternateContent>
      <p:sp>
        <p:nvSpPr>
          <p:cNvPr id="10" name="文本框 9"/>
          <p:cNvSpPr txBox="1"/>
          <p:nvPr/>
        </p:nvSpPr>
        <p:spPr>
          <a:xfrm>
            <a:off x="186055" y="3213100"/>
            <a:ext cx="8724900" cy="2777490"/>
          </a:xfrm>
          <a:prstGeom prst="rect">
            <a:avLst/>
          </a:prstGeom>
          <a:noFill/>
        </p:spPr>
        <p:txBody>
          <a:bodyPr wrap="square">
            <a:noAutofit/>
          </a:bodyPr>
          <a:lstStyle/>
          <a:p>
            <a:pPr indent="200025" algn="just">
              <a:spcBef>
                <a:spcPts val="480"/>
              </a:spcBef>
            </a:pPr>
            <a:r>
              <a:rPr lang="en-US" altLang="zh-CN" sz="1800" kern="100" dirty="0">
                <a:latin typeface="+mj-ea"/>
                <a:ea typeface="+mj-ea"/>
              </a:rPr>
              <a:t>A：</a:t>
            </a:r>
            <a:r>
              <a:rPr lang="zh-CN" altLang="en-US" sz="1800" kern="100" dirty="0">
                <a:latin typeface="+mj-ea"/>
                <a:ea typeface="+mj-ea"/>
              </a:rPr>
              <a:t>待评估的特征；</a:t>
            </a:r>
            <a:r>
              <a:rPr lang="en-US" altLang="zh-CN" sz="1800" kern="100" dirty="0">
                <a:latin typeface="+mj-ea"/>
                <a:ea typeface="+mj-ea"/>
              </a:rPr>
              <a:t>v：</a:t>
            </a:r>
            <a:r>
              <a:rPr lang="zh-CN" altLang="en-US" sz="1800" kern="100" dirty="0">
                <a:latin typeface="+mj-ea"/>
                <a:ea typeface="+mj-ea"/>
              </a:rPr>
              <a:t>特征</a:t>
            </a:r>
            <a:r>
              <a:rPr lang="en-US" altLang="zh-CN" sz="1800" kern="100" dirty="0">
                <a:latin typeface="+mj-ea"/>
                <a:ea typeface="+mj-ea"/>
              </a:rPr>
              <a:t>A</a:t>
            </a:r>
            <a:r>
              <a:rPr lang="zh-CN" altLang="en-US" sz="1800" kern="100" dirty="0">
                <a:latin typeface="+mj-ea"/>
                <a:ea typeface="+mj-ea"/>
              </a:rPr>
              <a:t>的取值个数；</a:t>
            </a:r>
            <a:r>
              <a:rPr lang="en-US" altLang="zh-CN" sz="1800" kern="100" dirty="0">
                <a:latin typeface="+mj-ea"/>
                <a:ea typeface="+mj-ea"/>
              </a:rPr>
              <a:t>S</a:t>
            </a:r>
            <a:r>
              <a:rPr lang="en-US" altLang="zh-CN" sz="1800" kern="100" baseline="-25000" dirty="0">
                <a:latin typeface="+mj-ea"/>
                <a:ea typeface="+mj-ea"/>
              </a:rPr>
              <a:t>i</a:t>
            </a:r>
            <a:r>
              <a:rPr lang="en-US" altLang="zh-CN" sz="1800" kern="100" dirty="0">
                <a:latin typeface="+mj-ea"/>
                <a:ea typeface="+mj-ea"/>
              </a:rPr>
              <a:t>：</a:t>
            </a:r>
            <a:r>
              <a:rPr lang="zh-CN" altLang="en-US" sz="1800" kern="100" dirty="0">
                <a:latin typeface="+mj-ea"/>
                <a:ea typeface="+mj-ea"/>
              </a:rPr>
              <a:t>特征</a:t>
            </a:r>
            <a:r>
              <a:rPr lang="en-US" altLang="zh-CN" sz="1800" kern="100" dirty="0">
                <a:latin typeface="+mj-ea"/>
                <a:ea typeface="+mj-ea"/>
              </a:rPr>
              <a:t>A</a:t>
            </a:r>
            <a:r>
              <a:rPr lang="zh-CN" altLang="en-US" sz="1800" kern="100" dirty="0">
                <a:latin typeface="+mj-ea"/>
                <a:ea typeface="+mj-ea"/>
              </a:rPr>
              <a:t>取第</a:t>
            </a:r>
            <a:r>
              <a:rPr lang="en-US" altLang="zh-CN" sz="1800" kern="100" dirty="0">
                <a:latin typeface="+mj-ea"/>
                <a:ea typeface="+mj-ea"/>
              </a:rPr>
              <a:t>i</a:t>
            </a:r>
            <a:r>
              <a:rPr lang="zh-CN" altLang="en-US" sz="1800" kern="100" dirty="0">
                <a:latin typeface="+mj-ea"/>
                <a:ea typeface="+mj-ea"/>
              </a:rPr>
              <a:t>个值时对应的样本子集；</a:t>
            </a:r>
            <a:endParaRPr lang="zh-CN" altLang="en-US" sz="1800" kern="100" dirty="0">
              <a:latin typeface="+mj-ea"/>
              <a:ea typeface="+mj-ea"/>
            </a:endParaRPr>
          </a:p>
          <a:p>
            <a:pPr indent="200025" algn="just">
              <a:spcBef>
                <a:spcPts val="480"/>
              </a:spcBef>
            </a:pPr>
            <a:r>
              <a:rPr lang="zh-CN" altLang="zh-CN" sz="1800" kern="100" dirty="0">
                <a:latin typeface="+mj-ea"/>
                <a:ea typeface="+mj-ea"/>
              </a:rPr>
              <a:t>其大致步骤为：</a:t>
            </a:r>
            <a:endParaRPr lang="zh-CN" altLang="zh-CN" sz="1800" kern="100" dirty="0">
              <a:latin typeface="+mj-ea"/>
              <a:ea typeface="+mj-ea"/>
            </a:endParaRPr>
          </a:p>
          <a:p>
            <a:pPr marL="257175" indent="-257175" algn="just">
              <a:spcBef>
                <a:spcPts val="480"/>
              </a:spcBef>
              <a:buFont typeface="+mj-lt"/>
              <a:buAutoNum type="arabicPeriod"/>
            </a:pPr>
            <a:r>
              <a:rPr lang="zh-CN" altLang="zh-CN" sz="1800" kern="100" dirty="0">
                <a:latin typeface="+mj-ea"/>
                <a:ea typeface="+mj-ea"/>
              </a:rPr>
              <a:t>初始化特征集合和数据集合；</a:t>
            </a:r>
            <a:endParaRPr lang="zh-CN" altLang="zh-CN" sz="1800" kern="100" dirty="0">
              <a:latin typeface="+mj-ea"/>
              <a:ea typeface="+mj-ea"/>
            </a:endParaRPr>
          </a:p>
          <a:p>
            <a:pPr marL="257175" indent="-257175" algn="just">
              <a:spcBef>
                <a:spcPts val="480"/>
              </a:spcBef>
              <a:buFont typeface="+mj-lt"/>
              <a:buAutoNum type="arabicPeriod"/>
            </a:pPr>
            <a:r>
              <a:rPr lang="zh-CN" altLang="zh-CN" sz="1800" kern="100" dirty="0">
                <a:latin typeface="+mj-ea"/>
                <a:ea typeface="+mj-ea"/>
              </a:rPr>
              <a:t>计算数据集合</a:t>
            </a:r>
            <a:r>
              <a:rPr lang="zh-CN" altLang="zh-CN" sz="1800" kern="100" dirty="0">
                <a:solidFill>
                  <a:srgbClr val="FF0000"/>
                </a:solidFill>
                <a:latin typeface="+mj-ea"/>
                <a:ea typeface="+mj-ea"/>
              </a:rPr>
              <a:t>信息熵</a:t>
            </a:r>
            <a:r>
              <a:rPr lang="zh-CN" altLang="zh-CN" sz="1800" kern="100" dirty="0">
                <a:latin typeface="+mj-ea"/>
                <a:ea typeface="+mj-ea"/>
              </a:rPr>
              <a:t>和所有特征的</a:t>
            </a:r>
            <a:r>
              <a:rPr lang="zh-CN" altLang="zh-CN" sz="1800" kern="100" dirty="0">
                <a:solidFill>
                  <a:srgbClr val="FF0000"/>
                </a:solidFill>
                <a:latin typeface="+mj-ea"/>
                <a:ea typeface="+mj-ea"/>
              </a:rPr>
              <a:t>条件熵</a:t>
            </a:r>
            <a:r>
              <a:rPr lang="zh-CN" altLang="zh-CN" sz="1800" kern="100" dirty="0">
                <a:latin typeface="+mj-ea"/>
                <a:ea typeface="+mj-ea"/>
              </a:rPr>
              <a:t>，选择</a:t>
            </a:r>
            <a:r>
              <a:rPr lang="zh-CN" altLang="zh-CN" sz="1800" kern="100" dirty="0">
                <a:solidFill>
                  <a:srgbClr val="FF0000"/>
                </a:solidFill>
                <a:latin typeface="+mj-ea"/>
                <a:ea typeface="+mj-ea"/>
              </a:rPr>
              <a:t>信息增益</a:t>
            </a:r>
            <a:r>
              <a:rPr lang="zh-CN" altLang="zh-CN" sz="1800" kern="100" dirty="0">
                <a:latin typeface="+mj-ea"/>
                <a:ea typeface="+mj-ea"/>
              </a:rPr>
              <a:t>最大的特征作为当前决策节点；</a:t>
            </a:r>
            <a:endParaRPr lang="zh-CN" altLang="zh-CN" sz="1800" kern="100" dirty="0">
              <a:latin typeface="+mj-ea"/>
              <a:ea typeface="+mj-ea"/>
            </a:endParaRPr>
          </a:p>
          <a:p>
            <a:pPr marL="257175" indent="-257175" algn="just">
              <a:spcBef>
                <a:spcPts val="480"/>
              </a:spcBef>
              <a:buFont typeface="+mj-lt"/>
              <a:buAutoNum type="arabicPeriod"/>
            </a:pPr>
            <a:r>
              <a:rPr lang="zh-CN" altLang="zh-CN" sz="1800" kern="100" dirty="0">
                <a:latin typeface="+mj-ea"/>
                <a:ea typeface="+mj-ea"/>
              </a:rPr>
              <a:t>更新数据集合和特征集合（删除上一步使用的特征，并按照特征值来划分不同分支的数据集合）；</a:t>
            </a:r>
            <a:endParaRPr lang="zh-CN" altLang="zh-CN" sz="1800" kern="100" dirty="0">
              <a:latin typeface="+mj-ea"/>
              <a:ea typeface="+mj-ea"/>
            </a:endParaRPr>
          </a:p>
          <a:p>
            <a:pPr marL="257175" indent="-257175" algn="just">
              <a:spcBef>
                <a:spcPts val="480"/>
              </a:spcBef>
              <a:buFont typeface="+mj-lt"/>
              <a:buAutoNum type="arabicPeriod"/>
            </a:pPr>
            <a:r>
              <a:rPr lang="zh-CN" altLang="zh-CN" sz="1800" kern="100" dirty="0">
                <a:latin typeface="+mj-ea"/>
                <a:ea typeface="+mj-ea"/>
              </a:rPr>
              <a:t>重复</a:t>
            </a:r>
            <a:r>
              <a:rPr lang="en-US" altLang="zh-CN" sz="1800" kern="100" dirty="0">
                <a:latin typeface="+mj-ea"/>
                <a:ea typeface="+mj-ea"/>
              </a:rPr>
              <a:t> 2</a:t>
            </a:r>
            <a:r>
              <a:rPr lang="zh-CN" altLang="zh-CN" sz="1800" kern="100" dirty="0">
                <a:latin typeface="+mj-ea"/>
                <a:ea typeface="+mj-ea"/>
              </a:rPr>
              <a:t>，</a:t>
            </a:r>
            <a:r>
              <a:rPr lang="en-US" altLang="zh-CN" sz="1800" kern="100" dirty="0">
                <a:latin typeface="+mj-ea"/>
                <a:ea typeface="+mj-ea"/>
              </a:rPr>
              <a:t>3 </a:t>
            </a:r>
            <a:r>
              <a:rPr lang="zh-CN" altLang="zh-CN" sz="1800" kern="100" dirty="0">
                <a:latin typeface="+mj-ea"/>
                <a:ea typeface="+mj-ea"/>
              </a:rPr>
              <a:t>两步，若子集值包含单一特征，则为分支叶子节点。</a:t>
            </a:r>
            <a:endParaRPr lang="zh-CN" altLang="zh-CN" sz="1800" kern="100" dirty="0">
              <a:latin typeface="+mj-ea"/>
              <a:ea typeface="+mj-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ID3</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graphicFrame>
        <p:nvGraphicFramePr>
          <p:cNvPr id="8" name="表格 7"/>
          <p:cNvGraphicFramePr>
            <a:graphicFrameLocks noGrp="1"/>
          </p:cNvGraphicFramePr>
          <p:nvPr/>
        </p:nvGraphicFramePr>
        <p:xfrm>
          <a:off x="1301373" y="1178843"/>
          <a:ext cx="6541251" cy="3456870"/>
        </p:xfrm>
        <a:graphic>
          <a:graphicData uri="http://schemas.openxmlformats.org/drawingml/2006/table">
            <a:tbl>
              <a:tblPr firstRow="1" firstCol="1" bandRow="1">
                <a:tableStyleId>{5C22544A-7EE6-4342-B048-85BDC9FD1C3A}</a:tableStyleId>
              </a:tblPr>
              <a:tblGrid>
                <a:gridCol w="1075326"/>
                <a:gridCol w="1075326"/>
                <a:gridCol w="1075326"/>
                <a:gridCol w="1075326"/>
                <a:gridCol w="1075326"/>
                <a:gridCol w="1164621"/>
              </a:tblGrid>
              <a:tr h="222438">
                <a:tc>
                  <a:txBody>
                    <a:bodyPr/>
                    <a:lstStyle/>
                    <a:p>
                      <a:pPr algn="ctr" fontAlgn="ctr">
                        <a:spcAft>
                          <a:spcPts val="0"/>
                        </a:spcAft>
                      </a:pPr>
                      <a:r>
                        <a:rPr lang="zh-CN" sz="1400" kern="0" dirty="0">
                          <a:effectLst/>
                        </a:rPr>
                        <a:t>动物</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饮食习性</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胎生动物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水生动物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会飞</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哺乳动物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人类</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dirty="0">
                          <a:effectLst/>
                        </a:rPr>
                        <a:t>杂食动物</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野猪</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杂食动物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狮子</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苍鹰</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鳄鱼</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巨蜥</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dirty="0">
                          <a:effectLst/>
                        </a:rPr>
                        <a:t>否</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蝙蝠</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杂食动物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野牛</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麻雀</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杂食动物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鲨鱼</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100">
                          <a:effectLst/>
                        </a:rPr>
                        <a:t>海豚</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鸭嘴兽</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袋鼠</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是</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r h="222438">
                <a:tc>
                  <a:txBody>
                    <a:bodyPr/>
                    <a:lstStyle/>
                    <a:p>
                      <a:pPr algn="ctr" fontAlgn="ctr">
                        <a:spcAft>
                          <a:spcPts val="0"/>
                        </a:spcAft>
                      </a:pPr>
                      <a:r>
                        <a:rPr lang="zh-CN" sz="1400" kern="0">
                          <a:effectLst/>
                        </a:rPr>
                        <a:t>蟒蛇</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肉食动物</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a:effectLst/>
                        </a:rPr>
                        <a:t>否</a:t>
                      </a:r>
                      <a:endParaRPr lang="zh-CN" sz="1400" kern="10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c>
                  <a:txBody>
                    <a:bodyPr/>
                    <a:lstStyle/>
                    <a:p>
                      <a:pPr algn="ctr" fontAlgn="ctr">
                        <a:spcAft>
                          <a:spcPts val="0"/>
                        </a:spcAft>
                      </a:pPr>
                      <a:r>
                        <a:rPr lang="zh-CN" sz="1400" kern="100" dirty="0">
                          <a:effectLst/>
                        </a:rPr>
                        <a:t>否</a:t>
                      </a:r>
                      <a:endParaRPr lang="zh-CN" sz="14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8549" marR="8549" marT="8549" marB="8549" anchor="ctr"/>
                </a:tc>
              </a:tr>
            </a:tbl>
          </a:graphicData>
        </a:graphic>
      </p:graphicFrame>
      <p:sp>
        <p:nvSpPr>
          <p:cNvPr id="10" name="文本框 9"/>
          <p:cNvSpPr txBox="1"/>
          <p:nvPr/>
        </p:nvSpPr>
        <p:spPr>
          <a:xfrm>
            <a:off x="647562" y="4763179"/>
            <a:ext cx="7848872" cy="923330"/>
          </a:xfrm>
          <a:prstGeom prst="rect">
            <a:avLst/>
          </a:prstGeom>
          <a:noFill/>
        </p:spPr>
        <p:txBody>
          <a:bodyPr wrap="square">
            <a:spAutoFit/>
          </a:bodyPr>
          <a:lstStyle/>
          <a:p>
            <a:r>
              <a:rPr lang="zh-CN" altLang="en-US" sz="1800" dirty="0">
                <a:solidFill>
                  <a:srgbClr val="000000"/>
                </a:solidFill>
              </a:rPr>
              <a:t>此样本集以“哺乳动物”作为样本的分类属性，有“是”与“否”两种分类，也即正例与负例。共有</a:t>
            </a:r>
            <a:r>
              <a:rPr lang="en-US" altLang="zh-CN" sz="1800" dirty="0">
                <a:solidFill>
                  <a:srgbClr val="000000"/>
                </a:solidFill>
              </a:rPr>
              <a:t>14</a:t>
            </a:r>
            <a:r>
              <a:rPr lang="zh-CN" altLang="en-US" sz="1800" dirty="0">
                <a:solidFill>
                  <a:srgbClr val="000000"/>
                </a:solidFill>
              </a:rPr>
              <a:t>个样本，其中</a:t>
            </a:r>
            <a:r>
              <a:rPr lang="en-US" altLang="zh-CN" sz="1800" dirty="0">
                <a:solidFill>
                  <a:srgbClr val="000000"/>
                </a:solidFill>
              </a:rPr>
              <a:t>8</a:t>
            </a:r>
            <a:r>
              <a:rPr lang="zh-CN" altLang="en-US" sz="1800" dirty="0">
                <a:solidFill>
                  <a:srgbClr val="000000"/>
                </a:solidFill>
              </a:rPr>
              <a:t>个正例，</a:t>
            </a:r>
            <a:r>
              <a:rPr lang="en-US" altLang="zh-CN" sz="1800" dirty="0">
                <a:solidFill>
                  <a:srgbClr val="000000"/>
                </a:solidFill>
              </a:rPr>
              <a:t>6</a:t>
            </a:r>
            <a:r>
              <a:rPr lang="zh-CN" altLang="en-US" sz="1800" dirty="0">
                <a:solidFill>
                  <a:srgbClr val="000000"/>
                </a:solidFill>
              </a:rPr>
              <a:t>个反例，设此样本集为 </a:t>
            </a:r>
            <a:r>
              <a:rPr lang="en-US" altLang="zh-CN" sz="1800" dirty="0">
                <a:solidFill>
                  <a:srgbClr val="000000"/>
                </a:solidFill>
              </a:rPr>
              <a:t>S</a:t>
            </a:r>
            <a:r>
              <a:rPr lang="zh-CN" altLang="en-US" sz="1800" dirty="0">
                <a:solidFill>
                  <a:srgbClr val="000000"/>
                </a:solidFill>
              </a:rPr>
              <a:t>，则分裂前的熵值为</a:t>
            </a:r>
            <a:endParaRPr lang="zh-CN" altLang="zh-CN" sz="1800" dirty="0">
              <a:solidFill>
                <a:srgbClr val="000000"/>
              </a:solidFill>
            </a:endParaRPr>
          </a:p>
        </p:txBody>
      </p:sp>
      <mc:AlternateContent xmlns:mc="http://schemas.openxmlformats.org/markup-compatibility/2006">
        <mc:Choice xmlns:a14="http://schemas.microsoft.com/office/drawing/2010/main" Requires="a14">
          <p:sp>
            <p:nvSpPr>
              <p:cNvPr id="11" name="矩形 10"/>
              <p:cNvSpPr/>
              <p:nvPr/>
            </p:nvSpPr>
            <p:spPr>
              <a:xfrm>
                <a:off x="1142998" y="5531291"/>
                <a:ext cx="6858000" cy="64556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𝐸</m:t>
                      </m:r>
                      <m:r>
                        <a:rPr lang="zh-CN" altLang="en-US" sz="1600" i="1">
                          <a:latin typeface="Cambria Math" panose="02040503050406030204" pitchFamily="18" charset="0"/>
                        </a:rPr>
                        <m:t>𝑛𝑡𝑟𝑜𝑝𝑦</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𝑆</m:t>
                          </m:r>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8</m:t>
                              </m:r>
                            </m:num>
                            <m:den>
                              <m:r>
                                <a:rPr lang="zh-CN" altLang="en-US" sz="1600" i="0">
                                  <a:latin typeface="Cambria Math" panose="02040503050406030204" pitchFamily="18" charset="0"/>
                                </a:rPr>
                                <m:t>14</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8</m:t>
                                  </m:r>
                                </m:num>
                                <m:den>
                                  <m:r>
                                    <a:rPr lang="zh-CN" altLang="en-US" sz="1600" i="0">
                                      <a:latin typeface="Cambria Math" panose="02040503050406030204" pitchFamily="18" charset="0"/>
                                    </a:rPr>
                                    <m:t>14</m:t>
                                  </m:r>
                                </m:den>
                              </m:f>
                            </m:e>
                          </m:d>
                        </m:e>
                      </m:func>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6</m:t>
                              </m:r>
                            </m:num>
                            <m:den>
                              <m:r>
                                <a:rPr lang="zh-CN" altLang="en-US" sz="1600" i="0">
                                  <a:latin typeface="Cambria Math" panose="02040503050406030204" pitchFamily="18" charset="0"/>
                                </a:rPr>
                                <m:t>14</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6</m:t>
                                  </m:r>
                                </m:num>
                                <m:den>
                                  <m:r>
                                    <a:rPr lang="zh-CN" altLang="en-US" sz="1600" i="0">
                                      <a:latin typeface="Cambria Math" panose="02040503050406030204" pitchFamily="18" charset="0"/>
                                    </a:rPr>
                                    <m:t>14</m:t>
                                  </m:r>
                                </m:den>
                              </m:f>
                            </m:e>
                          </m:d>
                        </m:e>
                      </m:func>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9852</m:t>
                      </m:r>
                    </m:oMath>
                  </m:oMathPara>
                </a14:m>
                <a:endParaRPr lang="zh-CN" altLang="en-US" sz="1600" dirty="0"/>
              </a:p>
            </p:txBody>
          </p:sp>
        </mc:Choice>
        <mc:Fallback>
          <p:sp>
            <p:nvSpPr>
              <p:cNvPr id="11" name="矩形 10"/>
              <p:cNvSpPr>
                <a:spLocks noRot="1" noChangeAspect="1" noMove="1" noResize="1" noEditPoints="1" noAdjustHandles="1" noChangeArrowheads="1" noChangeShapeType="1" noTextEdit="1"/>
              </p:cNvSpPr>
              <p:nvPr/>
            </p:nvSpPr>
            <p:spPr>
              <a:xfrm>
                <a:off x="1142998" y="5531291"/>
                <a:ext cx="6858000" cy="645561"/>
              </a:xfrm>
              <a:prstGeom prst="rect">
                <a:avLst/>
              </a:prstGeom>
              <a:blipFill rotWithShape="1">
                <a:blip r:embed="rId1"/>
                <a:stretch>
                  <a:fillRect l="-9" t="-68" r="9" b="32"/>
                </a:stretch>
              </a:blipFill>
            </p:spPr>
            <p:txBody>
              <a:bodyPr/>
              <a:lstStyle/>
              <a:p>
                <a:r>
                  <a:rPr lang="zh-CN" altLang="en-US">
                    <a:noFill/>
                  </a:rPr>
                  <a:t> </a:t>
                </a:r>
              </a:p>
            </p:txBody>
          </p:sp>
        </mc:Fallback>
      </mc:AlternateContent>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647562" y="1178843"/>
            <a:ext cx="7848872" cy="6740307"/>
          </a:xfrm>
          <a:prstGeom prst="rect">
            <a:avLst/>
          </a:prstGeom>
          <a:noFill/>
        </p:spPr>
        <p:txBody>
          <a:bodyPr wrap="square">
            <a:spAutoFit/>
          </a:bodyPr>
          <a:lstStyle/>
          <a:p>
            <a:r>
              <a:rPr lang="zh-CN" altLang="en-US" sz="1800" dirty="0">
                <a:solidFill>
                  <a:srgbClr val="000000"/>
                </a:solidFill>
              </a:rPr>
              <a:t>接着考虑使用“饮食习性”、“胎生动物”、“水生动物”、“会飞”四个分支属性进行进一步分类。以“饮食习性”作为分支属性的分裂情况：</a:t>
            </a:r>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b="1"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r>
              <a:rPr lang="zh-CN" altLang="en-US" sz="1800" dirty="0">
                <a:solidFill>
                  <a:srgbClr val="000000"/>
                </a:solidFill>
              </a:rPr>
              <a:t>由此可以计算得出</a:t>
            </a:r>
            <a:r>
              <a:rPr lang="en-US" altLang="zh-CN" sz="1800" dirty="0">
                <a:solidFill>
                  <a:srgbClr val="000000"/>
                </a:solidFill>
              </a:rPr>
              <a:t>,</a:t>
            </a:r>
            <a:r>
              <a:rPr lang="zh-CN" altLang="en-US" sz="1800" dirty="0">
                <a:solidFill>
                  <a:srgbClr val="000000"/>
                </a:solidFill>
              </a:rPr>
              <a:t>作为分支属性进行分裂之后的信息增益为</a:t>
            </a:r>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r>
              <a:rPr lang="zh-CN" altLang="en-US" sz="1800" dirty="0">
                <a:solidFill>
                  <a:srgbClr val="000000"/>
                </a:solidFill>
              </a:rPr>
              <a:t>同理，可以算出以“胎生动物”“水生动物”“会飞”作为分支属性时的信息增益分别为</a:t>
            </a:r>
            <a:r>
              <a:rPr lang="en-US" altLang="zh-CN" sz="1800" dirty="0">
                <a:solidFill>
                  <a:srgbClr val="000000"/>
                </a:solidFill>
              </a:rPr>
              <a:t>0.6893</a:t>
            </a:r>
            <a:r>
              <a:rPr lang="zh-CN" altLang="en-US" sz="1800" dirty="0">
                <a:solidFill>
                  <a:srgbClr val="000000"/>
                </a:solidFill>
              </a:rPr>
              <a:t>、</a:t>
            </a:r>
            <a:r>
              <a:rPr lang="en-US" altLang="zh-CN" sz="1800" dirty="0">
                <a:solidFill>
                  <a:srgbClr val="000000"/>
                </a:solidFill>
              </a:rPr>
              <a:t>0.0454</a:t>
            </a:r>
            <a:r>
              <a:rPr lang="zh-CN" altLang="en-US" sz="1800" dirty="0">
                <a:solidFill>
                  <a:srgbClr val="000000"/>
                </a:solidFill>
              </a:rPr>
              <a:t>、</a:t>
            </a:r>
            <a:r>
              <a:rPr lang="en-US" altLang="zh-CN" sz="1800" dirty="0">
                <a:solidFill>
                  <a:srgbClr val="000000"/>
                </a:solidFill>
              </a:rPr>
              <a:t>0.0454</a:t>
            </a:r>
            <a:r>
              <a:rPr lang="zh-CN" altLang="en-US" sz="1800" dirty="0">
                <a:solidFill>
                  <a:srgbClr val="000000"/>
                </a:solidFill>
              </a:rPr>
              <a:t>，由此可知“胎生动物”作为分支属性时能获得最大的信息增益，即具有最强的区分样本的能力，所以在此处选择使用“胎生动物”作为分支属性对根结点进行划分</a:t>
            </a:r>
            <a:endParaRPr lang="zh-CN" altLang="en-US"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en-US" altLang="zh-CN" sz="1800" dirty="0">
              <a:solidFill>
                <a:srgbClr val="000000"/>
              </a:solidFill>
            </a:endParaRPr>
          </a:p>
          <a:p>
            <a:endParaRPr lang="zh-CN" altLang="zh-CN" sz="1800" dirty="0">
              <a:solidFill>
                <a:srgbClr val="000000"/>
              </a:solidFill>
            </a:endParaRPr>
          </a:p>
          <a:p>
            <a:endParaRPr lang="zh-CN" altLang="zh-CN" sz="1800" dirty="0">
              <a:solidFill>
                <a:srgbClr val="000000"/>
              </a:solidFill>
            </a:endParaRPr>
          </a:p>
        </p:txBody>
      </p:sp>
      <p:pic>
        <p:nvPicPr>
          <p:cNvPr id="3" name="图片 2" descr="C:\Users\Lenovo\Desktop\图\图2.3.PNG图2.3"/>
          <p:cNvPicPr/>
          <p:nvPr/>
        </p:nvPicPr>
        <p:blipFill>
          <a:blip r:embed="rId1"/>
          <a:srcRect b="13847"/>
          <a:stretch>
            <a:fillRect/>
          </a:stretch>
        </p:blipFill>
        <p:spPr>
          <a:xfrm>
            <a:off x="-244647" y="2169839"/>
            <a:ext cx="4312591" cy="1697808"/>
          </a:xfrm>
          <a:prstGeom prst="rect">
            <a:avLst/>
          </a:prstGeom>
          <a:noFill/>
          <a:ln w="9525">
            <a:noFill/>
          </a:ln>
        </p:spPr>
      </p:pic>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ID3</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5" name="矩形 4"/>
              <p:cNvSpPr/>
              <p:nvPr/>
            </p:nvSpPr>
            <p:spPr>
              <a:xfrm>
                <a:off x="2342611" y="2059731"/>
                <a:ext cx="7523922" cy="64556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𝐸𝑛𝑡𝑟𝑜𝑝𝑦</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肉食动物</m:t>
                          </m:r>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3</m:t>
                              </m:r>
                            </m:num>
                            <m:den>
                              <m:r>
                                <a:rPr lang="zh-CN" altLang="en-US" sz="1600" i="0">
                                  <a:latin typeface="Cambria Math" panose="02040503050406030204" pitchFamily="18" charset="0"/>
                                </a:rPr>
                                <m:t>8</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3</m:t>
                                  </m:r>
                                </m:num>
                                <m:den>
                                  <m:r>
                                    <a:rPr lang="zh-CN" altLang="en-US" sz="1600" i="0">
                                      <a:latin typeface="Cambria Math" panose="02040503050406030204" pitchFamily="18" charset="0"/>
                                    </a:rPr>
                                    <m:t>8</m:t>
                                  </m:r>
                                </m:den>
                              </m:f>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5</m:t>
                                  </m:r>
                                </m:num>
                                <m:den>
                                  <m:r>
                                    <a:rPr lang="zh-CN" altLang="en-US" sz="1600" i="0">
                                      <a:latin typeface="Cambria Math" panose="02040503050406030204" pitchFamily="18" charset="0"/>
                                    </a:rPr>
                                    <m:t>8</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5</m:t>
                                      </m:r>
                                    </m:num>
                                    <m:den>
                                      <m:r>
                                        <a:rPr lang="zh-CN" altLang="en-US" sz="1600" i="0">
                                          <a:latin typeface="Cambria Math" panose="02040503050406030204" pitchFamily="18" charset="0"/>
                                        </a:rPr>
                                        <m:t>8</m:t>
                                      </m:r>
                                    </m:den>
                                  </m:f>
                                </m:e>
                              </m:d>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9544</m:t>
                              </m:r>
                            </m:e>
                          </m:func>
                        </m:e>
                      </m:func>
                    </m:oMath>
                  </m:oMathPara>
                </a14:m>
                <a:endParaRPr lang="zh-CN" altLang="en-US" sz="1600" dirty="0"/>
              </a:p>
            </p:txBody>
          </p:sp>
        </mc:Choice>
        <mc:Fallback>
          <p:sp>
            <p:nvSpPr>
              <p:cNvPr id="5" name="矩形 4"/>
              <p:cNvSpPr>
                <a:spLocks noRot="1" noChangeAspect="1" noMove="1" noResize="1" noEditPoints="1" noAdjustHandles="1" noChangeArrowheads="1" noChangeShapeType="1" noTextEdit="1"/>
              </p:cNvSpPr>
              <p:nvPr/>
            </p:nvSpPr>
            <p:spPr>
              <a:xfrm>
                <a:off x="2342611" y="2059731"/>
                <a:ext cx="7523922" cy="645561"/>
              </a:xfrm>
              <a:prstGeom prst="rect">
                <a:avLst/>
              </a:prstGeom>
              <a:blipFill rotWithShape="1">
                <a:blip r:embed="rId2"/>
                <a:stretch>
                  <a:fillRect l="-1" t="-66" r="7"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115496" y="3235090"/>
                <a:ext cx="7424531" cy="64556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𝐸𝑛𝑡𝑟𝑜𝑝𝑦</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草食动物</m:t>
                          </m:r>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2</m:t>
                              </m:r>
                            </m:num>
                            <m:den>
                              <m:r>
                                <a:rPr lang="zh-CN" altLang="en-US" sz="1600" i="0">
                                  <a:latin typeface="Cambria Math" panose="02040503050406030204" pitchFamily="18" charset="0"/>
                                </a:rPr>
                                <m:t>2</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2</m:t>
                                  </m:r>
                                </m:num>
                                <m:den>
                                  <m:r>
                                    <a:rPr lang="zh-CN" altLang="en-US" sz="1600" i="0">
                                      <a:latin typeface="Cambria Math" panose="02040503050406030204" pitchFamily="18" charset="0"/>
                                    </a:rPr>
                                    <m:t>2</m:t>
                                  </m:r>
                                </m:den>
                              </m:f>
                            </m:e>
                          </m:d>
                        </m:e>
                      </m:func>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0</m:t>
                      </m:r>
                    </m:oMath>
                  </m:oMathPara>
                </a14:m>
                <a:endParaRPr lang="zh-CN" altLang="en-US" sz="1600" dirty="0"/>
              </a:p>
            </p:txBody>
          </p:sp>
        </mc:Choice>
        <mc:Fallback>
          <p:sp>
            <p:nvSpPr>
              <p:cNvPr id="6" name="矩形 5"/>
              <p:cNvSpPr>
                <a:spLocks noRot="1" noChangeAspect="1" noMove="1" noResize="1" noEditPoints="1" noAdjustHandles="1" noChangeArrowheads="1" noChangeShapeType="1" noTextEdit="1"/>
              </p:cNvSpPr>
              <p:nvPr/>
            </p:nvSpPr>
            <p:spPr>
              <a:xfrm>
                <a:off x="2115496" y="3235090"/>
                <a:ext cx="7424531" cy="645561"/>
              </a:xfrm>
              <a:prstGeom prst="rect">
                <a:avLst/>
              </a:prstGeom>
              <a:blipFill rotWithShape="1">
                <a:blip r:embed="rId3"/>
                <a:stretch>
                  <a:fillRect l="-4" t="-62" r="6" b="2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2675572" y="2602533"/>
                <a:ext cx="6858000" cy="64556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600" i="1" smtClean="0">
                          <a:latin typeface="Cambria Math" panose="02040503050406030204" pitchFamily="18" charset="0"/>
                        </a:rPr>
                        <m:t>𝐸𝑛𝑡𝑟𝑜𝑝𝑦</m:t>
                      </m:r>
                      <m:d>
                        <m:dPr>
                          <m:ctrlPr>
                            <a:rPr lang="zh-CN" altLang="en-US" sz="1600" i="1">
                              <a:latin typeface="Cambria Math" panose="02040503050406030204" pitchFamily="18" charset="0"/>
                            </a:rPr>
                          </m:ctrlPr>
                        </m:dPr>
                        <m:e>
                          <m:r>
                            <a:rPr lang="zh-CN" altLang="en-US" sz="1600" i="0">
                              <a:latin typeface="Cambria Math" panose="02040503050406030204" pitchFamily="18" charset="0"/>
                            </a:rPr>
                            <m:t>杂食动物</m:t>
                          </m:r>
                        </m:e>
                      </m:d>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3</m:t>
                              </m:r>
                            </m:num>
                            <m:den>
                              <m:r>
                                <a:rPr lang="zh-CN" altLang="en-US" sz="1600" i="0">
                                  <a:latin typeface="Cambria Math" panose="02040503050406030204" pitchFamily="18" charset="0"/>
                                </a:rPr>
                                <m:t>4</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3</m:t>
                                  </m:r>
                                </m:num>
                                <m:den>
                                  <m:r>
                                    <a:rPr lang="zh-CN" altLang="en-US" sz="1600" i="0">
                                      <a:latin typeface="Cambria Math" panose="02040503050406030204" pitchFamily="18" charset="0"/>
                                    </a:rPr>
                                    <m:t>4</m:t>
                                  </m:r>
                                </m:den>
                              </m:f>
                            </m:e>
                          </m:d>
                        </m:e>
                      </m:func>
                      <m:r>
                        <a:rPr lang="zh-CN" altLang="en-US" sz="1600" i="0">
                          <a:latin typeface="Cambria Math" panose="02040503050406030204" pitchFamily="18" charset="0"/>
                        </a:rPr>
                        <m:t>−</m:t>
                      </m:r>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0">
                                  <a:latin typeface="Cambria Math" panose="02040503050406030204" pitchFamily="18" charset="0"/>
                                </a:rPr>
                                <m:t>4</m:t>
                              </m:r>
                            </m:den>
                          </m:f>
                        </m:e>
                      </m:d>
                      <m:func>
                        <m:funcPr>
                          <m:ctrlPr>
                            <a:rPr lang="zh-CN" altLang="en-US" sz="1600" i="1">
                              <a:latin typeface="Cambria Math" panose="02040503050406030204" pitchFamily="18" charset="0"/>
                            </a:rPr>
                          </m:ctrlPr>
                        </m:funcPr>
                        <m:fName>
                          <m:sSub>
                            <m:sSubPr>
                              <m:ctrlPr>
                                <a:rPr lang="zh-CN" altLang="en-US" sz="1600" i="1">
                                  <a:latin typeface="Cambria Math" panose="02040503050406030204" pitchFamily="18" charset="0"/>
                                </a:rPr>
                              </m:ctrlPr>
                            </m:sSubPr>
                            <m:e>
                              <m:r>
                                <m:rPr>
                                  <m:sty m:val="p"/>
                                </m:rPr>
                                <a:rPr lang="zh-CN" altLang="en-US" sz="1600" i="0">
                                  <a:latin typeface="Cambria Math" panose="02040503050406030204" pitchFamily="18" charset="0"/>
                                </a:rPr>
                                <m:t>log</m:t>
                              </m:r>
                            </m:e>
                            <m:sub>
                              <m:r>
                                <a:rPr lang="zh-CN" altLang="en-US" sz="1600" i="0">
                                  <a:latin typeface="Cambria Math" panose="02040503050406030204" pitchFamily="18" charset="0"/>
                                </a:rPr>
                                <m:t>2</m:t>
                              </m:r>
                            </m:sub>
                          </m:sSub>
                        </m:fName>
                        <m:e>
                          <m:d>
                            <m:dPr>
                              <m:ctrlPr>
                                <a:rPr lang="zh-CN" altLang="en-US" sz="1600" i="1">
                                  <a:latin typeface="Cambria Math" panose="02040503050406030204" pitchFamily="18" charset="0"/>
                                </a:rPr>
                              </m:ctrlPr>
                            </m:dPr>
                            <m:e>
                              <m:f>
                                <m:fPr>
                                  <m:ctrlPr>
                                    <a:rPr lang="zh-CN" altLang="en-US" sz="1600" i="1">
                                      <a:latin typeface="Cambria Math" panose="02040503050406030204" pitchFamily="18" charset="0"/>
                                    </a:rPr>
                                  </m:ctrlPr>
                                </m:fPr>
                                <m:num>
                                  <m:r>
                                    <a:rPr lang="zh-CN" altLang="en-US" sz="1600" i="0">
                                      <a:latin typeface="Cambria Math" panose="02040503050406030204" pitchFamily="18" charset="0"/>
                                    </a:rPr>
                                    <m:t>1</m:t>
                                  </m:r>
                                </m:num>
                                <m:den>
                                  <m:r>
                                    <a:rPr lang="zh-CN" altLang="en-US" sz="1600" i="0">
                                      <a:latin typeface="Cambria Math" panose="02040503050406030204" pitchFamily="18" charset="0"/>
                                    </a:rPr>
                                    <m:t>4</m:t>
                                  </m:r>
                                </m:den>
                              </m:f>
                            </m:e>
                          </m:d>
                        </m:e>
                      </m:func>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8113</m:t>
                      </m:r>
                    </m:oMath>
                  </m:oMathPara>
                </a14:m>
                <a:endParaRPr lang="zh-CN" altLang="en-US" sz="1600" dirty="0"/>
              </a:p>
            </p:txBody>
          </p:sp>
        </mc:Choice>
        <mc:Fallback>
          <p:sp>
            <p:nvSpPr>
              <p:cNvPr id="7" name="矩形 6"/>
              <p:cNvSpPr>
                <a:spLocks noRot="1" noChangeAspect="1" noMove="1" noResize="1" noEditPoints="1" noAdjustHandles="1" noChangeArrowheads="1" noChangeShapeType="1" noTextEdit="1"/>
              </p:cNvSpPr>
              <p:nvPr/>
            </p:nvSpPr>
            <p:spPr>
              <a:xfrm>
                <a:off x="2675572" y="2602533"/>
                <a:ext cx="6858000" cy="645561"/>
              </a:xfrm>
              <a:prstGeom prst="rect">
                <a:avLst/>
              </a:prstGeom>
              <a:blipFill rotWithShape="1">
                <a:blip r:embed="rId4"/>
                <a:stretch>
                  <a:fillRect l="-5" t="-47" r="5" b="1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0" y="4278214"/>
                <a:ext cx="9388643" cy="553357"/>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600" i="1">
                          <a:latin typeface="Cambria Math" panose="02040503050406030204" pitchFamily="18" charset="0"/>
                        </a:rPr>
                        <m:t>𝐺𝑎𝑖𝑛</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𝑌</m:t>
                          </m:r>
                        </m:e>
                      </m:d>
                      <m:r>
                        <a:rPr lang="zh-CN" altLang="en-US" sz="1600" i="0">
                          <a:latin typeface="Cambria Math" panose="02040503050406030204" pitchFamily="18" charset="0"/>
                        </a:rPr>
                        <m:t>=</m:t>
                      </m:r>
                      <m:r>
                        <a:rPr lang="zh-CN" altLang="en-US" sz="1600" i="1">
                          <a:latin typeface="Cambria Math" panose="02040503050406030204" pitchFamily="18" charset="0"/>
                        </a:rPr>
                        <m:t>𝐸𝑛𝑡𝑟𝑜𝑝𝑦</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𝑆</m:t>
                          </m:r>
                        </m:e>
                      </m:d>
                      <m:r>
                        <a:rPr lang="zh-CN" altLang="en-US" sz="1600" i="0">
                          <a:latin typeface="Cambria Math" panose="02040503050406030204" pitchFamily="18" charset="0"/>
                        </a:rPr>
                        <m:t>−</m:t>
                      </m:r>
                      <m:r>
                        <a:rPr lang="zh-CN" altLang="en-US" sz="1600" i="1">
                          <a:latin typeface="Cambria Math" panose="02040503050406030204" pitchFamily="18" charset="0"/>
                        </a:rPr>
                        <m:t>𝐸𝑛𝑡𝑟𝑜𝑝𝑦</m:t>
                      </m:r>
                      <m:d>
                        <m:dPr>
                          <m:ctrlPr>
                            <a:rPr lang="zh-CN" altLang="en-US" sz="1600" i="1">
                              <a:latin typeface="Cambria Math" panose="02040503050406030204" pitchFamily="18" charset="0"/>
                            </a:rPr>
                          </m:ctrlPr>
                        </m:dPr>
                        <m:e>
                          <m:r>
                            <a:rPr lang="zh-CN" altLang="en-US" sz="1600" i="1">
                              <a:latin typeface="Cambria Math" panose="02040503050406030204" pitchFamily="18" charset="0"/>
                            </a:rPr>
                            <m:t>𝑆</m:t>
                          </m:r>
                        </m:e>
                        <m:e>
                          <m:r>
                            <a:rPr lang="zh-CN" altLang="en-US" sz="1600" i="1">
                              <a:latin typeface="Cambria Math" panose="02040503050406030204" pitchFamily="18" charset="0"/>
                            </a:rPr>
                            <m:t>𝑌</m:t>
                          </m:r>
                        </m:e>
                      </m:d>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9852</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8</m:t>
                          </m:r>
                        </m:num>
                        <m:den>
                          <m:r>
                            <a:rPr lang="zh-CN" altLang="en-US" sz="1600" i="0">
                              <a:latin typeface="Cambria Math" panose="02040503050406030204" pitchFamily="18" charset="0"/>
                            </a:rPr>
                            <m:t>14</m:t>
                          </m:r>
                        </m:den>
                      </m:f>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9554</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2</m:t>
                          </m:r>
                        </m:num>
                        <m:den>
                          <m:r>
                            <a:rPr lang="zh-CN" altLang="en-US" sz="1600" i="0">
                              <a:latin typeface="Cambria Math" panose="02040503050406030204" pitchFamily="18" charset="0"/>
                            </a:rPr>
                            <m:t>14</m:t>
                          </m:r>
                        </m:den>
                      </m:f>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f>
                        <m:fPr>
                          <m:ctrlPr>
                            <a:rPr lang="zh-CN" altLang="en-US" sz="1600" i="1">
                              <a:latin typeface="Cambria Math" panose="02040503050406030204" pitchFamily="18" charset="0"/>
                            </a:rPr>
                          </m:ctrlPr>
                        </m:fPr>
                        <m:num>
                          <m:r>
                            <a:rPr lang="zh-CN" altLang="en-US" sz="1600" i="0">
                              <a:latin typeface="Cambria Math" panose="02040503050406030204" pitchFamily="18" charset="0"/>
                            </a:rPr>
                            <m:t>4</m:t>
                          </m:r>
                        </m:num>
                        <m:den>
                          <m:r>
                            <a:rPr lang="zh-CN" altLang="en-US" sz="1600" i="0">
                              <a:latin typeface="Cambria Math" panose="02040503050406030204" pitchFamily="18" charset="0"/>
                            </a:rPr>
                            <m:t>14</m:t>
                          </m:r>
                        </m:den>
                      </m:f>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8113</m:t>
                      </m:r>
                      <m:r>
                        <a:rPr lang="zh-CN" altLang="en-US" sz="1600" i="0">
                          <a:latin typeface="Cambria Math" panose="02040503050406030204" pitchFamily="18" charset="0"/>
                        </a:rPr>
                        <m:t>=</m:t>
                      </m:r>
                      <m:r>
                        <a:rPr lang="zh-CN" altLang="en-US" sz="1600" i="0">
                          <a:latin typeface="Cambria Math" panose="02040503050406030204" pitchFamily="18" charset="0"/>
                        </a:rPr>
                        <m:t>0</m:t>
                      </m:r>
                      <m:r>
                        <a:rPr lang="zh-CN" altLang="en-US" sz="1600" i="0">
                          <a:latin typeface="Cambria Math" panose="02040503050406030204" pitchFamily="18" charset="0"/>
                        </a:rPr>
                        <m:t>.</m:t>
                      </m:r>
                      <m:r>
                        <a:rPr lang="zh-CN" altLang="en-US" sz="1600" i="0">
                          <a:latin typeface="Cambria Math" panose="02040503050406030204" pitchFamily="18" charset="0"/>
                        </a:rPr>
                        <m:t>2080</m:t>
                      </m:r>
                    </m:oMath>
                  </m:oMathPara>
                </a14:m>
                <a:endParaRPr lang="zh-CN" altLang="en-US" sz="1600" dirty="0"/>
              </a:p>
            </p:txBody>
          </p:sp>
        </mc:Choice>
        <mc:Fallback>
          <p:sp>
            <p:nvSpPr>
              <p:cNvPr id="9" name="矩形 8"/>
              <p:cNvSpPr>
                <a:spLocks noRot="1" noChangeAspect="1" noMove="1" noResize="1" noEditPoints="1" noAdjustHandles="1" noChangeArrowheads="1" noChangeShapeType="1" noTextEdit="1"/>
              </p:cNvSpPr>
              <p:nvPr/>
            </p:nvSpPr>
            <p:spPr>
              <a:xfrm>
                <a:off x="0" y="4278214"/>
                <a:ext cx="9388643" cy="553357"/>
              </a:xfrm>
              <a:prstGeom prst="rect">
                <a:avLst/>
              </a:prstGeom>
              <a:blipFill rotWithShape="1">
                <a:blip r:embed="rId5"/>
                <a:stretch>
                  <a:fillRect t="-40" r="2" b="89"/>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ID3</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pic>
        <p:nvPicPr>
          <p:cNvPr id="5" name="内容占位符 4"/>
          <p:cNvPicPr>
            <a:picLocks noChangeAspect="1"/>
          </p:cNvPicPr>
          <p:nvPr>
            <p:ph idx="1"/>
          </p:nvPr>
        </p:nvPicPr>
        <p:blipFill>
          <a:blip r:embed="rId1"/>
          <a:stretch>
            <a:fillRect/>
          </a:stretch>
        </p:blipFill>
        <p:spPr>
          <a:xfrm>
            <a:off x="3708400" y="116840"/>
            <a:ext cx="4549140" cy="6166485"/>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C4.5</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7" name="矩形 3"/>
              <p:cNvSpPr>
                <a:spLocks noChangeArrowheads="1"/>
              </p:cNvSpPr>
              <p:nvPr/>
            </p:nvSpPr>
            <p:spPr bwMode="auto">
              <a:xfrm>
                <a:off x="516890" y="1101090"/>
                <a:ext cx="8501380" cy="4013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C4.5</a:t>
                </a:r>
                <a:r>
                  <a:rPr lang="zh-CN" altLang="en-US" sz="2000" dirty="0">
                    <a:solidFill>
                      <a:srgbClr val="000000"/>
                    </a:solidFill>
                  </a:rPr>
                  <a:t>算法总体思路与</a:t>
                </a:r>
                <a:r>
                  <a:rPr lang="en-US" altLang="zh-CN" sz="2000" dirty="0">
                    <a:solidFill>
                      <a:srgbClr val="000000"/>
                    </a:solidFill>
                  </a:rPr>
                  <a:t>ID3</a:t>
                </a:r>
                <a:r>
                  <a:rPr lang="zh-CN" altLang="en-US" sz="2000" dirty="0">
                    <a:solidFill>
                      <a:srgbClr val="000000"/>
                    </a:solidFill>
                  </a:rPr>
                  <a:t>类似，都是通过构造决策树进行分类，其区别在于分支的处理，在分支属性的选取上，</a:t>
                </a:r>
                <a:r>
                  <a:rPr lang="en-US" altLang="zh-CN" sz="2000" dirty="0">
                    <a:solidFill>
                      <a:srgbClr val="000000"/>
                    </a:solidFill>
                  </a:rPr>
                  <a:t>ID3</a:t>
                </a:r>
                <a:r>
                  <a:rPr lang="zh-CN" altLang="en-US" sz="2000" dirty="0">
                    <a:solidFill>
                      <a:srgbClr val="000000"/>
                    </a:solidFill>
                  </a:rPr>
                  <a:t>算法使用信息增益作为度量，</a:t>
                </a:r>
                <a:r>
                  <a:rPr lang="zh-CN" altLang="en-US" sz="2000" b="1" dirty="0">
                    <a:solidFill>
                      <a:srgbClr val="FF0000"/>
                    </a:solidFill>
                  </a:rPr>
                  <a:t>它会天然偏向取值更多的特征</a:t>
                </a:r>
                <a:r>
                  <a:rPr lang="zh-CN" altLang="en-US" sz="2000" dirty="0">
                    <a:solidFill>
                      <a:srgbClr val="000000"/>
                    </a:solidFill>
                  </a:rPr>
                  <a:t>，而</a:t>
                </a:r>
                <a:r>
                  <a:rPr lang="en-US" altLang="zh-CN" sz="2000" dirty="0">
                    <a:solidFill>
                      <a:srgbClr val="000000"/>
                    </a:solidFill>
                  </a:rPr>
                  <a:t>C4.5</a:t>
                </a:r>
                <a:r>
                  <a:rPr lang="zh-CN" altLang="en-US" sz="2000" dirty="0">
                    <a:solidFill>
                      <a:srgbClr val="000000"/>
                    </a:solidFill>
                  </a:rPr>
                  <a:t>算法引入了信息增益率作为度量</a:t>
                </a:r>
                <a:endParaRPr lang="en-US" altLang="zh-CN" sz="2000" dirty="0">
                  <a:solidFill>
                    <a:srgbClr val="000000"/>
                  </a:solidFill>
                </a:endParaRPr>
              </a:p>
              <a:p>
                <a:endParaRPr lang="en-US" altLang="zh-CN" sz="2000" dirty="0">
                  <a:solidFill>
                    <a:srgbClr val="000000"/>
                  </a:solidFill>
                </a:endParaRPr>
              </a:p>
              <a:p>
                <a:pPr marL="0" indent="0">
                  <a:buNone/>
                </a:pPr>
                <a:endParaRPr lang="en-US" altLang="zh-CN" sz="2000" dirty="0">
                  <a:solidFill>
                    <a:srgbClr val="000000"/>
                  </a:solidFill>
                </a:endParaRPr>
              </a:p>
              <a:p>
                <a:endParaRPr lang="en-US" altLang="zh-CN" sz="2000" dirty="0">
                  <a:solidFill>
                    <a:srgbClr val="000000"/>
                  </a:solidFill>
                </a:endParaRPr>
              </a:p>
              <a:p>
                <a:r>
                  <a:rPr lang="zh-CN" altLang="zh-CN" sz="2000" dirty="0">
                    <a:solidFill>
                      <a:srgbClr val="000000"/>
                    </a:solidFill>
                  </a:rPr>
                  <a:t>由信息增益率公式中可见，当</a:t>
                </a:r>
                <a14:m>
                  <m:oMath xmlns:m="http://schemas.openxmlformats.org/officeDocument/2006/math">
                    <m:r>
                      <a:rPr lang="en-US" altLang="zh-CN" sz="2000">
                        <a:solidFill>
                          <a:srgbClr val="000000"/>
                        </a:solidFill>
                        <a:latin typeface="Cambria Math" panose="02040503050406030204" pitchFamily="18" charset="0"/>
                      </a:rPr>
                      <m:t>𝑣</m:t>
                    </m:r>
                  </m:oMath>
                </a14:m>
                <a:r>
                  <a:rPr lang="zh-CN" altLang="zh-CN" sz="2000" dirty="0">
                    <a:solidFill>
                      <a:srgbClr val="000000"/>
                    </a:solidFill>
                  </a:rPr>
                  <a:t>比较大时，信息增益率会明显降低，从而在一定程度上能够解决</a:t>
                </a:r>
                <a:r>
                  <a:rPr lang="en-US" altLang="zh-CN" sz="2000" dirty="0">
                    <a:solidFill>
                      <a:srgbClr val="000000"/>
                    </a:solidFill>
                  </a:rPr>
                  <a:t>ID3</a:t>
                </a:r>
                <a:r>
                  <a:rPr lang="zh-CN" altLang="zh-CN" sz="2000" dirty="0">
                    <a:solidFill>
                      <a:srgbClr val="000000"/>
                    </a:solidFill>
                  </a:rPr>
                  <a:t>算法存在的往往选择取值较多的分支属性的问题</a:t>
                </a:r>
                <a:endParaRPr lang="en-US" altLang="zh-CN" sz="2000" dirty="0">
                  <a:solidFill>
                    <a:srgbClr val="000000"/>
                  </a:solidFill>
                </a:endParaRPr>
              </a:p>
              <a:p>
                <a:r>
                  <a:rPr lang="zh-CN" altLang="en-US" sz="2000" dirty="0">
                    <a:solidFill>
                      <a:srgbClr val="000000"/>
                    </a:solidFill>
                  </a:rPr>
                  <a:t>在前面例子中，假设选择“饮食习性”作为分支属性，其信息增益率为</a:t>
                </a:r>
                <a:endParaRPr lang="en-US" altLang="zh-CN" sz="2000" dirty="0">
                  <a:solidFill>
                    <a:srgbClr val="000000"/>
                  </a:solidFill>
                </a:endParaRPr>
              </a:p>
              <a:p>
                <a:endParaRPr lang="en-US" altLang="zh-CN" sz="2000" dirty="0">
                  <a:solidFill>
                    <a:srgbClr val="000000"/>
                  </a:solidFill>
                </a:endParaRPr>
              </a:p>
            </p:txBody>
          </p:sp>
        </mc:Choice>
        <mc:Fallback>
          <p:sp>
            <p:nvSpPr>
              <p:cNvPr id="17" name="矩形 3"/>
              <p:cNvSpPr>
                <a:spLocks noRot="1" noChangeAspect="1" noMove="1" noResize="1" noEditPoints="1" noAdjustHandles="1" noChangeArrowheads="1" noChangeShapeType="1" noTextEdit="1"/>
              </p:cNvSpPr>
              <p:nvPr/>
            </p:nvSpPr>
            <p:spPr bwMode="auto">
              <a:xfrm>
                <a:off x="516890" y="1101090"/>
                <a:ext cx="8501380" cy="4013835"/>
              </a:xfrm>
              <a:prstGeom prst="rect">
                <a:avLst/>
              </a:prstGeom>
              <a:blipFill rotWithShape="1">
                <a:blip r:embed="rId1"/>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2724156" y="2273650"/>
                <a:ext cx="3752887" cy="91871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zh-CN" altLang="en-US" sz="1800">
                          <a:latin typeface="Cambria Math" panose="02040503050406030204" pitchFamily="18" charset="0"/>
                        </a:rPr>
                        <m:t>Gain</m:t>
                      </m:r>
                      <m:r>
                        <m:rPr>
                          <m:lit/>
                        </m:rPr>
                        <a:rPr lang="zh-CN" altLang="en-US" sz="1800">
                          <a:latin typeface="Cambria Math" panose="02040503050406030204" pitchFamily="18" charset="0"/>
                        </a:rPr>
                        <m:t>_</m:t>
                      </m:r>
                      <m:r>
                        <m:rPr>
                          <m:sty m:val="p"/>
                        </m:rPr>
                        <a:rPr lang="zh-CN" altLang="en-US" sz="1800">
                          <a:latin typeface="Cambria Math" panose="02040503050406030204" pitchFamily="18" charset="0"/>
                        </a:rPr>
                        <m:t>ratio</m:t>
                      </m:r>
                      <m:r>
                        <a:rPr lang="zh-CN" altLang="en-US" sz="1800">
                          <a:latin typeface="Cambria Math" panose="02040503050406030204" pitchFamily="18" charset="0"/>
                        </a:rPr>
                        <m:t>(</m:t>
                      </m:r>
                      <m:r>
                        <m:rPr>
                          <m:sty m:val="p"/>
                        </m:rPr>
                        <a:rPr lang="zh-CN" altLang="en-US" sz="1800">
                          <a:latin typeface="Cambria Math" panose="02040503050406030204" pitchFamily="18" charset="0"/>
                        </a:rPr>
                        <m:t>A</m:t>
                      </m:r>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𝐺𝑎𝑖𝑛</m:t>
                          </m:r>
                          <m:d>
                            <m:dPr>
                              <m:ctrlPr>
                                <a:rPr lang="zh-CN" altLang="en-US" sz="1800" i="1">
                                  <a:latin typeface="Cambria Math" panose="02040503050406030204" pitchFamily="18" charset="0"/>
                                </a:rPr>
                              </m:ctrlPr>
                            </m:dPr>
                            <m:e>
                              <m:r>
                                <a:rPr lang="zh-CN" altLang="en-US" sz="1800" i="1">
                                  <a:latin typeface="Cambria Math" panose="02040503050406030204" pitchFamily="18" charset="0"/>
                                </a:rPr>
                                <m:t>𝐴</m:t>
                              </m:r>
                            </m:e>
                          </m:d>
                        </m:num>
                        <m:den>
                          <m:r>
                            <a:rPr lang="zh-CN" altLang="en-US" sz="1800">
                              <a:latin typeface="Cambria Math" panose="02040503050406030204" pitchFamily="18" charset="0"/>
                            </a:rPr>
                            <m:t>−</m:t>
                          </m:r>
                          <m:nary>
                            <m:naryPr>
                              <m:chr m:val="∑"/>
                              <m:limLoc m:val="subSup"/>
                              <m:ctrlPr>
                                <a:rPr lang="zh-CN" altLang="en-US" sz="1800" i="1">
                                  <a:latin typeface="Cambria Math" panose="02040503050406030204" pitchFamily="18" charset="0"/>
                                </a:rPr>
                              </m:ctrlPr>
                            </m:naryPr>
                            <m:sub>
                              <m:r>
                                <a:rPr lang="zh-CN" altLang="en-US" sz="1800" i="1">
                                  <a:latin typeface="Cambria Math" panose="02040503050406030204" pitchFamily="18" charset="0"/>
                                </a:rPr>
                                <m:t>𝑖</m:t>
                              </m:r>
                              <m:r>
                                <a:rPr lang="zh-CN" altLang="en-US" sz="1800">
                                  <a:latin typeface="Cambria Math" panose="02040503050406030204" pitchFamily="18" charset="0"/>
                                </a:rPr>
                                <m:t>=</m:t>
                              </m:r>
                              <m:r>
                                <a:rPr lang="zh-CN" altLang="en-US" sz="1800">
                                  <a:latin typeface="Cambria Math" panose="02040503050406030204" pitchFamily="18" charset="0"/>
                                </a:rPr>
                                <m:t>1</m:t>
                              </m:r>
                            </m:sub>
                            <m:sup>
                              <m:r>
                                <a:rPr lang="zh-CN" altLang="en-US" sz="1800" i="1">
                                  <a:latin typeface="Cambria Math" panose="02040503050406030204" pitchFamily="18" charset="0"/>
                                </a:rPr>
                                <m:t>𝑣</m:t>
                              </m:r>
                            </m:sup>
                            <m:e>
                              <m:f>
                                <m:fPr>
                                  <m:ctrlPr>
                                    <a:rPr lang="zh-CN" altLang="en-US" sz="1800" i="1">
                                      <a:latin typeface="Cambria Math" panose="02040503050406030204" pitchFamily="18" charset="0"/>
                                    </a:rPr>
                                  </m:ctrlPr>
                                </m:fPr>
                                <m:num>
                                  <m:d>
                                    <m:dPr>
                                      <m:begChr m:val="|"/>
                                      <m:endChr m:val="|"/>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i="1">
                                              <a:latin typeface="Cambria Math" panose="02040503050406030204" pitchFamily="18" charset="0"/>
                                            </a:rPr>
                                            <m:t>𝑖</m:t>
                                          </m:r>
                                        </m:sub>
                                      </m:sSub>
                                    </m:e>
                                  </m:d>
                                </m:num>
                                <m:den>
                                  <m:d>
                                    <m:dPr>
                                      <m:begChr m:val="|"/>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𝑆</m:t>
                                      </m:r>
                                    </m:e>
                                  </m:d>
                                </m:den>
                              </m:f>
                              <m:func>
                                <m:funcPr>
                                  <m:ctrlPr>
                                    <a:rPr lang="zh-CN" altLang="en-US" sz="1800" i="1">
                                      <a:latin typeface="Cambria Math" panose="02040503050406030204" pitchFamily="18" charset="0"/>
                                    </a:rPr>
                                  </m:ctrlPr>
                                </m:funcPr>
                                <m:fName>
                                  <m:sSub>
                                    <m:sSubPr>
                                      <m:ctrlPr>
                                        <a:rPr lang="zh-CN" altLang="en-US" sz="1800" i="1">
                                          <a:latin typeface="Cambria Math" panose="02040503050406030204" pitchFamily="18" charset="0"/>
                                        </a:rPr>
                                      </m:ctrlPr>
                                    </m:sSubPr>
                                    <m:e>
                                      <m:r>
                                        <m:rPr>
                                          <m:sty m:val="p"/>
                                        </m:rPr>
                                        <a:rPr lang="zh-CN" altLang="en-US" sz="1800">
                                          <a:latin typeface="Cambria Math" panose="02040503050406030204" pitchFamily="18" charset="0"/>
                                        </a:rPr>
                                        <m:t>log</m:t>
                                      </m:r>
                                    </m:e>
                                    <m:sub>
                                      <m:r>
                                        <a:rPr lang="zh-CN" altLang="en-US" sz="1800">
                                          <a:latin typeface="Cambria Math" panose="02040503050406030204" pitchFamily="18" charset="0"/>
                                        </a:rPr>
                                        <m:t>2</m:t>
                                      </m:r>
                                    </m:sub>
                                  </m:sSub>
                                </m:fName>
                                <m:e>
                                  <m:f>
                                    <m:fPr>
                                      <m:ctrlPr>
                                        <a:rPr lang="zh-CN" altLang="en-US" sz="1800" i="1">
                                          <a:latin typeface="Cambria Math" panose="02040503050406030204" pitchFamily="18" charset="0"/>
                                        </a:rPr>
                                      </m:ctrlPr>
                                    </m:fPr>
                                    <m:num>
                                      <m:d>
                                        <m:dPr>
                                          <m:begChr m:val="|"/>
                                          <m:endChr m:val="|"/>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i="1">
                                                  <a:latin typeface="Cambria Math" panose="02040503050406030204" pitchFamily="18" charset="0"/>
                                                </a:rPr>
                                                <m:t>𝑖</m:t>
                                              </m:r>
                                            </m:sub>
                                          </m:sSub>
                                        </m:e>
                                      </m:d>
                                    </m:num>
                                    <m:den>
                                      <m:d>
                                        <m:dPr>
                                          <m:begChr m:val="|"/>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𝑆</m:t>
                                          </m:r>
                                        </m:e>
                                      </m:d>
                                    </m:den>
                                  </m:f>
                                </m:e>
                              </m:func>
                            </m:e>
                          </m:nary>
                        </m:den>
                      </m:f>
                    </m:oMath>
                  </m:oMathPara>
                </a14:m>
                <a:endParaRPr lang="zh-CN" altLang="en-US" sz="1800" dirty="0"/>
              </a:p>
            </p:txBody>
          </p:sp>
        </mc:Choice>
        <mc:Fallback>
          <p:sp>
            <p:nvSpPr>
              <p:cNvPr id="18" name="矩形 17"/>
              <p:cNvSpPr>
                <a:spLocks noRot="1" noChangeAspect="1" noMove="1" noResize="1" noEditPoints="1" noAdjustHandles="1" noChangeArrowheads="1" noChangeShapeType="1" noTextEdit="1"/>
              </p:cNvSpPr>
              <p:nvPr/>
            </p:nvSpPr>
            <p:spPr>
              <a:xfrm>
                <a:off x="2724156" y="2273650"/>
                <a:ext cx="3752887" cy="918713"/>
              </a:xfrm>
              <a:prstGeom prst="rect">
                <a:avLst/>
              </a:prstGeom>
              <a:blipFill rotWithShape="1">
                <a:blip r:embed="rId2"/>
                <a:stretch>
                  <a:fillRect t="-38" r="1" b="-39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319410" y="4777947"/>
                <a:ext cx="8836054" cy="1213153"/>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zh-CN" altLang="en-US" sz="1800" smtClean="0">
                          <a:latin typeface="Cambria Math" panose="02040503050406030204" pitchFamily="18" charset="0"/>
                        </a:rPr>
                        <m:t>G</m:t>
                      </m:r>
                      <m:r>
                        <m:rPr>
                          <m:sty m:val="p"/>
                        </m:rPr>
                        <a:rPr lang="zh-CN" altLang="en-US" sz="1800">
                          <a:latin typeface="Cambria Math" panose="02040503050406030204" pitchFamily="18" charset="0"/>
                        </a:rPr>
                        <m:t>ain</m:t>
                      </m:r>
                      <m:r>
                        <m:rPr>
                          <m:lit/>
                        </m:rPr>
                        <a:rPr lang="zh-CN" altLang="en-US" sz="1800">
                          <a:latin typeface="Cambria Math" panose="02040503050406030204" pitchFamily="18" charset="0"/>
                        </a:rPr>
                        <m:t>_</m:t>
                      </m:r>
                      <m:r>
                        <m:rPr>
                          <m:sty m:val="p"/>
                        </m:rPr>
                        <a:rPr lang="zh-CN" altLang="en-US" sz="1800">
                          <a:latin typeface="Cambria Math" panose="02040503050406030204" pitchFamily="18" charset="0"/>
                        </a:rPr>
                        <m:t>ratio</m:t>
                      </m:r>
                      <m:d>
                        <m:dPr>
                          <m:ctrlPr>
                            <a:rPr lang="zh-CN" altLang="en-US" sz="1800" i="1">
                              <a:latin typeface="Cambria Math" panose="02040503050406030204" pitchFamily="18" charset="0"/>
                            </a:rPr>
                          </m:ctrlPr>
                        </m:dPr>
                        <m:e>
                          <m:r>
                            <a:rPr lang="zh-CN" altLang="en-US" sz="1800">
                              <a:latin typeface="Cambria Math" panose="02040503050406030204" pitchFamily="18" charset="0"/>
                            </a:rPr>
                            <m:t>饮食习性</m:t>
                          </m:r>
                        </m:e>
                      </m:d>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i="1">
                              <a:latin typeface="Cambria Math" panose="02040503050406030204" pitchFamily="18" charset="0"/>
                            </a:rPr>
                            <m:t>𝐺𝑎𝑖𝑛</m:t>
                          </m:r>
                          <m:d>
                            <m:dPr>
                              <m:ctrlPr>
                                <a:rPr lang="zh-CN" altLang="en-US" sz="1800" i="1">
                                  <a:latin typeface="Cambria Math" panose="02040503050406030204" pitchFamily="18" charset="0"/>
                                </a:rPr>
                              </m:ctrlPr>
                            </m:dPr>
                            <m:e>
                              <m:r>
                                <a:rPr lang="zh-CN" altLang="en-US" sz="1800">
                                  <a:latin typeface="Cambria Math" panose="02040503050406030204" pitchFamily="18" charset="0"/>
                                </a:rPr>
                                <m:t>饮食习性</m:t>
                              </m:r>
                            </m:e>
                          </m:d>
                        </m:num>
                        <m:den>
                          <m:r>
                            <a:rPr lang="zh-CN" altLang="en-US" sz="1800">
                              <a:latin typeface="Cambria Math" panose="02040503050406030204" pitchFamily="18" charset="0"/>
                            </a:rPr>
                            <m:t>−</m:t>
                          </m:r>
                          <m:nary>
                            <m:naryPr>
                              <m:chr m:val="∑"/>
                              <m:limLoc m:val="subSup"/>
                              <m:ctrlPr>
                                <a:rPr lang="zh-CN" altLang="en-US" sz="1800" i="1">
                                  <a:latin typeface="Cambria Math" panose="02040503050406030204" pitchFamily="18" charset="0"/>
                                </a:rPr>
                              </m:ctrlPr>
                            </m:naryPr>
                            <m:sub>
                              <m:r>
                                <a:rPr lang="zh-CN" altLang="en-US" sz="1800" i="1">
                                  <a:latin typeface="Cambria Math" panose="02040503050406030204" pitchFamily="18" charset="0"/>
                                </a:rPr>
                                <m:t>𝑖</m:t>
                              </m:r>
                              <m:r>
                                <a:rPr lang="zh-CN" altLang="en-US" sz="1800">
                                  <a:latin typeface="Cambria Math" panose="02040503050406030204" pitchFamily="18" charset="0"/>
                                </a:rPr>
                                <m:t>=</m:t>
                              </m:r>
                              <m:r>
                                <a:rPr lang="zh-CN" altLang="en-US" sz="1800">
                                  <a:latin typeface="Cambria Math" panose="02040503050406030204" pitchFamily="18" charset="0"/>
                                </a:rPr>
                                <m:t>1</m:t>
                              </m:r>
                            </m:sub>
                            <m:sup>
                              <m:r>
                                <a:rPr lang="zh-CN" altLang="en-US" sz="1800">
                                  <a:latin typeface="Cambria Math" panose="02040503050406030204" pitchFamily="18" charset="0"/>
                                </a:rPr>
                                <m:t>3</m:t>
                              </m:r>
                            </m:sup>
                            <m:e>
                              <m:f>
                                <m:fPr>
                                  <m:ctrlPr>
                                    <a:rPr lang="zh-CN" altLang="en-US" sz="1800" i="1">
                                      <a:latin typeface="Cambria Math" panose="02040503050406030204" pitchFamily="18" charset="0"/>
                                    </a:rPr>
                                  </m:ctrlPr>
                                </m:fPr>
                                <m:num>
                                  <m:d>
                                    <m:dPr>
                                      <m:begChr m:val="|"/>
                                      <m:endChr m:val="|"/>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i="1">
                                              <a:latin typeface="Cambria Math" panose="02040503050406030204" pitchFamily="18" charset="0"/>
                                            </a:rPr>
                                            <m:t>𝑖</m:t>
                                          </m:r>
                                        </m:sub>
                                      </m:sSub>
                                    </m:e>
                                  </m:d>
                                </m:num>
                                <m:den>
                                  <m:d>
                                    <m:dPr>
                                      <m:begChr m:val="|"/>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𝑆</m:t>
                                      </m:r>
                                    </m:e>
                                  </m:d>
                                </m:den>
                              </m:f>
                              <m:func>
                                <m:funcPr>
                                  <m:ctrlPr>
                                    <a:rPr lang="zh-CN" altLang="en-US" sz="1800" i="1">
                                      <a:latin typeface="Cambria Math" panose="02040503050406030204" pitchFamily="18" charset="0"/>
                                    </a:rPr>
                                  </m:ctrlPr>
                                </m:funcPr>
                                <m:fName>
                                  <m:sSub>
                                    <m:sSubPr>
                                      <m:ctrlPr>
                                        <a:rPr lang="zh-CN" altLang="en-US" sz="1800" i="1">
                                          <a:latin typeface="Cambria Math" panose="02040503050406030204" pitchFamily="18" charset="0"/>
                                        </a:rPr>
                                      </m:ctrlPr>
                                    </m:sSubPr>
                                    <m:e>
                                      <m:r>
                                        <m:rPr>
                                          <m:sty m:val="p"/>
                                        </m:rPr>
                                        <a:rPr lang="zh-CN" altLang="en-US" sz="1800">
                                          <a:latin typeface="Cambria Math" panose="02040503050406030204" pitchFamily="18" charset="0"/>
                                        </a:rPr>
                                        <m:t>log</m:t>
                                      </m:r>
                                    </m:e>
                                    <m:sub>
                                      <m:r>
                                        <a:rPr lang="zh-CN" altLang="en-US" sz="1800">
                                          <a:latin typeface="Cambria Math" panose="02040503050406030204" pitchFamily="18" charset="0"/>
                                        </a:rPr>
                                        <m:t>2</m:t>
                                      </m:r>
                                    </m:sub>
                                  </m:sSub>
                                </m:fName>
                                <m:e>
                                  <m:f>
                                    <m:fPr>
                                      <m:ctrlPr>
                                        <a:rPr lang="zh-CN" altLang="en-US" sz="1800" i="1">
                                          <a:latin typeface="Cambria Math" panose="02040503050406030204" pitchFamily="18" charset="0"/>
                                        </a:rPr>
                                      </m:ctrlPr>
                                    </m:fPr>
                                    <m:num>
                                      <m:d>
                                        <m:dPr>
                                          <m:begChr m:val="|"/>
                                          <m:endChr m:val="|"/>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i="1">
                                                  <a:latin typeface="Cambria Math" panose="02040503050406030204" pitchFamily="18" charset="0"/>
                                                </a:rPr>
                                                <m:t>𝑖</m:t>
                                              </m:r>
                                            </m:sub>
                                          </m:sSub>
                                        </m:e>
                                      </m:d>
                                    </m:num>
                                    <m:den>
                                      <m:d>
                                        <m:dPr>
                                          <m:begChr m:val="|"/>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𝑆</m:t>
                                          </m:r>
                                        </m:e>
                                      </m:d>
                                    </m:den>
                                  </m:f>
                                </m:e>
                              </m:func>
                            </m:e>
                          </m:nary>
                        </m:den>
                      </m:f>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0</m:t>
                          </m:r>
                          <m:r>
                            <a:rPr lang="zh-CN" altLang="en-US" sz="1800">
                              <a:latin typeface="Cambria Math" panose="02040503050406030204" pitchFamily="18" charset="0"/>
                            </a:rPr>
                            <m:t>.</m:t>
                          </m:r>
                          <m:r>
                            <a:rPr lang="zh-CN" altLang="en-US" sz="1800">
                              <a:latin typeface="Cambria Math" panose="02040503050406030204" pitchFamily="18" charset="0"/>
                            </a:rPr>
                            <m:t>2080</m:t>
                          </m:r>
                        </m:num>
                        <m:den>
                          <m:d>
                            <m:dPr>
                              <m:begChr m:val=""/>
                              <m:ctrlPr>
                                <a:rPr lang="zh-CN" altLang="en-US" sz="1800" i="1">
                                  <a:latin typeface="Cambria Math" panose="02040503050406030204" pitchFamily="18" charset="0"/>
                                </a:rPr>
                              </m:ctrlPr>
                            </m:dPr>
                            <m:e>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8</m:t>
                                  </m:r>
                                </m:num>
                                <m:den>
                                  <m:r>
                                    <a:rPr lang="zh-CN" altLang="en-US" sz="1800">
                                      <a:latin typeface="Cambria Math" panose="02040503050406030204" pitchFamily="18" charset="0"/>
                                    </a:rPr>
                                    <m:t>14</m:t>
                                  </m:r>
                                </m:den>
                              </m:f>
                              <m:func>
                                <m:funcPr>
                                  <m:ctrlPr>
                                    <a:rPr lang="zh-CN" altLang="en-US" sz="1800" i="1">
                                      <a:latin typeface="Cambria Math" panose="02040503050406030204" pitchFamily="18" charset="0"/>
                                    </a:rPr>
                                  </m:ctrlPr>
                                </m:funcPr>
                                <m:fName>
                                  <m:sSub>
                                    <m:sSubPr>
                                      <m:ctrlPr>
                                        <a:rPr lang="zh-CN" altLang="en-US" sz="1800" i="1">
                                          <a:latin typeface="Cambria Math" panose="02040503050406030204" pitchFamily="18" charset="0"/>
                                        </a:rPr>
                                      </m:ctrlPr>
                                    </m:sSubPr>
                                    <m:e>
                                      <m:r>
                                        <m:rPr>
                                          <m:sty m:val="p"/>
                                        </m:rPr>
                                        <a:rPr lang="zh-CN" altLang="en-US" sz="1800">
                                          <a:latin typeface="Cambria Math" panose="02040503050406030204" pitchFamily="18" charset="0"/>
                                        </a:rPr>
                                        <m:t>log</m:t>
                                      </m:r>
                                    </m:e>
                                    <m:sub>
                                      <m:r>
                                        <a:rPr lang="zh-CN" altLang="en-US" sz="1800">
                                          <a:latin typeface="Cambria Math" panose="02040503050406030204" pitchFamily="18" charset="0"/>
                                        </a:rPr>
                                        <m:t>2</m:t>
                                      </m:r>
                                    </m:sub>
                                  </m:sSub>
                                </m:fName>
                                <m:e>
                                  <m:f>
                                    <m:fPr>
                                      <m:ctrlPr>
                                        <a:rPr lang="zh-CN" altLang="en-US" sz="1800" i="1">
                                          <a:latin typeface="Cambria Math" panose="02040503050406030204" pitchFamily="18" charset="0"/>
                                        </a:rPr>
                                      </m:ctrlPr>
                                    </m:fPr>
                                    <m:num>
                                      <m:r>
                                        <a:rPr lang="zh-CN" altLang="en-US" sz="1800">
                                          <a:latin typeface="Cambria Math" panose="02040503050406030204" pitchFamily="18" charset="0"/>
                                        </a:rPr>
                                        <m:t>8</m:t>
                                      </m:r>
                                    </m:num>
                                    <m:den>
                                      <m:r>
                                        <a:rPr lang="zh-CN" altLang="en-US" sz="1800">
                                          <a:latin typeface="Cambria Math" panose="02040503050406030204" pitchFamily="18" charset="0"/>
                                        </a:rPr>
                                        <m:t>14</m:t>
                                      </m:r>
                                    </m:den>
                                  </m:f>
                                </m:e>
                              </m:func>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2</m:t>
                                  </m:r>
                                </m:num>
                                <m:den>
                                  <m:r>
                                    <a:rPr lang="zh-CN" altLang="en-US" sz="1800">
                                      <a:latin typeface="Cambria Math" panose="02040503050406030204" pitchFamily="18" charset="0"/>
                                    </a:rPr>
                                    <m:t>14</m:t>
                                  </m:r>
                                </m:den>
                              </m:f>
                              <m:func>
                                <m:funcPr>
                                  <m:ctrlPr>
                                    <a:rPr lang="zh-CN" altLang="en-US" sz="1800" i="1">
                                      <a:latin typeface="Cambria Math" panose="02040503050406030204" pitchFamily="18" charset="0"/>
                                    </a:rPr>
                                  </m:ctrlPr>
                                </m:funcPr>
                                <m:fName>
                                  <m:sSub>
                                    <m:sSubPr>
                                      <m:ctrlPr>
                                        <a:rPr lang="zh-CN" altLang="en-US" sz="1800" i="1">
                                          <a:latin typeface="Cambria Math" panose="02040503050406030204" pitchFamily="18" charset="0"/>
                                        </a:rPr>
                                      </m:ctrlPr>
                                    </m:sSubPr>
                                    <m:e>
                                      <m:r>
                                        <m:rPr>
                                          <m:sty m:val="p"/>
                                        </m:rPr>
                                        <a:rPr lang="zh-CN" altLang="en-US" sz="1800">
                                          <a:latin typeface="Cambria Math" panose="02040503050406030204" pitchFamily="18" charset="0"/>
                                        </a:rPr>
                                        <m:t>log</m:t>
                                      </m:r>
                                    </m:e>
                                    <m:sub>
                                      <m:r>
                                        <a:rPr lang="zh-CN" altLang="en-US" sz="1800">
                                          <a:latin typeface="Cambria Math" panose="02040503050406030204" pitchFamily="18" charset="0"/>
                                        </a:rPr>
                                        <m:t>2</m:t>
                                      </m:r>
                                    </m:sub>
                                  </m:sSub>
                                </m:fName>
                                <m:e>
                                  <m:f>
                                    <m:fPr>
                                      <m:ctrlPr>
                                        <a:rPr lang="zh-CN" altLang="en-US" sz="1800" i="1">
                                          <a:latin typeface="Cambria Math" panose="02040503050406030204" pitchFamily="18" charset="0"/>
                                        </a:rPr>
                                      </m:ctrlPr>
                                    </m:fPr>
                                    <m:num>
                                      <m:r>
                                        <a:rPr lang="zh-CN" altLang="en-US" sz="1800">
                                          <a:latin typeface="Cambria Math" panose="02040503050406030204" pitchFamily="18" charset="0"/>
                                        </a:rPr>
                                        <m:t>2</m:t>
                                      </m:r>
                                    </m:num>
                                    <m:den>
                                      <m:r>
                                        <a:rPr lang="zh-CN" altLang="en-US" sz="1800">
                                          <a:latin typeface="Cambria Math" panose="02040503050406030204" pitchFamily="18" charset="0"/>
                                        </a:rPr>
                                        <m:t>14</m:t>
                                      </m:r>
                                    </m:den>
                                  </m:f>
                                </m:e>
                              </m:func>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4</m:t>
                                  </m:r>
                                </m:num>
                                <m:den>
                                  <m:r>
                                    <a:rPr lang="zh-CN" altLang="en-US" sz="1800">
                                      <a:latin typeface="Cambria Math" panose="02040503050406030204" pitchFamily="18" charset="0"/>
                                    </a:rPr>
                                    <m:t>14</m:t>
                                  </m:r>
                                </m:den>
                              </m:f>
                              <m:func>
                                <m:funcPr>
                                  <m:ctrlPr>
                                    <a:rPr lang="zh-CN" altLang="en-US" sz="1800" i="1">
                                      <a:latin typeface="Cambria Math" panose="02040503050406030204" pitchFamily="18" charset="0"/>
                                    </a:rPr>
                                  </m:ctrlPr>
                                </m:funcPr>
                                <m:fName>
                                  <m:sSub>
                                    <m:sSubPr>
                                      <m:ctrlPr>
                                        <a:rPr lang="zh-CN" altLang="en-US" sz="1800" i="1">
                                          <a:latin typeface="Cambria Math" panose="02040503050406030204" pitchFamily="18" charset="0"/>
                                        </a:rPr>
                                      </m:ctrlPr>
                                    </m:sSubPr>
                                    <m:e>
                                      <m:r>
                                        <m:rPr>
                                          <m:sty m:val="p"/>
                                        </m:rPr>
                                        <a:rPr lang="zh-CN" altLang="en-US" sz="1800">
                                          <a:latin typeface="Cambria Math" panose="02040503050406030204" pitchFamily="18" charset="0"/>
                                        </a:rPr>
                                        <m:t>log</m:t>
                                      </m:r>
                                    </m:e>
                                    <m:sub>
                                      <m:r>
                                        <a:rPr lang="zh-CN" altLang="en-US" sz="1800">
                                          <a:latin typeface="Cambria Math" panose="02040503050406030204" pitchFamily="18" charset="0"/>
                                        </a:rPr>
                                        <m:t>2</m:t>
                                      </m:r>
                                    </m:sub>
                                  </m:sSub>
                                </m:fName>
                                <m:e>
                                  <m:f>
                                    <m:fPr>
                                      <m:ctrlPr>
                                        <a:rPr lang="zh-CN" altLang="en-US" sz="1800" i="1">
                                          <a:latin typeface="Cambria Math" panose="02040503050406030204" pitchFamily="18" charset="0"/>
                                        </a:rPr>
                                      </m:ctrlPr>
                                    </m:fPr>
                                    <m:num>
                                      <m:r>
                                        <a:rPr lang="zh-CN" altLang="en-US" sz="1800">
                                          <a:latin typeface="Cambria Math" panose="02040503050406030204" pitchFamily="18" charset="0"/>
                                        </a:rPr>
                                        <m:t>4</m:t>
                                      </m:r>
                                    </m:num>
                                    <m:den>
                                      <m:r>
                                        <a:rPr lang="zh-CN" altLang="en-US" sz="1800">
                                          <a:latin typeface="Cambria Math" panose="02040503050406030204" pitchFamily="18" charset="0"/>
                                        </a:rPr>
                                        <m:t>14</m:t>
                                      </m:r>
                                    </m:den>
                                  </m:f>
                                </m:e>
                              </m:func>
                            </m:e>
                          </m:d>
                        </m:den>
                      </m:f>
                      <m:r>
                        <a:rPr lang="en-US" altLang="zh-CN" sz="1800" b="0" i="0" smtClean="0">
                          <a:latin typeface="Cambria Math" panose="02040503050406030204" pitchFamily="18" charset="0"/>
                        </a:rPr>
                        <m:t> </m:t>
                      </m:r>
                      <m:r>
                        <a:rPr lang="zh-CN" altLang="en-US" sz="1800">
                          <a:latin typeface="Cambria Math" panose="02040503050406030204" pitchFamily="18" charset="0"/>
                        </a:rPr>
                        <m:t>=</m:t>
                      </m:r>
                      <m:r>
                        <a:rPr lang="zh-CN" altLang="en-US" sz="1800">
                          <a:latin typeface="Cambria Math" panose="02040503050406030204" pitchFamily="18" charset="0"/>
                        </a:rPr>
                        <m:t>0</m:t>
                      </m:r>
                      <m:r>
                        <a:rPr lang="zh-CN" altLang="en-US" sz="1800">
                          <a:latin typeface="Cambria Math" panose="02040503050406030204" pitchFamily="18" charset="0"/>
                        </a:rPr>
                        <m:t>.</m:t>
                      </m:r>
                      <m:r>
                        <a:rPr lang="zh-CN" altLang="en-US" sz="1800">
                          <a:latin typeface="Cambria Math" panose="02040503050406030204" pitchFamily="18" charset="0"/>
                        </a:rPr>
                        <m:t>1509</m:t>
                      </m:r>
                    </m:oMath>
                  </m:oMathPara>
                </a14:m>
                <a:endParaRPr lang="zh-CN" altLang="en-US" sz="1800" dirty="0"/>
              </a:p>
            </p:txBody>
          </p:sp>
        </mc:Choice>
        <mc:Fallback>
          <p:sp>
            <p:nvSpPr>
              <p:cNvPr id="19" name="矩形 18"/>
              <p:cNvSpPr>
                <a:spLocks noRot="1" noChangeAspect="1" noMove="1" noResize="1" noEditPoints="1" noAdjustHandles="1" noChangeArrowheads="1" noChangeShapeType="1" noTextEdit="1"/>
              </p:cNvSpPr>
              <p:nvPr/>
            </p:nvSpPr>
            <p:spPr>
              <a:xfrm>
                <a:off x="319410" y="4777947"/>
                <a:ext cx="8836054" cy="1213153"/>
              </a:xfrm>
              <a:prstGeom prst="rect">
                <a:avLst/>
              </a:prstGeom>
              <a:blipFill rotWithShape="1">
                <a:blip r:embed="rId3"/>
                <a:stretch>
                  <a:fillRect t="-17" b="-63"/>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CART</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7" name="矩形 3"/>
              <p:cNvSpPr>
                <a:spLocks noChangeArrowheads="1"/>
              </p:cNvSpPr>
              <p:nvPr/>
            </p:nvSpPr>
            <p:spPr bwMode="auto">
              <a:xfrm>
                <a:off x="484468" y="1268760"/>
                <a:ext cx="8501553" cy="562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en-US" altLang="zh-CN" sz="2000" dirty="0">
                    <a:solidFill>
                      <a:srgbClr val="000000"/>
                    </a:solidFill>
                  </a:rPr>
                  <a:t>CART</a:t>
                </a:r>
                <a:r>
                  <a:rPr lang="zh-CN" altLang="zh-CN" sz="2000" dirty="0">
                    <a:solidFill>
                      <a:srgbClr val="000000"/>
                    </a:solidFill>
                  </a:rPr>
                  <a:t>算法采用的是一种二分循环分割的方法，每次都把当前样本集划分为</a:t>
                </a:r>
                <a:r>
                  <a:rPr lang="zh-CN" altLang="zh-CN" sz="2000" b="1" dirty="0">
                    <a:solidFill>
                      <a:srgbClr val="FF0000"/>
                    </a:solidFill>
                  </a:rPr>
                  <a:t>两个子样本集</a:t>
                </a:r>
                <a:r>
                  <a:rPr lang="zh-CN" altLang="zh-CN" sz="2000" dirty="0">
                    <a:solidFill>
                      <a:srgbClr val="000000"/>
                    </a:solidFill>
                  </a:rPr>
                  <a:t>，使生成的决策树的结点均有两个分支，显然，这样就构造了一个二叉树。如果分支属性有多于两个取值，在分裂时会对属性值进行组合，选择最佳的两个组合分支。假设某属性存在</a:t>
                </a:r>
                <a14:m>
                  <m:oMath xmlns:m="http://schemas.openxmlformats.org/officeDocument/2006/math">
                    <m:r>
                      <a:rPr lang="en-US" altLang="zh-CN" sz="2000">
                        <a:solidFill>
                          <a:srgbClr val="000000"/>
                        </a:solidFill>
                        <a:latin typeface="Cambria Math" panose="02040503050406030204" pitchFamily="18" charset="0"/>
                      </a:rPr>
                      <m:t>𝑞</m:t>
                    </m:r>
                  </m:oMath>
                </a14:m>
                <a:r>
                  <a:rPr lang="zh-CN" altLang="zh-CN" sz="2000" dirty="0">
                    <a:solidFill>
                      <a:srgbClr val="000000"/>
                    </a:solidFill>
                  </a:rPr>
                  <a:t>个可能取值，那么以该属性作为分支属性，生成两个分支的分裂方法共有</a:t>
                </a:r>
                <a14:m>
                  <m:oMath xmlns:m="http://schemas.openxmlformats.org/officeDocument/2006/math">
                    <m:sSup>
                      <m:sSupPr>
                        <m:ctrlPr>
                          <a:rPr lang="zh-CN" altLang="zh-CN" sz="2000" i="1">
                            <a:solidFill>
                              <a:srgbClr val="FF0000"/>
                            </a:solidFill>
                            <a:latin typeface="Cambria Math" panose="02040503050406030204" pitchFamily="18" charset="0"/>
                          </a:rPr>
                        </m:ctrlPr>
                      </m:sSupPr>
                      <m:e>
                        <m:r>
                          <a:rPr lang="en-US" altLang="zh-CN" sz="2000">
                            <a:solidFill>
                              <a:srgbClr val="FF0000"/>
                            </a:solidFill>
                            <a:latin typeface="Cambria Math" panose="02040503050406030204" pitchFamily="18" charset="0"/>
                          </a:rPr>
                          <m:t>2</m:t>
                        </m:r>
                      </m:e>
                      <m:sup>
                        <m:r>
                          <a:rPr lang="en-US" altLang="zh-CN" sz="2000">
                            <a:solidFill>
                              <a:srgbClr val="FF0000"/>
                            </a:solidFill>
                            <a:latin typeface="Cambria Math" panose="02040503050406030204" pitchFamily="18" charset="0"/>
                          </a:rPr>
                          <m:t>𝑞</m:t>
                        </m:r>
                        <m:r>
                          <a:rPr lang="en-US" altLang="zh-CN" sz="2000">
                            <a:solidFill>
                              <a:srgbClr val="FF0000"/>
                            </a:solidFill>
                            <a:latin typeface="Cambria Math" panose="02040503050406030204" pitchFamily="18" charset="0"/>
                          </a:rPr>
                          <m:t>−</m:t>
                        </m:r>
                        <m:r>
                          <a:rPr lang="en-US" altLang="zh-CN" sz="2000">
                            <a:solidFill>
                              <a:srgbClr val="FF0000"/>
                            </a:solidFill>
                            <a:latin typeface="Cambria Math" panose="02040503050406030204" pitchFamily="18" charset="0"/>
                          </a:rPr>
                          <m:t>1</m:t>
                        </m:r>
                      </m:sup>
                    </m:sSup>
                    <m:r>
                      <a:rPr lang="en-US" altLang="zh-CN" sz="2000">
                        <a:solidFill>
                          <a:srgbClr val="FF0000"/>
                        </a:solidFill>
                        <a:latin typeface="Cambria Math" panose="02040503050406030204" pitchFamily="18" charset="0"/>
                      </a:rPr>
                      <m:t>−</m:t>
                    </m:r>
                    <m:r>
                      <a:rPr lang="en-US" altLang="zh-CN" sz="2000">
                        <a:solidFill>
                          <a:srgbClr val="FF0000"/>
                        </a:solidFill>
                        <a:latin typeface="Cambria Math" panose="02040503050406030204" pitchFamily="18" charset="0"/>
                      </a:rPr>
                      <m:t>1</m:t>
                    </m:r>
                  </m:oMath>
                </a14:m>
                <a:r>
                  <a:rPr lang="zh-CN" altLang="zh-CN" sz="2000" dirty="0">
                    <a:solidFill>
                      <a:srgbClr val="000000"/>
                    </a:solidFill>
                  </a:rPr>
                  <a:t>种</a:t>
                </a:r>
                <a:endParaRPr lang="en-US" altLang="zh-CN" sz="2000" dirty="0">
                  <a:solidFill>
                    <a:srgbClr val="000000"/>
                  </a:solidFill>
                </a:endParaRPr>
              </a:p>
              <a:p>
                <a:r>
                  <a:rPr lang="en-US" altLang="zh-CN" sz="2000" dirty="0">
                    <a:solidFill>
                      <a:srgbClr val="000000"/>
                    </a:solidFill>
                  </a:rPr>
                  <a:t>CART</a:t>
                </a:r>
                <a:r>
                  <a:rPr lang="zh-CN" altLang="zh-CN" sz="2000" dirty="0">
                    <a:solidFill>
                      <a:srgbClr val="000000"/>
                    </a:solidFill>
                  </a:rPr>
                  <a:t>算法在分支处理中分支属性的度量指标是</a:t>
                </a:r>
                <a:r>
                  <a:rPr lang="en-US" altLang="zh-CN" sz="2000" dirty="0">
                    <a:solidFill>
                      <a:srgbClr val="000000"/>
                    </a:solidFill>
                  </a:rPr>
                  <a:t>Gini</a:t>
                </a:r>
                <a:r>
                  <a:rPr lang="zh-CN" altLang="zh-CN" sz="2000" dirty="0">
                    <a:solidFill>
                      <a:srgbClr val="000000"/>
                    </a:solidFill>
                  </a:rPr>
                  <a:t>指标</a:t>
                </a:r>
                <a:endParaRPr lang="zh-CN" altLang="zh-CN" sz="2000" dirty="0">
                  <a:solidFill>
                    <a:srgbClr val="000000"/>
                  </a:solidFill>
                </a:endParaRPr>
              </a:p>
              <a:p>
                <a:endParaRPr lang="zh-CN" altLang="zh-CN" sz="2000" dirty="0">
                  <a:solidFill>
                    <a:srgbClr val="000000"/>
                  </a:solidFill>
                </a:endParaRPr>
              </a:p>
              <a:p>
                <a:endParaRPr lang="zh-CN" altLang="zh-CN" sz="2000" dirty="0">
                  <a:solidFill>
                    <a:srgbClr val="000000"/>
                  </a:solidFill>
                </a:endParaRPr>
              </a:p>
              <a:p>
                <a:pPr marL="0" indent="0">
                  <a:buNone/>
                </a:pPr>
                <a:r>
                  <a:rPr lang="en-US" altLang="zh-CN" sz="2000" dirty="0">
                    <a:solidFill>
                      <a:srgbClr val="000000"/>
                    </a:solidFill>
                  </a:rPr>
                  <a:t>                                                               p</a:t>
                </a:r>
                <a:r>
                  <a:rPr lang="en-US" altLang="zh-CN" sz="2000" baseline="-25000" dirty="0">
                    <a:solidFill>
                      <a:srgbClr val="000000"/>
                    </a:solidFill>
                  </a:rPr>
                  <a:t>i</a:t>
                </a:r>
                <a:r>
                  <a:rPr lang="zh-CN" altLang="en-US" sz="2000" dirty="0">
                    <a:solidFill>
                      <a:srgbClr val="000000"/>
                    </a:solidFill>
                  </a:rPr>
                  <a:t>为类别占比</a:t>
                </a:r>
                <a:endParaRPr lang="zh-CN" altLang="en-US" sz="2000" dirty="0">
                  <a:solidFill>
                    <a:srgbClr val="000000"/>
                  </a:solidFill>
                </a:endParaRPr>
              </a:p>
              <a:p>
                <a:r>
                  <a:rPr lang="zh-CN" altLang="en-US" sz="2000" dirty="0">
                    <a:solidFill>
                      <a:srgbClr val="000000"/>
                    </a:solidFill>
                  </a:rPr>
                  <a:t>条件基尼：按特征划分后加权平均基尼值</a:t>
                </a:r>
                <a:endParaRPr lang="zh-CN" altLang="en-US" sz="2000" baseline="-25000" dirty="0">
                  <a:solidFill>
                    <a:srgbClr val="000000"/>
                  </a:solidFill>
                </a:endParaRPr>
              </a:p>
              <a:p>
                <a:endParaRPr lang="zh-CN" altLang="en-US" sz="2000" baseline="-25000" dirty="0">
                  <a:solidFill>
                    <a:srgbClr val="000000"/>
                  </a:solidFill>
                </a:endParaRPr>
              </a:p>
              <a:p>
                <a:endParaRPr lang="zh-CN" altLang="en-US" sz="2000" baseline="-25000" dirty="0">
                  <a:solidFill>
                    <a:srgbClr val="000000"/>
                  </a:solidFill>
                </a:endParaRPr>
              </a:p>
              <a:p>
                <a:endParaRPr lang="zh-CN" altLang="en-US" sz="2000" baseline="-25000" dirty="0">
                  <a:solidFill>
                    <a:srgbClr val="000000"/>
                  </a:solidFill>
                </a:endParaRPr>
              </a:p>
              <a:p>
                <a:pPr algn="l">
                  <a:buClrTx/>
                  <a:buSzTx/>
                </a:pPr>
                <a:r>
                  <a:rPr lang="zh-CN" altLang="en-US" sz="2000" dirty="0">
                    <a:solidFill>
                      <a:srgbClr val="000000"/>
                    </a:solidFill>
                  </a:rPr>
                  <a:t>基尼系数</a:t>
                </a:r>
                <a:r>
                  <a:rPr lang="zh-CN" altLang="en-US" sz="2000" dirty="0">
                    <a:solidFill>
                      <a:srgbClr val="FF0000"/>
                    </a:solidFill>
                  </a:rPr>
                  <a:t>越小</a:t>
                </a:r>
                <a:r>
                  <a:rPr lang="zh-CN" altLang="en-US" sz="2000" dirty="0">
                    <a:solidFill>
                      <a:srgbClr val="000000"/>
                    </a:solidFill>
                  </a:rPr>
                  <a:t>，样本越纯</a:t>
                </a:r>
                <a:endParaRPr lang="zh-CN" altLang="en-US" sz="2000" dirty="0">
                  <a:solidFill>
                    <a:srgbClr val="000000"/>
                  </a:solidFill>
                </a:endParaRPr>
              </a:p>
              <a:p>
                <a:pPr marL="0" indent="0">
                  <a:buNone/>
                </a:pPr>
                <a:endParaRPr lang="en-US" altLang="zh-CN" sz="2000" dirty="0">
                  <a:solidFill>
                    <a:srgbClr val="000000"/>
                  </a:solidFill>
                </a:endParaRPr>
              </a:p>
              <a:p>
                <a:endParaRPr lang="en-US" altLang="zh-CN" sz="2000" dirty="0">
                  <a:solidFill>
                    <a:srgbClr val="000000"/>
                  </a:solidFill>
                </a:endParaRPr>
              </a:p>
            </p:txBody>
          </p:sp>
        </mc:Choice>
        <mc:Fallback>
          <p:sp>
            <p:nvSpPr>
              <p:cNvPr id="17" name="矩形 3"/>
              <p:cNvSpPr>
                <a:spLocks noRot="1" noChangeAspect="1" noMove="1" noResize="1" noEditPoints="1" noAdjustHandles="1" noChangeArrowheads="1" noChangeShapeType="1" noTextEdit="1"/>
              </p:cNvSpPr>
              <p:nvPr/>
            </p:nvSpPr>
            <p:spPr bwMode="auto">
              <a:xfrm>
                <a:off x="484468" y="1268760"/>
                <a:ext cx="8501553" cy="5625465"/>
              </a:xfrm>
              <a:prstGeom prst="rect">
                <a:avLst/>
              </a:prstGeom>
              <a:blipFill rotWithShape="1">
                <a:blip r:embed="rId1"/>
                <a:stretch>
                  <a:fillRect l="-7" t="-1" r="2" b="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2944698" y="3538392"/>
                <a:ext cx="3246594" cy="848566"/>
              </a:xfrm>
              <a:prstGeom prst="rect">
                <a:avLst/>
              </a:prstGeom>
            </p:spPr>
            <p:txBody>
              <a:bodyPr wrap="none">
                <a:spAutoFit/>
              </a:bodyPr>
              <a:lstStyle/>
              <a:p>
                <a:pPr lvl="0" defTabSz="457200"/>
                <a14:m>
                  <m:oMathPara xmlns:m="http://schemas.openxmlformats.org/officeDocument/2006/math">
                    <m:oMathParaPr>
                      <m:jc m:val="centerGroup"/>
                    </m:oMathParaPr>
                    <m:oMath xmlns:m="http://schemas.openxmlformats.org/officeDocument/2006/math">
                      <m:r>
                        <a:rPr lang="zh-CN" altLang="en-US" sz="1800" i="1">
                          <a:solidFill>
                            <a:prstClr val="black"/>
                          </a:solidFill>
                          <a:latin typeface="Cambria Math" panose="02040503050406030204" pitchFamily="18" charset="0"/>
                        </a:rPr>
                        <m:t>𝐺𝑖𝑛𝑖</m:t>
                      </m:r>
                      <m:d>
                        <m:dPr>
                          <m:ctrlPr>
                            <a:rPr lang="zh-CN" altLang="en-US" sz="1800" i="1">
                              <a:solidFill>
                                <a:prstClr val="black"/>
                              </a:solidFill>
                              <a:latin typeface="Cambria Math" panose="02040503050406030204" pitchFamily="18" charset="0"/>
                            </a:rPr>
                          </m:ctrlPr>
                        </m:dPr>
                        <m:e>
                          <m:r>
                            <a:rPr lang="zh-CN" altLang="en-US" sz="1800" i="1">
                              <a:solidFill>
                                <a:prstClr val="black"/>
                              </a:solidFill>
                              <a:latin typeface="Cambria Math" panose="02040503050406030204" pitchFamily="18" charset="0"/>
                            </a:rPr>
                            <m:t>𝑆</m:t>
                          </m:r>
                        </m:e>
                      </m:d>
                      <m:r>
                        <a:rPr lang="zh-CN" altLang="en-US" sz="1800">
                          <a:solidFill>
                            <a:prstClr val="black"/>
                          </a:solidFill>
                          <a:latin typeface="Cambria Math" panose="02040503050406030204" pitchFamily="18" charset="0"/>
                        </a:rPr>
                        <m:t>=</m:t>
                      </m:r>
                      <m:r>
                        <a:rPr lang="zh-CN" altLang="en-US" sz="1800">
                          <a:solidFill>
                            <a:prstClr val="black"/>
                          </a:solidFill>
                          <a:latin typeface="Cambria Math" panose="02040503050406030204" pitchFamily="18" charset="0"/>
                        </a:rPr>
                        <m:t>1</m:t>
                      </m:r>
                      <m:r>
                        <a:rPr lang="zh-CN" altLang="en-US" sz="1800">
                          <a:solidFill>
                            <a:prstClr val="black"/>
                          </a:solidFill>
                          <a:latin typeface="Cambria Math" panose="02040503050406030204" pitchFamily="18" charset="0"/>
                        </a:rPr>
                        <m:t>−</m:t>
                      </m:r>
                      <m:nary>
                        <m:naryPr>
                          <m:chr m:val="∑"/>
                          <m:limLoc m:val="undOvr"/>
                          <m:ctrlPr>
                            <a:rPr lang="zh-CN" altLang="en-US" sz="1800" i="1">
                              <a:solidFill>
                                <a:prstClr val="black"/>
                              </a:solidFill>
                              <a:latin typeface="Cambria Math" panose="02040503050406030204" pitchFamily="18" charset="0"/>
                            </a:rPr>
                          </m:ctrlPr>
                        </m:naryPr>
                        <m:sub>
                          <m:r>
                            <a:rPr lang="zh-CN" altLang="en-US" sz="1800" i="1">
                              <a:solidFill>
                                <a:prstClr val="black"/>
                              </a:solidFill>
                              <a:latin typeface="Cambria Math" panose="02040503050406030204" pitchFamily="18" charset="0"/>
                            </a:rPr>
                            <m:t>𝑖</m:t>
                          </m:r>
                          <m:r>
                            <a:rPr lang="zh-CN" altLang="en-US" sz="1800">
                              <a:solidFill>
                                <a:prstClr val="black"/>
                              </a:solidFill>
                              <a:latin typeface="Cambria Math" panose="02040503050406030204" pitchFamily="18" charset="0"/>
                            </a:rPr>
                            <m:t>=</m:t>
                          </m:r>
                          <m:r>
                            <a:rPr lang="zh-CN" altLang="en-US" sz="1800">
                              <a:solidFill>
                                <a:prstClr val="black"/>
                              </a:solidFill>
                              <a:latin typeface="Cambria Math" panose="02040503050406030204" pitchFamily="18" charset="0"/>
                            </a:rPr>
                            <m:t>1</m:t>
                          </m:r>
                        </m:sub>
                        <m:sup>
                          <m:r>
                            <a:rPr lang="zh-CN" altLang="en-US" sz="1800" i="1">
                              <a:solidFill>
                                <a:prstClr val="black"/>
                              </a:solidFill>
                              <a:latin typeface="Cambria Math" panose="02040503050406030204" pitchFamily="18" charset="0"/>
                            </a:rPr>
                            <m:t>𝑚</m:t>
                          </m:r>
                        </m:sup>
                        <m:e>
                          <m:sSubSup>
                            <m:sSubSupPr>
                              <m:ctrlPr>
                                <a:rPr lang="zh-CN" altLang="en-US" sz="1800" i="1">
                                  <a:solidFill>
                                    <a:prstClr val="black"/>
                                  </a:solidFill>
                                  <a:latin typeface="Cambria Math" panose="02040503050406030204" pitchFamily="18" charset="0"/>
                                </a:rPr>
                              </m:ctrlPr>
                            </m:sSubSupPr>
                            <m:e>
                              <m:r>
                                <a:rPr lang="zh-CN" altLang="en-US" sz="1800" i="1">
                                  <a:solidFill>
                                    <a:prstClr val="black"/>
                                  </a:solidFill>
                                  <a:latin typeface="Cambria Math" panose="02040503050406030204" pitchFamily="18" charset="0"/>
                                </a:rPr>
                                <m:t>𝑝</m:t>
                              </m:r>
                            </m:e>
                            <m:sub>
                              <m:r>
                                <a:rPr lang="zh-CN" altLang="en-US" sz="1800" i="1">
                                  <a:solidFill>
                                    <a:prstClr val="black"/>
                                  </a:solidFill>
                                  <a:latin typeface="Cambria Math" panose="02040503050406030204" pitchFamily="18" charset="0"/>
                                </a:rPr>
                                <m:t>𝑖</m:t>
                              </m:r>
                            </m:sub>
                            <m:sup>
                              <m:r>
                                <a:rPr lang="zh-CN" altLang="en-US" sz="1800">
                                  <a:solidFill>
                                    <a:prstClr val="black"/>
                                  </a:solidFill>
                                  <a:latin typeface="Cambria Math" panose="02040503050406030204" pitchFamily="18" charset="0"/>
                                </a:rPr>
                                <m:t>2</m:t>
                              </m:r>
                            </m:sup>
                          </m:sSubSup>
                        </m:e>
                      </m:nary>
                      <m:r>
                        <a:rPr lang="zh-CN" altLang="en-US" sz="1800">
                          <a:solidFill>
                            <a:prstClr val="black"/>
                          </a:solidFill>
                          <a:latin typeface="Cambria Math" panose="02040503050406030204" pitchFamily="18" charset="0"/>
                        </a:rPr>
                        <m:t>,</m:t>
                      </m:r>
                      <m:sSub>
                        <m:sSubPr>
                          <m:ctrlPr>
                            <a:rPr lang="zh-CN" altLang="en-US" sz="1800" i="1">
                              <a:solidFill>
                                <a:prstClr val="black"/>
                              </a:solidFill>
                              <a:latin typeface="Cambria Math" panose="02040503050406030204" pitchFamily="18" charset="0"/>
                            </a:rPr>
                          </m:ctrlPr>
                        </m:sSubPr>
                        <m:e>
                          <m:r>
                            <a:rPr lang="zh-CN" altLang="en-US" sz="1800" i="1">
                              <a:solidFill>
                                <a:prstClr val="black"/>
                              </a:solidFill>
                              <a:latin typeface="Cambria Math" panose="02040503050406030204" pitchFamily="18" charset="0"/>
                            </a:rPr>
                            <m:t>𝑝</m:t>
                          </m:r>
                        </m:e>
                        <m:sub>
                          <m:r>
                            <a:rPr lang="zh-CN" altLang="en-US" sz="1800" i="1">
                              <a:solidFill>
                                <a:prstClr val="black"/>
                              </a:solidFill>
                              <a:latin typeface="Cambria Math" panose="02040503050406030204" pitchFamily="18" charset="0"/>
                            </a:rPr>
                            <m:t>𝑖</m:t>
                          </m:r>
                        </m:sub>
                      </m:sSub>
                      <m:r>
                        <a:rPr lang="zh-CN" altLang="en-US" sz="1800">
                          <a:solidFill>
                            <a:prstClr val="black"/>
                          </a:solidFill>
                          <a:latin typeface="Cambria Math" panose="02040503050406030204" pitchFamily="18" charset="0"/>
                        </a:rPr>
                        <m:t>=</m:t>
                      </m:r>
                      <m:f>
                        <m:fPr>
                          <m:ctrlPr>
                            <a:rPr lang="zh-CN" altLang="en-US" sz="1800" i="1">
                              <a:solidFill>
                                <a:prstClr val="black"/>
                              </a:solidFill>
                              <a:latin typeface="Cambria Math" panose="02040503050406030204" pitchFamily="18" charset="0"/>
                            </a:rPr>
                          </m:ctrlPr>
                        </m:fPr>
                        <m:num>
                          <m:d>
                            <m:dPr>
                              <m:begChr m:val="|"/>
                              <m:endChr m:val="|"/>
                              <m:ctrlPr>
                                <a:rPr lang="zh-CN" altLang="en-US" sz="1800" i="1">
                                  <a:solidFill>
                                    <a:prstClr val="black"/>
                                  </a:solidFill>
                                  <a:latin typeface="Cambria Math" panose="02040503050406030204" pitchFamily="18" charset="0"/>
                                </a:rPr>
                              </m:ctrlPr>
                            </m:dPr>
                            <m:e>
                              <m:sSub>
                                <m:sSubPr>
                                  <m:ctrlPr>
                                    <a:rPr lang="zh-CN" altLang="en-US" sz="1800" i="1">
                                      <a:solidFill>
                                        <a:prstClr val="black"/>
                                      </a:solidFill>
                                      <a:latin typeface="Cambria Math" panose="02040503050406030204" pitchFamily="18" charset="0"/>
                                    </a:rPr>
                                  </m:ctrlPr>
                                </m:sSubPr>
                                <m:e>
                                  <m:r>
                                    <a:rPr lang="zh-CN" altLang="en-US" sz="1800" i="1">
                                      <a:solidFill>
                                        <a:prstClr val="black"/>
                                      </a:solidFill>
                                      <a:latin typeface="Cambria Math" panose="02040503050406030204" pitchFamily="18" charset="0"/>
                                    </a:rPr>
                                    <m:t>𝐶</m:t>
                                  </m:r>
                                </m:e>
                                <m:sub>
                                  <m:r>
                                    <a:rPr lang="zh-CN" altLang="en-US" sz="1800" i="1">
                                      <a:solidFill>
                                        <a:prstClr val="black"/>
                                      </a:solidFill>
                                      <a:latin typeface="Cambria Math" panose="02040503050406030204" pitchFamily="18" charset="0"/>
                                    </a:rPr>
                                    <m:t>𝑖</m:t>
                                  </m:r>
                                </m:sub>
                              </m:sSub>
                            </m:e>
                          </m:d>
                        </m:num>
                        <m:den>
                          <m:d>
                            <m:dPr>
                              <m:begChr m:val="|"/>
                              <m:endChr m:val="|"/>
                              <m:ctrlPr>
                                <a:rPr lang="zh-CN" altLang="en-US" sz="1800" i="1">
                                  <a:solidFill>
                                    <a:prstClr val="black"/>
                                  </a:solidFill>
                                  <a:latin typeface="Cambria Math" panose="02040503050406030204" pitchFamily="18" charset="0"/>
                                </a:rPr>
                              </m:ctrlPr>
                            </m:dPr>
                            <m:e>
                              <m:r>
                                <a:rPr lang="zh-CN" altLang="en-US" sz="1800" i="1">
                                  <a:solidFill>
                                    <a:prstClr val="black"/>
                                  </a:solidFill>
                                  <a:latin typeface="Cambria Math" panose="02040503050406030204" pitchFamily="18" charset="0"/>
                                </a:rPr>
                                <m:t>𝑆</m:t>
                              </m:r>
                            </m:e>
                          </m:d>
                        </m:den>
                      </m:f>
                    </m:oMath>
                  </m:oMathPara>
                </a14:m>
                <a:endParaRPr lang="zh-CN" altLang="en-US" sz="1800" dirty="0">
                  <a:solidFill>
                    <a:prstClr val="black"/>
                  </a:solidFill>
                  <a:latin typeface="Calibri" panose="020F0502020204030204" pitchFamily="34" charset="0"/>
                </a:endParaRPr>
              </a:p>
            </p:txBody>
          </p:sp>
        </mc:Choice>
        <mc:Fallback>
          <p:sp>
            <p:nvSpPr>
              <p:cNvPr id="18" name="矩形 17"/>
              <p:cNvSpPr>
                <a:spLocks noRot="1" noChangeAspect="1" noMove="1" noResize="1" noEditPoints="1" noAdjustHandles="1" noChangeArrowheads="1" noChangeShapeType="1" noTextEdit="1"/>
              </p:cNvSpPr>
              <p:nvPr/>
            </p:nvSpPr>
            <p:spPr>
              <a:xfrm>
                <a:off x="2944698" y="3538392"/>
                <a:ext cx="3246594" cy="848566"/>
              </a:xfrm>
              <a:prstGeom prst="rect">
                <a:avLst/>
              </a:prstGeom>
              <a:blipFill rotWithShape="1">
                <a:blip r:embed="rId2"/>
                <a:stretch>
                  <a:fillRect l="-6" t="-20" r="1" b="45"/>
                </a:stretch>
              </a:blipFill>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2555240" y="5085080"/>
            <a:ext cx="4869815" cy="65786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CART</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sp>
        <p:nvSpPr>
          <p:cNvPr id="3" name="内容占位符 2"/>
          <p:cNvSpPr>
            <a:spLocks noGrp="1"/>
          </p:cNvSpPr>
          <p:nvPr>
            <p:ph idx="1"/>
          </p:nvPr>
        </p:nvSpPr>
        <p:spPr/>
        <p:txBody>
          <a:bodyPr/>
          <a:p>
            <a:r>
              <a:rPr lang="zh-CN" altLang="en-US" dirty="0">
                <a:solidFill>
                  <a:srgbClr val="000000"/>
                </a:solidFill>
                <a:sym typeface="+mn-ea"/>
              </a:rPr>
              <a:t>在前面例子中，假设选择“会飞”作为分支属性，其</a:t>
            </a:r>
            <a:r>
              <a:rPr lang="en-US" altLang="zh-CN" dirty="0">
                <a:solidFill>
                  <a:srgbClr val="000000"/>
                </a:solidFill>
                <a:sym typeface="+mn-ea"/>
              </a:rPr>
              <a:t>Gini</a:t>
            </a:r>
            <a:r>
              <a:rPr lang="zh-CN" altLang="en-US" dirty="0">
                <a:solidFill>
                  <a:srgbClr val="000000"/>
                </a:solidFill>
                <a:sym typeface="+mn-ea"/>
              </a:rPr>
              <a:t>指标为：</a:t>
            </a:r>
            <a:endParaRPr lang="zh-CN" altLang="en-US" dirty="0">
              <a:solidFill>
                <a:srgbClr val="000000"/>
              </a:solidFill>
              <a:sym typeface="+mn-ea"/>
            </a:endParaRPr>
          </a:p>
          <a:p>
            <a:endParaRPr lang="en-US" altLang="zh-CN" dirty="0">
              <a:solidFill>
                <a:srgbClr val="000000"/>
              </a:solidFill>
            </a:endParaRPr>
          </a:p>
          <a:p>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mc:AlternateContent xmlns:mc="http://schemas.openxmlformats.org/markup-compatibility/2006">
        <mc:Choice xmlns:a14="http://schemas.microsoft.com/office/drawing/2010/main" Requires="a14">
          <p:sp>
            <p:nvSpPr>
              <p:cNvPr id="19" name="矩形 18"/>
              <p:cNvSpPr/>
              <p:nvPr/>
            </p:nvSpPr>
            <p:spPr>
              <a:xfrm>
                <a:off x="86771" y="2060736"/>
                <a:ext cx="8836054" cy="139006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1800" i="1">
                          <a:latin typeface="Cambria Math" panose="02040503050406030204" pitchFamily="18" charset="0"/>
                        </a:rPr>
                        <m:t>𝐺𝑖𝑛𝑖</m:t>
                      </m:r>
                      <m:d>
                        <m:dPr>
                          <m:ctrlPr>
                            <a:rPr lang="zh-CN" altLang="en-US" sz="1800" i="1">
                              <a:latin typeface="Cambria Math" panose="02040503050406030204" pitchFamily="18" charset="0"/>
                            </a:rPr>
                          </m:ctrlPr>
                        </m:dPr>
                        <m:e>
                          <m:r>
                            <a:rPr lang="zh-CN" altLang="en-US" sz="1800">
                              <a:latin typeface="Cambria Math" panose="02040503050406030204" pitchFamily="18" charset="0"/>
                            </a:rPr>
                            <m:t>会飞</m:t>
                          </m:r>
                        </m:e>
                      </m:d>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d>
                            <m:dPr>
                              <m:begChr m:val="|"/>
                              <m:endChr m:val="|"/>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a:latin typeface="Cambria Math" panose="02040503050406030204" pitchFamily="18" charset="0"/>
                                    </a:rPr>
                                    <m:t>1</m:t>
                                  </m:r>
                                </m:sub>
                              </m:sSub>
                            </m:e>
                          </m:d>
                        </m:num>
                        <m:den>
                          <m:d>
                            <m:dPr>
                              <m:begChr m:val="|"/>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𝑆</m:t>
                              </m:r>
                            </m:e>
                          </m:d>
                        </m:den>
                      </m:f>
                      <m:r>
                        <a:rPr lang="zh-CN" altLang="en-US" sz="1800" i="1">
                          <a:latin typeface="Cambria Math" panose="02040503050406030204" pitchFamily="18" charset="0"/>
                        </a:rPr>
                        <m:t>𝐺𝑖𝑛𝑖</m:t>
                      </m:r>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a:latin typeface="Cambria Math" panose="02040503050406030204" pitchFamily="18" charset="0"/>
                                </a:rPr>
                                <m:t>1</m:t>
                              </m:r>
                            </m:sub>
                          </m:sSub>
                        </m:e>
                      </m:d>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d>
                            <m:dPr>
                              <m:begChr m:val="|"/>
                              <m:endChr m:val="|"/>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a:latin typeface="Cambria Math" panose="02040503050406030204" pitchFamily="18" charset="0"/>
                                    </a:rPr>
                                    <m:t>2</m:t>
                                  </m:r>
                                </m:sub>
                              </m:sSub>
                            </m:e>
                          </m:d>
                        </m:num>
                        <m:den>
                          <m:d>
                            <m:dPr>
                              <m:begChr m:val="|"/>
                              <m:endChr m:val="|"/>
                              <m:ctrlPr>
                                <a:rPr lang="zh-CN" altLang="en-US" sz="1800" i="1">
                                  <a:latin typeface="Cambria Math" panose="02040503050406030204" pitchFamily="18" charset="0"/>
                                </a:rPr>
                              </m:ctrlPr>
                            </m:dPr>
                            <m:e>
                              <m:r>
                                <a:rPr lang="zh-CN" altLang="en-US" sz="1800" i="1">
                                  <a:latin typeface="Cambria Math" panose="02040503050406030204" pitchFamily="18" charset="0"/>
                                </a:rPr>
                                <m:t>𝑆</m:t>
                              </m:r>
                            </m:e>
                          </m:d>
                        </m:den>
                      </m:f>
                      <m:r>
                        <a:rPr lang="zh-CN" altLang="en-US" sz="1800" i="1">
                          <a:latin typeface="Cambria Math" panose="02040503050406030204" pitchFamily="18" charset="0"/>
                        </a:rPr>
                        <m:t>𝐺𝑖𝑛𝑖</m:t>
                      </m:r>
                      <m:d>
                        <m:dPr>
                          <m:ctrlPr>
                            <a:rPr lang="zh-CN" altLang="en-US" sz="1800" i="1">
                              <a:latin typeface="Cambria Math" panose="02040503050406030204" pitchFamily="18" charset="0"/>
                            </a:rPr>
                          </m:ctrlPr>
                        </m:dPr>
                        <m:e>
                          <m:sSub>
                            <m:sSubPr>
                              <m:ctrlPr>
                                <a:rPr lang="zh-CN" altLang="en-US" sz="1800" i="1">
                                  <a:latin typeface="Cambria Math" panose="02040503050406030204" pitchFamily="18" charset="0"/>
                                </a:rPr>
                              </m:ctrlPr>
                            </m:sSubPr>
                            <m:e>
                              <m:r>
                                <a:rPr lang="zh-CN" altLang="en-US" sz="1800" i="1">
                                  <a:latin typeface="Cambria Math" panose="02040503050406030204" pitchFamily="18" charset="0"/>
                                </a:rPr>
                                <m:t>𝑆</m:t>
                              </m:r>
                            </m:e>
                            <m:sub>
                              <m:r>
                                <a:rPr lang="zh-CN" altLang="en-US" sz="1800">
                                  <a:latin typeface="Cambria Math" panose="02040503050406030204" pitchFamily="18" charset="0"/>
                                </a:rPr>
                                <m:t>2</m:t>
                              </m:r>
                            </m:sub>
                          </m:sSub>
                        </m:e>
                      </m:d>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11</m:t>
                          </m:r>
                        </m:num>
                        <m:den>
                          <m:r>
                            <a:rPr lang="zh-CN" altLang="en-US" sz="1800">
                              <a:latin typeface="Cambria Math" panose="02040503050406030204" pitchFamily="18" charset="0"/>
                            </a:rPr>
                            <m:t>14</m:t>
                          </m:r>
                        </m:den>
                      </m:f>
                      <m:r>
                        <a:rPr lang="zh-CN" altLang="en-US" sz="1800">
                          <a:latin typeface="Cambria Math" panose="02040503050406030204" pitchFamily="18" charset="0"/>
                        </a:rPr>
                        <m:t>×</m:t>
                      </m:r>
                      <m:d>
                        <m:dPr>
                          <m:begChr m:val="["/>
                          <m:endChr m:val="]"/>
                          <m:ctrlPr>
                            <a:rPr lang="zh-CN" altLang="en-US" sz="1800" i="1">
                              <a:latin typeface="Cambria Math" panose="02040503050406030204" pitchFamily="18" charset="0"/>
                            </a:rPr>
                          </m:ctrlPr>
                        </m:dPr>
                        <m:e>
                          <m:r>
                            <a:rPr lang="zh-CN" altLang="en-US" sz="1800">
                              <a:latin typeface="Cambria Math" panose="02040503050406030204" pitchFamily="18" charset="0"/>
                            </a:rPr>
                            <m:t>1</m:t>
                          </m:r>
                          <m:r>
                            <a:rPr lang="zh-CN" altLang="en-US" sz="1800">
                              <a:latin typeface="Cambria Math" panose="02040503050406030204" pitchFamily="18" charset="0"/>
                            </a:rPr>
                            <m:t>−</m:t>
                          </m:r>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a:latin typeface="Cambria Math" panose="02040503050406030204" pitchFamily="18" charset="0"/>
                                        </a:rPr>
                                        <m:t>7</m:t>
                                      </m:r>
                                    </m:num>
                                    <m:den>
                                      <m:r>
                                        <a:rPr lang="zh-CN" altLang="en-US" sz="1800">
                                          <a:latin typeface="Cambria Math" panose="02040503050406030204" pitchFamily="18" charset="0"/>
                                        </a:rPr>
                                        <m:t>11</m:t>
                                      </m:r>
                                    </m:den>
                                  </m:f>
                                </m:e>
                              </m:d>
                            </m:e>
                            <m:sup>
                              <m:r>
                                <a:rPr lang="zh-CN" altLang="en-US" sz="1800">
                                  <a:latin typeface="Cambria Math" panose="02040503050406030204" pitchFamily="18" charset="0"/>
                                </a:rPr>
                                <m:t>2</m:t>
                              </m:r>
                            </m:sup>
                          </m:sSup>
                          <m:r>
                            <a:rPr lang="zh-CN" altLang="en-US" sz="1800">
                              <a:latin typeface="Cambria Math" panose="02040503050406030204" pitchFamily="18" charset="0"/>
                            </a:rPr>
                            <m:t>−</m:t>
                          </m:r>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a:latin typeface="Cambria Math" panose="02040503050406030204" pitchFamily="18" charset="0"/>
                                        </a:rPr>
                                        <m:t>4</m:t>
                                      </m:r>
                                    </m:num>
                                    <m:den>
                                      <m:r>
                                        <a:rPr lang="zh-CN" altLang="en-US" sz="1800">
                                          <a:latin typeface="Cambria Math" panose="02040503050406030204" pitchFamily="18" charset="0"/>
                                        </a:rPr>
                                        <m:t>11</m:t>
                                      </m:r>
                                    </m:den>
                                  </m:f>
                                </m:e>
                              </m:d>
                            </m:e>
                            <m:sup>
                              <m:r>
                                <a:rPr lang="zh-CN" altLang="en-US" sz="1800">
                                  <a:latin typeface="Cambria Math" panose="02040503050406030204" pitchFamily="18" charset="0"/>
                                </a:rPr>
                                <m:t>2</m:t>
                              </m:r>
                            </m:sup>
                          </m:sSup>
                        </m:e>
                      </m:d>
                      <m:r>
                        <a:rPr lang="zh-CN" altLang="en-US" sz="1800">
                          <a:latin typeface="Cambria Math" panose="02040503050406030204" pitchFamily="18" charset="0"/>
                        </a:rPr>
                        <m:t>+</m:t>
                      </m:r>
                      <m:f>
                        <m:fPr>
                          <m:ctrlPr>
                            <a:rPr lang="zh-CN" altLang="en-US" sz="1800" i="1">
                              <a:latin typeface="Cambria Math" panose="02040503050406030204" pitchFamily="18" charset="0"/>
                            </a:rPr>
                          </m:ctrlPr>
                        </m:fPr>
                        <m:num>
                          <m:r>
                            <a:rPr lang="zh-CN" altLang="en-US" sz="1800">
                              <a:latin typeface="Cambria Math" panose="02040503050406030204" pitchFamily="18" charset="0"/>
                            </a:rPr>
                            <m:t>3</m:t>
                          </m:r>
                        </m:num>
                        <m:den>
                          <m:r>
                            <a:rPr lang="zh-CN" altLang="en-US" sz="1800">
                              <a:latin typeface="Cambria Math" panose="02040503050406030204" pitchFamily="18" charset="0"/>
                            </a:rPr>
                            <m:t>14</m:t>
                          </m:r>
                        </m:den>
                      </m:f>
                      <m:r>
                        <a:rPr lang="zh-CN" altLang="en-US" sz="1800">
                          <a:latin typeface="Cambria Math" panose="02040503050406030204" pitchFamily="18" charset="0"/>
                        </a:rPr>
                        <m:t>×</m:t>
                      </m:r>
                      <m:d>
                        <m:dPr>
                          <m:begChr m:val="["/>
                          <m:endChr m:val="]"/>
                          <m:ctrlPr>
                            <a:rPr lang="zh-CN" altLang="en-US" sz="1800" i="1">
                              <a:latin typeface="Cambria Math" panose="02040503050406030204" pitchFamily="18" charset="0"/>
                            </a:rPr>
                          </m:ctrlPr>
                        </m:dPr>
                        <m:e>
                          <m:r>
                            <a:rPr lang="zh-CN" altLang="en-US" sz="1800">
                              <a:latin typeface="Cambria Math" panose="02040503050406030204" pitchFamily="18" charset="0"/>
                            </a:rPr>
                            <m:t>1</m:t>
                          </m:r>
                          <m:r>
                            <a:rPr lang="zh-CN" altLang="en-US" sz="1800">
                              <a:latin typeface="Cambria Math" panose="02040503050406030204" pitchFamily="18" charset="0"/>
                            </a:rPr>
                            <m:t>−</m:t>
                          </m:r>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a:latin typeface="Cambria Math" panose="02040503050406030204" pitchFamily="18" charset="0"/>
                                        </a:rPr>
                                        <m:t>1</m:t>
                                      </m:r>
                                    </m:num>
                                    <m:den>
                                      <m:r>
                                        <a:rPr lang="zh-CN" altLang="en-US" sz="1800">
                                          <a:latin typeface="Cambria Math" panose="02040503050406030204" pitchFamily="18" charset="0"/>
                                        </a:rPr>
                                        <m:t>3</m:t>
                                      </m:r>
                                    </m:den>
                                  </m:f>
                                </m:e>
                              </m:d>
                            </m:e>
                            <m:sup>
                              <m:r>
                                <a:rPr lang="zh-CN" altLang="en-US" sz="1800">
                                  <a:latin typeface="Cambria Math" panose="02040503050406030204" pitchFamily="18" charset="0"/>
                                </a:rPr>
                                <m:t>2</m:t>
                              </m:r>
                            </m:sup>
                          </m:sSup>
                          <m:r>
                            <a:rPr lang="zh-CN" altLang="en-US" sz="1800">
                              <a:latin typeface="Cambria Math" panose="02040503050406030204" pitchFamily="18" charset="0"/>
                            </a:rPr>
                            <m:t>−</m:t>
                          </m:r>
                          <m:sSup>
                            <m:sSupPr>
                              <m:ctrlPr>
                                <a:rPr lang="zh-CN" altLang="en-US" sz="1800" i="1">
                                  <a:latin typeface="Cambria Math" panose="02040503050406030204" pitchFamily="18" charset="0"/>
                                </a:rPr>
                              </m:ctrlPr>
                            </m:sSupPr>
                            <m:e>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zh-CN" altLang="en-US" sz="1800">
                                          <a:latin typeface="Cambria Math" panose="02040503050406030204" pitchFamily="18" charset="0"/>
                                        </a:rPr>
                                        <m:t>2</m:t>
                                      </m:r>
                                    </m:num>
                                    <m:den>
                                      <m:r>
                                        <a:rPr lang="zh-CN" altLang="en-US" sz="1800">
                                          <a:latin typeface="Cambria Math" panose="02040503050406030204" pitchFamily="18" charset="0"/>
                                        </a:rPr>
                                        <m:t>3</m:t>
                                      </m:r>
                                    </m:den>
                                  </m:f>
                                </m:e>
                              </m:d>
                            </m:e>
                            <m:sup>
                              <m:r>
                                <a:rPr lang="zh-CN" altLang="en-US" sz="1800">
                                  <a:latin typeface="Cambria Math" panose="02040503050406030204" pitchFamily="18" charset="0"/>
                                </a:rPr>
                                <m:t>2</m:t>
                              </m:r>
                            </m:sup>
                          </m:sSup>
                        </m:e>
                      </m:d>
                      <m:r>
                        <a:rPr lang="zh-CN" altLang="en-US" sz="1800">
                          <a:latin typeface="Cambria Math" panose="02040503050406030204" pitchFamily="18" charset="0"/>
                        </a:rPr>
                        <m:t>=</m:t>
                      </m:r>
                      <m:r>
                        <a:rPr lang="zh-CN" altLang="en-US" sz="1800">
                          <a:latin typeface="Cambria Math" panose="02040503050406030204" pitchFamily="18" charset="0"/>
                        </a:rPr>
                        <m:t>0</m:t>
                      </m:r>
                      <m:r>
                        <a:rPr lang="zh-CN" altLang="en-US" sz="1800">
                          <a:latin typeface="Cambria Math" panose="02040503050406030204" pitchFamily="18" charset="0"/>
                        </a:rPr>
                        <m:t>.</m:t>
                      </m:r>
                      <m:r>
                        <a:rPr lang="zh-CN" altLang="en-US" sz="1800">
                          <a:latin typeface="Cambria Math" panose="02040503050406030204" pitchFamily="18" charset="0"/>
                        </a:rPr>
                        <m:t>4589</m:t>
                      </m:r>
                    </m:oMath>
                  </m:oMathPara>
                </a14:m>
                <a:endParaRPr lang="zh-CN" altLang="en-US" sz="1800" dirty="0"/>
              </a:p>
            </p:txBody>
          </p:sp>
        </mc:Choice>
        <mc:Fallback>
          <p:sp>
            <p:nvSpPr>
              <p:cNvPr id="19" name="矩形 18"/>
              <p:cNvSpPr>
                <a:spLocks noRot="1" noChangeAspect="1" noMove="1" noResize="1" noEditPoints="1" noAdjustHandles="1" noChangeArrowheads="1" noChangeShapeType="1" noTextEdit="1"/>
              </p:cNvSpPr>
              <p:nvPr/>
            </p:nvSpPr>
            <p:spPr>
              <a:xfrm>
                <a:off x="86771" y="2060736"/>
                <a:ext cx="8836054" cy="1390061"/>
              </a:xfrm>
              <a:prstGeom prst="rect">
                <a:avLst/>
              </a:prstGeom>
              <a:blipFill rotWithShape="1">
                <a:blip r:embed="rId1"/>
                <a:stretch>
                  <a:fillRect l="-5" t="-12" r="5" b="15"/>
                </a:stretch>
              </a:blipFill>
            </p:spPr>
            <p:txBody>
              <a:bodyPr/>
              <a:lstStyle/>
              <a:p>
                <a:r>
                  <a:rPr lang="zh-CN"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CART</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pic>
        <p:nvPicPr>
          <p:cNvPr id="5" name="内容占位符 4"/>
          <p:cNvPicPr>
            <a:picLocks noChangeAspect="1"/>
          </p:cNvPicPr>
          <p:nvPr>
            <p:ph idx="1"/>
          </p:nvPr>
        </p:nvPicPr>
        <p:blipFill>
          <a:blip r:embed="rId1"/>
          <a:stretch>
            <a:fillRect/>
          </a:stretch>
        </p:blipFill>
        <p:spPr>
          <a:xfrm>
            <a:off x="4140200" y="260350"/>
            <a:ext cx="4505325" cy="5765800"/>
          </a:xfrm>
          <a:prstGeom prst="rect">
            <a:avLst/>
          </a:prstGeom>
        </p:spPr>
      </p:pic>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pc="-100" dirty="0">
                <a:solidFill>
                  <a:srgbClr val="D2533C"/>
                </a:solidFill>
                <a:latin typeface="Arial" panose="020B0604020202020204"/>
                <a:ea typeface="华文新魏" panose="02010800040101010101" pitchFamily="2" charset="-122"/>
                <a:sym typeface="+mn-ea"/>
              </a:rPr>
              <a:t>CART</a:t>
            </a:r>
            <a:r>
              <a:rPr lang="zh-CN" altLang="en-US" spc="-100" dirty="0">
                <a:solidFill>
                  <a:srgbClr val="D2533C"/>
                </a:solidFill>
                <a:latin typeface="Arial" panose="020B0604020202020204"/>
                <a:ea typeface="华文新魏" panose="02010800040101010101" pitchFamily="2" charset="-122"/>
                <a:sym typeface="+mn-ea"/>
              </a:rPr>
              <a:t>算法</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pic>
        <p:nvPicPr>
          <p:cNvPr id="7" name="内容占位符 6"/>
          <p:cNvPicPr>
            <a:picLocks noChangeAspect="1"/>
          </p:cNvPicPr>
          <p:nvPr>
            <p:ph idx="1"/>
          </p:nvPr>
        </p:nvPicPr>
        <p:blipFill>
          <a:blip r:embed="rId1"/>
          <a:stretch>
            <a:fillRect/>
          </a:stretch>
        </p:blipFill>
        <p:spPr>
          <a:xfrm>
            <a:off x="2483485" y="1178560"/>
            <a:ext cx="4196080" cy="438467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连续属性离散化</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7" name="矩形 3"/>
          <p:cNvSpPr>
            <a:spLocks noChangeArrowheads="1"/>
          </p:cNvSpPr>
          <p:nvPr/>
        </p:nvSpPr>
        <p:spPr bwMode="auto">
          <a:xfrm>
            <a:off x="484468" y="1268760"/>
            <a:ext cx="8501553"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分类数据有二元属性、标称属性等几种不同类型的离散属性</a:t>
            </a:r>
            <a:endParaRPr lang="zh-CN" altLang="en-US" sz="2000" dirty="0">
              <a:solidFill>
                <a:srgbClr val="000000"/>
              </a:solidFill>
            </a:endParaRPr>
          </a:p>
          <a:p>
            <a:r>
              <a:rPr lang="zh-CN" altLang="en-US" sz="2000" dirty="0">
                <a:solidFill>
                  <a:srgbClr val="000000"/>
                </a:solidFill>
              </a:rPr>
              <a:t>二元属性只有两个可能值，如“是”或“否”“对“或“错”，在分裂时，可以产生两个分支。对于二元属性，无须对其数据进行特别的处理</a:t>
            </a:r>
            <a:endParaRPr lang="zh-CN" altLang="en-US" sz="2000" dirty="0">
              <a:solidFill>
                <a:srgbClr val="000000"/>
              </a:solidFill>
            </a:endParaRPr>
          </a:p>
          <a:p>
            <a:r>
              <a:rPr lang="zh-CN" altLang="en-US" sz="2000" dirty="0">
                <a:solidFill>
                  <a:srgbClr val="000000"/>
                </a:solidFill>
              </a:rPr>
              <a:t>标称属性存在多个可能值，针对所使用的决策树算法的不同，标称属性的分裂存在两种方式：</a:t>
            </a:r>
            <a:r>
              <a:rPr lang="zh-CN" altLang="en-US" sz="2000" b="1" dirty="0">
                <a:solidFill>
                  <a:srgbClr val="FF0000"/>
                </a:solidFill>
              </a:rPr>
              <a:t>多路划分和二元划分</a:t>
            </a:r>
            <a:endParaRPr lang="zh-CN" altLang="en-US" sz="2000" dirty="0">
              <a:solidFill>
                <a:srgbClr val="000000"/>
              </a:solidFill>
            </a:endParaRPr>
          </a:p>
          <a:p>
            <a:pPr lvl="1"/>
            <a:r>
              <a:rPr lang="zh-CN" altLang="en-US" sz="2000" dirty="0">
                <a:solidFill>
                  <a:srgbClr val="000000"/>
                </a:solidFill>
              </a:rPr>
              <a:t>对于</a:t>
            </a:r>
            <a:r>
              <a:rPr lang="en-US" altLang="zh-CN" sz="2000" dirty="0">
                <a:solidFill>
                  <a:srgbClr val="000000"/>
                </a:solidFill>
              </a:rPr>
              <a:t>ID3</a:t>
            </a:r>
            <a:r>
              <a:rPr lang="zh-CN" altLang="en-US" sz="2000" dirty="0">
                <a:solidFill>
                  <a:srgbClr val="000000"/>
                </a:solidFill>
              </a:rPr>
              <a:t>、</a:t>
            </a:r>
            <a:r>
              <a:rPr lang="en-US" altLang="zh-CN" sz="2000" dirty="0">
                <a:solidFill>
                  <a:srgbClr val="000000"/>
                </a:solidFill>
              </a:rPr>
              <a:t>C4.5</a:t>
            </a:r>
            <a:r>
              <a:rPr lang="zh-CN" altLang="en-US" sz="2000" dirty="0">
                <a:solidFill>
                  <a:srgbClr val="000000"/>
                </a:solidFill>
              </a:rPr>
              <a:t>等算法，均采取多分支划分的方法，标称属性有多少种可能的取值，就设计多少个分支</a:t>
            </a:r>
            <a:endParaRPr lang="zh-CN" altLang="en-US" sz="2000" dirty="0">
              <a:solidFill>
                <a:srgbClr val="000000"/>
              </a:solidFill>
            </a:endParaRPr>
          </a:p>
          <a:p>
            <a:pPr lvl="1"/>
            <a:r>
              <a:rPr lang="en-US" altLang="zh-CN" sz="2000" dirty="0">
                <a:solidFill>
                  <a:srgbClr val="000000"/>
                </a:solidFill>
              </a:rPr>
              <a:t>CART</a:t>
            </a:r>
            <a:r>
              <a:rPr lang="zh-CN" altLang="en-US" sz="2000" dirty="0">
                <a:solidFill>
                  <a:srgbClr val="000000"/>
                </a:solidFill>
              </a:rPr>
              <a:t>算法采用二分递归分割的方法，因此该算法生成的决策树均为二叉树</a:t>
            </a:r>
            <a:endParaRPr lang="zh-CN" altLang="en-US" sz="2000" dirty="0">
              <a:solidFill>
                <a:srgbClr val="000000"/>
              </a:solidFill>
            </a:endParaRPr>
          </a:p>
          <a:p>
            <a:r>
              <a:rPr lang="zh-CN" altLang="en-US" sz="2000" dirty="0">
                <a:solidFill>
                  <a:srgbClr val="000000"/>
                </a:solidFill>
              </a:rPr>
              <a:t>标称属性中有类特别的属性为序数属性， 其属性的取值是有先后顺序的。对于序数属性的分类，往往要结合实际情况来考虑</a:t>
            </a:r>
            <a:endParaRPr lang="zh-CN" altLang="en-US" sz="2000" dirty="0">
              <a:solidFill>
                <a:srgbClr val="000000"/>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连续属性离散化</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7" name="矩形 3"/>
          <p:cNvSpPr>
            <a:spLocks noChangeArrowheads="1"/>
          </p:cNvSpPr>
          <p:nvPr/>
        </p:nvSpPr>
        <p:spPr bwMode="auto">
          <a:xfrm>
            <a:off x="484468" y="1268760"/>
            <a:ext cx="8552028"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非监督离散化不需要使用分类属性值，相对简单，有等宽离散化、等频离散化、聚类等方法</a:t>
            </a:r>
            <a:endParaRPr lang="zh-CN" altLang="en-US" sz="2000" dirty="0">
              <a:solidFill>
                <a:srgbClr val="000000"/>
              </a:solidFill>
            </a:endParaRPr>
          </a:p>
          <a:p>
            <a:pPr lvl="1"/>
            <a:r>
              <a:rPr lang="zh-CN" altLang="en-US" sz="2000" dirty="0">
                <a:solidFill>
                  <a:srgbClr val="000000"/>
                </a:solidFill>
              </a:rPr>
              <a:t>等宽离散化将属性划分为宽度一致的若干个区间</a:t>
            </a:r>
            <a:endParaRPr lang="zh-CN" altLang="en-US" sz="2000" dirty="0">
              <a:solidFill>
                <a:srgbClr val="000000"/>
              </a:solidFill>
            </a:endParaRPr>
          </a:p>
          <a:p>
            <a:pPr lvl="1"/>
            <a:r>
              <a:rPr lang="zh-CN" altLang="en-US" sz="2000" dirty="0">
                <a:solidFill>
                  <a:srgbClr val="000000"/>
                </a:solidFill>
              </a:rPr>
              <a:t>等频离散化将属性划分为若干个区间，每个区间的数量相等</a:t>
            </a:r>
            <a:endParaRPr lang="zh-CN" altLang="en-US" sz="2000" dirty="0">
              <a:solidFill>
                <a:srgbClr val="000000"/>
              </a:solidFill>
            </a:endParaRPr>
          </a:p>
          <a:p>
            <a:pPr lvl="1"/>
            <a:r>
              <a:rPr lang="zh-CN" altLang="en-US" sz="2000" dirty="0">
                <a:solidFill>
                  <a:srgbClr val="000000"/>
                </a:solidFill>
              </a:rPr>
              <a:t>聚类将属性间根据特性划分为不同的簇，以此形式将连续属性离散化</a:t>
            </a:r>
            <a:endParaRPr lang="en-US" altLang="zh-CN" sz="2000" dirty="0">
              <a:solidFill>
                <a:srgbClr val="000000"/>
              </a:solidFill>
            </a:endParaRPr>
          </a:p>
          <a:p>
            <a:pPr marL="457200" lvl="1" indent="0">
              <a:buNone/>
            </a:pPr>
            <a:endParaRPr lang="zh-CN" altLang="en-US" sz="2000" dirty="0">
              <a:solidFill>
                <a:srgbClr val="000000"/>
              </a:solidFill>
            </a:endParaRPr>
          </a:p>
          <a:p>
            <a:r>
              <a:rPr lang="zh-CN" altLang="en-US" sz="2000" dirty="0">
                <a:solidFill>
                  <a:srgbClr val="000000"/>
                </a:solidFill>
              </a:rPr>
              <a:t>非监督离散化的方法能够完成对连续数据进行离散化的要求，但是相比之下，对连续属性监督离散化很多时候能够产生更好的结果。常用的方法是通过选取极大化区间纯度的临界值来进行划分</a:t>
            </a:r>
            <a:endParaRPr lang="zh-CN" altLang="en-US" sz="2000" dirty="0">
              <a:solidFill>
                <a:srgbClr val="000000"/>
              </a:solidFill>
            </a:endParaRPr>
          </a:p>
          <a:p>
            <a:pPr lvl="1"/>
            <a:r>
              <a:rPr lang="en-US" altLang="zh-CN" sz="2000" dirty="0">
                <a:solidFill>
                  <a:srgbClr val="000000"/>
                </a:solidFill>
              </a:rPr>
              <a:t>C4.5</a:t>
            </a:r>
            <a:r>
              <a:rPr lang="zh-CN" altLang="en-US" sz="2000" dirty="0">
                <a:solidFill>
                  <a:srgbClr val="000000"/>
                </a:solidFill>
              </a:rPr>
              <a:t>与</a:t>
            </a:r>
            <a:r>
              <a:rPr lang="en-US" altLang="zh-CN" sz="2000" dirty="0">
                <a:solidFill>
                  <a:srgbClr val="000000"/>
                </a:solidFill>
              </a:rPr>
              <a:t>CART</a:t>
            </a:r>
            <a:r>
              <a:rPr lang="zh-CN" altLang="en-US" sz="2000" dirty="0">
                <a:solidFill>
                  <a:srgbClr val="000000"/>
                </a:solidFill>
              </a:rPr>
              <a:t>算法中的连续属性离散化方法均属于监督离散化方法</a:t>
            </a:r>
            <a:endParaRPr lang="zh-CN" altLang="en-US" sz="2000" dirty="0">
              <a:solidFill>
                <a:srgbClr val="000000"/>
              </a:solidFill>
            </a:endParaRPr>
          </a:p>
          <a:p>
            <a:pPr lvl="1"/>
            <a:r>
              <a:rPr lang="en-US" altLang="zh-CN" sz="2000" dirty="0">
                <a:solidFill>
                  <a:srgbClr val="000000"/>
                </a:solidFill>
              </a:rPr>
              <a:t>CART </a:t>
            </a:r>
            <a:r>
              <a:rPr lang="zh-CN" altLang="en-US" sz="2000" dirty="0">
                <a:solidFill>
                  <a:srgbClr val="000000"/>
                </a:solidFill>
              </a:rPr>
              <a:t>算法使用</a:t>
            </a:r>
            <a:r>
              <a:rPr lang="en-US" altLang="zh-CN" sz="2000" dirty="0">
                <a:solidFill>
                  <a:srgbClr val="000000"/>
                </a:solidFill>
              </a:rPr>
              <a:t>Gini</a:t>
            </a:r>
            <a:r>
              <a:rPr lang="zh-CN" altLang="en-US" sz="2000" dirty="0">
                <a:solidFill>
                  <a:srgbClr val="000000"/>
                </a:solidFill>
              </a:rPr>
              <a:t>系数作为区间纯度的度量标准</a:t>
            </a:r>
            <a:endParaRPr lang="zh-CN" altLang="en-US" sz="2000" dirty="0">
              <a:solidFill>
                <a:srgbClr val="000000"/>
              </a:solidFill>
            </a:endParaRPr>
          </a:p>
          <a:p>
            <a:pPr lvl="1"/>
            <a:r>
              <a:rPr lang="en-US" altLang="zh-CN" sz="2000" dirty="0">
                <a:solidFill>
                  <a:srgbClr val="000000"/>
                </a:solidFill>
              </a:rPr>
              <a:t>C4. 5</a:t>
            </a:r>
            <a:r>
              <a:rPr lang="zh-CN" altLang="en-US" sz="2000" dirty="0">
                <a:solidFill>
                  <a:srgbClr val="000000"/>
                </a:solidFill>
              </a:rPr>
              <a:t>算法使用熵作为区间纯度的度量标准</a:t>
            </a:r>
            <a:endParaRPr lang="zh-CN" altLang="en-US" sz="2000" dirty="0">
              <a:solidFill>
                <a:srgbClr val="0000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欠拟合和过拟合</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7" name="矩形 3"/>
          <p:cNvSpPr>
            <a:spLocks noChangeArrowheads="1"/>
          </p:cNvSpPr>
          <p:nvPr/>
        </p:nvSpPr>
        <p:spPr bwMode="auto">
          <a:xfrm>
            <a:off x="467544" y="1556792"/>
            <a:ext cx="8552028" cy="5323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训练误差代表分类方法对于现有训练样本集的拟合程度</a:t>
            </a:r>
            <a:endParaRPr lang="zh-CN" altLang="en-US" sz="2000" dirty="0">
              <a:solidFill>
                <a:srgbClr val="000000"/>
              </a:solidFill>
            </a:endParaRPr>
          </a:p>
          <a:p>
            <a:r>
              <a:rPr lang="zh-CN" altLang="en-US" sz="2000" dirty="0">
                <a:solidFill>
                  <a:srgbClr val="000000"/>
                </a:solidFill>
              </a:rPr>
              <a:t>泛化误差代表此方法的泛化能力，即对于新的样本数据的分类能力如何</a:t>
            </a:r>
            <a:endParaRPr lang="zh-CN" altLang="en-US" sz="2000" dirty="0">
              <a:solidFill>
                <a:srgbClr val="000000"/>
              </a:solidFill>
            </a:endParaRPr>
          </a:p>
          <a:p>
            <a:r>
              <a:rPr lang="zh-CN" altLang="en-US" sz="2000" dirty="0">
                <a:solidFill>
                  <a:srgbClr val="000000"/>
                </a:solidFill>
              </a:rPr>
              <a:t>模型的训练误差比较高，则称此分类模型</a:t>
            </a:r>
            <a:r>
              <a:rPr lang="zh-CN" altLang="en-US" sz="2000" b="1" dirty="0">
                <a:solidFill>
                  <a:srgbClr val="000000"/>
                </a:solidFill>
              </a:rPr>
              <a:t>欠拟合</a:t>
            </a:r>
            <a:endParaRPr lang="zh-CN" altLang="en-US" sz="2000" b="1" dirty="0">
              <a:solidFill>
                <a:srgbClr val="000000"/>
              </a:solidFill>
            </a:endParaRPr>
          </a:p>
          <a:p>
            <a:r>
              <a:rPr lang="zh-CN" altLang="en-US" sz="2000" dirty="0">
                <a:solidFill>
                  <a:srgbClr val="000000"/>
                </a:solidFill>
              </a:rPr>
              <a:t>模型的训练误差低但是泛化误差比较高，则称此分类模型</a:t>
            </a:r>
            <a:r>
              <a:rPr lang="zh-CN" altLang="en-US" sz="2000" b="1" dirty="0">
                <a:solidFill>
                  <a:srgbClr val="000000"/>
                </a:solidFill>
              </a:rPr>
              <a:t>过拟合</a:t>
            </a:r>
            <a:endParaRPr lang="en-US" altLang="zh-CN" sz="2000" b="1" dirty="0">
              <a:solidFill>
                <a:srgbClr val="000000"/>
              </a:solidFill>
            </a:endParaRPr>
          </a:p>
          <a:p>
            <a:pPr marL="0" indent="0">
              <a:buNone/>
            </a:pPr>
            <a:endParaRPr lang="zh-CN" altLang="en-US" sz="2000" b="1" dirty="0">
              <a:solidFill>
                <a:srgbClr val="000000"/>
              </a:solidFill>
            </a:endParaRPr>
          </a:p>
          <a:p>
            <a:r>
              <a:rPr lang="zh-CN" altLang="en-US" sz="2000" b="1" dirty="0">
                <a:solidFill>
                  <a:srgbClr val="FF0000"/>
                </a:solidFill>
              </a:rPr>
              <a:t>解决欠拟合问题</a:t>
            </a:r>
            <a:r>
              <a:rPr lang="zh-CN" altLang="en-US" sz="2000" dirty="0">
                <a:solidFill>
                  <a:srgbClr val="000000"/>
                </a:solidFill>
              </a:rPr>
              <a:t>：可以通过增加分类属性的数量、选取合适的分类属性等方法，提高模型对于训练样本的拟合程度</a:t>
            </a:r>
            <a:endParaRPr lang="en-US" altLang="zh-CN" sz="2000" dirty="0">
              <a:solidFill>
                <a:srgbClr val="000000"/>
              </a:solidFill>
            </a:endParaRPr>
          </a:p>
          <a:p>
            <a:r>
              <a:rPr lang="zh-CN" altLang="en-US" sz="2000" b="1" dirty="0">
                <a:solidFill>
                  <a:srgbClr val="FF0000"/>
                </a:solidFill>
              </a:rPr>
              <a:t>解决过拟合问题</a:t>
            </a:r>
            <a:r>
              <a:rPr lang="zh-CN" altLang="en-US" sz="2000" dirty="0">
                <a:solidFill>
                  <a:srgbClr val="000000"/>
                </a:solidFill>
              </a:rPr>
              <a:t>：一方面注意数据训练集的质量，选取具有代表性样本的训练样本集。另一方面避免决策树过度增长，通过限制树的深度来减少数据中的噪声对于决策树构建的影响，一般可以采取剪枝的方法</a:t>
            </a:r>
            <a:endParaRPr lang="en-US" altLang="zh-CN" sz="2000" dirty="0">
              <a:solidFill>
                <a:srgbClr val="000000"/>
              </a:solidFill>
            </a:endParaRPr>
          </a:p>
          <a:p>
            <a:r>
              <a:rPr lang="zh-CN" altLang="en-US" sz="2000" dirty="0">
                <a:solidFill>
                  <a:srgbClr val="000000"/>
                </a:solidFill>
              </a:rPr>
              <a:t>剪枝是用来缩小决策树的规模，从而降低最终算法的复杂度并提高预测准确度，包括预剪枝和后剪枝两类</a:t>
            </a:r>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pPr marL="0" indent="0">
              <a:buNone/>
            </a:pPr>
            <a:endParaRPr lang="zh-CN" altLang="en-US" sz="2000" dirty="0">
              <a:solidFill>
                <a:srgbClr val="00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错误率降低剪枝</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7" name="矩形 3"/>
          <p:cNvSpPr>
            <a:spLocks noChangeArrowheads="1"/>
          </p:cNvSpPr>
          <p:nvPr/>
        </p:nvSpPr>
        <p:spPr bwMode="auto">
          <a:xfrm>
            <a:off x="484468" y="1268760"/>
            <a:ext cx="8321041"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预剪枝的思路是提前终止决策树的增长，在形成完全拟合训练样本集的决策树之前就停止树的增长，避免决策树规模过大而产生过拟合</a:t>
            </a:r>
            <a:endParaRPr lang="zh-CN" altLang="en-US" sz="2000" dirty="0">
              <a:solidFill>
                <a:srgbClr val="000000"/>
              </a:solidFill>
            </a:endParaRPr>
          </a:p>
          <a:p>
            <a:r>
              <a:rPr lang="zh-CN" altLang="en-US" sz="2000" dirty="0">
                <a:solidFill>
                  <a:srgbClr val="000000"/>
                </a:solidFill>
              </a:rPr>
              <a:t>后剪枝策略先让决策树完全生长，之后针对子树进行判断，用叶子结点或者子树中最常用的分支替换子树，以此方式不断改进决策树，直至无法改进为止</a:t>
            </a:r>
            <a:endParaRPr lang="en-US" altLang="zh-CN" sz="2000" dirty="0">
              <a:solidFill>
                <a:srgbClr val="000000"/>
              </a:solidFill>
            </a:endParaRPr>
          </a:p>
          <a:p>
            <a:r>
              <a:rPr lang="zh-CN" altLang="en-US" sz="2000" dirty="0">
                <a:solidFill>
                  <a:srgbClr val="000000"/>
                </a:solidFill>
              </a:rPr>
              <a:t>错误率降低剪枝（</a:t>
            </a:r>
            <a:r>
              <a:rPr lang="en-US" altLang="zh-CN" sz="2000" dirty="0">
                <a:solidFill>
                  <a:srgbClr val="000000"/>
                </a:solidFill>
              </a:rPr>
              <a:t> REP </a:t>
            </a:r>
            <a:r>
              <a:rPr lang="zh-CN" altLang="en-US" sz="2000" dirty="0">
                <a:solidFill>
                  <a:srgbClr val="000000"/>
                </a:solidFill>
              </a:rPr>
              <a:t>）是后剪枝策略中最简单的算法之一， 该算法从叶子结点向上，依次将决策树的所有子树用其样本中最多的类替换，使用一个测试集进行测试， 记录下对于决策树的每棵子树剪枝前后的误差数之差，选取误差数减少最少的子树进行剪枝，将其用子样本集中最多的类替换。按此步骤自底向上，遍历决策树的所有子树，当发现没有可替换的子树时，即每棵子树剪枝后的误差数都会增多，则剪枝结束</a:t>
            </a:r>
            <a:endParaRPr lang="en-US" altLang="zh-CN" sz="2000" dirty="0">
              <a:solidFill>
                <a:srgbClr val="000000"/>
              </a:solidFill>
            </a:endParaRPr>
          </a:p>
          <a:p>
            <a:r>
              <a:rPr lang="en-US" altLang="zh-CN" sz="2000" dirty="0">
                <a:solidFill>
                  <a:srgbClr val="000000"/>
                </a:solidFill>
              </a:rPr>
              <a:t>REP</a:t>
            </a:r>
            <a:r>
              <a:rPr lang="zh-CN" altLang="en-US" sz="2000" dirty="0">
                <a:solidFill>
                  <a:srgbClr val="000000"/>
                </a:solidFill>
              </a:rPr>
              <a:t>剪枝方法简单、快速，在数据集较大时效果不错，但由于需要比对模型子树替换前后的预测错误率，因此需要从数据集中划分出单独的测试集，故而当数据集较小时，</a:t>
            </a:r>
            <a:r>
              <a:rPr lang="en-US" altLang="zh-CN" sz="2000" dirty="0">
                <a:solidFill>
                  <a:srgbClr val="000000"/>
                </a:solidFill>
              </a:rPr>
              <a:t>REP</a:t>
            </a:r>
            <a:r>
              <a:rPr lang="zh-CN" altLang="en-US" sz="2000" dirty="0">
                <a:solidFill>
                  <a:srgbClr val="000000"/>
                </a:solidFill>
              </a:rPr>
              <a:t>剪枝策略的效果会有所下降</a:t>
            </a:r>
            <a:endParaRPr lang="en-US" altLang="zh-CN" sz="2000" dirty="0">
              <a:solidFill>
                <a:srgbClr val="000000"/>
              </a:solidFill>
            </a:endParaRPr>
          </a:p>
          <a:p>
            <a:pPr marL="0" indent="0">
              <a:buNone/>
            </a:pPr>
            <a:endParaRPr lang="zh-CN" altLang="en-US" sz="2000" dirty="0">
              <a:solidFill>
                <a:srgbClr val="000000"/>
              </a:solidFill>
            </a:endParaRPr>
          </a:p>
          <a:p>
            <a:endParaRPr lang="en-US" altLang="zh-CN" sz="2000" dirty="0">
              <a:solidFill>
                <a:srgbClr val="000000"/>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悲观剪枝</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7" name="矩形 3"/>
              <p:cNvSpPr>
                <a:spLocks noChangeArrowheads="1"/>
              </p:cNvSpPr>
              <p:nvPr/>
            </p:nvSpPr>
            <p:spPr bwMode="auto">
              <a:xfrm>
                <a:off x="484468" y="1351508"/>
                <a:ext cx="8501553"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与</a:t>
                </a:r>
                <a:r>
                  <a:rPr lang="en-US" altLang="zh-CN" sz="2000" dirty="0">
                    <a:solidFill>
                      <a:srgbClr val="000000"/>
                    </a:solidFill>
                  </a:rPr>
                  <a:t>REP</a:t>
                </a:r>
                <a:r>
                  <a:rPr lang="zh-CN" altLang="en-US" sz="2000" dirty="0">
                    <a:solidFill>
                      <a:srgbClr val="000000"/>
                    </a:solidFill>
                  </a:rPr>
                  <a:t>相比，悲观剪枝（</a:t>
                </a:r>
                <a:r>
                  <a:rPr lang="en-US" altLang="zh-CN" sz="2000" dirty="0">
                    <a:solidFill>
                      <a:srgbClr val="000000"/>
                    </a:solidFill>
                  </a:rPr>
                  <a:t> PEP </a:t>
                </a:r>
                <a:r>
                  <a:rPr lang="zh-CN" altLang="en-US" sz="2000" dirty="0">
                    <a:solidFill>
                      <a:srgbClr val="000000"/>
                    </a:solidFill>
                  </a:rPr>
                  <a:t>）不再需要构建一个单独的测试集。其假设某叶子结点</a:t>
                </a:r>
                <a14:m>
                  <m:oMath xmlns:m="http://schemas.openxmlformats.org/officeDocument/2006/math">
                    <m:r>
                      <a:rPr lang="en-US" altLang="zh-CN" sz="2000" i="1" dirty="0">
                        <a:solidFill>
                          <a:srgbClr val="000000"/>
                        </a:solidFill>
                        <a:latin typeface="Cambria Math" panose="02040503050406030204" pitchFamily="18" charset="0"/>
                      </a:rPr>
                      <m:t>𝑡</m:t>
                    </m:r>
                  </m:oMath>
                </a14:m>
                <a:r>
                  <a:rPr lang="zh-CN" altLang="en-US" sz="2000" dirty="0">
                    <a:solidFill>
                      <a:srgbClr val="000000"/>
                    </a:solidFill>
                  </a:rPr>
                  <a:t>中有</a:t>
                </a:r>
                <a14:m>
                  <m:oMath xmlns:m="http://schemas.openxmlformats.org/officeDocument/2006/math">
                    <m:r>
                      <a:rPr lang="en-US" altLang="zh-CN" sz="2000" i="1" dirty="0">
                        <a:solidFill>
                          <a:srgbClr val="000000"/>
                        </a:solidFill>
                        <a:latin typeface="Cambria Math" panose="02040503050406030204" pitchFamily="18" charset="0"/>
                      </a:rPr>
                      <m:t>𝑁</m:t>
                    </m:r>
                    <m:r>
                      <a:rPr lang="en-US" altLang="zh-CN" sz="2000" i="1" dirty="0">
                        <a:solidFill>
                          <a:srgbClr val="000000"/>
                        </a:solidFill>
                        <a:latin typeface="Cambria Math" panose="02040503050406030204" pitchFamily="18" charset="0"/>
                      </a:rPr>
                      <m:t>(</m:t>
                    </m:r>
                    <m:r>
                      <a:rPr lang="en-US" altLang="zh-CN" sz="2000" i="1" dirty="0">
                        <a:solidFill>
                          <a:srgbClr val="000000"/>
                        </a:solidFill>
                        <a:latin typeface="Cambria Math" panose="02040503050406030204" pitchFamily="18" charset="0"/>
                      </a:rPr>
                      <m:t>𝑡</m:t>
                    </m:r>
                    <m:r>
                      <a:rPr lang="en-US" altLang="zh-CN" sz="2000" i="1" dirty="0">
                        <a:solidFill>
                          <a:srgbClr val="000000"/>
                        </a:solidFill>
                        <a:latin typeface="Cambria Math" panose="02040503050406030204" pitchFamily="18" charset="0"/>
                      </a:rPr>
                      <m:t>)</m:t>
                    </m:r>
                  </m:oMath>
                </a14:m>
                <a:r>
                  <a:rPr lang="zh-CN" altLang="en-US" sz="2000" dirty="0">
                    <a:solidFill>
                      <a:srgbClr val="000000"/>
                    </a:solidFill>
                  </a:rPr>
                  <a:t>个样本，其中有</a:t>
                </a:r>
                <a14:m>
                  <m:oMath xmlns:m="http://schemas.openxmlformats.org/officeDocument/2006/math">
                    <m:r>
                      <a:rPr lang="en-US" altLang="zh-CN" sz="2000" i="1" dirty="0">
                        <a:solidFill>
                          <a:srgbClr val="000000"/>
                        </a:solidFill>
                        <a:latin typeface="Cambria Math" panose="02040503050406030204" pitchFamily="18" charset="0"/>
                      </a:rPr>
                      <m:t>𝑒</m:t>
                    </m:r>
                    <m:r>
                      <a:rPr lang="en-US" altLang="zh-CN" sz="2000" i="1" dirty="0">
                        <a:solidFill>
                          <a:srgbClr val="000000"/>
                        </a:solidFill>
                        <a:latin typeface="Cambria Math" panose="02040503050406030204" pitchFamily="18" charset="0"/>
                      </a:rPr>
                      <m:t>(</m:t>
                    </m:r>
                    <m:r>
                      <a:rPr lang="en-US" altLang="zh-CN" sz="2000" i="1" dirty="0">
                        <a:solidFill>
                          <a:srgbClr val="000000"/>
                        </a:solidFill>
                        <a:latin typeface="Cambria Math" panose="02040503050406030204" pitchFamily="18" charset="0"/>
                      </a:rPr>
                      <m:t>𝑡</m:t>
                    </m:r>
                    <m:r>
                      <a:rPr lang="en-US" altLang="zh-CN" sz="2000" i="1" dirty="0">
                        <a:solidFill>
                          <a:srgbClr val="000000"/>
                        </a:solidFill>
                        <a:latin typeface="Cambria Math" panose="02040503050406030204" pitchFamily="18" charset="0"/>
                      </a:rPr>
                      <m:t>)</m:t>
                    </m:r>
                  </m:oMath>
                </a14:m>
                <a:r>
                  <a:rPr lang="zh-CN" altLang="en-US" sz="2000" dirty="0">
                    <a:solidFill>
                      <a:srgbClr val="000000"/>
                    </a:solidFill>
                  </a:rPr>
                  <a:t>个被错误分类的样本，则此叶子结点误分类率定义</a:t>
                </a:r>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r>
                  <a:rPr lang="zh-CN" altLang="zh-CN" sz="2000" dirty="0">
                    <a:solidFill>
                      <a:srgbClr val="000000"/>
                    </a:solidFill>
                  </a:rPr>
                  <a:t>其中</a:t>
                </a:r>
                <a:r>
                  <a:rPr lang="en-US" altLang="zh-CN" sz="2000" dirty="0">
                    <a:solidFill>
                      <a:srgbClr val="000000"/>
                    </a:solidFill>
                  </a:rPr>
                  <a:t>0.5</a:t>
                </a:r>
                <a:r>
                  <a:rPr lang="zh-CN" altLang="zh-CN" sz="2000" dirty="0">
                    <a:solidFill>
                      <a:srgbClr val="000000"/>
                    </a:solidFill>
                  </a:rPr>
                  <a:t>为修正因子。对于一棵有着</a:t>
                </a:r>
                <a14:m>
                  <m:oMath xmlns:m="http://schemas.openxmlformats.org/officeDocument/2006/math">
                    <m:r>
                      <a:rPr lang="en-US" altLang="zh-CN" sz="2000">
                        <a:solidFill>
                          <a:srgbClr val="000000"/>
                        </a:solidFill>
                        <a:latin typeface="Cambria Math" panose="02040503050406030204" pitchFamily="18" charset="0"/>
                      </a:rPr>
                      <m:t>𝑁</m:t>
                    </m:r>
                  </m:oMath>
                </a14:m>
                <a:r>
                  <a:rPr lang="zh-CN" altLang="zh-CN" sz="2000" dirty="0">
                    <a:solidFill>
                      <a:srgbClr val="000000"/>
                    </a:solidFill>
                  </a:rPr>
                  <a:t>个叶子结点的子树</a:t>
                </a:r>
                <a14:m>
                  <m:oMath xmlns:m="http://schemas.openxmlformats.org/officeDocument/2006/math">
                    <m:r>
                      <a:rPr lang="en-US" altLang="zh-CN" sz="2000">
                        <a:solidFill>
                          <a:srgbClr val="000000"/>
                        </a:solidFill>
                        <a:latin typeface="Cambria Math" panose="02040503050406030204" pitchFamily="18" charset="0"/>
                      </a:rPr>
                      <m:t>𝑇</m:t>
                    </m:r>
                  </m:oMath>
                </a14:m>
                <a:r>
                  <a:rPr lang="zh-CN" altLang="zh-CN" sz="2000" dirty="0">
                    <a:solidFill>
                      <a:srgbClr val="000000"/>
                    </a:solidFill>
                  </a:rPr>
                  <a:t>，其误分类率计算公式如下</a:t>
                </a:r>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r>
                  <a:rPr lang="zh-CN" altLang="zh-CN" sz="2000" dirty="0">
                    <a:solidFill>
                      <a:srgbClr val="000000"/>
                    </a:solidFill>
                  </a:rPr>
                  <a:t>由于修正因子的存在，有时即便子树的误差数要小于剪枝后的误差，仍有可能进行剪枝操作，因为误分类率的计算公式中考虑到了叶子结点树大小（</a:t>
                </a:r>
                <a14:m>
                  <m:oMath xmlns:m="http://schemas.openxmlformats.org/officeDocument/2006/math">
                    <m:r>
                      <a:rPr lang="en-US" altLang="zh-CN" sz="2000">
                        <a:solidFill>
                          <a:srgbClr val="000000"/>
                        </a:solidFill>
                        <a:latin typeface="Cambria Math" panose="02040503050406030204" pitchFamily="18" charset="0"/>
                      </a:rPr>
                      <m:t>𝑁</m:t>
                    </m:r>
                  </m:oMath>
                </a14:m>
                <a:r>
                  <a:rPr lang="zh-CN" altLang="zh-CN" sz="2000" dirty="0">
                    <a:solidFill>
                      <a:srgbClr val="000000"/>
                    </a:solidFill>
                  </a:rPr>
                  <a:t>）的影响</a:t>
                </a:r>
                <a:endParaRPr lang="en-US" altLang="zh-CN" sz="2000" dirty="0">
                  <a:solidFill>
                    <a:srgbClr val="000000"/>
                  </a:solidFill>
                </a:endParaRPr>
              </a:p>
            </p:txBody>
          </p:sp>
        </mc:Choice>
        <mc:Fallback>
          <p:sp>
            <p:nvSpPr>
              <p:cNvPr id="17" name="矩形 3"/>
              <p:cNvSpPr>
                <a:spLocks noRot="1" noChangeAspect="1" noMove="1" noResize="1" noEditPoints="1" noAdjustHandles="1" noChangeArrowheads="1" noChangeShapeType="1" noTextEdit="1"/>
              </p:cNvSpPr>
              <p:nvPr/>
            </p:nvSpPr>
            <p:spPr bwMode="auto">
              <a:xfrm>
                <a:off x="484468" y="1351508"/>
                <a:ext cx="8501553" cy="4154984"/>
              </a:xfrm>
              <a:prstGeom prst="rect">
                <a:avLst/>
              </a:prstGeom>
              <a:blipFill rotWithShape="1">
                <a:blip r:embed="rId1"/>
                <a:stretch>
                  <a:fillRect l="-7" t="-5" r="2" b="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3419872" y="2277845"/>
                <a:ext cx="2144305" cy="73314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𝑟</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𝑡</m:t>
                          </m:r>
                        </m:e>
                      </m:d>
                      <m:r>
                        <a:rPr lang="en-US" altLang="zh-CN" sz="2000" i="1">
                          <a:latin typeface="Cambria Math" panose="02040503050406030204" pitchFamily="18" charset="0"/>
                        </a:rPr>
                        <m:t>=</m:t>
                      </m:r>
                      <m:f>
                        <m:fPr>
                          <m:ctrlPr>
                            <a:rPr lang="zh-CN" altLang="zh-CN" sz="2000" i="1">
                              <a:latin typeface="Cambria Math" panose="02040503050406030204" pitchFamily="18" charset="0"/>
                            </a:rPr>
                          </m:ctrlPr>
                        </m:fPr>
                        <m:num>
                          <m:r>
                            <a:rPr lang="en-US" altLang="zh-CN" sz="2000" i="1">
                              <a:latin typeface="Cambria Math" panose="02040503050406030204" pitchFamily="18" charset="0"/>
                            </a:rPr>
                            <m:t>𝑒</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𝑡</m:t>
                              </m:r>
                            </m:e>
                          </m:d>
                          <m:r>
                            <a:rPr lang="en-US" altLang="zh-CN" sz="2000" i="1">
                              <a:latin typeface="Cambria Math" panose="02040503050406030204" pitchFamily="18" charset="0"/>
                            </a:rPr>
                            <m:t>+</m:t>
                          </m:r>
                          <m:r>
                            <a:rPr lang="en-US" altLang="zh-CN" sz="2000" i="1">
                              <a:latin typeface="Cambria Math" panose="02040503050406030204" pitchFamily="18" charset="0"/>
                            </a:rPr>
                            <m:t>0</m:t>
                          </m:r>
                          <m:r>
                            <a:rPr lang="en-US" altLang="zh-CN" sz="2000" i="1">
                              <a:latin typeface="Cambria Math" panose="02040503050406030204" pitchFamily="18" charset="0"/>
                            </a:rPr>
                            <m:t>.</m:t>
                          </m:r>
                          <m:r>
                            <a:rPr lang="en-US" altLang="zh-CN" sz="2000" i="1">
                              <a:latin typeface="Cambria Math" panose="02040503050406030204" pitchFamily="18" charset="0"/>
                            </a:rPr>
                            <m:t>5</m:t>
                          </m:r>
                        </m:num>
                        <m:den>
                          <m:r>
                            <a:rPr lang="en-US" altLang="zh-CN" sz="2000" i="1">
                              <a:latin typeface="Cambria Math" panose="02040503050406030204" pitchFamily="18" charset="0"/>
                            </a:rPr>
                            <m:t>𝑁</m:t>
                          </m:r>
                          <m:d>
                            <m:dPr>
                              <m:ctrlPr>
                                <a:rPr lang="zh-CN" altLang="zh-CN" sz="2000" i="1">
                                  <a:latin typeface="Cambria Math" panose="02040503050406030204" pitchFamily="18" charset="0"/>
                                </a:rPr>
                              </m:ctrlPr>
                            </m:dPr>
                            <m:e>
                              <m:r>
                                <a:rPr lang="en-US" altLang="zh-CN" sz="2000" i="1">
                                  <a:latin typeface="Cambria Math" panose="02040503050406030204" pitchFamily="18" charset="0"/>
                                </a:rPr>
                                <m:t>𝑡</m:t>
                              </m:r>
                            </m:e>
                          </m:d>
                        </m:den>
                      </m:f>
                    </m:oMath>
                  </m:oMathPara>
                </a14:m>
                <a:endParaRPr lang="zh-CN" altLang="zh-CN" sz="2000" dirty="0"/>
              </a:p>
            </p:txBody>
          </p:sp>
        </mc:Choice>
        <mc:Fallback>
          <p:sp>
            <p:nvSpPr>
              <p:cNvPr id="18" name="矩形 17"/>
              <p:cNvSpPr>
                <a:spLocks noRot="1" noChangeAspect="1" noMove="1" noResize="1" noEditPoints="1" noAdjustHandles="1" noChangeArrowheads="1" noChangeShapeType="1" noTextEdit="1"/>
              </p:cNvSpPr>
              <p:nvPr/>
            </p:nvSpPr>
            <p:spPr>
              <a:xfrm>
                <a:off x="3419872" y="2277845"/>
                <a:ext cx="2144305" cy="733149"/>
              </a:xfrm>
              <a:prstGeom prst="rect">
                <a:avLst/>
              </a:prstGeom>
              <a:blipFill rotWithShape="1">
                <a:blip r:embed="rId2"/>
                <a:stretch>
                  <a:fillRect l="-19" t="-14" r="14" b="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18"/>
              <p:cNvSpPr/>
              <p:nvPr/>
            </p:nvSpPr>
            <p:spPr>
              <a:xfrm>
                <a:off x="157979" y="3538217"/>
                <a:ext cx="8836054" cy="918328"/>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𝑟</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𝑇</m:t>
                          </m:r>
                        </m:e>
                      </m:d>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nary>
                            <m:naryPr>
                              <m:chr m:val="∑"/>
                              <m:subHide m:val="on"/>
                              <m:supHide m:val="on"/>
                              <m:ctrlPr>
                                <a:rPr lang="zh-CN" altLang="en-US" sz="2000" i="1">
                                  <a:latin typeface="Cambria Math" panose="02040503050406030204" pitchFamily="18" charset="0"/>
                                </a:rPr>
                              </m:ctrlPr>
                            </m:naryPr>
                            <m:sub/>
                            <m:sup/>
                            <m:e>
                              <m:d>
                                <m:dPr>
                                  <m:begChr m:val="["/>
                                  <m:endChr m:val="]"/>
                                  <m:ctrlPr>
                                    <a:rPr lang="zh-CN" altLang="en-US" sz="2000" i="1">
                                      <a:latin typeface="Cambria Math" panose="02040503050406030204" pitchFamily="18" charset="0"/>
                                    </a:rPr>
                                  </m:ctrlPr>
                                </m:dPr>
                                <m:e>
                                  <m:r>
                                    <a:rPr lang="zh-CN" altLang="en-US" sz="2000" i="1">
                                      <a:latin typeface="Cambria Math" panose="02040503050406030204" pitchFamily="18" charset="0"/>
                                    </a:rPr>
                                    <m:t>𝑒</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𝑖</m:t>
                                      </m:r>
                                    </m:e>
                                  </m:d>
                                  <m:r>
                                    <a:rPr lang="zh-CN" altLang="en-US" sz="2000">
                                      <a:latin typeface="Cambria Math" panose="02040503050406030204" pitchFamily="18" charset="0"/>
                                    </a:rPr>
                                    <m:t>+</m:t>
                                  </m:r>
                                  <m:r>
                                    <a:rPr lang="zh-CN" altLang="en-US" sz="2000">
                                      <a:latin typeface="Cambria Math" panose="02040503050406030204" pitchFamily="18" charset="0"/>
                                    </a:rPr>
                                    <m:t>0</m:t>
                                  </m:r>
                                  <m:r>
                                    <a:rPr lang="zh-CN" altLang="en-US" sz="2000">
                                      <a:latin typeface="Cambria Math" panose="02040503050406030204" pitchFamily="18" charset="0"/>
                                    </a:rPr>
                                    <m:t>.</m:t>
                                  </m:r>
                                  <m:r>
                                    <a:rPr lang="zh-CN" altLang="en-US" sz="2000">
                                      <a:latin typeface="Cambria Math" panose="02040503050406030204" pitchFamily="18" charset="0"/>
                                    </a:rPr>
                                    <m:t>5</m:t>
                                  </m:r>
                                </m:e>
                              </m:d>
                            </m:e>
                          </m:nary>
                        </m:num>
                        <m:den>
                          <m:nary>
                            <m:naryPr>
                              <m:chr m:val="∑"/>
                              <m:subHide m:val="on"/>
                              <m:supHide m:val="on"/>
                              <m:ctrlPr>
                                <a:rPr lang="zh-CN" altLang="en-US" sz="2000" i="1">
                                  <a:latin typeface="Cambria Math" panose="02040503050406030204" pitchFamily="18" charset="0"/>
                                </a:rPr>
                              </m:ctrlPr>
                            </m:naryPr>
                            <m:sub/>
                            <m:sup/>
                            <m:e>
                              <m:r>
                                <a:rPr lang="zh-CN" altLang="en-US" sz="2000" i="1">
                                  <a:latin typeface="Cambria Math" panose="02040503050406030204" pitchFamily="18" charset="0"/>
                                </a:rPr>
                                <m:t>𝑁</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𝑖</m:t>
                                  </m:r>
                                </m:e>
                              </m:d>
                            </m:e>
                          </m:nary>
                        </m:den>
                      </m:f>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nary>
                            <m:naryPr>
                              <m:chr m:val="∑"/>
                              <m:subHide m:val="on"/>
                              <m:supHide m:val="on"/>
                              <m:ctrlPr>
                                <a:rPr lang="zh-CN" altLang="en-US" sz="2000" i="1">
                                  <a:latin typeface="Cambria Math" panose="02040503050406030204" pitchFamily="18" charset="0"/>
                                </a:rPr>
                              </m:ctrlPr>
                            </m:naryPr>
                            <m:sub/>
                            <m:sup/>
                            <m:e>
                              <m:r>
                                <a:rPr lang="zh-CN" altLang="en-US" sz="2000" i="1">
                                  <a:latin typeface="Cambria Math" panose="02040503050406030204" pitchFamily="18" charset="0"/>
                                </a:rPr>
                                <m:t>𝑒</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𝑖</m:t>
                                  </m:r>
                                </m:e>
                              </m:d>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𝑁</m:t>
                                  </m:r>
                                </m:num>
                                <m:den>
                                  <m:r>
                                    <a:rPr lang="zh-CN" altLang="en-US" sz="2000">
                                      <a:latin typeface="Cambria Math" panose="02040503050406030204" pitchFamily="18" charset="0"/>
                                    </a:rPr>
                                    <m:t>2</m:t>
                                  </m:r>
                                </m:den>
                              </m:f>
                            </m:e>
                          </m:nary>
                        </m:num>
                        <m:den>
                          <m:nary>
                            <m:naryPr>
                              <m:chr m:val="∑"/>
                              <m:subHide m:val="on"/>
                              <m:supHide m:val="on"/>
                              <m:ctrlPr>
                                <a:rPr lang="zh-CN" altLang="en-US" sz="2000" i="1">
                                  <a:latin typeface="Cambria Math" panose="02040503050406030204" pitchFamily="18" charset="0"/>
                                </a:rPr>
                              </m:ctrlPr>
                            </m:naryPr>
                            <m:sub/>
                            <m:sup/>
                            <m:e>
                              <m:r>
                                <a:rPr lang="zh-CN" altLang="en-US" sz="2000" i="1">
                                  <a:latin typeface="Cambria Math" panose="02040503050406030204" pitchFamily="18" charset="0"/>
                                </a:rPr>
                                <m:t>𝑁</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𝑖</m:t>
                                  </m:r>
                                </m:e>
                              </m:d>
                            </m:e>
                          </m:nary>
                        </m:den>
                      </m:f>
                    </m:oMath>
                  </m:oMathPara>
                </a14:m>
                <a:endParaRPr lang="zh-CN" altLang="en-US" sz="2000" dirty="0"/>
              </a:p>
            </p:txBody>
          </p:sp>
        </mc:Choice>
        <mc:Fallback>
          <p:sp>
            <p:nvSpPr>
              <p:cNvPr id="19" name="矩形 18"/>
              <p:cNvSpPr>
                <a:spLocks noRot="1" noChangeAspect="1" noMove="1" noResize="1" noEditPoints="1" noAdjustHandles="1" noChangeArrowheads="1" noChangeShapeType="1" noTextEdit="1"/>
              </p:cNvSpPr>
              <p:nvPr/>
            </p:nvSpPr>
            <p:spPr>
              <a:xfrm>
                <a:off x="157979" y="3538217"/>
                <a:ext cx="8836054" cy="918328"/>
              </a:xfrm>
              <a:prstGeom prst="rect">
                <a:avLst/>
              </a:prstGeom>
              <a:blipFill rotWithShape="1">
                <a:blip r:embed="rId3"/>
                <a:stretch>
                  <a:fillRect l="-6" t="-69" r="6" b="-2823"/>
                </a:stretch>
              </a:blipFill>
            </p:spPr>
            <p:txBody>
              <a:bodyPr/>
              <a:lstStyle/>
              <a:p>
                <a:r>
                  <a:rPr lang="zh-CN" altLang="en-US">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代价复杂度剪枝</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17" name="矩形 3"/>
              <p:cNvSpPr>
                <a:spLocks noChangeArrowheads="1"/>
              </p:cNvSpPr>
              <p:nvPr/>
            </p:nvSpPr>
            <p:spPr bwMode="auto">
              <a:xfrm>
                <a:off x="467544" y="1412776"/>
                <a:ext cx="8501553"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2000" dirty="0">
                    <a:solidFill>
                      <a:srgbClr val="000000"/>
                    </a:solidFill>
                  </a:rPr>
                  <a:t>代价复杂度剪枝策略</a:t>
                </a:r>
                <a:r>
                  <a:rPr lang="en-US" altLang="zh-CN" sz="2000" dirty="0">
                    <a:solidFill>
                      <a:srgbClr val="000000"/>
                    </a:solidFill>
                  </a:rPr>
                  <a:t>(CCP)</a:t>
                </a:r>
                <a:r>
                  <a:rPr lang="zh-CN" altLang="zh-CN" sz="2000" dirty="0">
                    <a:solidFill>
                      <a:srgbClr val="000000"/>
                    </a:solidFill>
                  </a:rPr>
                  <a:t> 定义了代价与复杂度的概念</a:t>
                </a:r>
                <a:r>
                  <a:rPr lang="zh-CN" altLang="en-US" sz="2000" dirty="0">
                    <a:solidFill>
                      <a:srgbClr val="000000"/>
                    </a:solidFill>
                  </a:rPr>
                  <a:t>。</a:t>
                </a:r>
                <a:endParaRPr lang="en-US" altLang="zh-CN" sz="2000" dirty="0">
                  <a:solidFill>
                    <a:srgbClr val="000000"/>
                  </a:solidFill>
                </a:endParaRPr>
              </a:p>
              <a:p>
                <a:pPr lvl="1"/>
                <a:r>
                  <a:rPr lang="zh-CN" altLang="zh-CN" sz="2000" dirty="0">
                    <a:solidFill>
                      <a:srgbClr val="000000"/>
                    </a:solidFill>
                  </a:rPr>
                  <a:t>代价是指在剪枝过程中因为子树被替换而增加的错分样本</a:t>
                </a:r>
                <a:endParaRPr lang="en-US" altLang="zh-CN" sz="2000" dirty="0">
                  <a:solidFill>
                    <a:srgbClr val="000000"/>
                  </a:solidFill>
                </a:endParaRPr>
              </a:p>
              <a:p>
                <a:pPr lvl="1"/>
                <a:r>
                  <a:rPr lang="zh-CN" altLang="zh-CN" sz="2000" dirty="0">
                    <a:solidFill>
                      <a:srgbClr val="000000"/>
                    </a:solidFill>
                  </a:rPr>
                  <a:t>复杂度表示剪枝后减少的叶结点数</a:t>
                </a:r>
                <a:endParaRPr lang="zh-CN" altLang="zh-CN" sz="2000" dirty="0">
                  <a:solidFill>
                    <a:srgbClr val="000000"/>
                  </a:solidFill>
                </a:endParaRPr>
              </a:p>
              <a:p>
                <a:r>
                  <a:rPr lang="en-US" altLang="zh-CN" sz="2000" dirty="0">
                    <a:solidFill>
                      <a:srgbClr val="000000"/>
                    </a:solidFill>
                  </a:rPr>
                  <a:t>CCP</a:t>
                </a:r>
                <a:r>
                  <a:rPr lang="zh-CN" altLang="zh-CN" sz="2000" dirty="0">
                    <a:solidFill>
                      <a:srgbClr val="000000"/>
                    </a:solidFill>
                  </a:rPr>
                  <a:t>算法使用</a:t>
                </a:r>
                <a14:m>
                  <m:oMath xmlns:m="http://schemas.openxmlformats.org/officeDocument/2006/math">
                    <m:r>
                      <m:rPr>
                        <m:sty m:val="p"/>
                      </m:rPr>
                      <a:rPr lang="en-US" altLang="zh-CN" sz="2000">
                        <a:solidFill>
                          <a:srgbClr val="000000"/>
                        </a:solidFill>
                        <a:latin typeface="Cambria Math" panose="02040503050406030204" pitchFamily="18" charset="0"/>
                      </a:rPr>
                      <m:t>α</m:t>
                    </m:r>
                  </m:oMath>
                </a14:m>
                <a:r>
                  <a:rPr lang="zh-CN" altLang="zh-CN" sz="2000" dirty="0">
                    <a:solidFill>
                      <a:srgbClr val="000000"/>
                    </a:solidFill>
                  </a:rPr>
                  <a:t>作为衡量代价与复杂度之间关系的值，其计算公式如下</a:t>
                </a:r>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endParaRPr lang="en-US" altLang="zh-CN" sz="2000" dirty="0">
                  <a:solidFill>
                    <a:srgbClr val="000000"/>
                  </a:solidFill>
                </a:endParaRPr>
              </a:p>
              <a:p>
                <a:r>
                  <a:rPr lang="en-US" altLang="zh-CN" sz="2000" dirty="0">
                    <a:solidFill>
                      <a:srgbClr val="000000"/>
                    </a:solidFill>
                  </a:rPr>
                  <a:t>CCP</a:t>
                </a:r>
                <a:r>
                  <a:rPr lang="zh-CN" altLang="zh-CN" sz="2000" dirty="0">
                    <a:solidFill>
                      <a:srgbClr val="000000"/>
                    </a:solidFill>
                  </a:rPr>
                  <a:t>的具体方法为</a:t>
                </a:r>
                <a:r>
                  <a:rPr lang="zh-CN" altLang="en-US" sz="2000" dirty="0">
                    <a:solidFill>
                      <a:srgbClr val="000000"/>
                    </a:solidFill>
                  </a:rPr>
                  <a:t>：</a:t>
                </a:r>
                <a:endParaRPr lang="en-US" altLang="zh-CN" sz="2000" dirty="0">
                  <a:solidFill>
                    <a:srgbClr val="000000"/>
                  </a:solidFill>
                </a:endParaRPr>
              </a:p>
              <a:p>
                <a:r>
                  <a:rPr lang="zh-CN" altLang="zh-CN" sz="2000" dirty="0">
                    <a:solidFill>
                      <a:srgbClr val="000000"/>
                    </a:solidFill>
                  </a:rPr>
                  <a:t>计算决策树</a:t>
                </a:r>
                <a14:m>
                  <m:oMath xmlns:m="http://schemas.openxmlformats.org/officeDocument/2006/math">
                    <m:r>
                      <m:rPr>
                        <m:sty m:val="p"/>
                      </m:rPr>
                      <a:rPr lang="en-US" altLang="zh-CN" sz="2000">
                        <a:solidFill>
                          <a:srgbClr val="000000"/>
                        </a:solidFill>
                        <a:latin typeface="Cambria Math" panose="02040503050406030204" pitchFamily="18" charset="0"/>
                      </a:rPr>
                      <m:t>T</m:t>
                    </m:r>
                  </m:oMath>
                </a14:m>
                <a:r>
                  <a:rPr lang="zh-CN" altLang="zh-CN" sz="2000" dirty="0">
                    <a:solidFill>
                      <a:srgbClr val="000000"/>
                    </a:solidFill>
                  </a:rPr>
                  <a:t>的每个非叶子结点的</a:t>
                </a:r>
                <a14:m>
                  <m:oMath xmlns:m="http://schemas.openxmlformats.org/officeDocument/2006/math">
                    <m:r>
                      <m:rPr>
                        <m:sty m:val="p"/>
                      </m:rPr>
                      <a:rPr lang="en-US" altLang="zh-CN" sz="2000">
                        <a:solidFill>
                          <a:srgbClr val="000000"/>
                        </a:solidFill>
                        <a:latin typeface="Cambria Math" panose="02040503050406030204" pitchFamily="18" charset="0"/>
                      </a:rPr>
                      <m:t>α</m:t>
                    </m:r>
                  </m:oMath>
                </a14:m>
                <a:r>
                  <a:rPr lang="zh-CN" altLang="zh-CN" sz="2000" dirty="0">
                    <a:solidFill>
                      <a:srgbClr val="000000"/>
                    </a:solidFill>
                  </a:rPr>
                  <a:t>值，每次计算之后剪掉具有最小</a:t>
                </a:r>
                <a14:m>
                  <m:oMath xmlns:m="http://schemas.openxmlformats.org/officeDocument/2006/math">
                    <m:r>
                      <m:rPr>
                        <m:sty m:val="p"/>
                      </m:rPr>
                      <a:rPr lang="en-US" altLang="zh-CN" sz="2000">
                        <a:solidFill>
                          <a:srgbClr val="000000"/>
                        </a:solidFill>
                        <a:latin typeface="Cambria Math" panose="02040503050406030204" pitchFamily="18" charset="0"/>
                      </a:rPr>
                      <m:t>α</m:t>
                    </m:r>
                  </m:oMath>
                </a14:m>
                <a:r>
                  <a:rPr lang="zh-CN" altLang="zh-CN" sz="2000" dirty="0">
                    <a:solidFill>
                      <a:srgbClr val="000000"/>
                    </a:solidFill>
                  </a:rPr>
                  <a:t>值的子树，循环此过程直至只剩下根结点，进行</a:t>
                </a:r>
                <a14:m>
                  <m:oMath xmlns:m="http://schemas.openxmlformats.org/officeDocument/2006/math">
                    <m:r>
                      <a:rPr lang="en-US" altLang="zh-CN" sz="2000">
                        <a:solidFill>
                          <a:srgbClr val="000000"/>
                        </a:solidFill>
                        <a:latin typeface="Cambria Math" panose="02040503050406030204" pitchFamily="18" charset="0"/>
                      </a:rPr>
                      <m:t>𝑛</m:t>
                    </m:r>
                  </m:oMath>
                </a14:m>
                <a:r>
                  <a:rPr lang="zh-CN" altLang="zh-CN" sz="2000" dirty="0">
                    <a:solidFill>
                      <a:srgbClr val="000000"/>
                    </a:solidFill>
                  </a:rPr>
                  <a:t>次剪枝，生成</a:t>
                </a:r>
                <a14:m>
                  <m:oMath xmlns:m="http://schemas.openxmlformats.org/officeDocument/2006/math">
                    <m:r>
                      <a:rPr lang="en-US" altLang="zh-CN" sz="2000">
                        <a:solidFill>
                          <a:srgbClr val="000000"/>
                        </a:solidFill>
                        <a:latin typeface="Cambria Math" panose="02040503050406030204" pitchFamily="18" charset="0"/>
                      </a:rPr>
                      <m:t>𝑛</m:t>
                    </m:r>
                  </m:oMath>
                </a14:m>
                <a:r>
                  <a:rPr lang="zh-CN" altLang="zh-CN" sz="2000" dirty="0">
                    <a:solidFill>
                      <a:srgbClr val="000000"/>
                    </a:solidFill>
                  </a:rPr>
                  <a:t>个决策树，从这</a:t>
                </a:r>
                <a14:m>
                  <m:oMath xmlns:m="http://schemas.openxmlformats.org/officeDocument/2006/math">
                    <m:r>
                      <a:rPr lang="en-US" altLang="zh-CN" sz="2000">
                        <a:solidFill>
                          <a:srgbClr val="000000"/>
                        </a:solidFill>
                        <a:latin typeface="Cambria Math" panose="02040503050406030204" pitchFamily="18" charset="0"/>
                      </a:rPr>
                      <m:t>𝑛</m:t>
                    </m:r>
                  </m:oMath>
                </a14:m>
                <a:r>
                  <a:rPr lang="zh-CN" altLang="zh-CN" sz="2000" dirty="0">
                    <a:solidFill>
                      <a:srgbClr val="000000"/>
                    </a:solidFill>
                  </a:rPr>
                  <a:t>个决策树中根据真实误差估计选择最佳决策树</a:t>
                </a:r>
                <a:endParaRPr lang="en-US" altLang="zh-CN" sz="2000" dirty="0">
                  <a:solidFill>
                    <a:srgbClr val="000000"/>
                  </a:solidFill>
                </a:endParaRPr>
              </a:p>
              <a:p>
                <a:endParaRPr lang="en-US" altLang="zh-CN" sz="2000" dirty="0">
                  <a:solidFill>
                    <a:srgbClr val="000000"/>
                  </a:solidFill>
                </a:endParaRPr>
              </a:p>
            </p:txBody>
          </p:sp>
        </mc:Choice>
        <mc:Fallback>
          <p:sp>
            <p:nvSpPr>
              <p:cNvPr id="17" name="矩形 3"/>
              <p:cNvSpPr>
                <a:spLocks noRot="1" noChangeAspect="1" noMove="1" noResize="1" noEditPoints="1" noAdjustHandles="1" noChangeArrowheads="1" noChangeShapeType="1" noTextEdit="1"/>
              </p:cNvSpPr>
              <p:nvPr/>
            </p:nvSpPr>
            <p:spPr bwMode="auto">
              <a:xfrm>
                <a:off x="467544" y="1412776"/>
                <a:ext cx="8501553" cy="4339650"/>
              </a:xfrm>
              <a:prstGeom prst="rect">
                <a:avLst/>
              </a:prstGeom>
              <a:blipFill rotWithShape="1">
                <a:blip r:embed="rId1"/>
                <a:stretch>
                  <a:fillRect l="-2" t="-12" r="4"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3495231" y="3059027"/>
                <a:ext cx="2153538" cy="73994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zh-CN" altLang="en-US" sz="2000">
                          <a:latin typeface="Cambria Math" panose="02040503050406030204" pitchFamily="18" charset="0"/>
                        </a:rPr>
                        <m:t>α</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d>
                            <m:dPr>
                              <m:begChr m:val=""/>
                              <m:ctrlPr>
                                <a:rPr lang="zh-CN" altLang="en-US" sz="2000" i="1">
                                  <a:latin typeface="Cambria Math" panose="02040503050406030204" pitchFamily="18" charset="0"/>
                                </a:rPr>
                              </m:ctrlPr>
                            </m:dPr>
                            <m:e>
                              <m:r>
                                <a:rPr lang="zh-CN" altLang="en-US" sz="2000" i="1">
                                  <a:latin typeface="Cambria Math" panose="02040503050406030204" pitchFamily="18" charset="0"/>
                                </a:rPr>
                                <m:t>𝑅</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𝑡</m:t>
                                  </m:r>
                                </m:e>
                              </m:d>
                              <m:r>
                                <a:rPr lang="zh-CN" altLang="en-US" sz="2000">
                                  <a:latin typeface="Cambria Math" panose="02040503050406030204" pitchFamily="18" charset="0"/>
                                </a:rPr>
                                <m:t>−</m:t>
                              </m:r>
                              <m:r>
                                <a:rPr lang="zh-CN" altLang="en-US" sz="2000" i="1">
                                  <a:latin typeface="Cambria Math" panose="02040503050406030204" pitchFamily="18" charset="0"/>
                                </a:rPr>
                                <m:t>𝑅</m:t>
                              </m:r>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r>
                                    <m:rPr>
                                      <m:sty m:val="p"/>
                                    </m:rPr>
                                    <a:rPr lang="zh-CN" altLang="en-US" sz="2000">
                                      <a:latin typeface="Cambria Math" panose="02040503050406030204" pitchFamily="18" charset="0"/>
                                    </a:rPr>
                                    <m:t>T</m:t>
                                  </m:r>
                                </m:e>
                                <m:sub>
                                  <m:r>
                                    <a:rPr lang="zh-CN" altLang="en-US" sz="2000" i="1">
                                      <a:latin typeface="Cambria Math" panose="02040503050406030204" pitchFamily="18" charset="0"/>
                                    </a:rPr>
                                    <m:t>𝑡</m:t>
                                  </m:r>
                                </m:sub>
                              </m:sSub>
                            </m:e>
                          </m:d>
                        </m:num>
                        <m:den>
                          <m:d>
                            <m:dPr>
                              <m:begChr m:val="|"/>
                              <m:endChr m:val="|"/>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𝑁</m:t>
                                  </m:r>
                                </m:e>
                                <m:sub>
                                  <m:r>
                                    <a:rPr lang="zh-CN" altLang="en-US" sz="2000">
                                      <a:latin typeface="Cambria Math" panose="02040503050406030204" pitchFamily="18" charset="0"/>
                                    </a:rPr>
                                    <m:t>1</m:t>
                                  </m:r>
                                </m:sub>
                              </m:sSub>
                            </m:e>
                          </m:d>
                          <m:r>
                            <a:rPr lang="zh-CN" altLang="en-US" sz="2000">
                              <a:latin typeface="Cambria Math" panose="02040503050406030204" pitchFamily="18" charset="0"/>
                            </a:rPr>
                            <m:t>−</m:t>
                          </m:r>
                          <m:r>
                            <a:rPr lang="zh-CN" altLang="en-US" sz="2000">
                              <a:latin typeface="Cambria Math" panose="02040503050406030204" pitchFamily="18" charset="0"/>
                            </a:rPr>
                            <m:t>1</m:t>
                          </m:r>
                        </m:den>
                      </m:f>
                    </m:oMath>
                  </m:oMathPara>
                </a14:m>
                <a:endParaRPr lang="zh-CN" altLang="en-US" sz="2000" dirty="0"/>
              </a:p>
            </p:txBody>
          </p:sp>
        </mc:Choice>
        <mc:Fallback>
          <p:sp>
            <p:nvSpPr>
              <p:cNvPr id="18" name="矩形 17"/>
              <p:cNvSpPr>
                <a:spLocks noRot="1" noChangeAspect="1" noMove="1" noResize="1" noEditPoints="1" noAdjustHandles="1" noChangeArrowheads="1" noChangeShapeType="1" noTextEdit="1"/>
              </p:cNvSpPr>
              <p:nvPr/>
            </p:nvSpPr>
            <p:spPr>
              <a:xfrm>
                <a:off x="3495231" y="3059027"/>
                <a:ext cx="2153538" cy="739946"/>
              </a:xfrm>
              <a:prstGeom prst="rect">
                <a:avLst/>
              </a:prstGeom>
              <a:blipFill rotWithShape="1">
                <a:blip r:embed="rId2"/>
                <a:stretch>
                  <a:fillRect l="-9" t="-31" r="21" b="54"/>
                </a:stretch>
              </a:blipFill>
            </p:spPr>
            <p:txBody>
              <a:bodyPr/>
              <a:lstStyle/>
              <a:p>
                <a:r>
                  <a:rPr lang="zh-CN" altLang="en-US">
                    <a:noFill/>
                  </a:rPr>
                  <a:t> </a:t>
                </a:r>
              </a:p>
            </p:txBody>
          </p:sp>
        </mc:Fallback>
      </mc:AlternateContent>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mc:AlternateContent xmlns:mc="http://schemas.openxmlformats.org/markup-compatibility/2006">
        <mc:Choice xmlns:a14="http://schemas.microsoft.com/office/drawing/2010/main" Requires="a14">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回归分析</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决策树</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solidFill>
                      <a:srgbClr val="C00000"/>
                    </a:solidFill>
                    <a:latin typeface="Arial" panose="020B0604020202020204"/>
                    <a:ea typeface="宋体" panose="02010600030101010101" pitchFamily="2" charset="-122"/>
                  </a:rPr>
                  <a:t>集成学习</a:t>
                </a:r>
                <a:endParaRPr kumimoji="0" lang="en-US" altLang="zh-CN" dirty="0">
                  <a:solidFill>
                    <a:srgbClr val="C00000"/>
                  </a:solidFill>
                  <a:latin typeface="Arial" panose="020B0604020202020204"/>
                  <a:ea typeface="宋体" panose="02010600030101010101" pitchFamily="2" charset="-122"/>
                </a:endParaRPr>
              </a:p>
              <a:p>
                <a:pPr lvl="0" eaLnBrk="1" hangingPunct="1">
                  <a:lnSpc>
                    <a:spcPct val="90000"/>
                  </a:lnSpc>
                  <a:spcBef>
                    <a:spcPct val="40000"/>
                  </a:spcBef>
                  <a:defRPr/>
                </a:pPr>
                <a14:m>
                  <m:oMath xmlns:m="http://schemas.openxmlformats.org/officeDocument/2006/math">
                    <m:r>
                      <a:rPr lang="en-US" altLang="zh-CN" i="1" kern="100">
                        <a:latin typeface="Cambria Math" panose="02040503050406030204" pitchFamily="18" charset="0"/>
                      </a:rPr>
                      <m:t>𝑘</m:t>
                    </m:r>
                  </m:oMath>
                </a14:m>
                <a:r>
                  <a:rPr lang="zh-CN" altLang="zh-CN" kern="100" dirty="0">
                    <a:latin typeface="+mj-ea"/>
                  </a:rPr>
                  <a:t>近邻法</a:t>
                </a:r>
                <a:endParaRPr lang="en-US" altLang="zh-CN" kern="100" dirty="0">
                  <a:latin typeface="+mj-ea"/>
                </a:endParaRPr>
              </a:p>
              <a:p>
                <a:pPr lvl="0" eaLnBrk="1" hangingPunct="1">
                  <a:lnSpc>
                    <a:spcPct val="90000"/>
                  </a:lnSpc>
                  <a:spcBef>
                    <a:spcPct val="40000"/>
                  </a:spcBef>
                  <a:defRPr/>
                </a:pPr>
                <a:r>
                  <a:rPr kumimoji="0" lang="zh-CN" altLang="en-US" kern="100" dirty="0">
                    <a:latin typeface="+mj-ea"/>
                    <a:ea typeface="宋体" panose="02010600030101010101" pitchFamily="2" charset="-122"/>
                  </a:rPr>
                  <a:t>支持向量机</a:t>
                </a:r>
                <a:endParaRPr kumimoji="0" lang="en-US" altLang="zh-CN" dirty="0">
                  <a:latin typeface="Arial" panose="020B0604020202020204"/>
                  <a:ea typeface="宋体" panose="02010600030101010101" pitchFamily="2" charset="-122"/>
                </a:endParaRPr>
              </a:p>
              <a:p>
                <a:pPr marL="0" marR="0" lvl="0" indent="0" algn="l" defTabSz="914400" rtl="0" eaLnBrk="1" fontAlgn="ctr" latinLnBrk="0" hangingPunct="1">
                  <a:lnSpc>
                    <a:spcPct val="90000"/>
                  </a:lnSpc>
                  <a:spcBef>
                    <a:spcPct val="40000"/>
                  </a:spcBef>
                  <a:spcAft>
                    <a:spcPct val="0"/>
                  </a:spcAft>
                  <a:buClr>
                    <a:srgbClr val="E46B1F"/>
                  </a:buClr>
                  <a:buSzPct val="80000"/>
                  <a:buNone/>
                  <a:defRPr/>
                </a:pP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mc:Choice>
        <mc:Fallback>
          <p:sp>
            <p:nvSpPr>
              <p:cNvPr id="7" name="Rectangle 3"/>
              <p:cNvSpPr txBox="1">
                <a:spLocks noRot="1" noChangeAspect="1" noMove="1" noResize="1" noEditPoints="1" noAdjustHandles="1" noChangeArrowheads="1" noChangeShapeType="1" noTextEdit="1"/>
              </p:cNvSpPr>
              <p:nvPr/>
            </p:nvSpPr>
            <p:spPr bwMode="auto">
              <a:xfrm>
                <a:off x="395536" y="1484784"/>
                <a:ext cx="7416824" cy="4060825"/>
              </a:xfrm>
              <a:prstGeom prst="rect">
                <a:avLst/>
              </a:prstGeom>
              <a:blipFill rotWithShape="1">
                <a:blip r:embed="rId1"/>
                <a:stretch>
                  <a:fillRect l="-8" t="-4" r="8" b="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0" y="3758686"/>
            <a:ext cx="4339521" cy="1485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集成学习</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17" name="矩形 3"/>
          <p:cNvSpPr>
            <a:spLocks noChangeArrowheads="1"/>
          </p:cNvSpPr>
          <p:nvPr/>
        </p:nvSpPr>
        <p:spPr bwMode="auto">
          <a:xfrm>
            <a:off x="488474" y="1447400"/>
            <a:ext cx="8321040" cy="169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集成学习</a:t>
            </a:r>
            <a:r>
              <a:rPr lang="en-US" altLang="zh-CN" sz="2000" dirty="0">
                <a:solidFill>
                  <a:srgbClr val="000000"/>
                </a:solidFill>
              </a:rPr>
              <a:t>(Ensemble learning)</a:t>
            </a:r>
            <a:r>
              <a:rPr lang="zh-CN" altLang="en-US" sz="2000" dirty="0">
                <a:solidFill>
                  <a:srgbClr val="000000"/>
                </a:solidFill>
              </a:rPr>
              <a:t>是机器学习中近年来的一大热门领域。其中的</a:t>
            </a:r>
            <a:r>
              <a:rPr lang="zh-CN" altLang="en-US" sz="2000" b="1" dirty="0">
                <a:solidFill>
                  <a:srgbClr val="FF0000"/>
                </a:solidFill>
              </a:rPr>
              <a:t>集成方法是用多种学习方法的组合来获取比原方法更优的结果</a:t>
            </a:r>
            <a:endParaRPr lang="zh-CN" altLang="en-US" sz="2000" dirty="0">
              <a:solidFill>
                <a:srgbClr val="000000"/>
              </a:solidFill>
            </a:endParaRPr>
          </a:p>
          <a:p>
            <a:r>
              <a:rPr lang="zh-CN" altLang="en-US" sz="2000" b="1" dirty="0">
                <a:solidFill>
                  <a:srgbClr val="FF0000"/>
                </a:solidFill>
              </a:rPr>
              <a:t>使用组合的算法是弱学习算法</a:t>
            </a:r>
            <a:r>
              <a:rPr lang="zh-CN" altLang="en-US" sz="2000" dirty="0">
                <a:solidFill>
                  <a:srgbClr val="000000"/>
                </a:solidFill>
              </a:rPr>
              <a:t>，即分类正确率仅比随机猜测略高的学习算法，但是组合之后的效果仍可能高于强学习算法，即集成之后的算法准确率和效率都很高</a:t>
            </a:r>
            <a:endParaRPr lang="zh-CN" altLang="en-US" sz="2000" dirty="0">
              <a:solidFill>
                <a:srgbClr val="000000"/>
              </a:solidFill>
            </a:endParaRPr>
          </a:p>
        </p:txBody>
      </p:sp>
      <p:pic>
        <p:nvPicPr>
          <p:cNvPr id="3" name="Picture 39"/>
          <p:cNvPicPr/>
          <p:nvPr/>
        </p:nvPicPr>
        <p:blipFill>
          <a:blip r:embed="rId2"/>
          <a:stretch>
            <a:fillRect/>
          </a:stretch>
        </p:blipFill>
        <p:spPr>
          <a:xfrm>
            <a:off x="822960" y="3284984"/>
            <a:ext cx="4032448" cy="274834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14309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Stacking</a:t>
            </a:r>
            <a:endParaRPr lang="en-US" altLang="zh-CN"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67474" y="922867"/>
            <a:ext cx="8045450" cy="206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r>
              <a:rPr lang="en-US" altLang="zh-CN" sz="2000" dirty="0"/>
              <a:t>Stacking </a:t>
            </a:r>
            <a:r>
              <a:rPr lang="zh-CN" altLang="en-US" sz="2000" dirty="0">
                <a:sym typeface="+mn-ea"/>
              </a:rPr>
              <a:t>（堆叠集成）</a:t>
            </a:r>
            <a:r>
              <a:rPr lang="zh-CN" altLang="en-US" sz="2000" dirty="0"/>
              <a:t>是一种分层集成学习方法，它不是简单投票，而是用一个 </a:t>
            </a:r>
            <a:r>
              <a:rPr lang="zh-CN" altLang="en-US" sz="2000" b="1" dirty="0">
                <a:solidFill>
                  <a:srgbClr val="FF0000"/>
                </a:solidFill>
              </a:rPr>
              <a:t>“元模型”</a:t>
            </a:r>
            <a:r>
              <a:rPr lang="zh-CN" altLang="en-US" sz="2000" dirty="0"/>
              <a:t> 去学习如何组合多个基模型的结果。</a:t>
            </a:r>
            <a:endParaRPr lang="zh-CN" altLang="en-US" sz="2000" dirty="0"/>
          </a:p>
          <a:p>
            <a:pPr eaLnBrk="1" hangingPunct="1"/>
            <a:r>
              <a:rPr lang="en-US" altLang="zh-CN" sz="2000" dirty="0"/>
              <a:t>Stacking</a:t>
            </a:r>
            <a:r>
              <a:rPr lang="zh-CN" altLang="en-US" sz="2000" dirty="0"/>
              <a:t>是指训练一个模型用于组合其他各个模型。</a:t>
            </a:r>
            <a:endParaRPr lang="en-US" altLang="zh-CN" sz="2000" dirty="0"/>
          </a:p>
          <a:p>
            <a:pPr eaLnBrk="1" hangingPunct="1"/>
            <a:r>
              <a:rPr lang="zh-CN" altLang="en-US" sz="2000" dirty="0"/>
              <a:t>再同一组数据集上，先训练多个不同的模型（如逻辑回归、决策树、</a:t>
            </a:r>
            <a:r>
              <a:rPr lang="en-US" altLang="zh-CN" sz="2000" dirty="0"/>
              <a:t>SVM</a:t>
            </a:r>
            <a:r>
              <a:rPr lang="zh-CN" altLang="en-US" sz="2000" dirty="0"/>
              <a:t>等），然后把训练得到的各个模型的输出作为输入来训练一个元模型，以得到一个最终的输出。</a:t>
            </a:r>
            <a:endParaRPr lang="zh-CN" altLang="en-US" sz="2000" dirty="0">
              <a:latin typeface="Arial" panose="020B0604020202020204" pitchFamily="34" charset="0"/>
            </a:endParaRPr>
          </a:p>
        </p:txBody>
      </p:sp>
      <p:pic>
        <p:nvPicPr>
          <p:cNvPr id="3" name="Picture 2" descr="https://images2018.cnblogs.com/blog/1180120/201807/1180120-20180713122631208-19190375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685" y="2983865"/>
            <a:ext cx="5113020"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装袋法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latinLnBrk="0">
              <a:spcBef>
                <a:spcPts val="1200"/>
              </a:spcBef>
            </a:pPr>
            <a:r>
              <a:rPr lang="en-US" altLang="zh-CN" sz="2400" dirty="0">
                <a:solidFill>
                  <a:srgbClr val="000000"/>
                </a:solidFill>
              </a:rPr>
              <a:t>Bagging（Bootstrap Aggregating，</a:t>
            </a:r>
            <a:r>
              <a:rPr lang="zh-CN" altLang="en-US" sz="2400" dirty="0">
                <a:solidFill>
                  <a:srgbClr val="000000"/>
                </a:solidFill>
              </a:rPr>
              <a:t>自助聚合）是集成学习中最经典的</a:t>
            </a:r>
            <a:r>
              <a:rPr lang="zh-CN" altLang="en-US" sz="2400" b="1" dirty="0">
                <a:solidFill>
                  <a:srgbClr val="FF0000"/>
                </a:solidFill>
              </a:rPr>
              <a:t>并行式集成方法</a:t>
            </a:r>
            <a:r>
              <a:rPr lang="zh-CN" altLang="en-US" sz="2400" dirty="0">
                <a:solidFill>
                  <a:srgbClr val="000000"/>
                </a:solidFill>
              </a:rPr>
              <a:t>，也是随机森林的基础</a:t>
            </a:r>
            <a:endParaRPr lang="zh-CN" altLang="en-US" sz="2400" dirty="0">
              <a:solidFill>
                <a:srgbClr val="000000"/>
              </a:solidFill>
            </a:endParaRPr>
          </a:p>
          <a:p>
            <a:pPr latinLnBrk="0">
              <a:spcBef>
                <a:spcPts val="1200"/>
              </a:spcBef>
            </a:pPr>
            <a:r>
              <a:rPr lang="zh-CN" altLang="en-US" sz="2400" dirty="0">
                <a:solidFill>
                  <a:srgbClr val="000000"/>
                </a:solidFill>
              </a:rPr>
              <a:t>装袋法</a:t>
            </a:r>
            <a:r>
              <a:rPr lang="en-US" altLang="zh-CN" sz="2400" dirty="0">
                <a:solidFill>
                  <a:srgbClr val="000000"/>
                </a:solidFill>
              </a:rPr>
              <a:t>(Bagging)</a:t>
            </a:r>
            <a:r>
              <a:rPr lang="zh-CN" altLang="en-US" sz="2400" dirty="0">
                <a:solidFill>
                  <a:srgbClr val="000000"/>
                </a:solidFill>
              </a:rPr>
              <a:t>，其原理是并行训练多个基模型（一般是决策树），然后组合（一般是投票或平均）多个训练集的分类结果来提升分类效果</a:t>
            </a:r>
            <a:endParaRPr lang="zh-CN" altLang="en-US" sz="2400" dirty="0">
              <a:solidFill>
                <a:srgbClr val="000000"/>
              </a:solidFill>
            </a:endParaRPr>
          </a:p>
          <a:p>
            <a:pPr latinLnBrk="0">
              <a:spcBef>
                <a:spcPts val="1200"/>
              </a:spcBef>
            </a:pPr>
            <a:r>
              <a:rPr lang="zh-CN" altLang="en-US" sz="2400" dirty="0">
                <a:solidFill>
                  <a:srgbClr val="000000"/>
                </a:solidFill>
              </a:rPr>
              <a:t>装袋法由于多次采样，每个样本被选中的概率相同，因此噪声数据的影响下降，所以装袋法太容易受到</a:t>
            </a:r>
            <a:r>
              <a:rPr lang="zh-CN" altLang="en-US" sz="2400" b="1" dirty="0">
                <a:solidFill>
                  <a:srgbClr val="FF0000"/>
                </a:solidFill>
              </a:rPr>
              <a:t>过拟合</a:t>
            </a:r>
            <a:r>
              <a:rPr lang="zh-CN" altLang="en-US" sz="2400" dirty="0">
                <a:solidFill>
                  <a:srgbClr val="000000"/>
                </a:solidFill>
              </a:rPr>
              <a:t>的影响</a:t>
            </a:r>
            <a:endParaRPr lang="zh-CN" altLang="en-US" sz="2400" dirty="0">
              <a:solidFill>
                <a:srgbClr val="000000"/>
              </a:solidFill>
            </a:endParaRPr>
          </a:p>
          <a:p>
            <a:pPr latinLnBrk="0">
              <a:spcBef>
                <a:spcPts val="1200"/>
              </a:spcBef>
            </a:pPr>
            <a:endParaRPr lang="zh-CN" altLang="en-US" sz="2400" dirty="0">
              <a:solidFill>
                <a:srgbClr val="00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提升法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489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提升法</a:t>
            </a:r>
            <a:r>
              <a:rPr lang="en-US" altLang="zh-CN" sz="2000" dirty="0">
                <a:solidFill>
                  <a:srgbClr val="000000"/>
                </a:solidFill>
              </a:rPr>
              <a:t>(Boosting)</a:t>
            </a:r>
            <a:r>
              <a:rPr lang="zh-CN" altLang="en-US" sz="2000" dirty="0">
                <a:solidFill>
                  <a:srgbClr val="000000"/>
                </a:solidFill>
              </a:rPr>
              <a:t>与装袋法相比每次的</a:t>
            </a:r>
            <a:r>
              <a:rPr lang="zh-CN" altLang="en-US" sz="2000" b="1" dirty="0">
                <a:solidFill>
                  <a:srgbClr val="FF0000"/>
                </a:solidFill>
              </a:rPr>
              <a:t>训练样本均为同一组</a:t>
            </a:r>
            <a:r>
              <a:rPr lang="zh-CN" altLang="en-US" sz="2000" dirty="0">
                <a:solidFill>
                  <a:srgbClr val="000000"/>
                </a:solidFill>
              </a:rPr>
              <a:t>，并且引入了权重的概念，给每个单独的训练样本都会分配</a:t>
            </a:r>
            <a:r>
              <a:rPr lang="en-US" altLang="zh-CN" sz="2000" dirty="0">
                <a:solidFill>
                  <a:srgbClr val="000000"/>
                </a:solidFill>
              </a:rPr>
              <a:t>1</a:t>
            </a:r>
            <a:r>
              <a:rPr lang="zh-CN" altLang="en-US" sz="2000" dirty="0">
                <a:solidFill>
                  <a:srgbClr val="000000"/>
                </a:solidFill>
              </a:rPr>
              <a:t>个相同的初始权重。然后进行</a:t>
            </a:r>
            <a:r>
              <a:rPr lang="en-US" altLang="zh-CN" sz="2000" dirty="0">
                <a:solidFill>
                  <a:srgbClr val="000000"/>
                </a:solidFill>
              </a:rPr>
              <a:t>T</a:t>
            </a:r>
            <a:r>
              <a:rPr lang="zh-CN" altLang="en-US" sz="2000" dirty="0">
                <a:solidFill>
                  <a:srgbClr val="000000"/>
                </a:solidFill>
              </a:rPr>
              <a:t>轮训练，每轮中使用一个分类方法训练出一个分类模型，使用此分类模型对所有样本进行分类并更新所有样本的权重</a:t>
            </a:r>
            <a:r>
              <a:rPr lang="en-US" altLang="zh-CN" sz="2000" dirty="0">
                <a:solidFill>
                  <a:srgbClr val="000000"/>
                </a:solidFill>
              </a:rPr>
              <a:t>:</a:t>
            </a:r>
            <a:r>
              <a:rPr lang="zh-CN" altLang="en-US" sz="2000" dirty="0">
                <a:solidFill>
                  <a:srgbClr val="000000"/>
                </a:solidFill>
              </a:rPr>
              <a:t>分类正确的样本权重降低，分类错误的样本权重增加，从而达到更改样本分布的目的。</a:t>
            </a:r>
            <a:endParaRPr lang="zh-CN" altLang="en-US" sz="2000" dirty="0">
              <a:solidFill>
                <a:srgbClr val="000000"/>
              </a:solidFill>
            </a:endParaRPr>
          </a:p>
          <a:p>
            <a:r>
              <a:rPr lang="zh-CN" altLang="en-US" sz="2000" dirty="0">
                <a:solidFill>
                  <a:srgbClr val="000000"/>
                </a:solidFill>
              </a:rPr>
              <a:t>每一轮训练后，都会生成一个分类模型，而每次生成的这个分类模型都会更加注意在之前分类错误的样本，从而提高样本分类的准确率。对于新的样本，将</a:t>
            </a:r>
            <a:r>
              <a:rPr lang="en-US" altLang="zh-CN" sz="2000" dirty="0">
                <a:solidFill>
                  <a:srgbClr val="000000"/>
                </a:solidFill>
              </a:rPr>
              <a:t>T</a:t>
            </a:r>
            <a:r>
              <a:rPr lang="zh-CN" altLang="en-US" sz="2000" dirty="0">
                <a:solidFill>
                  <a:srgbClr val="000000"/>
                </a:solidFill>
              </a:rPr>
              <a:t>轮训练出的</a:t>
            </a:r>
            <a:r>
              <a:rPr lang="en-US" altLang="zh-CN" sz="2000" dirty="0">
                <a:solidFill>
                  <a:srgbClr val="000000"/>
                </a:solidFill>
              </a:rPr>
              <a:t>T</a:t>
            </a:r>
            <a:r>
              <a:rPr lang="zh-CN" altLang="en-US" sz="2000" dirty="0">
                <a:solidFill>
                  <a:srgbClr val="000000"/>
                </a:solidFill>
              </a:rPr>
              <a:t>个分类模型得出的预测结果加权平均，即可得出最终的预测结果。</a:t>
            </a:r>
            <a:endParaRPr lang="en-US" altLang="zh-CN" sz="2000" dirty="0">
              <a:solidFill>
                <a:srgbClr val="000000"/>
              </a:solidFill>
            </a:endParaRPr>
          </a:p>
          <a:p>
            <a:r>
              <a:rPr lang="zh-CN" altLang="en-US" sz="2000" dirty="0">
                <a:solidFill>
                  <a:srgbClr val="000000"/>
                </a:solidFill>
              </a:rPr>
              <a:t>核心问题：</a:t>
            </a:r>
            <a:endParaRPr lang="en-US" altLang="zh-CN" sz="2000" dirty="0">
              <a:solidFill>
                <a:srgbClr val="000000"/>
              </a:solidFill>
            </a:endParaRPr>
          </a:p>
          <a:p>
            <a:pPr marL="800100" lvl="2" indent="0" eaLnBrk="1" hangingPunct="1">
              <a:lnSpc>
                <a:spcPct val="150000"/>
              </a:lnSpc>
              <a:spcBef>
                <a:spcPct val="0"/>
              </a:spcBef>
              <a:buNone/>
            </a:pPr>
            <a:r>
              <a:rPr kumimoji="0" lang="zh-CN" altLang="zh-CN" sz="2000" dirty="0">
                <a:solidFill>
                  <a:srgbClr val="000000"/>
                </a:solidFill>
                <a:latin typeface="Verdana" panose="020B0604030504040204" pitchFamily="34" charset="0"/>
                <a:cs typeface="宋体" panose="02010600030101010101" pitchFamily="2" charset="-122"/>
              </a:rPr>
              <a:t>如何计算学习误差率?</a:t>
            </a:r>
            <a:r>
              <a:rPr kumimoji="0" lang="en-US" altLang="zh-CN" sz="2000" dirty="0">
                <a:cs typeface="宋体" panose="02010600030101010101" pitchFamily="2" charset="-122"/>
              </a:rPr>
              <a:t>     </a:t>
            </a:r>
            <a:r>
              <a:rPr kumimoji="0" lang="zh-CN" altLang="zh-CN" sz="2000" dirty="0">
                <a:solidFill>
                  <a:srgbClr val="000000"/>
                </a:solidFill>
                <a:latin typeface="Verdana" panose="020B0604030504040204" pitchFamily="34" charset="0"/>
                <a:cs typeface="宋体" panose="02010600030101010101" pitchFamily="2" charset="-122"/>
              </a:rPr>
              <a:t>如何得到弱学习器权重系数?</a:t>
            </a:r>
            <a:endParaRPr kumimoji="0" lang="zh-CN" altLang="zh-CN" sz="2000" dirty="0">
              <a:cs typeface="宋体" panose="02010600030101010101" pitchFamily="2" charset="-122"/>
            </a:endParaRPr>
          </a:p>
          <a:p>
            <a:pPr marL="800100" lvl="2" indent="0">
              <a:lnSpc>
                <a:spcPct val="150000"/>
              </a:lnSpc>
              <a:spcBef>
                <a:spcPct val="0"/>
              </a:spcBef>
              <a:buNone/>
            </a:pPr>
            <a:r>
              <a:rPr kumimoji="0" lang="zh-CN" altLang="zh-CN" sz="2000" dirty="0">
                <a:solidFill>
                  <a:srgbClr val="000000"/>
                </a:solidFill>
                <a:latin typeface="Verdana" panose="020B0604030504040204" pitchFamily="34" charset="0"/>
                <a:cs typeface="宋体" panose="02010600030101010101" pitchFamily="2" charset="-122"/>
              </a:rPr>
              <a:t>如何更新样本权重?</a:t>
            </a:r>
            <a:r>
              <a:rPr kumimoji="0" lang="en-US" altLang="zh-CN" sz="2000" dirty="0">
                <a:cs typeface="宋体" panose="02010600030101010101" pitchFamily="2" charset="-122"/>
              </a:rPr>
              <a:t>          </a:t>
            </a:r>
            <a:r>
              <a:rPr kumimoji="0" lang="zh-CN" altLang="zh-CN" sz="2000" dirty="0">
                <a:solidFill>
                  <a:srgbClr val="000000"/>
                </a:solidFill>
                <a:latin typeface="Verdana" panose="020B0604030504040204" pitchFamily="34" charset="0"/>
                <a:cs typeface="宋体" panose="02010600030101010101" pitchFamily="2" charset="-122"/>
              </a:rPr>
              <a:t>使用何种</a:t>
            </a:r>
            <a:r>
              <a:rPr kumimoji="0" lang="zh-CN" altLang="en-US" sz="2000" dirty="0">
                <a:solidFill>
                  <a:srgbClr val="000000"/>
                </a:solidFill>
                <a:latin typeface="Verdana" panose="020B0604030504040204" pitchFamily="34" charset="0"/>
                <a:cs typeface="宋体" panose="02010600030101010101" pitchFamily="2" charset="-122"/>
              </a:rPr>
              <a:t>集成</a:t>
            </a:r>
            <a:r>
              <a:rPr kumimoji="0" lang="zh-CN" altLang="zh-CN" sz="2000" dirty="0">
                <a:solidFill>
                  <a:srgbClr val="000000"/>
                </a:solidFill>
                <a:latin typeface="Verdana" panose="020B0604030504040204" pitchFamily="34" charset="0"/>
                <a:cs typeface="宋体" panose="02010600030101010101" pitchFamily="2" charset="-122"/>
              </a:rPr>
              <a:t>策略？</a:t>
            </a:r>
            <a:endParaRPr kumimoji="0" lang="zh-CN" altLang="zh-CN" sz="2000" dirty="0">
              <a:cs typeface="宋体" panose="02010600030101010101" pitchFamily="2" charset="-122"/>
            </a:endParaRPr>
          </a:p>
          <a:p>
            <a:endParaRPr lang="zh-CN" altLang="en-US" sz="2000" dirty="0">
              <a:solidFill>
                <a:srgbClr val="0000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err="1">
                <a:solidFill>
                  <a:srgbClr val="D2533C"/>
                </a:solidFill>
                <a:latin typeface="Arial" panose="020B0604020202020204"/>
                <a:ea typeface="华文新魏" panose="02010800040101010101" pitchFamily="2" charset="-122"/>
              </a:rPr>
              <a:t>AdBoost</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549275" y="1231948"/>
            <a:ext cx="8045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kumimoji="0" lang="en-US" altLang="zh-CN" sz="2000" dirty="0" err="1"/>
              <a:t>AdBoost</a:t>
            </a:r>
            <a:r>
              <a:rPr kumimoji="0" lang="zh-CN" altLang="en-US" sz="2000" dirty="0"/>
              <a:t>算法是典型的提升集成方法。</a:t>
            </a:r>
            <a:endParaRPr lang="zh-CN" altLang="zh-CN" sz="2000" dirty="0">
              <a:solidFill>
                <a:srgbClr val="000000"/>
              </a:solidFill>
            </a:endParaRPr>
          </a:p>
        </p:txBody>
      </p:sp>
      <p:pic>
        <p:nvPicPr>
          <p:cNvPr id="3" name="Picture 4"/>
          <p:cNvPicPr>
            <a:picLocks noChangeAspect="1" noChangeArrowheads="1"/>
          </p:cNvPicPr>
          <p:nvPr/>
        </p:nvPicPr>
        <p:blipFill>
          <a:blip r:embed="rId1">
            <a:extLst>
              <a:ext uri="{BEBA8EAE-BF5A-486C-A8C5-ECC9F3942E4B}">
                <a14:imgProps xmlns:a14="http://schemas.microsoft.com/office/drawing/2010/main">
                  <a14:imgLayer r:embed="rId2">
                    <a14:imgEffect>
                      <a14:brightnessContrast bright="40000"/>
                    </a14:imgEffect>
                  </a14:imgLayer>
                </a14:imgProps>
              </a:ext>
              <a:ext uri="{28A0092B-C50C-407E-A947-70E740481C1C}">
                <a14:useLocalDpi xmlns:a14="http://schemas.microsoft.com/office/drawing/2010/main" val="0"/>
              </a:ext>
            </a:extLst>
          </a:blip>
          <a:srcRect l="1012" r="1115"/>
          <a:stretch>
            <a:fillRect/>
          </a:stretch>
        </p:blipFill>
        <p:spPr bwMode="auto">
          <a:xfrm>
            <a:off x="35560" y="1645285"/>
            <a:ext cx="9073015" cy="444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err="1">
                <a:solidFill>
                  <a:srgbClr val="D2533C"/>
                </a:solidFill>
                <a:latin typeface="Arial" panose="020B0604020202020204"/>
                <a:ea typeface="华文新魏" panose="02010800040101010101" pitchFamily="2" charset="-122"/>
              </a:rPr>
              <a:t>AdBoost</a:t>
            </a:r>
            <a:r>
              <a:rPr lang="zh-CN" altLang="en-US" spc="-100" dirty="0">
                <a:solidFill>
                  <a:srgbClr val="D2533C"/>
                </a:solidFill>
                <a:latin typeface="Arial" panose="020B0604020202020204"/>
                <a:ea typeface="华文新魏" panose="02010800040101010101" pitchFamily="2" charset="-122"/>
              </a:rPr>
              <a:t>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5" name="Picture 4"/>
          <p:cNvPicPr>
            <a:picLocks noChangeAspect="1" noChangeArrowheads="1"/>
          </p:cNvPicPr>
          <p:nvPr/>
        </p:nvPicPr>
        <p:blipFill>
          <a:blip r:embed="rId1">
            <a:extLst>
              <a:ext uri="{28A0092B-C50C-407E-A947-70E740481C1C}">
                <a14:useLocalDpi xmlns:a14="http://schemas.microsoft.com/office/drawing/2010/main" val="0"/>
              </a:ext>
            </a:extLst>
          </a:blip>
          <a:srcRect l="937" r="527"/>
          <a:stretch>
            <a:fillRect/>
          </a:stretch>
        </p:blipFill>
        <p:spPr bwMode="auto">
          <a:xfrm>
            <a:off x="53975" y="1700530"/>
            <a:ext cx="9001210" cy="3691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随机森林</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3661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随机森林是专为决策树分类器设计的集成方式，是装袋法的一种拓展。</a:t>
            </a:r>
            <a:endParaRPr lang="en-US" altLang="zh-CN" sz="2000" dirty="0">
              <a:solidFill>
                <a:srgbClr val="000000"/>
              </a:solidFill>
            </a:endParaRPr>
          </a:p>
          <a:p>
            <a:r>
              <a:rPr lang="zh-CN" altLang="en-US" sz="2000" dirty="0">
                <a:solidFill>
                  <a:srgbClr val="000000"/>
                </a:solidFill>
              </a:rPr>
              <a:t>随机森林与装袋法采取相同的样本抽取方式。</a:t>
            </a:r>
            <a:endParaRPr lang="en-US" altLang="zh-CN" sz="2000" dirty="0">
              <a:solidFill>
                <a:srgbClr val="000000"/>
              </a:solidFill>
            </a:endParaRPr>
          </a:p>
          <a:p>
            <a:r>
              <a:rPr lang="zh-CN" altLang="en-US" sz="2000" dirty="0">
                <a:solidFill>
                  <a:srgbClr val="000000"/>
                </a:solidFill>
              </a:rPr>
              <a:t>装袋法中的决策树每次从所有属性中选取一个最优的属性作为其分支属性，随机森林算法每次从所有属性中随机抽取𝑡个属性，然后从这𝑡个属性中选取一个最优的属性作为其分支属性，这样就使得整个模型的随机性更强，从而使模型的泛化能力更强。</a:t>
            </a:r>
            <a:endParaRPr lang="en-US" altLang="zh-CN" sz="2000" dirty="0">
              <a:solidFill>
                <a:srgbClr val="000000"/>
              </a:solidFill>
            </a:endParaRPr>
          </a:p>
          <a:p>
            <a:r>
              <a:rPr lang="zh-CN" altLang="en-US" sz="2000" dirty="0">
                <a:solidFill>
                  <a:srgbClr val="000000"/>
                </a:solidFill>
              </a:rPr>
              <a:t>对于参数𝑡的选取，决定了模型的随机性，若样本属性共有</a:t>
            </a:r>
            <a:r>
              <a:rPr lang="en-US" altLang="zh-CN" sz="2000" dirty="0">
                <a:solidFill>
                  <a:srgbClr val="000000"/>
                </a:solidFill>
              </a:rPr>
              <a:t>M</a:t>
            </a:r>
            <a:r>
              <a:rPr lang="zh-CN" altLang="en-US" sz="2000" dirty="0">
                <a:solidFill>
                  <a:srgbClr val="000000"/>
                </a:solidFill>
              </a:rPr>
              <a:t>个，𝑡</a:t>
            </a:r>
            <a:r>
              <a:rPr lang="en-US" altLang="zh-CN" sz="2000" dirty="0">
                <a:solidFill>
                  <a:srgbClr val="000000"/>
                </a:solidFill>
              </a:rPr>
              <a:t>=1</a:t>
            </a:r>
            <a:r>
              <a:rPr lang="zh-CN" altLang="en-US" sz="2000" dirty="0">
                <a:solidFill>
                  <a:srgbClr val="000000"/>
                </a:solidFill>
              </a:rPr>
              <a:t>意味着随机选择一个属性来作为分支属性，𝑡</a:t>
            </a:r>
            <a:r>
              <a:rPr lang="en-US" altLang="zh-CN" sz="2000" dirty="0">
                <a:solidFill>
                  <a:srgbClr val="000000"/>
                </a:solidFill>
              </a:rPr>
              <a:t>=</a:t>
            </a:r>
            <a:r>
              <a:rPr lang="zh-CN" altLang="en-US" sz="2000" dirty="0">
                <a:solidFill>
                  <a:srgbClr val="000000"/>
                </a:solidFill>
              </a:rPr>
              <a:t>属性总数时就变成了装袋法集成方式，通常𝑡的取值为小于</a:t>
            </a:r>
            <a:r>
              <a:rPr lang="en-US" altLang="zh-CN" sz="2000" dirty="0">
                <a:solidFill>
                  <a:srgbClr val="000000"/>
                </a:solidFill>
              </a:rPr>
              <a:t>log</a:t>
            </a:r>
            <a:r>
              <a:rPr lang="en-US" altLang="zh-CN" sz="2000" baseline="-25000" dirty="0">
                <a:solidFill>
                  <a:srgbClr val="000000"/>
                </a:solidFill>
              </a:rPr>
              <a:t>_2</a:t>
            </a:r>
            <a:r>
              <a:rPr lang="en-US" altLang="zh-CN" sz="2000" dirty="0">
                <a:solidFill>
                  <a:srgbClr val="000000"/>
                </a:solidFill>
                <a:sym typeface="+mn-ea"/>
              </a:rPr>
              <a:t>(M+1)</a:t>
            </a:r>
            <a:r>
              <a:rPr lang="zh-CN" altLang="en-US" sz="2000" dirty="0">
                <a:solidFill>
                  <a:srgbClr val="000000"/>
                </a:solidFill>
              </a:rPr>
              <a:t>的最大整数。随机森林算法使用的弱分类决策树通常为</a:t>
            </a:r>
            <a:r>
              <a:rPr lang="en-US" altLang="zh-CN" sz="2000" dirty="0">
                <a:solidFill>
                  <a:srgbClr val="000000"/>
                </a:solidFill>
              </a:rPr>
              <a:t>CART</a:t>
            </a:r>
            <a:r>
              <a:rPr lang="zh-CN" altLang="en-US" sz="2000" dirty="0">
                <a:solidFill>
                  <a:srgbClr val="000000"/>
                </a:solidFill>
              </a:rPr>
              <a:t>算法。</a:t>
            </a:r>
            <a:endParaRPr lang="zh-CN" altLang="en-US" sz="2000" dirty="0">
              <a:solidFill>
                <a:srgbClr val="000000"/>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梯度提升决策树算法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梯度提升决策树（</a:t>
            </a:r>
            <a:r>
              <a:rPr lang="en-US" altLang="zh-CN" sz="2000" dirty="0">
                <a:solidFill>
                  <a:srgbClr val="000000"/>
                </a:solidFill>
              </a:rPr>
              <a:t>GBDT</a:t>
            </a:r>
            <a:r>
              <a:rPr lang="zh-CN" altLang="en-US" sz="2000" dirty="0">
                <a:solidFill>
                  <a:srgbClr val="000000"/>
                </a:solidFill>
              </a:rPr>
              <a:t>）算法是利用梯度下降的思想，使用损失函数的负梯度在当前模型的值，作为提升树中残差的近似值，以此来拟合回归决策树。梯度提升决策树的算法过程如下：</a:t>
            </a:r>
            <a:endParaRPr lang="zh-CN" altLang="en-US" sz="2000" dirty="0">
              <a:solidFill>
                <a:srgbClr val="000000"/>
              </a:solidFill>
            </a:endParaRPr>
          </a:p>
          <a:p>
            <a:r>
              <a:rPr lang="zh-CN" altLang="en-US" sz="2000" dirty="0">
                <a:solidFill>
                  <a:srgbClr val="000000"/>
                </a:solidFill>
              </a:rPr>
              <a:t>初始化决策树，估计一个使损失函数最小化的常数构建一个只有根节点的树。</a:t>
            </a:r>
            <a:endParaRPr lang="zh-CN" altLang="en-US" sz="2000" dirty="0">
              <a:solidFill>
                <a:srgbClr val="000000"/>
              </a:solidFill>
            </a:endParaRPr>
          </a:p>
          <a:p>
            <a:r>
              <a:rPr lang="zh-CN" altLang="en-US" sz="2000" dirty="0">
                <a:solidFill>
                  <a:srgbClr val="000000"/>
                </a:solidFill>
              </a:rPr>
              <a:t>不断提升迭代：</a:t>
            </a:r>
            <a:endParaRPr lang="zh-CN" altLang="en-US" sz="2000" dirty="0">
              <a:solidFill>
                <a:srgbClr val="000000"/>
              </a:solidFill>
            </a:endParaRPr>
          </a:p>
          <a:p>
            <a:pPr lvl="1"/>
            <a:r>
              <a:rPr lang="zh-CN" altLang="en-US" sz="2000" dirty="0">
                <a:solidFill>
                  <a:srgbClr val="000000"/>
                </a:solidFill>
              </a:rPr>
              <a:t>计算当前模型中损失函数的负梯度值，作为残差的估计值；</a:t>
            </a:r>
            <a:endParaRPr lang="zh-CN" altLang="en-US" sz="2000" dirty="0">
              <a:solidFill>
                <a:srgbClr val="000000"/>
              </a:solidFill>
            </a:endParaRPr>
          </a:p>
          <a:p>
            <a:pPr lvl="1"/>
            <a:r>
              <a:rPr lang="zh-CN" altLang="en-US" sz="2000" dirty="0">
                <a:solidFill>
                  <a:srgbClr val="000000"/>
                </a:solidFill>
              </a:rPr>
              <a:t>估计回归树中叶子节点的区域，拟合残差的近似值；</a:t>
            </a:r>
            <a:endParaRPr lang="zh-CN" altLang="en-US" sz="2000" dirty="0">
              <a:solidFill>
                <a:srgbClr val="000000"/>
              </a:solidFill>
            </a:endParaRPr>
          </a:p>
          <a:p>
            <a:pPr lvl="1"/>
            <a:r>
              <a:rPr lang="zh-CN" altLang="en-US" sz="2000" dirty="0">
                <a:solidFill>
                  <a:srgbClr val="000000"/>
                </a:solidFill>
              </a:rPr>
              <a:t>利用线性搜索估计叶子节点区域的值，使损失函数极小化；</a:t>
            </a:r>
            <a:endParaRPr lang="zh-CN" altLang="en-US" sz="2000" dirty="0">
              <a:solidFill>
                <a:srgbClr val="000000"/>
              </a:solidFill>
            </a:endParaRPr>
          </a:p>
          <a:p>
            <a:pPr lvl="1"/>
            <a:r>
              <a:rPr lang="zh-CN" altLang="en-US" sz="2000" dirty="0">
                <a:solidFill>
                  <a:srgbClr val="000000"/>
                </a:solidFill>
              </a:rPr>
              <a:t>更新决策树。</a:t>
            </a:r>
            <a:endParaRPr lang="zh-CN" altLang="en-US" sz="2000" dirty="0">
              <a:solidFill>
                <a:srgbClr val="000000"/>
              </a:solidFill>
            </a:endParaRPr>
          </a:p>
          <a:p>
            <a:r>
              <a:rPr lang="zh-CN" altLang="en-US" sz="2000" dirty="0">
                <a:solidFill>
                  <a:srgbClr val="000000"/>
                </a:solidFill>
              </a:rPr>
              <a:t>经过若干轮的提升法迭代过程之后，输出最终的模型</a:t>
            </a:r>
            <a:endParaRPr lang="zh-CN" altLang="en-US" sz="2000" dirty="0">
              <a:solidFill>
                <a:srgbClr val="00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mc:AlternateContent xmlns:mc="http://schemas.openxmlformats.org/markup-compatibility/2006">
        <mc:Choice xmlns:a14="http://schemas.microsoft.com/office/drawing/2010/main" Requires="a14">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回归分析</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决策树</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集成学习</a:t>
                </a:r>
                <a:endParaRPr kumimoji="0" lang="en-US" altLang="zh-CN" dirty="0">
                  <a:latin typeface="Arial" panose="020B0604020202020204"/>
                  <a:ea typeface="宋体" panose="02010600030101010101" pitchFamily="2" charset="-122"/>
                </a:endParaRPr>
              </a:p>
              <a:p>
                <a:pPr lvl="0" eaLnBrk="1" hangingPunct="1">
                  <a:lnSpc>
                    <a:spcPct val="90000"/>
                  </a:lnSpc>
                  <a:spcBef>
                    <a:spcPct val="40000"/>
                  </a:spcBef>
                  <a:defRPr/>
                </a:pPr>
                <a14:m>
                  <m:oMath xmlns:m="http://schemas.openxmlformats.org/officeDocument/2006/math">
                    <m:r>
                      <a:rPr lang="en-US" altLang="zh-CN" i="1" kern="100" smtClean="0">
                        <a:solidFill>
                          <a:srgbClr val="C00000"/>
                        </a:solidFill>
                        <a:latin typeface="Cambria Math" panose="02040503050406030204" pitchFamily="18" charset="0"/>
                      </a:rPr>
                      <m:t>𝑘</m:t>
                    </m:r>
                  </m:oMath>
                </a14:m>
                <a:r>
                  <a:rPr lang="zh-CN" altLang="zh-CN" kern="100" dirty="0">
                    <a:solidFill>
                      <a:srgbClr val="C00000"/>
                    </a:solidFill>
                    <a:latin typeface="+mj-ea"/>
                  </a:rPr>
                  <a:t>近邻法</a:t>
                </a:r>
                <a:endParaRPr lang="en-US" altLang="zh-CN" kern="100" dirty="0">
                  <a:solidFill>
                    <a:srgbClr val="C00000"/>
                  </a:solidFill>
                  <a:latin typeface="+mj-ea"/>
                </a:endParaRPr>
              </a:p>
              <a:p>
                <a:pPr lvl="0" eaLnBrk="1" hangingPunct="1">
                  <a:lnSpc>
                    <a:spcPct val="90000"/>
                  </a:lnSpc>
                  <a:spcBef>
                    <a:spcPct val="40000"/>
                  </a:spcBef>
                  <a:defRPr/>
                </a:pPr>
                <a:r>
                  <a:rPr kumimoji="0" lang="zh-CN" altLang="en-US" kern="100" dirty="0">
                    <a:latin typeface="+mj-ea"/>
                    <a:ea typeface="宋体" panose="02010600030101010101" pitchFamily="2" charset="-122"/>
                  </a:rPr>
                  <a:t>支持向量机</a:t>
                </a:r>
                <a:endParaRPr kumimoji="0" lang="en-US" altLang="zh-CN" dirty="0">
                  <a:latin typeface="Arial" panose="020B0604020202020204"/>
                  <a:ea typeface="宋体" panose="02010600030101010101" pitchFamily="2" charset="-122"/>
                </a:endParaRPr>
              </a:p>
              <a:p>
                <a:pPr marL="0" marR="0" lvl="0" indent="0" algn="l" defTabSz="914400" rtl="0" eaLnBrk="1" fontAlgn="ctr" latinLnBrk="0" hangingPunct="1">
                  <a:lnSpc>
                    <a:spcPct val="90000"/>
                  </a:lnSpc>
                  <a:spcBef>
                    <a:spcPct val="40000"/>
                  </a:spcBef>
                  <a:spcAft>
                    <a:spcPct val="0"/>
                  </a:spcAft>
                  <a:buClr>
                    <a:srgbClr val="E46B1F"/>
                  </a:buClr>
                  <a:buSzPct val="80000"/>
                  <a:buNone/>
                  <a:defRPr/>
                </a:pP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mc:Choice>
        <mc:Fallback>
          <p:sp>
            <p:nvSpPr>
              <p:cNvPr id="7" name="Rectangle 3"/>
              <p:cNvSpPr txBox="1">
                <a:spLocks noRot="1" noChangeAspect="1" noMove="1" noResize="1" noEditPoints="1" noAdjustHandles="1" noChangeArrowheads="1" noChangeShapeType="1" noTextEdit="1"/>
              </p:cNvSpPr>
              <p:nvPr/>
            </p:nvSpPr>
            <p:spPr bwMode="auto">
              <a:xfrm>
                <a:off x="395536" y="1484784"/>
                <a:ext cx="7416824" cy="4060825"/>
              </a:xfrm>
              <a:prstGeom prst="rect">
                <a:avLst/>
              </a:prstGeom>
              <a:blipFill rotWithShape="1">
                <a:blip r:embed="rId1"/>
                <a:stretch>
                  <a:fillRect l="-8" t="-4" r="8" b="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距离度量</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88429" y="1453727"/>
                <a:ext cx="804545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zh-CN" sz="2000" kern="100" dirty="0">
                    <a:latin typeface="+mj-ea"/>
                  </a:rPr>
                  <a:t>欧几里得度量（</a:t>
                </a:r>
                <a:r>
                  <a:rPr lang="en-US" altLang="zh-CN" sz="2000" kern="100" dirty="0">
                    <a:latin typeface="+mj-ea"/>
                  </a:rPr>
                  <a:t>Euclidean Metric</a:t>
                </a:r>
                <a:r>
                  <a:rPr lang="zh-CN" altLang="zh-CN" sz="2000" kern="100" dirty="0">
                    <a:latin typeface="+mj-ea"/>
                  </a:rPr>
                  <a:t>）（也称欧氏距离）是一个通常采用的距离定义，指在</a:t>
                </a:r>
                <a14:m>
                  <m:oMath xmlns:m="http://schemas.openxmlformats.org/officeDocument/2006/math">
                    <m:r>
                      <a:rPr lang="en-US" altLang="zh-CN" sz="2000" i="1" kern="100">
                        <a:latin typeface="Cambria Math" panose="02040503050406030204" pitchFamily="18" charset="0"/>
                      </a:rPr>
                      <m:t>𝑚</m:t>
                    </m:r>
                  </m:oMath>
                </a14:m>
                <a:r>
                  <a:rPr lang="zh-CN" altLang="zh-CN" sz="2000" kern="100" dirty="0">
                    <a:latin typeface="+mj-ea"/>
                  </a:rPr>
                  <a:t>维空间中两个点之间的真实距离，或者向量的自然长度（即该点到原点的距离）。</a:t>
                </a:r>
                <a:endParaRPr lang="en-US" altLang="zh-CN" sz="2000" kern="100" dirty="0">
                  <a:latin typeface="+mj-ea"/>
                </a:endParaRPr>
              </a:p>
              <a:p>
                <a:pPr marL="0" indent="0">
                  <a:buNone/>
                </a:pPr>
                <a:endParaRPr lang="en-US" altLang="zh-CN" sz="2000" kern="100" dirty="0">
                  <a:latin typeface="+mj-ea"/>
                </a:endParaRPr>
              </a:p>
              <a:p>
                <a:pPr marL="0" indent="0">
                  <a:buNone/>
                </a:pPr>
                <a:endParaRPr lang="en-US" altLang="zh-CN" sz="2000" kern="100" dirty="0">
                  <a:latin typeface="+mj-ea"/>
                </a:endParaRPr>
              </a:p>
              <a:p>
                <a:endParaRPr lang="en-US" altLang="zh-CN" sz="2000" kern="100" dirty="0">
                  <a:latin typeface="+mj-ea"/>
                </a:endParaRPr>
              </a:p>
              <a:p>
                <a:r>
                  <a:rPr lang="zh-CN" altLang="en-US" sz="2000" kern="100" dirty="0">
                    <a:latin typeface="+mj-ea"/>
                  </a:rPr>
                  <a:t>曼哈顿距离</a:t>
                </a:r>
                <a:r>
                  <a:rPr lang="en-US" altLang="zh-CN" sz="2000" kern="100" dirty="0">
                    <a:latin typeface="+mj-ea"/>
                  </a:rPr>
                  <a:t>(Manhattan distance)</a:t>
                </a:r>
                <a:endParaRPr lang="en-US" altLang="zh-CN" sz="2000" kern="100" dirty="0">
                  <a:latin typeface="+mj-ea"/>
                </a:endParaRPr>
              </a:p>
              <a:p>
                <a:endParaRPr lang="en-US" altLang="zh-CN" sz="2000" kern="100" dirty="0">
                  <a:latin typeface="+mj-ea"/>
                </a:endParaRPr>
              </a:p>
              <a:p>
                <a:pPr marL="0" indent="0">
                  <a:buNone/>
                </a:pPr>
                <a:endParaRPr lang="en-US" altLang="zh-CN" sz="2000" kern="100" dirty="0">
                  <a:latin typeface="+mj-ea"/>
                </a:endParaRPr>
              </a:p>
              <a:p>
                <a:r>
                  <a:rPr lang="zh-CN" altLang="en-US" sz="2000" kern="100" dirty="0">
                    <a:latin typeface="+mj-ea"/>
                  </a:rPr>
                  <a:t>切比雪夫距离</a:t>
                </a:r>
                <a:r>
                  <a:rPr lang="en-US" altLang="zh-CN" sz="2000" kern="100" dirty="0">
                    <a:latin typeface="+mj-ea"/>
                  </a:rPr>
                  <a:t>(Chebyshev distance)</a:t>
                </a:r>
                <a:r>
                  <a:rPr lang="zh-CN" altLang="en-US" sz="2000" kern="100" dirty="0">
                    <a:latin typeface="+mj-ea"/>
                  </a:rPr>
                  <a:t>：</a:t>
                </a:r>
                <a:r>
                  <a:rPr lang="zh-CN" altLang="en-US" sz="2000" dirty="0">
                    <a:solidFill>
                      <a:srgbClr val="333333"/>
                    </a:solidFill>
                    <a:latin typeface="Arial" panose="020B0604020202020204" pitchFamily="34" charset="0"/>
                  </a:rPr>
                  <a:t>各坐标数值差绝对值最大值</a:t>
                </a:r>
                <a:endParaRPr lang="en-US" altLang="zh-CN" sz="2000" kern="100" dirty="0">
                  <a:latin typeface="+mj-ea"/>
                </a:endParaRPr>
              </a:p>
              <a:p>
                <a:endParaRPr lang="en-US" altLang="zh-CN" sz="2000" kern="100" dirty="0">
                  <a:latin typeface="+mj-ea"/>
                </a:endParaRPr>
              </a:p>
              <a:p>
                <a:endParaRPr lang="en-US" altLang="zh-CN" sz="2000" kern="100" dirty="0">
                  <a:latin typeface="+mj-ea"/>
                </a:endParaRPr>
              </a:p>
              <a:p>
                <a:endParaRPr lang="en-US" altLang="zh-CN" sz="2000" kern="100" dirty="0">
                  <a:latin typeface="+mj-ea"/>
                </a:endParaRPr>
              </a:p>
              <a:p>
                <a:endParaRPr lang="en-US" altLang="zh-CN" sz="2000" kern="100" dirty="0">
                  <a:latin typeface="+mj-ea"/>
                </a:endParaRPr>
              </a:p>
              <a:p>
                <a:endParaRPr lang="zh-CN" altLang="zh-CN" sz="2000" kern="100" dirty="0">
                  <a:latin typeface="+mj-ea"/>
                </a:endParaRPr>
              </a:p>
            </p:txBody>
          </p:sp>
        </mc:Choice>
        <mc:Fallback>
          <p:sp>
            <p:nvSpPr>
              <p:cNvPr id="7" name="矩形 3"/>
              <p:cNvSpPr>
                <a:spLocks noRot="1" noChangeAspect="1" noMove="1" noResize="1" noEditPoints="1" noAdjustHandles="1" noChangeArrowheads="1" noChangeShapeType="1" noTextEdit="1"/>
              </p:cNvSpPr>
              <p:nvPr/>
            </p:nvSpPr>
            <p:spPr bwMode="auto">
              <a:xfrm>
                <a:off x="488429" y="1453727"/>
                <a:ext cx="8045450" cy="5447645"/>
              </a:xfrm>
              <a:prstGeom prst="rect">
                <a:avLst/>
              </a:prstGeom>
              <a:blipFill rotWithShape="1">
                <a:blip r:embed="rId1"/>
                <a:stretch>
                  <a:fillRect l="-1" t="-4" r="1" b="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925412" y="2379282"/>
                <a:ext cx="6669157" cy="100168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𝑑</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𝑥</m:t>
                          </m:r>
                          <m:r>
                            <a:rPr lang="zh-CN" altLang="en-US" sz="2000">
                              <a:latin typeface="Cambria Math" panose="02040503050406030204" pitchFamily="18" charset="0"/>
                            </a:rPr>
                            <m:t>,</m:t>
                          </m:r>
                          <m:r>
                            <a:rPr lang="zh-CN" altLang="en-US" sz="2000" i="1">
                              <a:latin typeface="Cambria Math" panose="02040503050406030204" pitchFamily="18" charset="0"/>
                            </a:rPr>
                            <m:t>𝑦</m:t>
                          </m:r>
                        </m:e>
                      </m:d>
                      <m:r>
                        <a:rPr lang="zh-CN" altLang="en-US" sz="2000">
                          <a:latin typeface="Cambria Math" panose="02040503050406030204" pitchFamily="18" charset="0"/>
                        </a:rPr>
                        <m:t>=</m:t>
                      </m:r>
                      <m:rad>
                        <m:radPr>
                          <m:degHide m:val="on"/>
                          <m:ctrlPr>
                            <a:rPr lang="zh-CN" altLang="en-US" sz="2000" i="1">
                              <a:latin typeface="Cambria Math" panose="02040503050406030204" pitchFamily="18" charset="0"/>
                            </a:rPr>
                          </m:ctrlPr>
                        </m:radPr>
                        <m:deg/>
                        <m:e>
                          <m:nary>
                            <m:naryPr>
                              <m:chr m:val="∑"/>
                              <m:limLoc m:val="undOvr"/>
                              <m:supHide m:val="on"/>
                              <m:ctrlPr>
                                <a:rPr lang="zh-CN" altLang="en-US" sz="2000" i="1">
                                  <a:latin typeface="Cambria Math" panose="02040503050406030204" pitchFamily="18" charset="0"/>
                                </a:rPr>
                              </m:ctrlPr>
                            </m:naryPr>
                            <m:sub>
                              <m:r>
                                <a:rPr lang="zh-CN" altLang="en-US" sz="2000" i="1">
                                  <a:latin typeface="Cambria Math" panose="02040503050406030204" pitchFamily="18" charset="0"/>
                                </a:rPr>
                                <m:t>𝑖</m:t>
                              </m:r>
                            </m:sub>
                            <m:sup/>
                            <m:e>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𝑥</m:t>
                                          </m:r>
                                        </m:e>
                                        <m:sub>
                                          <m:r>
                                            <a:rPr lang="zh-CN" altLang="en-US" sz="2000" i="1">
                                              <a:latin typeface="Cambria Math" panose="02040503050406030204" pitchFamily="18" charset="0"/>
                                            </a:rPr>
                                            <m:t>𝑖</m:t>
                                          </m:r>
                                        </m:sub>
                                      </m:sSub>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𝑦</m:t>
                                          </m:r>
                                        </m:e>
                                        <m:sub>
                                          <m:r>
                                            <a:rPr lang="zh-CN" altLang="en-US" sz="2000" i="1">
                                              <a:latin typeface="Cambria Math" panose="02040503050406030204" pitchFamily="18" charset="0"/>
                                            </a:rPr>
                                            <m:t>𝑖</m:t>
                                          </m:r>
                                        </m:sub>
                                      </m:sSub>
                                    </m:e>
                                  </m:d>
                                </m:e>
                                <m:sup>
                                  <m:r>
                                    <a:rPr lang="zh-CN" altLang="en-US" sz="2000">
                                      <a:latin typeface="Cambria Math" panose="02040503050406030204" pitchFamily="18" charset="0"/>
                                    </a:rPr>
                                    <m:t>2</m:t>
                                  </m:r>
                                </m:sup>
                              </m:sSup>
                            </m:e>
                          </m:nary>
                        </m:e>
                      </m:rad>
                    </m:oMath>
                  </m:oMathPara>
                </a14:m>
                <a:endParaRPr lang="zh-CN" altLang="en-US" sz="2000" dirty="0"/>
              </a:p>
            </p:txBody>
          </p:sp>
        </mc:Choice>
        <mc:Fallback>
          <p:sp>
            <p:nvSpPr>
              <p:cNvPr id="8" name="矩形 7"/>
              <p:cNvSpPr>
                <a:spLocks noRot="1" noChangeAspect="1" noMove="1" noResize="1" noEditPoints="1" noAdjustHandles="1" noChangeArrowheads="1" noChangeShapeType="1" noTextEdit="1"/>
              </p:cNvSpPr>
              <p:nvPr/>
            </p:nvSpPr>
            <p:spPr>
              <a:xfrm>
                <a:off x="925412" y="2379282"/>
                <a:ext cx="6669157" cy="1001684"/>
              </a:xfrm>
              <a:prstGeom prst="rect">
                <a:avLst/>
              </a:prstGeom>
              <a:blipFill rotWithShape="1">
                <a:blip r:embed="rId2"/>
                <a:stretch>
                  <a:fillRect l="-3" t="-57" r="9"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328738" y="3889785"/>
                <a:ext cx="6096000" cy="83926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𝑑</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m:t>
                      </m:r>
                      <m:r>
                        <a:rPr lang="en-US" altLang="zh-CN" sz="2000" i="1">
                          <a:latin typeface="Cambria Math" panose="02040503050406030204" pitchFamily="18" charset="0"/>
                        </a:rPr>
                        <m:t>𝑦</m:t>
                      </m:r>
                      <m:r>
                        <a:rPr lang="en-US" altLang="zh-CN" sz="2000" i="1">
                          <a:latin typeface="Cambria Math" panose="02040503050406030204" pitchFamily="18" charset="0"/>
                        </a:rPr>
                        <m:t>)=</m:t>
                      </m:r>
                      <m:nary>
                        <m:naryPr>
                          <m:chr m:val="∑"/>
                          <m:limLoc m:val="undOvr"/>
                          <m:supHide m:val="on"/>
                          <m:ctrlPr>
                            <a:rPr lang="zh-CN" altLang="zh-CN" sz="2000" i="1">
                              <a:latin typeface="Cambria Math" panose="02040503050406030204" pitchFamily="18" charset="0"/>
                            </a:rPr>
                          </m:ctrlPr>
                        </m:naryPr>
                        <m:sub>
                          <m:r>
                            <a:rPr lang="en-US" altLang="zh-CN" sz="2000" i="1">
                              <a:latin typeface="Cambria Math" panose="02040503050406030204" pitchFamily="18" charset="0"/>
                            </a:rPr>
                            <m:t>𝑖</m:t>
                          </m:r>
                        </m:sub>
                        <m:sup/>
                        <m:e>
                          <m:r>
                            <a:rPr lang="en-US" altLang="zh-CN" sz="2000" i="1">
                              <a:latin typeface="Cambria Math" panose="02040503050406030204" pitchFamily="18" charset="0"/>
                            </a:rPr>
                            <m:t>|</m:t>
                          </m:r>
                        </m:e>
                      </m:nary>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oMath>
                  </m:oMathPara>
                </a14:m>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328738" y="3889785"/>
                <a:ext cx="6096000" cy="839269"/>
              </a:xfrm>
              <a:prstGeom prst="rect">
                <a:avLst/>
              </a:prstGeom>
              <a:blipFill rotWithShape="1">
                <a:blip r:embed="rId3"/>
                <a:stretch>
                  <a:fillRect l="-5" t="-49" r="5"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1328738" y="4965995"/>
                <a:ext cx="6096000" cy="839269"/>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rPr>
                        <m:t>𝑑</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m:t>
                      </m:r>
                      <m:r>
                        <a:rPr lang="en-US" altLang="zh-CN" sz="2000" i="1">
                          <a:latin typeface="Cambria Math" panose="02040503050406030204" pitchFamily="18" charset="0"/>
                        </a:rPr>
                        <m:t>𝑦</m:t>
                      </m:r>
                      <m:r>
                        <a:rPr lang="en-US" altLang="zh-CN" sz="2000" i="1">
                          <a:latin typeface="Cambria Math" panose="02040503050406030204" pitchFamily="18" charset="0"/>
                        </a:rPr>
                        <m:t>)=</m:t>
                      </m:r>
                      <m:nary>
                        <m:naryPr>
                          <m:chr m:val="∑"/>
                          <m:limLoc m:val="undOvr"/>
                          <m:supHide m:val="on"/>
                          <m:ctrlPr>
                            <a:rPr lang="zh-CN" altLang="zh-CN" sz="2000" i="1">
                              <a:latin typeface="Cambria Math" panose="02040503050406030204" pitchFamily="18" charset="0"/>
                            </a:rPr>
                          </m:ctrlPr>
                        </m:naryPr>
                        <m:sub>
                          <m:r>
                            <a:rPr lang="en-US" altLang="zh-CN" sz="2000" i="1">
                              <a:latin typeface="Cambria Math" panose="02040503050406030204" pitchFamily="18" charset="0"/>
                            </a:rPr>
                            <m:t>𝑖</m:t>
                          </m:r>
                        </m:sub>
                        <m:sup/>
                        <m:e>
                          <m:r>
                            <a:rPr lang="en-US" altLang="zh-CN" sz="2000" i="1">
                              <a:latin typeface="Cambria Math" panose="02040503050406030204" pitchFamily="18" charset="0"/>
                            </a:rPr>
                            <m:t>|</m:t>
                          </m:r>
                        </m:e>
                      </m:nary>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𝑥</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𝑦</m:t>
                          </m:r>
                        </m:e>
                        <m:sub>
                          <m:r>
                            <a:rPr lang="en-US" altLang="zh-CN" sz="2000" i="1">
                              <a:latin typeface="Cambria Math" panose="02040503050406030204" pitchFamily="18" charset="0"/>
                            </a:rPr>
                            <m:t>𝑖</m:t>
                          </m:r>
                        </m:sub>
                      </m:sSub>
                      <m:r>
                        <a:rPr lang="en-US" altLang="zh-CN" sz="2000" i="1">
                          <a:latin typeface="Cambria Math" panose="02040503050406030204" pitchFamily="18" charset="0"/>
                        </a:rPr>
                        <m:t>|</m:t>
                      </m:r>
                    </m:oMath>
                  </m:oMathPara>
                </a14:m>
                <a:endParaRPr lang="zh-CN" altLang="en-US" sz="2000" dirty="0"/>
              </a:p>
            </p:txBody>
          </p:sp>
        </mc:Choice>
        <mc:Fallback>
          <p:sp>
            <p:nvSpPr>
              <p:cNvPr id="5" name="文本框 4"/>
              <p:cNvSpPr txBox="1">
                <a:spLocks noRot="1" noChangeAspect="1" noMove="1" noResize="1" noEditPoints="1" noAdjustHandles="1" noChangeArrowheads="1" noChangeShapeType="1" noTextEdit="1"/>
              </p:cNvSpPr>
              <p:nvPr/>
            </p:nvSpPr>
            <p:spPr>
              <a:xfrm>
                <a:off x="1328738" y="4965995"/>
                <a:ext cx="6096000" cy="839269"/>
              </a:xfrm>
              <a:prstGeom prst="rect">
                <a:avLst/>
              </a:prstGeom>
              <a:blipFill rotWithShape="1">
                <a:blip r:embed="rId3"/>
                <a:stretch>
                  <a:fillRect l="-5" t="-35" r="5" b="11"/>
                </a:stretch>
              </a:blipFill>
            </p:spPr>
            <p:txBody>
              <a:bodyPr/>
              <a:lstStyle/>
              <a:p>
                <a:r>
                  <a:rPr lang="zh-CN" altLang="en-US">
                    <a:noFill/>
                  </a:rPr>
                  <a:t> </a:t>
                </a:r>
              </a:p>
            </p:txBody>
          </p:sp>
        </mc:Fallback>
      </mc:AlternateContent>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距离度量</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88429" y="1453727"/>
                <a:ext cx="8045450"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kern="100" dirty="0">
                    <a:latin typeface="+mj-ea"/>
                  </a:rPr>
                  <a:t>闵可夫斯基距离</a:t>
                </a:r>
                <a:r>
                  <a:rPr lang="en-US" altLang="zh-CN" sz="2000" kern="100" dirty="0">
                    <a:latin typeface="+mj-ea"/>
                  </a:rPr>
                  <a:t>(Minkowski distance)</a:t>
                </a:r>
                <a:endParaRPr lang="en-US" altLang="zh-CN" sz="2000" kern="100" dirty="0">
                  <a:latin typeface="+mj-ea"/>
                </a:endParaRPr>
              </a:p>
              <a:p>
                <a:pPr marL="0" indent="0">
                  <a:buNone/>
                </a:pPr>
                <a:endParaRPr lang="en-US" altLang="zh-CN" sz="2000" kern="100" dirty="0">
                  <a:latin typeface="+mj-ea"/>
                </a:endParaRPr>
              </a:p>
              <a:p>
                <a:pPr marL="0" indent="0">
                  <a:buNone/>
                </a:pPr>
                <a:endParaRPr lang="en-US" altLang="zh-CN" sz="2000" kern="100" dirty="0">
                  <a:latin typeface="+mj-ea"/>
                </a:endParaRPr>
              </a:p>
              <a:p>
                <a:pPr marL="0" indent="0">
                  <a:buNone/>
                </a:pPr>
                <a:endParaRPr lang="en-US" altLang="zh-CN" sz="2000" kern="100" dirty="0">
                  <a:latin typeface="+mj-ea"/>
                </a:endParaRPr>
              </a:p>
              <a:p>
                <a:pPr>
                  <a:lnSpc>
                    <a:spcPct val="150000"/>
                  </a:lnSpc>
                </a:pP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𝑝</m:t>
                    </m:r>
                  </m:oMath>
                </a14:m>
                <a:r>
                  <a:rPr lang="zh-CN" altLang="zh-CN" sz="2000" kern="100" dirty="0">
                    <a:latin typeface="+mj-ea"/>
                    <a:cs typeface="Times New Roman" panose="02020603050405020304" pitchFamily="18" charset="0"/>
                  </a:rPr>
                  <a:t>取</a:t>
                </a:r>
                <a:r>
                  <a:rPr lang="en-US" altLang="zh-CN" sz="2000" kern="100" dirty="0">
                    <a:latin typeface="+mj-ea"/>
                    <a:cs typeface="Times New Roman" panose="02020603050405020304" pitchFamily="18" charset="0"/>
                  </a:rPr>
                  <a:t>1</a:t>
                </a:r>
                <a:r>
                  <a:rPr lang="zh-CN" altLang="zh-CN" sz="2000" kern="100" dirty="0">
                    <a:latin typeface="+mj-ea"/>
                    <a:cs typeface="Times New Roman" panose="02020603050405020304" pitchFamily="18" charset="0"/>
                  </a:rPr>
                  <a:t>或</a:t>
                </a:r>
                <a:r>
                  <a:rPr lang="en-US" altLang="zh-CN" sz="2000" kern="100" dirty="0">
                    <a:latin typeface="+mj-ea"/>
                    <a:cs typeface="Times New Roman" panose="02020603050405020304" pitchFamily="18" charset="0"/>
                  </a:rPr>
                  <a:t>2</a:t>
                </a:r>
                <a:r>
                  <a:rPr lang="zh-CN" altLang="zh-CN" sz="2000" kern="100" dirty="0">
                    <a:latin typeface="+mj-ea"/>
                    <a:cs typeface="Times New Roman" panose="02020603050405020304" pitchFamily="18" charset="0"/>
                  </a:rPr>
                  <a:t>时的闵氏距离是最为常用的</a:t>
                </a:r>
                <a:endParaRPr lang="en-US" altLang="zh-CN" sz="2000" i="1" kern="100" dirty="0">
                  <a:latin typeface="+mj-ea"/>
                  <a:cs typeface="Times New Roman" panose="02020603050405020304" pitchFamily="18" charset="0"/>
                </a:endParaRPr>
              </a:p>
              <a:p>
                <a:pPr>
                  <a:lnSpc>
                    <a:spcPct val="150000"/>
                  </a:lnSpc>
                </a:pP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𝑝</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2</m:t>
                    </m:r>
                  </m:oMath>
                </a14:m>
                <a:r>
                  <a:rPr lang="zh-CN" altLang="zh-CN" sz="2000" kern="100" dirty="0">
                    <a:latin typeface="+mj-ea"/>
                    <a:cs typeface="Times New Roman" panose="02020603050405020304" pitchFamily="18" charset="0"/>
                  </a:rPr>
                  <a:t>即为欧氏距离，</a:t>
                </a:r>
                <a:endParaRPr lang="en-US" altLang="zh-CN" sz="2000" kern="100" dirty="0">
                  <a:latin typeface="+mj-ea"/>
                  <a:cs typeface="Times New Roman" panose="02020603050405020304" pitchFamily="18" charset="0"/>
                </a:endParaRPr>
              </a:p>
              <a:p>
                <a:pPr>
                  <a:lnSpc>
                    <a:spcPct val="150000"/>
                  </a:lnSpc>
                </a:pP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𝑝</m:t>
                    </m:r>
                    <m:r>
                      <a:rPr lang="en-US" altLang="zh-CN" sz="2000" i="1" kern="100">
                        <a:latin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cs typeface="Times New Roman" panose="02020603050405020304" pitchFamily="18" charset="0"/>
                      </a:rPr>
                      <m:t>1</m:t>
                    </m:r>
                  </m:oMath>
                </a14:m>
                <a:r>
                  <a:rPr lang="zh-CN" altLang="zh-CN" sz="2000" kern="100" dirty="0">
                    <a:latin typeface="+mj-ea"/>
                    <a:cs typeface="Times New Roman" panose="02020603050405020304" pitchFamily="18" charset="0"/>
                  </a:rPr>
                  <a:t>时则为曼哈顿距离。</a:t>
                </a:r>
                <a:endParaRPr lang="en-US" altLang="zh-CN" sz="2000" kern="100" dirty="0">
                  <a:latin typeface="+mj-ea"/>
                  <a:cs typeface="Times New Roman" panose="02020603050405020304" pitchFamily="18" charset="0"/>
                </a:endParaRPr>
              </a:p>
              <a:p>
                <a:pPr>
                  <a:lnSpc>
                    <a:spcPct val="150000"/>
                  </a:lnSpc>
                </a:pPr>
                <a:r>
                  <a:rPr lang="zh-CN" altLang="zh-CN" sz="2000" kern="100" dirty="0">
                    <a:latin typeface="+mj-ea"/>
                    <a:cs typeface="Times New Roman" panose="02020603050405020304" pitchFamily="18" charset="0"/>
                  </a:rPr>
                  <a:t>当</a:t>
                </a:r>
                <a14:m>
                  <m:oMath xmlns:m="http://schemas.openxmlformats.org/officeDocument/2006/math">
                    <m:r>
                      <a:rPr lang="en-US" altLang="zh-CN" sz="2000" i="1" kern="100">
                        <a:latin typeface="Cambria Math" panose="02040503050406030204" pitchFamily="18" charset="0"/>
                        <a:cs typeface="Times New Roman" panose="02020603050405020304" pitchFamily="18" charset="0"/>
                      </a:rPr>
                      <m:t>𝑝</m:t>
                    </m:r>
                  </m:oMath>
                </a14:m>
                <a:r>
                  <a:rPr lang="zh-CN" altLang="zh-CN" sz="2000" kern="100" dirty="0">
                    <a:latin typeface="+mj-ea"/>
                    <a:cs typeface="Times New Roman" panose="02020603050405020304" pitchFamily="18" charset="0"/>
                  </a:rPr>
                  <a:t>取无穷时的极限情况下，可以得到切比雪夫距离</a:t>
                </a:r>
                <a:endParaRPr lang="en-US" altLang="zh-CN" sz="2000" kern="100" dirty="0">
                  <a:latin typeface="+mj-ea"/>
                </a:endParaRPr>
              </a:p>
              <a:p>
                <a:endParaRPr lang="en-US" altLang="zh-CN" sz="2000" kern="100" dirty="0">
                  <a:latin typeface="+mj-ea"/>
                </a:endParaRPr>
              </a:p>
              <a:p>
                <a:endParaRPr lang="en-US" altLang="zh-CN" sz="2000" kern="100" dirty="0">
                  <a:latin typeface="+mj-ea"/>
                </a:endParaRPr>
              </a:p>
              <a:p>
                <a:endParaRPr lang="en-US" altLang="zh-CN" sz="2000" kern="100" dirty="0">
                  <a:latin typeface="+mj-ea"/>
                </a:endParaRPr>
              </a:p>
              <a:p>
                <a:endParaRPr lang="zh-CN" altLang="zh-CN" sz="2000" kern="100" dirty="0">
                  <a:latin typeface="+mj-ea"/>
                </a:endParaRPr>
              </a:p>
            </p:txBody>
          </p:sp>
        </mc:Choice>
        <mc:Fallback>
          <p:sp>
            <p:nvSpPr>
              <p:cNvPr id="7" name="矩形 3"/>
              <p:cNvSpPr>
                <a:spLocks noRot="1" noChangeAspect="1" noMove="1" noResize="1" noEditPoints="1" noAdjustHandles="1" noChangeArrowheads="1" noChangeShapeType="1" noTextEdit="1"/>
              </p:cNvSpPr>
              <p:nvPr/>
            </p:nvSpPr>
            <p:spPr bwMode="auto">
              <a:xfrm>
                <a:off x="488429" y="1453727"/>
                <a:ext cx="8045450" cy="5078313"/>
              </a:xfrm>
              <a:prstGeom prst="rect">
                <a:avLst/>
              </a:prstGeom>
              <a:blipFill rotWithShape="1">
                <a:blip r:embed="rId1"/>
                <a:stretch>
                  <a:fillRect l="-1" t="-4" r="1" b="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1463154" y="1453614"/>
                <a:ext cx="6096000" cy="1574662"/>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r>
                        <a:rPr lang="en-US" altLang="zh-CN" sz="2000" i="1" kern="100">
                          <a:latin typeface="Cambria Math" panose="02040503050406030204" pitchFamily="18" charset="0"/>
                        </a:rPr>
                        <m:t>𝑑</m:t>
                      </m:r>
                      <m:d>
                        <m:dPr>
                          <m:ctrlPr>
                            <a:rPr lang="zh-CN" altLang="zh-CN" sz="2000" i="1" kern="100">
                              <a:latin typeface="Cambria Math" panose="02040503050406030204" pitchFamily="18" charset="0"/>
                            </a:rPr>
                          </m:ctrlPr>
                        </m:dPr>
                        <m:e>
                          <m:r>
                            <a:rPr lang="en-US" altLang="zh-CN" sz="2000" i="1" kern="100">
                              <a:latin typeface="Cambria Math" panose="02040503050406030204" pitchFamily="18" charset="0"/>
                            </a:rPr>
                            <m:t>𝑥</m:t>
                          </m:r>
                          <m:r>
                            <a:rPr lang="en-US" altLang="zh-CN" sz="2000" i="1" kern="100">
                              <a:latin typeface="Cambria Math" panose="02040503050406030204" pitchFamily="18" charset="0"/>
                            </a:rPr>
                            <m:t>,</m:t>
                          </m:r>
                          <m:r>
                            <a:rPr lang="en-US" altLang="zh-CN" sz="2000" i="1" kern="100">
                              <a:latin typeface="Cambria Math" panose="02040503050406030204" pitchFamily="18" charset="0"/>
                            </a:rPr>
                            <m:t>𝑦</m:t>
                          </m:r>
                        </m:e>
                      </m:d>
                      <m:r>
                        <a:rPr lang="en-US" altLang="zh-CN" sz="2000" i="1" kern="100">
                          <a:effectLst/>
                          <a:latin typeface="Cambria Math" panose="02040503050406030204" pitchFamily="18" charset="0"/>
                        </a:rPr>
                        <m:t>=</m:t>
                      </m:r>
                      <m:sSup>
                        <m:sSupPr>
                          <m:ctrlPr>
                            <a:rPr lang="zh-CN" altLang="zh-CN" sz="2000" i="1" kern="100">
                              <a:effectLst/>
                              <a:latin typeface="Cambria Math" panose="02040503050406030204" pitchFamily="18" charset="0"/>
                              <a:ea typeface="Cambria Math" panose="02040503050406030204" pitchFamily="18" charset="0"/>
                            </a:rPr>
                          </m:ctrlPr>
                        </m:sSupPr>
                        <m:e>
                          <m:d>
                            <m:dPr>
                              <m:ctrlPr>
                                <a:rPr lang="zh-CN" altLang="zh-CN" sz="2000" i="1" kern="100">
                                  <a:effectLst/>
                                  <a:latin typeface="Cambria Math" panose="02040503050406030204" pitchFamily="18" charset="0"/>
                                  <a:ea typeface="Cambria Math" panose="02040503050406030204" pitchFamily="18" charset="0"/>
                                </a:rPr>
                              </m:ctrlPr>
                            </m:dPr>
                            <m:e>
                              <m:nary>
                                <m:naryPr>
                                  <m:chr m:val="∑"/>
                                  <m:limLoc m:val="undOvr"/>
                                  <m:supHide m:val="on"/>
                                  <m:ctrlPr>
                                    <a:rPr lang="zh-CN" altLang="zh-CN" sz="2000" i="1" kern="100">
                                      <a:effectLst/>
                                      <a:latin typeface="Cambria Math" panose="02040503050406030204" pitchFamily="18" charset="0"/>
                                      <a:ea typeface="Cambria Math" panose="02040503050406030204" pitchFamily="18" charset="0"/>
                                    </a:rPr>
                                  </m:ctrlPr>
                                </m:naryPr>
                                <m:sub>
                                  <m:r>
                                    <a:rPr lang="en-US" altLang="zh-CN" sz="2000" i="1" kern="100">
                                      <a:effectLst/>
                                      <a:latin typeface="Cambria Math" panose="02040503050406030204" pitchFamily="18" charset="0"/>
                                    </a:rPr>
                                    <m:t>𝑖</m:t>
                                  </m:r>
                                </m:sub>
                                <m:sup/>
                                <m:e>
                                  <m:r>
                                    <a:rPr lang="en-US" altLang="zh-CN" sz="2000" i="1" kern="100">
                                      <a:effectLst/>
                                      <a:latin typeface="Cambria Math" panose="02040503050406030204" pitchFamily="18" charset="0"/>
                                    </a:rPr>
                                    <m:t>|</m:t>
                                  </m:r>
                                </m:e>
                              </m:nary>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rPr>
                                    <m:t>𝑥</m:t>
                                  </m:r>
                                </m:e>
                                <m:sub>
                                  <m:r>
                                    <a:rPr lang="en-US" altLang="zh-CN" sz="2000" i="1" kern="100">
                                      <a:effectLst/>
                                      <a:latin typeface="Cambria Math" panose="02040503050406030204" pitchFamily="18" charset="0"/>
                                    </a:rPr>
                                    <m:t>𝑖</m:t>
                                  </m:r>
                                </m:sub>
                              </m:sSub>
                              <m:r>
                                <a:rPr lang="en-US" altLang="zh-CN" sz="2000" i="1" kern="100">
                                  <a:effectLst/>
                                  <a:latin typeface="Cambria Math" panose="02040503050406030204" pitchFamily="18" charset="0"/>
                                </a:rPr>
                                <m:t>−</m:t>
                              </m:r>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rPr>
                                    <m:t>𝑦</m:t>
                                  </m:r>
                                </m:e>
                                <m:sub>
                                  <m:r>
                                    <a:rPr lang="en-US" altLang="zh-CN" sz="2000" i="1" kern="100">
                                      <a:effectLst/>
                                      <a:latin typeface="Cambria Math" panose="02040503050406030204" pitchFamily="18" charset="0"/>
                                    </a:rPr>
                                    <m:t>𝑖</m:t>
                                  </m:r>
                                </m:sub>
                              </m:sSub>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rPr>
                                    <m:t>|</m:t>
                                  </m:r>
                                </m:e>
                                <m:sup>
                                  <m:r>
                                    <a:rPr lang="en-US" altLang="zh-CN" sz="2000" i="1" kern="100">
                                      <a:effectLst/>
                                      <a:latin typeface="Cambria Math" panose="02040503050406030204" pitchFamily="18" charset="0"/>
                                    </a:rPr>
                                    <m:t>𝑝</m:t>
                                  </m:r>
                                </m:sup>
                              </m:sSup>
                            </m:e>
                          </m:d>
                        </m:e>
                        <m:sup>
                          <m:f>
                            <m:fPr>
                              <m:ctrlPr>
                                <a:rPr lang="zh-CN" altLang="zh-CN" sz="2000" i="1" kern="100">
                                  <a:effectLst/>
                                  <a:latin typeface="Cambria Math" panose="02040503050406030204" pitchFamily="18" charset="0"/>
                                  <a:ea typeface="Cambria Math" panose="02040503050406030204" pitchFamily="18" charset="0"/>
                                </a:rPr>
                              </m:ctrlPr>
                            </m:fPr>
                            <m:num>
                              <m:r>
                                <a:rPr lang="en-US" altLang="zh-CN" sz="2000" i="1" kern="100">
                                  <a:effectLst/>
                                  <a:latin typeface="Cambria Math" panose="02040503050406030204" pitchFamily="18" charset="0"/>
                                </a:rPr>
                                <m:t>1</m:t>
                              </m:r>
                            </m:num>
                            <m:den>
                              <m:r>
                                <a:rPr lang="en-US" altLang="zh-CN" sz="2000" i="1" kern="100">
                                  <a:effectLst/>
                                  <a:latin typeface="Cambria Math" panose="02040503050406030204" pitchFamily="18" charset="0"/>
                                </a:rPr>
                                <m:t>𝑝</m:t>
                              </m:r>
                            </m:den>
                          </m:f>
                        </m:sup>
                      </m:sSup>
                    </m:oMath>
                  </m:oMathPara>
                </a14:m>
                <a:endParaRPr lang="zh-CN" altLang="zh-CN" sz="2000" kern="100" dirty="0">
                  <a:effectLst/>
                  <a:latin typeface="Times New Roman" panose="02020603050405020304" pitchFamily="18"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1463154" y="1453614"/>
                <a:ext cx="6096000" cy="1574662"/>
              </a:xfrm>
              <a:prstGeom prst="rect">
                <a:avLst/>
              </a:prstGeom>
              <a:blipFill rotWithShape="1">
                <a:blip r:embed="rId2"/>
                <a:stretch>
                  <a:fillRect l="-2" t="-6" r="2" b="38"/>
                </a:stretch>
              </a:blipFill>
            </p:spPr>
            <p:txBody>
              <a:bodyPr/>
              <a:lstStyle/>
              <a:p>
                <a:r>
                  <a:rPr lang="zh-CN" altLang="en-US">
                    <a:noFill/>
                  </a:rPr>
                  <a:t> </a:t>
                </a:r>
              </a:p>
            </p:txBody>
          </p:sp>
        </mc:Fallback>
      </mc:AlternateContent>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距离度量</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88429" y="1453727"/>
                <a:ext cx="8045450" cy="6464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zh-CN" sz="2000" kern="100" dirty="0">
                    <a:latin typeface="+mj-ea"/>
                  </a:rPr>
                  <a:t>汉明距离</a:t>
                </a:r>
                <a:r>
                  <a:rPr lang="zh-CN" altLang="en-US" sz="2000" kern="100" dirty="0">
                    <a:latin typeface="+mj-ea"/>
                  </a:rPr>
                  <a:t>：</a:t>
                </a:r>
                <a:r>
                  <a:rPr lang="zh-CN" altLang="zh-CN" sz="2000" kern="100" dirty="0">
                    <a:latin typeface="+mj-ea"/>
                  </a:rPr>
                  <a:t>表示两个（相同长度）字对应位不同的数量，我们以表示两个字之间的汉明距离。对两个字符串进行异或运算，并统计结果为</a:t>
                </a:r>
                <a:r>
                  <a:rPr lang="en-US" altLang="zh-CN" sz="2000" kern="100" dirty="0">
                    <a:latin typeface="+mj-ea"/>
                  </a:rPr>
                  <a:t>1</a:t>
                </a:r>
                <a:r>
                  <a:rPr lang="zh-CN" altLang="zh-CN" sz="2000" kern="100" dirty="0">
                    <a:latin typeface="+mj-ea"/>
                  </a:rPr>
                  <a:t>的个数，那么这个数就是汉明距离。</a:t>
                </a:r>
                <a:endParaRPr lang="en-US" altLang="zh-CN" sz="2000" kern="100" dirty="0">
                  <a:latin typeface="+mj-ea"/>
                </a:endParaRPr>
              </a:p>
              <a:p>
                <a:pPr algn="just">
                  <a:lnSpc>
                    <a:spcPct val="150000"/>
                  </a:lnSpc>
                </a:pPr>
                <a:endParaRPr lang="en-US" altLang="zh-CN" sz="2000" kern="100" dirty="0">
                  <a:latin typeface="+mj-ea"/>
                </a:endParaRPr>
              </a:p>
              <a:p>
                <a:pPr marL="0" indent="0" algn="just">
                  <a:lnSpc>
                    <a:spcPct val="150000"/>
                  </a:lnSpc>
                  <a:buNone/>
                </a:pPr>
                <a:endParaRPr lang="en-US" altLang="zh-CN" sz="2000" kern="100" dirty="0">
                  <a:latin typeface="+mj-ea"/>
                </a:endParaRPr>
              </a:p>
              <a:p>
                <a:pPr algn="just">
                  <a:lnSpc>
                    <a:spcPct val="150000"/>
                  </a:lnSpc>
                </a:pPr>
                <a:r>
                  <a:rPr lang="zh-CN" altLang="en-US" sz="2000" kern="100" dirty="0">
                    <a:latin typeface="+mj-ea"/>
                  </a:rPr>
                  <a:t>余弦相似度：假定𝐴和𝐵是两个𝑛维向量，𝐴是</a:t>
                </a:r>
                <a:r>
                  <a:rPr lang="en-US" altLang="zh-CN" sz="2000" kern="100" dirty="0">
                    <a:latin typeface="+mj-ea"/>
                  </a:rPr>
                  <a:t>[</a:t>
                </a:r>
                <a:r>
                  <a:rPr lang="zh-CN" altLang="en-US" sz="2000" kern="100" dirty="0">
                    <a:latin typeface="+mj-ea"/>
                  </a:rPr>
                  <a:t>𝐴</a:t>
                </a:r>
                <a:r>
                  <a:rPr lang="en-US" altLang="zh-CN" sz="2000" kern="100" dirty="0">
                    <a:latin typeface="+mj-ea"/>
                  </a:rPr>
                  <a:t>_1,</a:t>
                </a:r>
                <a:r>
                  <a:rPr lang="zh-CN" altLang="en-US" sz="2000" kern="100" dirty="0">
                    <a:latin typeface="+mj-ea"/>
                  </a:rPr>
                  <a:t>𝐴</a:t>
                </a:r>
                <a:r>
                  <a:rPr lang="en-US" altLang="zh-CN" sz="2000" kern="100" dirty="0">
                    <a:latin typeface="+mj-ea"/>
                  </a:rPr>
                  <a:t>_2,…,</a:t>
                </a:r>
                <a:r>
                  <a:rPr lang="zh-CN" altLang="en-US" sz="2000" kern="100" dirty="0">
                    <a:latin typeface="+mj-ea"/>
                  </a:rPr>
                  <a:t>𝐴</a:t>
                </a:r>
                <a:r>
                  <a:rPr lang="en-US" altLang="zh-CN" sz="2000" kern="100" dirty="0">
                    <a:latin typeface="+mj-ea"/>
                  </a:rPr>
                  <a:t>_</a:t>
                </a:r>
                <a:r>
                  <a:rPr lang="zh-CN" altLang="en-US" sz="2000" kern="100" dirty="0">
                    <a:latin typeface="+mj-ea"/>
                  </a:rPr>
                  <a:t>𝑛 </a:t>
                </a:r>
                <a:r>
                  <a:rPr lang="en-US" altLang="zh-CN" sz="2000" kern="100" dirty="0">
                    <a:latin typeface="+mj-ea"/>
                  </a:rPr>
                  <a:t>]</a:t>
                </a:r>
                <a:r>
                  <a:rPr lang="zh-CN" altLang="en-US" sz="2000" kern="100" dirty="0">
                    <a:latin typeface="+mj-ea"/>
                  </a:rPr>
                  <a:t>，𝐵是</a:t>
                </a:r>
                <a:r>
                  <a:rPr lang="en-US" altLang="zh-CN" sz="2000" kern="100" dirty="0">
                    <a:latin typeface="+mj-ea"/>
                  </a:rPr>
                  <a:t>[</a:t>
                </a:r>
                <a:r>
                  <a:rPr lang="zh-CN" altLang="en-US" sz="2000" kern="100" dirty="0">
                    <a:latin typeface="+mj-ea"/>
                  </a:rPr>
                  <a:t>𝐵</a:t>
                </a:r>
                <a:r>
                  <a:rPr lang="en-US" altLang="zh-CN" sz="2000" kern="100" dirty="0">
                    <a:latin typeface="+mj-ea"/>
                  </a:rPr>
                  <a:t>_1,</a:t>
                </a:r>
                <a:r>
                  <a:rPr lang="zh-CN" altLang="en-US" sz="2000" kern="100" dirty="0">
                    <a:latin typeface="+mj-ea"/>
                  </a:rPr>
                  <a:t>𝐵</a:t>
                </a:r>
                <a:r>
                  <a:rPr lang="en-US" altLang="zh-CN" sz="2000" kern="100" dirty="0">
                    <a:latin typeface="+mj-ea"/>
                  </a:rPr>
                  <a:t>_2,…,</a:t>
                </a:r>
                <a:r>
                  <a:rPr lang="zh-CN" altLang="en-US" sz="2000" kern="100" dirty="0">
                    <a:latin typeface="+mj-ea"/>
                  </a:rPr>
                  <a:t>𝐵</a:t>
                </a:r>
                <a:r>
                  <a:rPr lang="en-US" altLang="zh-CN" sz="2000" kern="100" dirty="0">
                    <a:latin typeface="+mj-ea"/>
                  </a:rPr>
                  <a:t>_</a:t>
                </a:r>
                <a:r>
                  <a:rPr lang="zh-CN" altLang="en-US" sz="2000" kern="100" dirty="0">
                    <a:latin typeface="+mj-ea"/>
                  </a:rPr>
                  <a:t>𝑛 </a:t>
                </a:r>
                <a:r>
                  <a:rPr lang="en-US" altLang="zh-CN" sz="2000" kern="100" dirty="0">
                    <a:latin typeface="+mj-ea"/>
                  </a:rPr>
                  <a:t>]  </a:t>
                </a:r>
                <a:r>
                  <a:rPr lang="zh-CN" altLang="en-US" sz="2000" kern="100" dirty="0">
                    <a:latin typeface="+mj-ea"/>
                  </a:rPr>
                  <a:t>，则𝐴和𝐵的夹角的余弦等于：</a:t>
                </a:r>
                <a14:m>
                  <m:oMath xmlns:m="http://schemas.openxmlformats.org/officeDocument/2006/math">
                    <m:func>
                      <m:funcPr>
                        <m:ctrlPr>
                          <a:rPr lang="zh-CN" altLang="zh-CN" sz="2000" i="1" kern="100">
                            <a:latin typeface="Cambria Math" panose="02040503050406030204" pitchFamily="18" charset="0"/>
                            <a:ea typeface="Cambria Math" panose="02040503050406030204" pitchFamily="18" charset="0"/>
                          </a:rPr>
                        </m:ctrlPr>
                      </m:funcPr>
                      <m:fName>
                        <m:r>
                          <m:rPr>
                            <m:sty m:val="p"/>
                          </m:rPr>
                          <a:rPr lang="en-US" altLang="zh-CN" sz="2000" kern="100">
                            <a:latin typeface="Cambria Math" panose="02040503050406030204" pitchFamily="18" charset="0"/>
                          </a:rPr>
                          <m:t>cos</m:t>
                        </m:r>
                      </m:fName>
                      <m:e>
                        <m:d>
                          <m:dPr>
                            <m:ctrlPr>
                              <a:rPr lang="zh-CN" altLang="zh-CN" sz="2000" i="1" kern="100">
                                <a:latin typeface="Cambria Math" panose="02040503050406030204" pitchFamily="18" charset="0"/>
                                <a:ea typeface="Cambria Math" panose="02040503050406030204" pitchFamily="18" charset="0"/>
                              </a:rPr>
                            </m:ctrlPr>
                          </m:dPr>
                          <m:e>
                            <m:r>
                              <a:rPr lang="en-US" altLang="zh-CN" sz="2000" i="1" kern="100">
                                <a:latin typeface="Cambria Math" panose="02040503050406030204" pitchFamily="18" charset="0"/>
                              </a:rPr>
                              <m:t>𝜃</m:t>
                            </m:r>
                          </m:e>
                        </m:d>
                      </m:e>
                    </m:func>
                    <m:r>
                      <a:rPr lang="en-US" altLang="zh-CN" sz="2000" i="1" kern="100">
                        <a:latin typeface="Cambria Math" panose="02040503050406030204" pitchFamily="18" charset="0"/>
                      </a:rPr>
                      <m:t>=</m:t>
                    </m:r>
                    <m:f>
                      <m:fPr>
                        <m:ctrlPr>
                          <a:rPr lang="zh-CN" altLang="zh-CN" sz="2000" i="1" kern="10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rPr>
                          <m:t>𝐴</m:t>
                        </m:r>
                        <m:r>
                          <a:rPr lang="en-US" altLang="zh-CN" sz="2000" i="1" kern="100">
                            <a:latin typeface="Cambria Math" panose="02040503050406030204" pitchFamily="18" charset="0"/>
                          </a:rPr>
                          <m:t>⋅</m:t>
                        </m:r>
                        <m:r>
                          <a:rPr lang="en-US" altLang="zh-CN" sz="2000" i="1" kern="100">
                            <a:latin typeface="Cambria Math" panose="02040503050406030204" pitchFamily="18" charset="0"/>
                          </a:rPr>
                          <m:t>𝐵</m:t>
                        </m:r>
                      </m:num>
                      <m:den>
                        <m:r>
                          <a:rPr lang="en-US" altLang="zh-CN" sz="2000" i="1" kern="100">
                            <a:latin typeface="Cambria Math" panose="02040503050406030204" pitchFamily="18" charset="0"/>
                          </a:rPr>
                          <m:t>∥</m:t>
                        </m:r>
                        <m:r>
                          <a:rPr lang="en-US" altLang="zh-CN" sz="2000" i="1" kern="100">
                            <a:latin typeface="Cambria Math" panose="02040503050406030204" pitchFamily="18" charset="0"/>
                          </a:rPr>
                          <m:t>𝐴</m:t>
                        </m:r>
                        <m:r>
                          <a:rPr lang="en-US" altLang="zh-CN" sz="2000" i="1" kern="100">
                            <a:latin typeface="Cambria Math" panose="02040503050406030204" pitchFamily="18" charset="0"/>
                          </a:rPr>
                          <m:t>∥∥</m:t>
                        </m:r>
                        <m:r>
                          <a:rPr lang="en-US" altLang="zh-CN" sz="2000" i="1" kern="100">
                            <a:latin typeface="Cambria Math" panose="02040503050406030204" pitchFamily="18" charset="0"/>
                          </a:rPr>
                          <m:t>𝐵</m:t>
                        </m:r>
                        <m:r>
                          <a:rPr lang="en-US" altLang="zh-CN" sz="2000" i="1" kern="100">
                            <a:latin typeface="Cambria Math" panose="02040503050406030204" pitchFamily="18" charset="0"/>
                          </a:rPr>
                          <m:t>∥</m:t>
                        </m:r>
                      </m:den>
                    </m:f>
                    <m:r>
                      <a:rPr lang="en-US" altLang="zh-CN" sz="2000" i="1" kern="100">
                        <a:latin typeface="Cambria Math" panose="02040503050406030204" pitchFamily="18" charset="0"/>
                      </a:rPr>
                      <m:t>=</m:t>
                    </m:r>
                    <m:f>
                      <m:fPr>
                        <m:ctrlPr>
                          <a:rPr lang="zh-CN" altLang="zh-CN" sz="2000" i="1" kern="100">
                            <a:latin typeface="Cambria Math" panose="02040503050406030204" pitchFamily="18" charset="0"/>
                            <a:ea typeface="Cambria Math" panose="02040503050406030204" pitchFamily="18" charset="0"/>
                          </a:rPr>
                        </m:ctrlPr>
                      </m:fPr>
                      <m:num>
                        <m:nary>
                          <m:naryPr>
                            <m:chr m:val="∑"/>
                            <m:limLoc m:val="undOvr"/>
                            <m:ctrlPr>
                              <a:rPr lang="zh-CN" altLang="zh-CN" sz="2000" i="1" kern="100">
                                <a:latin typeface="Cambria Math" panose="02040503050406030204" pitchFamily="18" charset="0"/>
                                <a:ea typeface="Cambria Math" panose="02040503050406030204" pitchFamily="18" charset="0"/>
                              </a:rPr>
                            </m:ctrlPr>
                          </m:naryPr>
                          <m:sub>
                            <m:r>
                              <a:rPr lang="en-US" altLang="zh-CN" sz="2000" i="1" kern="100">
                                <a:latin typeface="Cambria Math" panose="02040503050406030204" pitchFamily="18" charset="0"/>
                              </a:rPr>
                              <m:t>𝑖</m:t>
                            </m:r>
                            <m:r>
                              <a:rPr lang="en-US" altLang="zh-CN" sz="2000" i="1" kern="100">
                                <a:latin typeface="Cambria Math" panose="02040503050406030204" pitchFamily="18" charset="0"/>
                              </a:rPr>
                              <m:t>=</m:t>
                            </m:r>
                            <m:r>
                              <a:rPr lang="en-US" altLang="zh-CN" sz="2000" i="1" kern="100">
                                <a:latin typeface="Cambria Math" panose="02040503050406030204" pitchFamily="18" charset="0"/>
                              </a:rPr>
                              <m:t>1</m:t>
                            </m:r>
                          </m:sub>
                          <m:sup>
                            <m:r>
                              <a:rPr lang="en-US" altLang="zh-CN" sz="2000" i="1" kern="100">
                                <a:latin typeface="Cambria Math" panose="02040503050406030204" pitchFamily="18" charset="0"/>
                              </a:rPr>
                              <m:t>𝑛</m:t>
                            </m:r>
                          </m:sup>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rPr>
                                  <m:t>𝐴</m:t>
                                </m:r>
                              </m:e>
                              <m:sub>
                                <m:r>
                                  <a:rPr lang="en-US" altLang="zh-CN" sz="2000" i="1" kern="100">
                                    <a:latin typeface="Cambria Math" panose="02040503050406030204" pitchFamily="18" charset="0"/>
                                  </a:rPr>
                                  <m:t>𝑖</m:t>
                                </m:r>
                              </m:sub>
                            </m:sSub>
                          </m:e>
                        </m:nary>
                        <m:r>
                          <a:rPr lang="en-US" altLang="zh-CN" sz="2000" i="1" kern="100">
                            <a:latin typeface="Cambria Math" panose="02040503050406030204" pitchFamily="18" charset="0"/>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rPr>
                              <m:t>𝐵</m:t>
                            </m:r>
                          </m:e>
                          <m:sub>
                            <m:r>
                              <a:rPr lang="en-US" altLang="zh-CN" sz="2000" i="1" kern="100">
                                <a:latin typeface="Cambria Math" panose="02040503050406030204" pitchFamily="18" charset="0"/>
                              </a:rPr>
                              <m:t>𝑖</m:t>
                            </m:r>
                          </m:sub>
                        </m:sSub>
                      </m:num>
                      <m:den>
                        <m:rad>
                          <m:radPr>
                            <m:degHide m:val="on"/>
                            <m:ctrlPr>
                              <a:rPr lang="zh-CN" altLang="zh-CN" sz="2000" i="1" kern="100">
                                <a:latin typeface="Cambria Math" panose="02040503050406030204" pitchFamily="18" charset="0"/>
                                <a:ea typeface="Cambria Math" panose="02040503050406030204" pitchFamily="18" charset="0"/>
                              </a:rPr>
                            </m:ctrlPr>
                          </m:radPr>
                          <m:deg/>
                          <m:e>
                            <m:nary>
                              <m:naryPr>
                                <m:chr m:val="∑"/>
                                <m:limLoc m:val="undOvr"/>
                                <m:ctrlPr>
                                  <a:rPr lang="zh-CN" altLang="zh-CN" sz="2000" i="1" kern="100">
                                    <a:latin typeface="Cambria Math" panose="02040503050406030204" pitchFamily="18" charset="0"/>
                                    <a:ea typeface="Cambria Math" panose="02040503050406030204" pitchFamily="18" charset="0"/>
                                  </a:rPr>
                                </m:ctrlPr>
                              </m:naryPr>
                              <m:sub>
                                <m:r>
                                  <a:rPr lang="en-US" altLang="zh-CN" sz="2000" i="1" kern="100">
                                    <a:latin typeface="Cambria Math" panose="02040503050406030204" pitchFamily="18" charset="0"/>
                                  </a:rPr>
                                  <m:t>𝑖</m:t>
                                </m:r>
                                <m:r>
                                  <a:rPr lang="en-US" altLang="zh-CN" sz="2000" i="1" kern="100">
                                    <a:latin typeface="Cambria Math" panose="02040503050406030204" pitchFamily="18" charset="0"/>
                                  </a:rPr>
                                  <m:t>=</m:t>
                                </m:r>
                                <m:r>
                                  <a:rPr lang="en-US" altLang="zh-CN" sz="2000" i="1" kern="100">
                                    <a:latin typeface="Cambria Math" panose="02040503050406030204" pitchFamily="18" charset="0"/>
                                  </a:rPr>
                                  <m:t>1</m:t>
                                </m:r>
                              </m:sub>
                              <m:sup>
                                <m:r>
                                  <a:rPr lang="en-US" altLang="zh-CN" sz="2000" i="1" kern="100">
                                    <a:latin typeface="Cambria Math" panose="02040503050406030204" pitchFamily="18" charset="0"/>
                                  </a:rPr>
                                  <m:t>𝑛</m:t>
                                </m:r>
                              </m:sup>
                              <m:e>
                                <m:r>
                                  <a:rPr lang="en-US" altLang="zh-CN" sz="2000" i="1" kern="100">
                                    <a:latin typeface="Cambria Math" panose="02040503050406030204" pitchFamily="18" charset="0"/>
                                  </a:rPr>
                                  <m:t>(</m:t>
                                </m:r>
                              </m:e>
                            </m:nary>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rPr>
                                  <m:t>𝐴</m:t>
                                </m:r>
                              </m:e>
                              <m:sub>
                                <m:r>
                                  <a:rPr lang="en-US" altLang="zh-CN" sz="2000" i="1" kern="100">
                                    <a:latin typeface="Cambria Math" panose="02040503050406030204" pitchFamily="18" charset="0"/>
                                  </a:rPr>
                                  <m:t>𝑖</m:t>
                                </m:r>
                              </m:sub>
                            </m:sSub>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rPr>
                                  <m:t>)</m:t>
                                </m:r>
                              </m:e>
                              <m:sup>
                                <m:r>
                                  <a:rPr lang="en-US" altLang="zh-CN" sz="2000" i="1" kern="100">
                                    <a:latin typeface="Cambria Math" panose="02040503050406030204" pitchFamily="18" charset="0"/>
                                  </a:rPr>
                                  <m:t>2</m:t>
                                </m:r>
                              </m:sup>
                            </m:sSup>
                          </m:e>
                        </m:rad>
                        <m:r>
                          <a:rPr lang="en-US" altLang="zh-CN" sz="2000" i="1" kern="100">
                            <a:latin typeface="Cambria Math" panose="02040503050406030204" pitchFamily="18" charset="0"/>
                          </a:rPr>
                          <m:t>×</m:t>
                        </m:r>
                        <m:rad>
                          <m:radPr>
                            <m:degHide m:val="on"/>
                            <m:ctrlPr>
                              <a:rPr lang="zh-CN" altLang="zh-CN" sz="2000" i="1" kern="100">
                                <a:latin typeface="Cambria Math" panose="02040503050406030204" pitchFamily="18" charset="0"/>
                                <a:ea typeface="Cambria Math" panose="02040503050406030204" pitchFamily="18" charset="0"/>
                              </a:rPr>
                            </m:ctrlPr>
                          </m:radPr>
                          <m:deg/>
                          <m:e>
                            <m:nary>
                              <m:naryPr>
                                <m:chr m:val="∑"/>
                                <m:limLoc m:val="undOvr"/>
                                <m:ctrlPr>
                                  <a:rPr lang="zh-CN" altLang="zh-CN" sz="2000" i="1" kern="100">
                                    <a:latin typeface="Cambria Math" panose="02040503050406030204" pitchFamily="18" charset="0"/>
                                    <a:ea typeface="Cambria Math" panose="02040503050406030204" pitchFamily="18" charset="0"/>
                                  </a:rPr>
                                </m:ctrlPr>
                              </m:naryPr>
                              <m:sub>
                                <m:r>
                                  <a:rPr lang="en-US" altLang="zh-CN" sz="2000" i="1" kern="100">
                                    <a:latin typeface="Cambria Math" panose="02040503050406030204" pitchFamily="18" charset="0"/>
                                  </a:rPr>
                                  <m:t>𝑖</m:t>
                                </m:r>
                                <m:r>
                                  <a:rPr lang="en-US" altLang="zh-CN" sz="2000" i="1" kern="100">
                                    <a:latin typeface="Cambria Math" panose="02040503050406030204" pitchFamily="18" charset="0"/>
                                  </a:rPr>
                                  <m:t>=</m:t>
                                </m:r>
                                <m:r>
                                  <a:rPr lang="en-US" altLang="zh-CN" sz="2000" i="1" kern="100">
                                    <a:latin typeface="Cambria Math" panose="02040503050406030204" pitchFamily="18" charset="0"/>
                                  </a:rPr>
                                  <m:t>1</m:t>
                                </m:r>
                              </m:sub>
                              <m:sup>
                                <m:r>
                                  <a:rPr lang="en-US" altLang="zh-CN" sz="2000" i="1" kern="100">
                                    <a:latin typeface="Cambria Math" panose="02040503050406030204" pitchFamily="18" charset="0"/>
                                  </a:rPr>
                                  <m:t>𝑛</m:t>
                                </m:r>
                              </m:sup>
                              <m:e>
                                <m:r>
                                  <a:rPr lang="en-US" altLang="zh-CN" sz="2000" i="1" kern="100">
                                    <a:latin typeface="Cambria Math" panose="02040503050406030204" pitchFamily="18" charset="0"/>
                                  </a:rPr>
                                  <m:t>(</m:t>
                                </m:r>
                              </m:e>
                            </m:nary>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rPr>
                                  <m:t>𝐵</m:t>
                                </m:r>
                              </m:e>
                              <m:sub>
                                <m:r>
                                  <a:rPr lang="en-US" altLang="zh-CN" sz="2000" i="1" kern="100">
                                    <a:latin typeface="Cambria Math" panose="02040503050406030204" pitchFamily="18" charset="0"/>
                                  </a:rPr>
                                  <m:t>𝑖</m:t>
                                </m:r>
                              </m:sub>
                            </m:sSub>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rPr>
                                  <m:t>)</m:t>
                                </m:r>
                              </m:e>
                              <m:sup>
                                <m:r>
                                  <a:rPr lang="en-US" altLang="zh-CN" sz="2000" i="1" kern="100">
                                    <a:latin typeface="Cambria Math" panose="02040503050406030204" pitchFamily="18" charset="0"/>
                                  </a:rPr>
                                  <m:t>2</m:t>
                                </m:r>
                              </m:sup>
                            </m:sSup>
                          </m:e>
                        </m:rad>
                      </m:den>
                    </m:f>
                  </m:oMath>
                </a14:m>
                <a:endParaRPr lang="zh-CN" altLang="en-US" sz="2000" kern="100" dirty="0">
                  <a:latin typeface="+mj-ea"/>
                </a:endParaRPr>
              </a:p>
              <a:p>
                <a:pPr marL="0" indent="0">
                  <a:buNone/>
                </a:pPr>
                <a:endParaRPr lang="en-US" altLang="zh-CN" sz="2000" kern="100" dirty="0">
                  <a:latin typeface="+mj-ea"/>
                </a:endParaRPr>
              </a:p>
              <a:p>
                <a:pPr marL="0" indent="0">
                  <a:buNone/>
                </a:pPr>
                <a:endParaRPr lang="en-US" altLang="zh-CN" sz="2000" kern="100" dirty="0">
                  <a:latin typeface="+mj-ea"/>
                </a:endParaRPr>
              </a:p>
              <a:p>
                <a:endParaRPr lang="en-US" altLang="zh-CN" sz="2000" kern="100" dirty="0">
                  <a:latin typeface="+mj-ea"/>
                </a:endParaRPr>
              </a:p>
              <a:p>
                <a:endParaRPr lang="en-US" altLang="zh-CN" sz="2000" kern="100" dirty="0">
                  <a:latin typeface="+mj-ea"/>
                </a:endParaRPr>
              </a:p>
              <a:p>
                <a:endParaRPr lang="zh-CN" altLang="zh-CN" sz="2000" kern="100" dirty="0">
                  <a:latin typeface="+mj-ea"/>
                </a:endParaRPr>
              </a:p>
            </p:txBody>
          </p:sp>
        </mc:Choice>
        <mc:Fallback>
          <p:sp>
            <p:nvSpPr>
              <p:cNvPr id="7" name="矩形 3"/>
              <p:cNvSpPr>
                <a:spLocks noRot="1" noChangeAspect="1" noMove="1" noResize="1" noEditPoints="1" noAdjustHandles="1" noChangeArrowheads="1" noChangeShapeType="1" noTextEdit="1"/>
              </p:cNvSpPr>
              <p:nvPr/>
            </p:nvSpPr>
            <p:spPr bwMode="auto">
              <a:xfrm>
                <a:off x="488429" y="1453727"/>
                <a:ext cx="8045450" cy="6464935"/>
              </a:xfrm>
              <a:prstGeom prst="rect">
                <a:avLst/>
              </a:prstGeom>
              <a:blipFill rotWithShape="1">
                <a:blip r:embed="rId1"/>
                <a:stretch>
                  <a:fillRect l="-1" t="-3" r="1" b="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2771800" y="2509336"/>
                <a:ext cx="3824288" cy="1212768"/>
              </a:xfrm>
              <a:prstGeom prst="rect">
                <a:avLst/>
              </a:prstGeom>
              <a:noFill/>
            </p:spPr>
            <p:txBody>
              <a:bodyPr wrap="square">
                <a:spAutoFit/>
              </a:bodyPr>
              <a:lstStyle/>
              <a:p>
                <a:pPr indent="266700" algn="just">
                  <a:lnSpc>
                    <a:spcPct val="150000"/>
                  </a:lnSpc>
                </a:pPr>
                <a14:m>
                  <m:oMathPara xmlns:m="http://schemas.openxmlformats.org/officeDocument/2006/math">
                    <m:oMathParaPr>
                      <m:jc m:val="centerGroup"/>
                    </m:oMathParaPr>
                    <m:oMath xmlns:m="http://schemas.openxmlformats.org/officeDocument/2006/math">
                      <m:r>
                        <a:rPr lang="en-US" altLang="zh-CN" sz="2000" i="1" kern="100" smtClean="0">
                          <a:effectLst/>
                          <a:latin typeface="Cambria Math" panose="02040503050406030204" pitchFamily="18" charset="0"/>
                        </a:rPr>
                        <m:t>𝑑</m:t>
                      </m:r>
                      <m:d>
                        <m:dPr>
                          <m:ctrlPr>
                            <a:rPr lang="zh-CN" altLang="zh-CN" sz="2000" i="1" kern="100">
                              <a:effectLst/>
                              <a:latin typeface="Cambria Math" panose="02040503050406030204" pitchFamily="18" charset="0"/>
                              <a:ea typeface="Cambria Math" panose="02040503050406030204" pitchFamily="18" charset="0"/>
                            </a:rPr>
                          </m:ctrlPr>
                        </m:dPr>
                        <m:e>
                          <m:r>
                            <a:rPr lang="en-US" altLang="zh-CN" sz="2000" i="1" kern="100">
                              <a:effectLst/>
                              <a:latin typeface="Cambria Math" panose="02040503050406030204" pitchFamily="18" charset="0"/>
                            </a:rPr>
                            <m:t>𝑥</m:t>
                          </m:r>
                          <m:r>
                            <a:rPr lang="en-US" altLang="zh-CN" sz="2000" i="1" kern="100">
                              <a:effectLst/>
                              <a:latin typeface="Cambria Math" panose="02040503050406030204" pitchFamily="18" charset="0"/>
                            </a:rPr>
                            <m:t>,</m:t>
                          </m:r>
                          <m:r>
                            <a:rPr lang="en-US" altLang="zh-CN" sz="2000" i="1" kern="100">
                              <a:effectLst/>
                              <a:latin typeface="Cambria Math" panose="02040503050406030204" pitchFamily="18" charset="0"/>
                            </a:rPr>
                            <m:t>𝑦</m:t>
                          </m:r>
                        </m:e>
                      </m:d>
                      <m:r>
                        <a:rPr lang="en-US" altLang="zh-CN" sz="2000" i="1" kern="100">
                          <a:effectLst/>
                          <a:latin typeface="Cambria Math" panose="02040503050406030204" pitchFamily="18" charset="0"/>
                        </a:rPr>
                        <m:t>=</m:t>
                      </m:r>
                      <m:f>
                        <m:fPr>
                          <m:ctrlPr>
                            <a:rPr lang="zh-CN" altLang="zh-CN" sz="2000" i="1" kern="100">
                              <a:effectLst/>
                              <a:latin typeface="Cambria Math" panose="02040503050406030204" pitchFamily="18" charset="0"/>
                              <a:ea typeface="Cambria Math" panose="02040503050406030204" pitchFamily="18" charset="0"/>
                            </a:rPr>
                          </m:ctrlPr>
                        </m:fPr>
                        <m:num>
                          <m:r>
                            <a:rPr lang="en-US" altLang="zh-CN" sz="2000" i="1" kern="100">
                              <a:effectLst/>
                              <a:latin typeface="Cambria Math" panose="02040503050406030204" pitchFamily="18" charset="0"/>
                            </a:rPr>
                            <m:t>1</m:t>
                          </m:r>
                        </m:num>
                        <m:den>
                          <m:r>
                            <a:rPr lang="en-US" altLang="zh-CN" sz="2000" i="1" kern="100">
                              <a:effectLst/>
                              <a:latin typeface="Cambria Math" panose="02040503050406030204" pitchFamily="18" charset="0"/>
                            </a:rPr>
                            <m:t>𝑁</m:t>
                          </m:r>
                        </m:den>
                      </m:f>
                      <m:nary>
                        <m:naryPr>
                          <m:chr m:val="∑"/>
                          <m:limLoc m:val="undOvr"/>
                          <m:supHide m:val="on"/>
                          <m:ctrlPr>
                            <a:rPr lang="zh-CN" altLang="zh-CN" sz="2000" i="1" kern="100">
                              <a:effectLst/>
                              <a:latin typeface="Cambria Math" panose="02040503050406030204" pitchFamily="18" charset="0"/>
                              <a:ea typeface="Cambria Math" panose="02040503050406030204" pitchFamily="18" charset="0"/>
                            </a:rPr>
                          </m:ctrlPr>
                        </m:naryPr>
                        <m:sub>
                          <m:r>
                            <a:rPr lang="en-US" altLang="zh-CN" sz="2000" i="1" kern="100">
                              <a:effectLst/>
                              <a:latin typeface="Cambria Math" panose="02040503050406030204" pitchFamily="18" charset="0"/>
                            </a:rPr>
                            <m:t>𝑖</m:t>
                          </m:r>
                        </m:sub>
                        <m:sup/>
                        <m:e>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rPr>
                                <m:t>1</m:t>
                              </m:r>
                            </m:e>
                            <m:sub>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rPr>
                                    <m:t>𝑥</m:t>
                                  </m:r>
                                </m:e>
                                <m:sub>
                                  <m:r>
                                    <a:rPr lang="en-US" altLang="zh-CN" sz="2000" i="1" kern="100">
                                      <a:effectLst/>
                                      <a:latin typeface="Cambria Math" panose="02040503050406030204" pitchFamily="18" charset="0"/>
                                    </a:rPr>
                                    <m:t>𝑖</m:t>
                                  </m:r>
                                </m:sub>
                              </m:sSub>
                              <m:r>
                                <a:rPr lang="en-US" altLang="zh-CN" sz="2000" i="1" kern="100">
                                  <a:effectLst/>
                                  <a:latin typeface="Cambria Math" panose="02040503050406030204" pitchFamily="18" charset="0"/>
                                </a:rPr>
                                <m:t>≠</m:t>
                              </m:r>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rPr>
                                    <m:t>𝑦</m:t>
                                  </m:r>
                                </m:e>
                                <m:sub>
                                  <m:r>
                                    <a:rPr lang="en-US" altLang="zh-CN" sz="2000" i="1" kern="100">
                                      <a:effectLst/>
                                      <a:latin typeface="Cambria Math" panose="02040503050406030204" pitchFamily="18" charset="0"/>
                                    </a:rPr>
                                    <m:t>𝑖</m:t>
                                  </m:r>
                                </m:sub>
                              </m:sSub>
                            </m:sub>
                          </m:sSub>
                        </m:e>
                      </m:nary>
                    </m:oMath>
                  </m:oMathPara>
                </a14:m>
                <a:endParaRPr lang="zh-CN" altLang="zh-CN" sz="2000" kern="100" dirty="0">
                  <a:effectLst/>
                  <a:latin typeface="Times New Roman" panose="02020603050405020304" pitchFamily="18" charset="0"/>
                </a:endParaRPr>
              </a:p>
            </p:txBody>
          </p:sp>
        </mc:Choice>
        <mc:Fallback>
          <p:sp>
            <p:nvSpPr>
              <p:cNvPr id="3" name="文本框 2"/>
              <p:cNvSpPr txBox="1">
                <a:spLocks noRot="1" noChangeAspect="1" noMove="1" noResize="1" noEditPoints="1" noAdjustHandles="1" noChangeArrowheads="1" noChangeShapeType="1" noTextEdit="1"/>
              </p:cNvSpPr>
              <p:nvPr/>
            </p:nvSpPr>
            <p:spPr>
              <a:xfrm>
                <a:off x="2771800" y="2509336"/>
                <a:ext cx="3824288" cy="1212768"/>
              </a:xfrm>
              <a:prstGeom prst="rect">
                <a:avLst/>
              </a:prstGeom>
              <a:blipFill rotWithShape="1">
                <a:blip r:embed="rId2"/>
                <a:stretch>
                  <a:fillRect l="-1" t="-37" r="9" b="30"/>
                </a:stretch>
              </a:blipFill>
            </p:spPr>
            <p:txBody>
              <a:bodyPr/>
              <a:lstStyle/>
              <a:p>
                <a:r>
                  <a:rPr lang="zh-CN" altLang="en-US">
                    <a:noFill/>
                  </a:rPr>
                  <a:t> </a:t>
                </a:r>
              </a:p>
            </p:txBody>
          </p:sp>
        </mc:Fallback>
      </mc:AlternateContent>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K</a:t>
            </a:r>
            <a:r>
              <a:rPr lang="zh-CN" altLang="en-US" spc="-100" dirty="0">
                <a:solidFill>
                  <a:srgbClr val="D2533C"/>
                </a:solidFill>
                <a:latin typeface="Arial" panose="020B0604020202020204"/>
                <a:ea typeface="华文新魏" panose="02010800040101010101" pitchFamily="2" charset="-122"/>
              </a:rPr>
              <a:t>近邻算法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4216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𝑘近邻（</a:t>
            </a:r>
            <a:r>
              <a:rPr lang="en-US" altLang="zh-CN" sz="2000" dirty="0">
                <a:solidFill>
                  <a:srgbClr val="000000"/>
                </a:solidFill>
              </a:rPr>
              <a:t>k-Nearest </a:t>
            </a:r>
            <a:r>
              <a:rPr lang="en-US" altLang="zh-CN" sz="2000" dirty="0" err="1">
                <a:solidFill>
                  <a:srgbClr val="000000"/>
                </a:solidFill>
              </a:rPr>
              <a:t>Neighbor,kNN</a:t>
            </a:r>
            <a:r>
              <a:rPr lang="zh-CN" altLang="en-US" sz="2000" dirty="0">
                <a:solidFill>
                  <a:srgbClr val="000000"/>
                </a:solidFill>
              </a:rPr>
              <a:t>）</a:t>
            </a:r>
            <a:endParaRPr lang="en-US" altLang="zh-CN" sz="2000" dirty="0">
              <a:solidFill>
                <a:srgbClr val="000000"/>
              </a:solidFill>
            </a:endParaRPr>
          </a:p>
          <a:p>
            <a:r>
              <a:rPr lang="zh-CN" altLang="en-US" sz="2000" dirty="0">
                <a:solidFill>
                  <a:srgbClr val="000000"/>
                </a:solidFill>
              </a:rPr>
              <a:t>如果一个样本在特征空间中与𝑘个实例最为相似（即特征空间中最邻近），那么这𝑘个实例中大多数属于哪个类别，则该样本也属于这个类别。</a:t>
            </a:r>
            <a:endParaRPr lang="zh-CN" altLang="en-US" sz="2000" dirty="0">
              <a:solidFill>
                <a:srgbClr val="000000"/>
              </a:solidFill>
            </a:endParaRPr>
          </a:p>
          <a:p>
            <a:r>
              <a:rPr lang="zh-CN" altLang="en-US" sz="2000" dirty="0">
                <a:solidFill>
                  <a:srgbClr val="000000"/>
                </a:solidFill>
              </a:rPr>
              <a:t>对于分类问题：对新的样本，根据其𝑘个最近邻的训练样本的类别，通过多数表决等方式进行预测。</a:t>
            </a:r>
            <a:endParaRPr lang="zh-CN" altLang="en-US" sz="2000" dirty="0">
              <a:solidFill>
                <a:srgbClr val="000000"/>
              </a:solidFill>
            </a:endParaRPr>
          </a:p>
          <a:p>
            <a:r>
              <a:rPr lang="zh-CN" altLang="en-US" sz="2000" dirty="0">
                <a:solidFill>
                  <a:srgbClr val="000000"/>
                </a:solidFill>
              </a:rPr>
              <a:t>对于回归问题：对新的样本，根据其𝑘个最近邻的训练样本标签值的均值作为预测值。</a:t>
            </a:r>
            <a:endParaRPr lang="en-US" altLang="zh-CN" sz="2000" dirty="0">
              <a:solidFill>
                <a:srgbClr val="000000"/>
              </a:solidFill>
            </a:endParaRPr>
          </a:p>
          <a:p>
            <a:r>
              <a:rPr lang="zh-CN" altLang="en-US" sz="2000" dirty="0">
                <a:solidFill>
                  <a:srgbClr val="000000"/>
                </a:solidFill>
              </a:rPr>
              <a:t>𝑘近邻法的三要素：𝑘值选择、距离度量、决策规则。</a:t>
            </a:r>
            <a:endParaRPr lang="zh-CN" altLang="en-US" sz="2000" dirty="0">
              <a:solidFill>
                <a:srgbClr val="000000"/>
              </a:solidFill>
            </a:endParaRPr>
          </a:p>
          <a:p>
            <a:endParaRPr lang="zh-CN" altLang="en-US" sz="2000" dirty="0">
              <a:solidFill>
                <a:srgbClr val="000000"/>
              </a:solidFill>
            </a:endParaRPr>
          </a:p>
          <a:p>
            <a:endParaRPr lang="zh-CN" altLang="en-US" sz="2000" dirty="0">
              <a:solidFill>
                <a:srgbClr val="000000"/>
              </a:solidFill>
            </a:endParaRPr>
          </a:p>
          <a:p>
            <a:endParaRPr lang="zh-CN" altLang="zh-CN" sz="2000" dirty="0">
              <a:solidFill>
                <a:srgbClr val="000000"/>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descr="img"/>
          <p:cNvPicPr/>
          <p:nvPr/>
        </p:nvPicPr>
        <p:blipFill>
          <a:blip r:embed="rId1"/>
          <a:srcRect r="13601" b="3950"/>
          <a:stretch>
            <a:fillRect/>
          </a:stretch>
        </p:blipFill>
        <p:spPr bwMode="auto">
          <a:xfrm>
            <a:off x="1393684" y="3289413"/>
            <a:ext cx="3816424" cy="3041359"/>
          </a:xfrm>
          <a:prstGeom prst="rect">
            <a:avLst/>
          </a:prstGeom>
          <a:noFill/>
          <a:ln w="9525">
            <a:noFill/>
          </a:ln>
        </p:spPr>
      </p:pic>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K</a:t>
            </a:r>
            <a:r>
              <a:rPr lang="zh-CN" altLang="en-US" spc="-100" dirty="0">
                <a:solidFill>
                  <a:srgbClr val="D2533C"/>
                </a:solidFill>
                <a:latin typeface="Arial" panose="020B0604020202020204"/>
                <a:ea typeface="华文新魏" panose="02010800040101010101" pitchFamily="2" charset="-122"/>
              </a:rPr>
              <a:t>近邻算法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335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算法流程如下：</a:t>
            </a:r>
            <a:endParaRPr lang="zh-CN" altLang="en-US" sz="2000" dirty="0">
              <a:solidFill>
                <a:srgbClr val="000000"/>
              </a:solidFill>
            </a:endParaRPr>
          </a:p>
          <a:p>
            <a:r>
              <a:rPr lang="en-US" altLang="zh-CN" sz="2000" dirty="0">
                <a:solidFill>
                  <a:srgbClr val="000000"/>
                </a:solidFill>
              </a:rPr>
              <a:t>1.</a:t>
            </a:r>
            <a:r>
              <a:rPr lang="zh-CN" altLang="en-US" sz="2000" dirty="0">
                <a:solidFill>
                  <a:srgbClr val="000000"/>
                </a:solidFill>
              </a:rPr>
              <a:t>计算测试对象到训练集中每个对象的距离</a:t>
            </a:r>
            <a:endParaRPr lang="zh-CN" altLang="en-US" sz="2000" dirty="0">
              <a:solidFill>
                <a:srgbClr val="000000"/>
              </a:solidFill>
            </a:endParaRPr>
          </a:p>
          <a:p>
            <a:r>
              <a:rPr lang="en-US" altLang="zh-CN" sz="2000" dirty="0">
                <a:solidFill>
                  <a:srgbClr val="000000"/>
                </a:solidFill>
              </a:rPr>
              <a:t>2.</a:t>
            </a:r>
            <a:r>
              <a:rPr lang="zh-CN" altLang="en-US" sz="2000" dirty="0">
                <a:solidFill>
                  <a:srgbClr val="000000"/>
                </a:solidFill>
              </a:rPr>
              <a:t>按照距离的远近排序</a:t>
            </a:r>
            <a:endParaRPr lang="zh-CN" altLang="en-US" sz="2000" dirty="0">
              <a:solidFill>
                <a:srgbClr val="000000"/>
              </a:solidFill>
            </a:endParaRPr>
          </a:p>
          <a:p>
            <a:r>
              <a:rPr lang="en-US" altLang="zh-CN" sz="2000" dirty="0">
                <a:solidFill>
                  <a:srgbClr val="000000"/>
                </a:solidFill>
              </a:rPr>
              <a:t>3.</a:t>
            </a:r>
            <a:r>
              <a:rPr lang="zh-CN" altLang="en-US" sz="2000" dirty="0">
                <a:solidFill>
                  <a:srgbClr val="000000"/>
                </a:solidFill>
              </a:rPr>
              <a:t>选取与当前测试对象最近的</a:t>
            </a:r>
            <a:r>
              <a:rPr lang="en-US" altLang="zh-CN" sz="2000" dirty="0">
                <a:solidFill>
                  <a:srgbClr val="000000"/>
                </a:solidFill>
              </a:rPr>
              <a:t>k</a:t>
            </a:r>
            <a:r>
              <a:rPr lang="zh-CN" altLang="en-US" sz="2000" dirty="0">
                <a:solidFill>
                  <a:srgbClr val="000000"/>
                </a:solidFill>
              </a:rPr>
              <a:t>的训练对象，作为该测试对象的邻居 </a:t>
            </a:r>
            <a:endParaRPr lang="zh-CN" altLang="en-US" sz="2000" dirty="0">
              <a:solidFill>
                <a:srgbClr val="000000"/>
              </a:solidFill>
            </a:endParaRPr>
          </a:p>
          <a:p>
            <a:r>
              <a:rPr lang="en-US" altLang="zh-CN" sz="2000" dirty="0">
                <a:solidFill>
                  <a:srgbClr val="000000"/>
                </a:solidFill>
              </a:rPr>
              <a:t>4.</a:t>
            </a:r>
            <a:r>
              <a:rPr lang="zh-CN" altLang="en-US" sz="2000" dirty="0">
                <a:solidFill>
                  <a:srgbClr val="000000"/>
                </a:solidFill>
              </a:rPr>
              <a:t>统计这</a:t>
            </a:r>
            <a:r>
              <a:rPr lang="en-US" altLang="zh-CN" sz="2000" dirty="0">
                <a:solidFill>
                  <a:srgbClr val="000000"/>
                </a:solidFill>
              </a:rPr>
              <a:t>k</a:t>
            </a:r>
            <a:r>
              <a:rPr lang="zh-CN" altLang="en-US" sz="2000" dirty="0">
                <a:solidFill>
                  <a:srgbClr val="000000"/>
                </a:solidFill>
              </a:rPr>
              <a:t>个邻居的类别频次 </a:t>
            </a:r>
            <a:endParaRPr lang="zh-CN" altLang="en-US" sz="2000" dirty="0">
              <a:solidFill>
                <a:srgbClr val="000000"/>
              </a:solidFill>
            </a:endParaRPr>
          </a:p>
          <a:p>
            <a:r>
              <a:rPr lang="en-US" altLang="zh-CN" sz="2000" dirty="0">
                <a:solidFill>
                  <a:srgbClr val="000000"/>
                </a:solidFill>
              </a:rPr>
              <a:t>5.k</a:t>
            </a:r>
            <a:r>
              <a:rPr lang="zh-CN" altLang="en-US" sz="2000" dirty="0">
                <a:solidFill>
                  <a:srgbClr val="000000"/>
                </a:solidFill>
              </a:rPr>
              <a:t>个邻居里频次最高的类别，即为测试对象的类别</a:t>
            </a:r>
            <a:endParaRPr lang="zh-CN" altLang="en-US" sz="2000" dirty="0">
              <a:solidFill>
                <a:srgbClr val="000000"/>
              </a:solidFill>
            </a:endParaRPr>
          </a:p>
          <a:p>
            <a:endParaRPr lang="zh-CN" altLang="en-US" sz="2000" dirty="0">
              <a:solidFill>
                <a:srgbClr val="000000"/>
              </a:solidFill>
            </a:endParaRPr>
          </a:p>
          <a:p>
            <a:endParaRPr lang="zh-CN" altLang="en-US" sz="2000" dirty="0">
              <a:solidFill>
                <a:srgbClr val="000000"/>
              </a:solidFill>
            </a:endParaRPr>
          </a:p>
          <a:p>
            <a:endParaRPr lang="zh-CN" altLang="zh-CN" sz="2000" dirty="0">
              <a:solidFill>
                <a:srgbClr val="000000"/>
              </a:solidFill>
            </a:endParaRPr>
          </a:p>
        </p:txBody>
      </p:sp>
      <p:sp>
        <p:nvSpPr>
          <p:cNvPr id="5" name="文本框 4"/>
          <p:cNvSpPr txBox="1"/>
          <p:nvPr/>
        </p:nvSpPr>
        <p:spPr>
          <a:xfrm>
            <a:off x="3167888" y="5310248"/>
            <a:ext cx="6095184" cy="369332"/>
          </a:xfrm>
          <a:prstGeom prst="rect">
            <a:avLst/>
          </a:prstGeom>
          <a:noFill/>
        </p:spPr>
        <p:txBody>
          <a:bodyPr wrap="square">
            <a:spAutoFit/>
          </a:bodyPr>
          <a:lstStyle/>
          <a:p>
            <a:r>
              <a:rPr lang="en-US" altLang="zh-CN" sz="1800" kern="100" dirty="0">
                <a:solidFill>
                  <a:srgbClr val="FF0000"/>
                </a:solidFill>
                <a:effectLst/>
                <a:latin typeface="Times New Roman" panose="02020603050405020304" pitchFamily="18" charset="0"/>
                <a:ea typeface="宋体" panose="02010600030101010101" pitchFamily="2" charset="-122"/>
              </a:rPr>
              <a:t>K=3</a:t>
            </a:r>
            <a:endParaRPr lang="zh-CN" altLang="en-US" sz="1800" dirty="0">
              <a:solidFill>
                <a:srgbClr val="FF0000"/>
              </a:solidFill>
            </a:endParaRPr>
          </a:p>
        </p:txBody>
      </p:sp>
      <p:sp>
        <p:nvSpPr>
          <p:cNvPr id="6" name="文本框 5"/>
          <p:cNvSpPr txBox="1"/>
          <p:nvPr/>
        </p:nvSpPr>
        <p:spPr>
          <a:xfrm>
            <a:off x="3163993" y="5810403"/>
            <a:ext cx="6095184" cy="369332"/>
          </a:xfrm>
          <a:prstGeom prst="rect">
            <a:avLst/>
          </a:prstGeom>
          <a:noFill/>
        </p:spPr>
        <p:txBody>
          <a:bodyPr wrap="square">
            <a:spAutoFit/>
          </a:bodyPr>
          <a:lstStyle/>
          <a:p>
            <a:r>
              <a:rPr lang="en-US" altLang="zh-CN" sz="1800" kern="100" dirty="0">
                <a:solidFill>
                  <a:srgbClr val="FF0000"/>
                </a:solidFill>
                <a:effectLst/>
                <a:latin typeface="Times New Roman" panose="02020603050405020304" pitchFamily="18" charset="0"/>
                <a:ea typeface="宋体" panose="02010600030101010101" pitchFamily="2" charset="-122"/>
              </a:rPr>
              <a:t>K=5</a:t>
            </a:r>
            <a:endParaRPr lang="zh-CN" altLang="en-US" sz="1800" dirty="0">
              <a:solidFill>
                <a:srgbClr val="FF0000"/>
              </a:solidFill>
            </a:endParaRPr>
          </a:p>
        </p:txBody>
      </p:sp>
      <p:sp>
        <p:nvSpPr>
          <p:cNvPr id="9" name="文本框 8"/>
          <p:cNvSpPr txBox="1"/>
          <p:nvPr/>
        </p:nvSpPr>
        <p:spPr>
          <a:xfrm>
            <a:off x="4860032" y="4030801"/>
            <a:ext cx="3304847" cy="1701748"/>
          </a:xfrm>
          <a:prstGeom prst="rect">
            <a:avLst/>
          </a:prstGeom>
          <a:noFill/>
        </p:spPr>
        <p:txBody>
          <a:bodyPr wrap="square">
            <a:spAutoFit/>
          </a:bodyPr>
          <a:lstStyle/>
          <a:p>
            <a:pPr indent="266700" algn="just">
              <a:lnSpc>
                <a:spcPct val="150000"/>
              </a:lnSpc>
            </a:pPr>
            <a:r>
              <a:rPr lang="en-US" altLang="zh-CN" sz="1800" kern="100" dirty="0">
                <a:effectLst/>
                <a:latin typeface="Times New Roman" panose="02020603050405020304" pitchFamily="18" charset="0"/>
                <a:ea typeface="宋体" panose="02010600030101010101" pitchFamily="2" charset="-122"/>
              </a:rPr>
              <a:t>1</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K=3</a:t>
            </a:r>
            <a:r>
              <a:rPr lang="zh-CN" altLang="en-US" sz="1800" kern="100" dirty="0">
                <a:effectLst/>
                <a:latin typeface="Times New Roman" panose="02020603050405020304" pitchFamily="18" charset="0"/>
                <a:ea typeface="宋体" panose="02010600030101010101" pitchFamily="2" charset="-122"/>
              </a:rPr>
              <a:t>时</a:t>
            </a:r>
            <a:r>
              <a:rPr lang="zh-CN" altLang="zh-CN" sz="1800" kern="100" dirty="0">
                <a:effectLst/>
                <a:latin typeface="Times New Roman" panose="02020603050405020304" pitchFamily="18" charset="0"/>
                <a:ea typeface="宋体" panose="02010600030101010101" pitchFamily="2" charset="-122"/>
              </a:rPr>
              <a:t>，绿色待分类的节点应该属于红色三角类。 </a:t>
            </a:r>
            <a:endParaRPr lang="zh-CN" altLang="zh-CN" sz="1800" kern="100" dirty="0">
              <a:effectLst/>
              <a:latin typeface="Times New Roman" panose="02020603050405020304" pitchFamily="18" charset="0"/>
              <a:ea typeface="宋体" panose="02010600030101010101" pitchFamily="2" charset="-122"/>
            </a:endParaRPr>
          </a:p>
          <a:p>
            <a:pPr indent="266700" algn="just">
              <a:lnSpc>
                <a:spcPct val="150000"/>
              </a:lnSpc>
            </a:pPr>
            <a:r>
              <a:rPr lang="en-US" altLang="zh-CN" sz="1800" kern="100" dirty="0">
                <a:effectLst/>
                <a:latin typeface="Times New Roman" panose="02020603050405020304" pitchFamily="18" charset="0"/>
                <a:ea typeface="宋体" panose="02010600030101010101" pitchFamily="2" charset="-122"/>
              </a:rPr>
              <a:t>2</a:t>
            </a:r>
            <a:r>
              <a:rPr lang="zh-CN" altLang="zh-CN" sz="1800" kern="100" dirty="0">
                <a:effectLst/>
                <a:latin typeface="Times New Roman" panose="02020603050405020304" pitchFamily="18" charset="0"/>
                <a:ea typeface="宋体" panose="02010600030101010101" pitchFamily="2" charset="-122"/>
              </a:rPr>
              <a:t>）</a:t>
            </a:r>
            <a:r>
              <a:rPr lang="en-US" altLang="zh-CN" sz="1800" kern="100" dirty="0">
                <a:effectLst/>
                <a:latin typeface="Times New Roman" panose="02020603050405020304" pitchFamily="18" charset="0"/>
                <a:ea typeface="宋体" panose="02010600030101010101" pitchFamily="2" charset="-122"/>
              </a:rPr>
              <a:t>K=5</a:t>
            </a:r>
            <a:r>
              <a:rPr lang="zh-CN" altLang="zh-CN" sz="1800" kern="100" dirty="0">
                <a:effectLst/>
                <a:latin typeface="Times New Roman" panose="02020603050405020304" pitchFamily="18" charset="0"/>
                <a:ea typeface="宋体" panose="02010600030101010101" pitchFamily="2" charset="-122"/>
              </a:rPr>
              <a:t>时，绿色待分类的节点应该属于蓝色正方形类。</a:t>
            </a:r>
            <a:endParaRPr lang="zh-CN" altLang="zh-CN" sz="1800" kern="1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en-US" altLang="zh-CN" spc="-100" dirty="0">
                <a:solidFill>
                  <a:srgbClr val="D2533C"/>
                </a:solidFill>
                <a:latin typeface="Arial" panose="020B0604020202020204"/>
                <a:ea typeface="华文新魏" panose="02010800040101010101" pitchFamily="2" charset="-122"/>
              </a:rPr>
              <a:t>K</a:t>
            </a:r>
            <a:r>
              <a:rPr lang="zh-CN" altLang="en-US" spc="-100" dirty="0">
                <a:solidFill>
                  <a:srgbClr val="D2533C"/>
                </a:solidFill>
                <a:latin typeface="Arial" panose="020B0604020202020204"/>
                <a:ea typeface="华文新魏" panose="02010800040101010101" pitchFamily="2" charset="-122"/>
              </a:rPr>
              <a:t>近邻算法</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marL="0" indent="0">
              <a:buNone/>
            </a:pPr>
            <a:r>
              <a:rPr lang="zh-CN" altLang="en-US" sz="2000" dirty="0">
                <a:solidFill>
                  <a:srgbClr val="000000"/>
                </a:solidFill>
              </a:rPr>
              <a:t>优点：</a:t>
            </a:r>
            <a:endParaRPr lang="zh-CN" altLang="en-US" sz="2000" dirty="0">
              <a:solidFill>
                <a:srgbClr val="000000"/>
              </a:solidFill>
            </a:endParaRPr>
          </a:p>
          <a:p>
            <a:r>
              <a:rPr lang="en-US" altLang="zh-CN" sz="2000" dirty="0">
                <a:solidFill>
                  <a:srgbClr val="000000"/>
                </a:solidFill>
              </a:rPr>
              <a:t>1</a:t>
            </a:r>
            <a:r>
              <a:rPr lang="zh-CN" altLang="en-US" sz="2000" dirty="0">
                <a:solidFill>
                  <a:srgbClr val="000000"/>
                </a:solidFill>
              </a:rPr>
              <a:t>、</a:t>
            </a:r>
            <a:r>
              <a:rPr lang="en-US" altLang="zh-CN" sz="2000" dirty="0">
                <a:solidFill>
                  <a:srgbClr val="000000"/>
                </a:solidFill>
              </a:rPr>
              <a:t>KNN</a:t>
            </a:r>
            <a:r>
              <a:rPr lang="zh-CN" altLang="en-US" sz="2000" dirty="0">
                <a:solidFill>
                  <a:srgbClr val="000000"/>
                </a:solidFill>
              </a:rPr>
              <a:t>可以处理分类问题，同时天然可以处理多分类问题。</a:t>
            </a:r>
            <a:endParaRPr lang="zh-CN" altLang="en-US" sz="2000" dirty="0">
              <a:solidFill>
                <a:srgbClr val="000000"/>
              </a:solidFill>
            </a:endParaRPr>
          </a:p>
          <a:p>
            <a:r>
              <a:rPr lang="en-US" altLang="zh-CN" sz="2000" dirty="0">
                <a:solidFill>
                  <a:srgbClr val="000000"/>
                </a:solidFill>
              </a:rPr>
              <a:t>2</a:t>
            </a:r>
            <a:r>
              <a:rPr lang="zh-CN" altLang="en-US" sz="2000" dirty="0">
                <a:solidFill>
                  <a:srgbClr val="000000"/>
                </a:solidFill>
              </a:rPr>
              <a:t>、和朴素贝叶斯之类的算法比，对数据没有假设，准确度高，对异常点不敏感</a:t>
            </a:r>
            <a:endParaRPr lang="zh-CN" altLang="en-US" sz="2000" dirty="0">
              <a:solidFill>
                <a:srgbClr val="000000"/>
              </a:solidFill>
            </a:endParaRPr>
          </a:p>
          <a:p>
            <a:r>
              <a:rPr lang="en-US" altLang="zh-CN" sz="2000" dirty="0">
                <a:solidFill>
                  <a:srgbClr val="000000"/>
                </a:solidFill>
              </a:rPr>
              <a:t>3</a:t>
            </a:r>
            <a:r>
              <a:rPr lang="zh-CN" altLang="en-US" sz="2000" dirty="0">
                <a:solidFill>
                  <a:srgbClr val="000000"/>
                </a:solidFill>
              </a:rPr>
              <a:t>、既可以处理分类问题，也可以处理回归问题</a:t>
            </a:r>
            <a:endParaRPr lang="zh-CN" altLang="en-US" sz="2000" dirty="0">
              <a:solidFill>
                <a:srgbClr val="000000"/>
              </a:solidFill>
            </a:endParaRPr>
          </a:p>
          <a:p>
            <a:r>
              <a:rPr lang="en-US" altLang="zh-CN" sz="2000" dirty="0">
                <a:solidFill>
                  <a:srgbClr val="000000"/>
                </a:solidFill>
              </a:rPr>
              <a:t>4</a:t>
            </a:r>
            <a:r>
              <a:rPr lang="zh-CN" altLang="en-US" sz="2000" dirty="0">
                <a:solidFill>
                  <a:srgbClr val="000000"/>
                </a:solidFill>
              </a:rPr>
              <a:t>、简单，易于理解，易于实现</a:t>
            </a:r>
            <a:endParaRPr lang="en-US" altLang="zh-CN" sz="2000" dirty="0">
              <a:solidFill>
                <a:srgbClr val="000000"/>
              </a:solidFill>
            </a:endParaRPr>
          </a:p>
          <a:p>
            <a:pPr marL="0" indent="0">
              <a:buNone/>
            </a:pPr>
            <a:r>
              <a:rPr lang="zh-CN" altLang="en-US" sz="2000" dirty="0">
                <a:solidFill>
                  <a:srgbClr val="000000"/>
                </a:solidFill>
              </a:rPr>
              <a:t>缺点：</a:t>
            </a:r>
            <a:endParaRPr lang="zh-CN" altLang="en-US" sz="2000" dirty="0">
              <a:solidFill>
                <a:srgbClr val="000000"/>
              </a:solidFill>
            </a:endParaRPr>
          </a:p>
          <a:p>
            <a:r>
              <a:rPr lang="en-US" altLang="zh-CN" sz="2000" dirty="0">
                <a:solidFill>
                  <a:srgbClr val="000000"/>
                </a:solidFill>
              </a:rPr>
              <a:t>1</a:t>
            </a:r>
            <a:r>
              <a:rPr lang="zh-CN" altLang="en-US" sz="2000" dirty="0">
                <a:solidFill>
                  <a:srgbClr val="000000"/>
                </a:solidFill>
              </a:rPr>
              <a:t>、可解释性差，无法给出决策树那样的规则</a:t>
            </a:r>
            <a:endParaRPr lang="zh-CN" altLang="en-US" sz="2000" dirty="0">
              <a:solidFill>
                <a:srgbClr val="000000"/>
              </a:solidFill>
            </a:endParaRPr>
          </a:p>
          <a:p>
            <a:r>
              <a:rPr lang="en-US" altLang="zh-CN" sz="2000" dirty="0">
                <a:solidFill>
                  <a:srgbClr val="000000"/>
                </a:solidFill>
              </a:rPr>
              <a:t>2</a:t>
            </a:r>
            <a:r>
              <a:rPr lang="zh-CN" altLang="en-US" sz="2000" dirty="0">
                <a:solidFill>
                  <a:srgbClr val="000000"/>
                </a:solidFill>
              </a:rPr>
              <a:t>、对训练数据依赖度特别大，当样本不平衡的时候，对少数类的预测准确率低</a:t>
            </a:r>
            <a:endParaRPr lang="zh-CN" altLang="en-US" sz="2000" dirty="0">
              <a:solidFill>
                <a:srgbClr val="000000"/>
              </a:solidFill>
            </a:endParaRPr>
          </a:p>
          <a:p>
            <a:r>
              <a:rPr lang="en-US" altLang="zh-CN" sz="2000" dirty="0">
                <a:solidFill>
                  <a:srgbClr val="000000"/>
                </a:solidFill>
              </a:rPr>
              <a:t>3</a:t>
            </a:r>
            <a:r>
              <a:rPr lang="zh-CN" altLang="en-US" sz="2000" dirty="0">
                <a:solidFill>
                  <a:srgbClr val="000000"/>
                </a:solidFill>
              </a:rPr>
              <a:t>、计算复杂性高；空间复杂性高，尤其是特征数非常多的时候</a:t>
            </a:r>
            <a:endParaRPr lang="zh-CN" altLang="en-US" sz="2000" dirty="0">
              <a:solidFill>
                <a:srgbClr val="000000"/>
              </a:solidFill>
            </a:endParaRPr>
          </a:p>
          <a:p>
            <a:endParaRPr lang="zh-CN" altLang="en-US" sz="2000" dirty="0">
              <a:solidFill>
                <a:srgbClr val="000000"/>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mc:AlternateContent xmlns:mc="http://schemas.openxmlformats.org/markup-compatibility/2006">
        <mc:Choice xmlns:a14="http://schemas.microsoft.com/office/drawing/2010/main" Requires="a14">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回归分析</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决策树</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集成学习</a:t>
                </a:r>
                <a:endParaRPr kumimoji="0" lang="en-US" altLang="zh-CN" dirty="0">
                  <a:latin typeface="Arial" panose="020B0604020202020204"/>
                  <a:ea typeface="宋体" panose="02010600030101010101" pitchFamily="2" charset="-122"/>
                </a:endParaRPr>
              </a:p>
              <a:p>
                <a:pPr lvl="0" eaLnBrk="1" hangingPunct="1">
                  <a:lnSpc>
                    <a:spcPct val="90000"/>
                  </a:lnSpc>
                  <a:spcBef>
                    <a:spcPct val="40000"/>
                  </a:spcBef>
                  <a:defRPr/>
                </a:pPr>
                <a14:m>
                  <m:oMath xmlns:m="http://schemas.openxmlformats.org/officeDocument/2006/math">
                    <m:r>
                      <a:rPr lang="en-US" altLang="zh-CN" i="1" kern="100">
                        <a:latin typeface="Cambria Math" panose="02040503050406030204" pitchFamily="18" charset="0"/>
                      </a:rPr>
                      <m:t>𝑘</m:t>
                    </m:r>
                  </m:oMath>
                </a14:m>
                <a:r>
                  <a:rPr lang="zh-CN" altLang="zh-CN" kern="100" dirty="0">
                    <a:latin typeface="+mj-ea"/>
                  </a:rPr>
                  <a:t>近邻法</a:t>
                </a:r>
                <a:endParaRPr lang="en-US" altLang="zh-CN" kern="100" dirty="0">
                  <a:latin typeface="+mj-ea"/>
                </a:endParaRPr>
              </a:p>
              <a:p>
                <a:pPr lvl="0" eaLnBrk="1" hangingPunct="1">
                  <a:lnSpc>
                    <a:spcPct val="90000"/>
                  </a:lnSpc>
                  <a:spcBef>
                    <a:spcPct val="40000"/>
                  </a:spcBef>
                  <a:defRPr/>
                </a:pPr>
                <a:r>
                  <a:rPr kumimoji="0" lang="zh-CN" altLang="en-US" kern="100" dirty="0">
                    <a:solidFill>
                      <a:srgbClr val="C00000"/>
                    </a:solidFill>
                    <a:latin typeface="+mj-ea"/>
                    <a:ea typeface="宋体" panose="02010600030101010101" pitchFamily="2" charset="-122"/>
                  </a:rPr>
                  <a:t>支持向量机</a:t>
                </a:r>
                <a:endParaRPr kumimoji="0" lang="en-US" altLang="zh-CN" dirty="0">
                  <a:solidFill>
                    <a:srgbClr val="C00000"/>
                  </a:solidFill>
                  <a:latin typeface="Arial" panose="020B0604020202020204"/>
                  <a:ea typeface="宋体" panose="02010600030101010101" pitchFamily="2" charset="-122"/>
                </a:endParaRPr>
              </a:p>
              <a:p>
                <a:pPr marL="0" marR="0" lvl="0" indent="0" algn="l" defTabSz="914400" rtl="0" eaLnBrk="1" fontAlgn="ctr" latinLnBrk="0" hangingPunct="1">
                  <a:lnSpc>
                    <a:spcPct val="90000"/>
                  </a:lnSpc>
                  <a:spcBef>
                    <a:spcPct val="40000"/>
                  </a:spcBef>
                  <a:spcAft>
                    <a:spcPct val="0"/>
                  </a:spcAft>
                  <a:buClr>
                    <a:srgbClr val="E46B1F"/>
                  </a:buClr>
                  <a:buSzPct val="80000"/>
                  <a:buNone/>
                  <a:defRPr/>
                </a:pP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mc:Choice>
        <mc:Fallback>
          <p:sp>
            <p:nvSpPr>
              <p:cNvPr id="7" name="Rectangle 3"/>
              <p:cNvSpPr txBox="1">
                <a:spLocks noRot="1" noChangeAspect="1" noMove="1" noResize="1" noEditPoints="1" noAdjustHandles="1" noChangeArrowheads="1" noChangeShapeType="1" noTextEdit="1"/>
              </p:cNvSpPr>
              <p:nvPr/>
            </p:nvSpPr>
            <p:spPr bwMode="auto">
              <a:xfrm>
                <a:off x="395536" y="1484784"/>
                <a:ext cx="7416824" cy="4060825"/>
              </a:xfrm>
              <a:prstGeom prst="rect">
                <a:avLst/>
              </a:prstGeom>
              <a:blipFill rotWithShape="1">
                <a:blip r:embed="rId1"/>
                <a:stretch>
                  <a:fillRect l="-8" t="-4" r="8" b="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间隔与超平面</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以一个二元分类问题为例，假设有两类数据，如图需要找出一条边界来将两类数据分隔开来。在当前的数据集的条件下，三种分隔方式都是可行的，该如何做选择？</a:t>
            </a:r>
            <a:endParaRPr lang="zh-CN" altLang="en-US" sz="2000" dirty="0">
              <a:solidFill>
                <a:srgbClr val="000000"/>
              </a:solidFill>
            </a:endParaRPr>
          </a:p>
          <a:p>
            <a:r>
              <a:rPr lang="zh-CN" altLang="en-US" sz="2000" dirty="0">
                <a:solidFill>
                  <a:srgbClr val="000000"/>
                </a:solidFill>
              </a:rPr>
              <a:t>需要选择具有较强分类能力的直线，有较稳定的分类结果和较强的抗噪能力，</a:t>
            </a:r>
            <a:r>
              <a:rPr lang="en-US" altLang="zh-CN" sz="2000" dirty="0">
                <a:solidFill>
                  <a:srgbClr val="000000"/>
                </a:solidFill>
              </a:rPr>
              <a:t>b</a:t>
            </a:r>
            <a:r>
              <a:rPr lang="zh-CN" altLang="en-US" sz="2000" dirty="0">
                <a:solidFill>
                  <a:srgbClr val="000000"/>
                </a:solidFill>
              </a:rPr>
              <a:t>的分隔效果更好。</a:t>
            </a:r>
            <a:endParaRPr lang="zh-CN" altLang="en-US" sz="2000" dirty="0">
              <a:solidFill>
                <a:srgbClr val="000000"/>
              </a:solidFill>
            </a:endParaRPr>
          </a:p>
          <a:p>
            <a:endParaRPr lang="zh-CN" altLang="en-US" sz="2000" dirty="0">
              <a:solidFill>
                <a:srgbClr val="000000"/>
              </a:solidFill>
            </a:endParaRPr>
          </a:p>
          <a:p>
            <a:endParaRPr lang="zh-CN" altLang="en-US" sz="2000" dirty="0">
              <a:solidFill>
                <a:srgbClr val="000000"/>
              </a:solidFill>
            </a:endParaRPr>
          </a:p>
          <a:p>
            <a:endParaRPr lang="zh-CN" altLang="en-US" sz="2000" dirty="0">
              <a:solidFill>
                <a:srgbClr val="000000"/>
              </a:solidFill>
            </a:endParaRPr>
          </a:p>
          <a:p>
            <a:endParaRPr lang="zh-CN" altLang="en-US" sz="2000" dirty="0">
              <a:solidFill>
                <a:srgbClr val="000000"/>
              </a:solidFill>
            </a:endParaRPr>
          </a:p>
          <a:p>
            <a:endParaRPr lang="zh-CN" altLang="zh-CN" sz="2000" dirty="0">
              <a:solidFill>
                <a:srgbClr val="000000"/>
              </a:solidFill>
            </a:endParaRPr>
          </a:p>
        </p:txBody>
      </p:sp>
      <p:pic>
        <p:nvPicPr>
          <p:cNvPr id="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06089" y="3336740"/>
            <a:ext cx="3080116" cy="2233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9" y="3372360"/>
            <a:ext cx="3160539" cy="22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552" y="3281704"/>
            <a:ext cx="3018371" cy="22881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488429" y="1453727"/>
            <a:ext cx="804545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找到</a:t>
            </a:r>
            <a:r>
              <a:rPr lang="zh-CN" altLang="en-US" sz="2000" b="1" dirty="0">
                <a:solidFill>
                  <a:srgbClr val="FF0000"/>
                </a:solidFill>
              </a:rPr>
              <a:t>最优</a:t>
            </a:r>
            <a:r>
              <a:rPr lang="zh-CN" altLang="en-US" sz="2000" dirty="0">
                <a:solidFill>
                  <a:srgbClr val="000000"/>
                </a:solidFill>
              </a:rPr>
              <a:t>分类数据的分界线，对样本数据的分类效果更好的方法就是要</a:t>
            </a:r>
            <a:r>
              <a:rPr lang="zh-CN" altLang="en-US" sz="2000" b="1" dirty="0">
                <a:solidFill>
                  <a:srgbClr val="FF0000"/>
                </a:solidFill>
              </a:rPr>
              <a:t>尽可能地远离两类数据点</a:t>
            </a:r>
            <a:r>
              <a:rPr lang="zh-CN" altLang="en-US" sz="2000" dirty="0">
                <a:solidFill>
                  <a:srgbClr val="000000"/>
                </a:solidFill>
              </a:rPr>
              <a:t>，即数据集的边缘点到分界线的距离</a:t>
            </a:r>
            <a:r>
              <a:rPr lang="en-US" altLang="zh-CN" sz="2000" dirty="0">
                <a:solidFill>
                  <a:srgbClr val="000000"/>
                </a:solidFill>
              </a:rPr>
              <a:t>d</a:t>
            </a:r>
            <a:r>
              <a:rPr lang="zh-CN" altLang="en-US" sz="2000" dirty="0">
                <a:solidFill>
                  <a:srgbClr val="000000"/>
                </a:solidFill>
              </a:rPr>
              <a:t>最大，这里虚线穿过的边缘点称作支持向量，分类间隔为</a:t>
            </a:r>
            <a:r>
              <a:rPr lang="en-US" altLang="zh-CN" sz="2000" dirty="0">
                <a:solidFill>
                  <a:srgbClr val="000000"/>
                </a:solidFill>
              </a:rPr>
              <a:t>2d</a:t>
            </a:r>
            <a:r>
              <a:rPr lang="zh-CN" altLang="en-US" sz="2000" dirty="0">
                <a:solidFill>
                  <a:srgbClr val="000000"/>
                </a:solidFill>
              </a:rPr>
              <a:t>。</a:t>
            </a:r>
            <a:endParaRPr lang="zh-CN" altLang="en-US" sz="2000" dirty="0">
              <a:solidFill>
                <a:srgbClr val="000000"/>
              </a:solidFill>
            </a:endParaRPr>
          </a:p>
        </p:txBody>
      </p:sp>
      <p:pic>
        <p:nvPicPr>
          <p:cNvPr id="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720" y="2519884"/>
            <a:ext cx="5184576" cy="37374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14309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67544" y="938654"/>
                <a:ext cx="8045450" cy="5451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gn="just">
                  <a:spcAft>
                    <a:spcPts val="0"/>
                  </a:spcAft>
                </a:pPr>
                <a:r>
                  <a:rPr lang="zh-CN" altLang="zh-CN" sz="2000" kern="100" dirty="0">
                    <a:latin typeface="+mn-ea"/>
                    <a:ea typeface="+mn-ea"/>
                    <a:cs typeface="Times New Roman" panose="02020603050405020304" pitchFamily="18" charset="0"/>
                  </a:rPr>
                  <a:t>现假设</a:t>
                </a:r>
                <a:r>
                  <a:rPr lang="zh-CN" altLang="zh-CN" sz="2000" i="1" kern="100" dirty="0">
                    <a:latin typeface="+mn-ea"/>
                    <a:ea typeface="+mn-ea"/>
                  </a:rPr>
                  <a:t>b</a:t>
                </a:r>
                <a:r>
                  <a:rPr lang="zh-CN" altLang="zh-CN" sz="2000" kern="100" dirty="0">
                    <a:latin typeface="+mn-ea"/>
                    <a:ea typeface="+mn-ea"/>
                    <a:cs typeface="Times New Roman" panose="02020603050405020304" pitchFamily="18" charset="0"/>
                  </a:rPr>
                  <a:t>为最优分界线，那么此分界线方程为</a:t>
                </a:r>
                <a:r>
                  <a:rPr lang="en-US" altLang="zh-CN" sz="2000" kern="100" dirty="0">
                    <a:latin typeface="+mn-ea"/>
                    <a:ea typeface="+mn-ea"/>
                    <a:cs typeface="Times New Roman" panose="02020603050405020304" pitchFamily="18" charset="0"/>
                  </a:rPr>
                  <a:t>:</a:t>
                </a:r>
                <a:endParaRPr lang="en-US" altLang="zh-CN" sz="2000" kern="100" dirty="0">
                  <a:latin typeface="+mn-ea"/>
                  <a:ea typeface="+mn-ea"/>
                  <a:cs typeface="Times New Roman" panose="02020603050405020304" pitchFamily="18" charset="0"/>
                </a:endParaRPr>
              </a:p>
              <a:p>
                <a:pPr marL="0" indent="0" algn="ctr">
                  <a:spcAft>
                    <a:spcPts val="0"/>
                  </a:spcAft>
                  <a:buNone/>
                </a:pPr>
                <a14:m>
                  <m:oMath xmlns:m="http://schemas.openxmlformats.org/officeDocument/2006/math">
                    <m:sSub>
                      <m:sSubPr>
                        <m:ctrlPr>
                          <a:rPr lang="x-none" altLang="zh-CN" sz="2000" i="1" kern="100">
                            <a:latin typeface="Cambria Math" panose="02040503050406030204" pitchFamily="18" charset="0"/>
                            <a:ea typeface="+mn-ea"/>
                          </a:rPr>
                        </m:ctrlPr>
                      </m:sSubPr>
                      <m:e>
                        <m:r>
                          <a:rPr lang="zh-CN" altLang="en-US" sz="2000" i="1" kern="100">
                            <a:latin typeface="Cambria Math" panose="02040503050406030204" pitchFamily="18" charset="0"/>
                            <a:ea typeface="+mn-ea"/>
                          </a:rPr>
                          <m:t>𝑤</m:t>
                        </m:r>
                      </m:e>
                      <m:sub>
                        <m:r>
                          <a:rPr lang="zh-CN" altLang="zh-CN" sz="2000" i="1" kern="100">
                            <a:latin typeface="Cambria Math" panose="02040503050406030204" pitchFamily="18" charset="0"/>
                            <a:ea typeface="+mn-ea"/>
                          </a:rPr>
                          <m:t>1</m:t>
                        </m:r>
                      </m:sub>
                    </m:sSub>
                    <m:sSub>
                      <m:sSubPr>
                        <m:ctrlPr>
                          <a:rPr lang="x-none" altLang="zh-CN" sz="2000" i="1" kern="100">
                            <a:latin typeface="Cambria Math" panose="02040503050406030204" pitchFamily="18" charset="0"/>
                            <a:ea typeface="+mn-ea"/>
                          </a:rPr>
                        </m:ctrlPr>
                      </m:sSubPr>
                      <m:e>
                        <m:r>
                          <a:rPr lang="zh-CN" altLang="en-US" sz="2000" i="1" kern="100">
                            <a:latin typeface="Cambria Math" panose="02040503050406030204" pitchFamily="18" charset="0"/>
                            <a:ea typeface="+mn-ea"/>
                          </a:rPr>
                          <m:t>𝑥</m:t>
                        </m:r>
                      </m:e>
                      <m:sub>
                        <m:r>
                          <a:rPr lang="zh-CN" altLang="zh-CN" sz="2000" i="1" kern="100">
                            <a:latin typeface="Cambria Math" panose="02040503050406030204" pitchFamily="18" charset="0"/>
                            <a:ea typeface="+mn-ea"/>
                          </a:rPr>
                          <m:t>1</m:t>
                        </m:r>
                      </m:sub>
                    </m:sSub>
                    <m:r>
                      <a:rPr lang="zh-CN" altLang="zh-CN" sz="2000" i="1" kern="100">
                        <a:latin typeface="Cambria Math" panose="02040503050406030204" pitchFamily="18" charset="0"/>
                        <a:ea typeface="+mn-ea"/>
                      </a:rPr>
                      <m:t>+</m:t>
                    </m:r>
                    <m:sSub>
                      <m:sSubPr>
                        <m:ctrlPr>
                          <a:rPr lang="x-none" altLang="zh-CN" sz="2000" i="1" kern="100">
                            <a:latin typeface="Cambria Math" panose="02040503050406030204" pitchFamily="18" charset="0"/>
                            <a:ea typeface="+mn-ea"/>
                          </a:rPr>
                        </m:ctrlPr>
                      </m:sSubPr>
                      <m:e>
                        <m:r>
                          <a:rPr lang="zh-CN" altLang="en-US" sz="2000" i="1" kern="100">
                            <a:latin typeface="Cambria Math" panose="02040503050406030204" pitchFamily="18" charset="0"/>
                            <a:ea typeface="+mn-ea"/>
                          </a:rPr>
                          <m:t>𝑤</m:t>
                        </m:r>
                      </m:e>
                      <m:sub>
                        <m:r>
                          <a:rPr lang="zh-CN" altLang="zh-CN" sz="2000" i="1" kern="100">
                            <a:latin typeface="Cambria Math" panose="02040503050406030204" pitchFamily="18" charset="0"/>
                            <a:ea typeface="+mn-ea"/>
                          </a:rPr>
                          <m:t>2</m:t>
                        </m:r>
                      </m:sub>
                    </m:sSub>
                    <m:sSub>
                      <m:sSubPr>
                        <m:ctrlPr>
                          <a:rPr lang="x-none" altLang="zh-CN" sz="2000" i="1" kern="100">
                            <a:latin typeface="Cambria Math" panose="02040503050406030204" pitchFamily="18" charset="0"/>
                            <a:ea typeface="+mn-ea"/>
                          </a:rPr>
                        </m:ctrlPr>
                      </m:sSubPr>
                      <m:e>
                        <m:r>
                          <a:rPr lang="zh-CN" altLang="en-US" sz="2000" i="1" kern="100">
                            <a:latin typeface="Cambria Math" panose="02040503050406030204" pitchFamily="18" charset="0"/>
                            <a:ea typeface="+mn-ea"/>
                          </a:rPr>
                          <m:t>𝑥</m:t>
                        </m:r>
                      </m:e>
                      <m:sub>
                        <m:r>
                          <a:rPr lang="zh-CN" altLang="zh-CN" sz="2000" i="1" kern="100">
                            <a:latin typeface="Cambria Math" panose="02040503050406030204" pitchFamily="18" charset="0"/>
                            <a:ea typeface="+mn-ea"/>
                          </a:rPr>
                          <m:t>2</m:t>
                        </m:r>
                      </m:sub>
                    </m:sSub>
                    <m:r>
                      <a:rPr lang="zh-CN" altLang="zh-CN" sz="2000" i="1" kern="100">
                        <a:latin typeface="Cambria Math" panose="02040503050406030204" pitchFamily="18" charset="0"/>
                        <a:ea typeface="+mn-ea"/>
                      </a:rPr>
                      <m:t>+</m:t>
                    </m:r>
                    <m:r>
                      <a:rPr lang="zh-CN" altLang="en-US" sz="2000" i="1" kern="100">
                        <a:latin typeface="Cambria Math" panose="02040503050406030204" pitchFamily="18" charset="0"/>
                        <a:ea typeface="+mn-ea"/>
                      </a:rPr>
                      <m:t>𝛽</m:t>
                    </m:r>
                    <m:r>
                      <a:rPr lang="zh-CN" altLang="zh-CN" sz="2000" i="1" kern="100">
                        <a:latin typeface="Cambria Math" panose="02040503050406030204" pitchFamily="18" charset="0"/>
                        <a:ea typeface="+mn-ea"/>
                      </a:rPr>
                      <m:t>=</m:t>
                    </m:r>
                    <m:r>
                      <a:rPr lang="zh-CN" altLang="zh-CN" sz="2000" i="1" kern="100">
                        <a:latin typeface="Cambria Math" panose="02040503050406030204" pitchFamily="18" charset="0"/>
                        <a:ea typeface="+mn-ea"/>
                      </a:rPr>
                      <m:t>0</m:t>
                    </m:r>
                  </m:oMath>
                </a14:m>
                <a:r>
                  <a:rPr lang="zh-CN" altLang="zh-CN" sz="2000" kern="100" dirty="0">
                    <a:latin typeface="+mn-ea"/>
                    <a:ea typeface="+mn-ea"/>
                  </a:rPr>
                  <a:t> </a:t>
                </a:r>
                <a:r>
                  <a:rPr lang="zh-CN" altLang="zh-CN" sz="2000" kern="100" dirty="0">
                    <a:latin typeface="+mn-ea"/>
                    <a:ea typeface="+mn-ea"/>
                    <a:cs typeface="Times New Roman" panose="02020603050405020304" pitchFamily="18" charset="0"/>
                  </a:rPr>
                  <a:t>（</a:t>
                </a:r>
                <a:r>
                  <a:rPr lang="zh-CN" altLang="zh-CN" sz="2000" kern="100" dirty="0">
                    <a:latin typeface="+mn-ea"/>
                    <a:ea typeface="+mn-ea"/>
                  </a:rPr>
                  <a:t>1</a:t>
                </a:r>
                <a:r>
                  <a:rPr lang="zh-CN" altLang="zh-CN" sz="2000" kern="100" dirty="0">
                    <a:latin typeface="+mn-ea"/>
                    <a:ea typeface="+mn-ea"/>
                    <a:cs typeface="Times New Roman" panose="02020603050405020304" pitchFamily="18" charset="0"/>
                  </a:rPr>
                  <a:t>）</a:t>
                </a:r>
                <a:endParaRPr lang="en-US" altLang="zh-CN" sz="2000" kern="100" dirty="0">
                  <a:latin typeface="+mn-ea"/>
                  <a:ea typeface="+mn-ea"/>
                </a:endParaRPr>
              </a:p>
              <a:p>
                <a:pPr algn="just">
                  <a:spcAft>
                    <a:spcPts val="0"/>
                  </a:spcAft>
                </a:pPr>
                <a:r>
                  <a:rPr lang="zh-CN" altLang="zh-CN" sz="2000" kern="100" dirty="0">
                    <a:latin typeface="+mn-ea"/>
                    <a:ea typeface="+mn-ea"/>
                    <a:cs typeface="Times New Roman" panose="02020603050405020304" pitchFamily="18" charset="0"/>
                  </a:rPr>
                  <a:t>转化成向量形式：</a:t>
                </a:r>
                <a:endParaRPr lang="en-US" altLang="zh-CN" sz="2000" kern="100" dirty="0">
                  <a:latin typeface="+mn-ea"/>
                  <a:ea typeface="+mn-ea"/>
                  <a:cs typeface="Times New Roman" panose="02020603050405020304" pitchFamily="18" charset="0"/>
                </a:endParaRPr>
              </a:p>
              <a:p>
                <a:pPr marL="0" indent="0" algn="ctr">
                  <a:spcAft>
                    <a:spcPts val="0"/>
                  </a:spcAft>
                  <a:buNone/>
                </a:pPr>
                <a14:m>
                  <m:oMath xmlns:m="http://schemas.openxmlformats.org/officeDocument/2006/math">
                    <m:d>
                      <m:dPr>
                        <m:begChr m:val="["/>
                        <m:endChr m:val="]"/>
                        <m:ctrlPr>
                          <a:rPr lang="x-none" altLang="zh-CN" sz="2000" i="1" kern="100">
                            <a:latin typeface="Cambria Math" panose="02040503050406030204" pitchFamily="18" charset="0"/>
                          </a:rPr>
                        </m:ctrlPr>
                      </m:dPr>
                      <m:e>
                        <m:sSub>
                          <m:sSubPr>
                            <m:ctrlPr>
                              <a:rPr lang="x-none" altLang="zh-CN" sz="2000" i="1" kern="100">
                                <a:latin typeface="Cambria Math" panose="02040503050406030204" pitchFamily="18" charset="0"/>
                              </a:rPr>
                            </m:ctrlPr>
                          </m:sSubPr>
                          <m:e>
                            <m:r>
                              <a:rPr lang="zh-CN" altLang="en-US" sz="2000" i="1" kern="100">
                                <a:latin typeface="Cambria Math" panose="02040503050406030204" pitchFamily="18" charset="0"/>
                              </a:rPr>
                              <m:t>𝑤</m:t>
                            </m:r>
                          </m:e>
                          <m:sub>
                            <m:r>
                              <a:rPr lang="zh-CN" altLang="zh-CN" sz="2000" i="1" kern="100">
                                <a:latin typeface="Cambria Math" panose="02040503050406030204" pitchFamily="18" charset="0"/>
                              </a:rPr>
                              <m:t>1</m:t>
                            </m:r>
                          </m:sub>
                        </m:sSub>
                        <m:r>
                          <a:rPr lang="zh-CN" altLang="zh-CN" sz="2000" i="1" kern="100">
                            <a:latin typeface="Cambria Math" panose="02040503050406030204" pitchFamily="18" charset="0"/>
                            <a:cs typeface="Times New Roman" panose="02020603050405020304" pitchFamily="18" charset="0"/>
                          </a:rPr>
                          <m:t>，</m:t>
                        </m:r>
                        <m:sSub>
                          <m:sSubPr>
                            <m:ctrlPr>
                              <a:rPr lang="x-none" altLang="zh-CN" sz="2000" i="1" kern="100">
                                <a:latin typeface="Cambria Math" panose="02040503050406030204" pitchFamily="18" charset="0"/>
                              </a:rPr>
                            </m:ctrlPr>
                          </m:sSubPr>
                          <m:e>
                            <m:r>
                              <a:rPr lang="zh-CN" altLang="en-US" sz="2000" i="1" kern="100">
                                <a:latin typeface="Cambria Math" panose="02040503050406030204" pitchFamily="18" charset="0"/>
                              </a:rPr>
                              <m:t>𝑤</m:t>
                            </m:r>
                          </m:e>
                          <m:sub>
                            <m:r>
                              <a:rPr lang="zh-CN" altLang="zh-CN" sz="2000" i="1" kern="100">
                                <a:latin typeface="Cambria Math" panose="02040503050406030204" pitchFamily="18" charset="0"/>
                              </a:rPr>
                              <m:t>2</m:t>
                            </m:r>
                          </m:sub>
                        </m:sSub>
                      </m:e>
                    </m:d>
                    <m:d>
                      <m:dPr>
                        <m:begChr m:val="["/>
                        <m:endChr m:val="]"/>
                        <m:ctrlPr>
                          <a:rPr lang="x-none" altLang="zh-CN" sz="2000" i="1" kern="100">
                            <a:latin typeface="Cambria Math" panose="02040503050406030204" pitchFamily="18" charset="0"/>
                          </a:rPr>
                        </m:ctrlPr>
                      </m:dPr>
                      <m:e>
                        <m:eqArr>
                          <m:eqArrPr>
                            <m:ctrlPr>
                              <a:rPr lang="x-none" altLang="zh-CN" sz="2000" i="1" kern="100">
                                <a:latin typeface="Cambria Math" panose="02040503050406030204" pitchFamily="18" charset="0"/>
                              </a:rPr>
                            </m:ctrlPr>
                          </m:eqArrPr>
                          <m:e>
                            <m:r>
                              <a:rPr lang="zh-CN" altLang="zh-CN" sz="2000" i="1" kern="100">
                                <a:latin typeface="Cambria Math" panose="02040503050406030204" pitchFamily="18" charset="0"/>
                              </a:rPr>
                              <m:t>&amp;</m:t>
                            </m:r>
                            <m:sSub>
                              <m:sSubPr>
                                <m:ctrlPr>
                                  <a:rPr lang="x-none" altLang="zh-CN" sz="2000" i="1" kern="100">
                                    <a:latin typeface="Cambria Math" panose="02040503050406030204" pitchFamily="18" charset="0"/>
                                  </a:rPr>
                                </m:ctrlPr>
                              </m:sSubPr>
                              <m:e>
                                <m:r>
                                  <a:rPr lang="zh-CN" altLang="en-US" sz="2000" i="1" kern="100">
                                    <a:latin typeface="Cambria Math" panose="02040503050406030204" pitchFamily="18" charset="0"/>
                                  </a:rPr>
                                  <m:t>𝑥</m:t>
                                </m:r>
                              </m:e>
                              <m:sub>
                                <m:r>
                                  <a:rPr lang="zh-CN" altLang="zh-CN" sz="2000" i="1" kern="100">
                                    <a:latin typeface="Cambria Math" panose="02040503050406030204" pitchFamily="18" charset="0"/>
                                  </a:rPr>
                                  <m:t>1</m:t>
                                </m:r>
                              </m:sub>
                            </m:sSub>
                          </m:e>
                          <m:e>
                            <m:r>
                              <a:rPr lang="zh-CN" altLang="zh-CN" sz="2000" i="1" kern="100">
                                <a:latin typeface="Cambria Math" panose="02040503050406030204" pitchFamily="18" charset="0"/>
                              </a:rPr>
                              <m:t>&amp;</m:t>
                            </m:r>
                            <m:sSub>
                              <m:sSubPr>
                                <m:ctrlPr>
                                  <a:rPr lang="x-none" altLang="zh-CN" sz="2000" i="1" kern="100">
                                    <a:latin typeface="Cambria Math" panose="02040503050406030204" pitchFamily="18" charset="0"/>
                                  </a:rPr>
                                </m:ctrlPr>
                              </m:sSubPr>
                              <m:e>
                                <m:r>
                                  <a:rPr lang="zh-CN" altLang="en-US" sz="2000" i="1" kern="100">
                                    <a:latin typeface="Cambria Math" panose="02040503050406030204" pitchFamily="18" charset="0"/>
                                  </a:rPr>
                                  <m:t>𝑥</m:t>
                                </m:r>
                              </m:e>
                              <m:sub>
                                <m:r>
                                  <a:rPr lang="zh-CN" altLang="zh-CN" sz="2000" i="1" kern="100">
                                    <a:latin typeface="Cambria Math" panose="02040503050406030204" pitchFamily="18" charset="0"/>
                                  </a:rPr>
                                  <m:t>2</m:t>
                                </m:r>
                              </m:sub>
                            </m:sSub>
                          </m:e>
                        </m:eqArr>
                      </m:e>
                    </m:d>
                    <m:r>
                      <a:rPr lang="zh-CN" altLang="zh-CN" sz="2000" i="1" kern="100">
                        <a:latin typeface="Cambria Math" panose="02040503050406030204" pitchFamily="18" charset="0"/>
                      </a:rPr>
                      <m:t>+</m:t>
                    </m:r>
                    <m:r>
                      <a:rPr lang="zh-CN" altLang="en-US" sz="2000" i="1" kern="100">
                        <a:latin typeface="Cambria Math" panose="02040503050406030204" pitchFamily="18" charset="0"/>
                      </a:rPr>
                      <m:t>𝛽</m:t>
                    </m:r>
                    <m:r>
                      <a:rPr lang="zh-CN" altLang="zh-CN" sz="2000" i="1" kern="100">
                        <a:latin typeface="Cambria Math" panose="02040503050406030204" pitchFamily="18" charset="0"/>
                      </a:rPr>
                      <m:t>=</m:t>
                    </m:r>
                    <m:r>
                      <a:rPr lang="zh-CN" altLang="zh-CN" sz="2000" i="1" kern="100">
                        <a:latin typeface="Cambria Math" panose="02040503050406030204" pitchFamily="18" charset="0"/>
                      </a:rPr>
                      <m:t>0</m:t>
                    </m:r>
                  </m:oMath>
                </a14:m>
                <a:r>
                  <a:rPr lang="zh-CN" altLang="zh-CN" sz="2000" kern="100" dirty="0">
                    <a:latin typeface="+mn-ea"/>
                  </a:rPr>
                  <a:t>  </a:t>
                </a:r>
                <a:r>
                  <a:rPr lang="zh-CN" altLang="zh-CN" sz="2000" kern="100" dirty="0">
                    <a:latin typeface="+mn-ea"/>
                    <a:cs typeface="Times New Roman" panose="02020603050405020304" pitchFamily="18" charset="0"/>
                  </a:rPr>
                  <a:t>（</a:t>
                </a:r>
                <a:r>
                  <a:rPr lang="en-US" altLang="zh-CN" sz="2000" kern="100" dirty="0">
                    <a:latin typeface="+mn-ea"/>
                  </a:rPr>
                  <a:t>2</a:t>
                </a:r>
                <a:r>
                  <a:rPr lang="zh-CN" altLang="zh-CN" sz="2000" kern="100" dirty="0">
                    <a:latin typeface="+mn-ea"/>
                    <a:cs typeface="Times New Roman" panose="02020603050405020304" pitchFamily="18" charset="0"/>
                  </a:rPr>
                  <a:t>）</a:t>
                </a:r>
                <a:endParaRPr lang="en-US" altLang="zh-CN" sz="2000" kern="100" dirty="0">
                  <a:latin typeface="+mn-ea"/>
                  <a:ea typeface="+mn-ea"/>
                  <a:cs typeface="Times New Roman" panose="02020603050405020304" pitchFamily="18" charset="0"/>
                </a:endParaRPr>
              </a:p>
              <a:p>
                <a:pPr algn="just">
                  <a:spcAft>
                    <a:spcPts val="0"/>
                  </a:spcAft>
                </a:pPr>
                <a:r>
                  <a:rPr lang="zh-CN" altLang="zh-CN" sz="2000" kern="100" dirty="0">
                    <a:latin typeface="+mn-ea"/>
                    <a:cs typeface="Times New Roman" panose="02020603050405020304" pitchFamily="18" charset="0"/>
                  </a:rPr>
                  <a:t>式（</a:t>
                </a:r>
                <a:r>
                  <a:rPr lang="zh-CN" altLang="zh-CN" sz="2000" kern="100" dirty="0">
                    <a:latin typeface="+mn-ea"/>
                  </a:rPr>
                  <a:t>2</a:t>
                </a:r>
                <a:r>
                  <a:rPr lang="zh-CN" altLang="zh-CN" sz="2000" kern="100" dirty="0">
                    <a:latin typeface="+mn-ea"/>
                    <a:cs typeface="Times New Roman" panose="02020603050405020304" pitchFamily="18" charset="0"/>
                  </a:rPr>
                  <a:t>）是在二维形式上的表示，如果扩展到</a:t>
                </a:r>
                <a:r>
                  <a:rPr lang="zh-CN" altLang="zh-CN" sz="2000" i="1" kern="100" dirty="0">
                    <a:latin typeface="+mn-ea"/>
                  </a:rPr>
                  <a:t>n</a:t>
                </a:r>
                <a:r>
                  <a:rPr lang="zh-CN" altLang="zh-CN" sz="2000" kern="100" dirty="0">
                    <a:latin typeface="+mn-ea"/>
                    <a:cs typeface="Times New Roman" panose="02020603050405020304" pitchFamily="18" charset="0"/>
                  </a:rPr>
                  <a:t>维，将变成：</a:t>
                </a:r>
                <a:endParaRPr lang="en-US" altLang="zh-CN" sz="2000" kern="100" dirty="0">
                  <a:latin typeface="+mn-ea"/>
                  <a:cs typeface="Times New Roman" panose="02020603050405020304" pitchFamily="18" charset="0"/>
                </a:endParaRPr>
              </a:p>
              <a:p>
                <a:pPr marL="0" indent="0" algn="ctr">
                  <a:spcAft>
                    <a:spcPts val="0"/>
                  </a:spcAft>
                  <a:buNone/>
                </a:pPr>
                <a14:m>
                  <m:oMath xmlns:m="http://schemas.openxmlformats.org/officeDocument/2006/math">
                    <m:d>
                      <m:dPr>
                        <m:begChr m:val="["/>
                        <m:endChr m:val="]"/>
                        <m:ctrlPr>
                          <a:rPr lang="x-none" altLang="zh-CN" sz="1800" i="1" kern="100">
                            <a:latin typeface="Cambria Math" panose="02040503050406030204" pitchFamily="18" charset="0"/>
                          </a:rPr>
                        </m:ctrlPr>
                      </m:dPr>
                      <m:e>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𝑤</m:t>
                            </m:r>
                          </m:e>
                          <m:sub>
                            <m:r>
                              <a:rPr lang="zh-CN" altLang="zh-CN" sz="1800" i="1" kern="100">
                                <a:latin typeface="Cambria Math" panose="02040503050406030204" pitchFamily="18" charset="0"/>
                              </a:rPr>
                              <m:t>1</m:t>
                            </m:r>
                          </m:sub>
                        </m:sSub>
                        <m:r>
                          <a:rPr lang="zh-CN" altLang="zh-CN" sz="1800" i="1" kern="100">
                            <a:latin typeface="Cambria Math" panose="02040503050406030204" pitchFamily="18" charset="0"/>
                          </a:rPr>
                          <m:t>,</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𝑤</m:t>
                            </m:r>
                          </m:e>
                          <m:sub>
                            <m:r>
                              <a:rPr lang="zh-CN" altLang="zh-CN" sz="1800" i="1" kern="100">
                                <a:latin typeface="Cambria Math" panose="02040503050406030204" pitchFamily="18" charset="0"/>
                              </a:rPr>
                              <m:t>2</m:t>
                            </m:r>
                          </m:sub>
                        </m:sSub>
                        <m:r>
                          <a:rPr lang="zh-CN" altLang="zh-CN" sz="1800" i="1" kern="100">
                            <a:latin typeface="Cambria Math" panose="02040503050406030204" pitchFamily="18" charset="0"/>
                          </a:rPr>
                          <m:t>,</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𝑤</m:t>
                            </m:r>
                          </m:e>
                          <m:sub>
                            <m:r>
                              <a:rPr lang="zh-CN" altLang="zh-CN" sz="1800" i="1" kern="100">
                                <a:latin typeface="Cambria Math" panose="02040503050406030204" pitchFamily="18" charset="0"/>
                              </a:rPr>
                              <m:t>3</m:t>
                            </m:r>
                          </m:sub>
                        </m:sSub>
                        <m:r>
                          <a:rPr lang="zh-CN" altLang="zh-CN" sz="1800" i="1" kern="100">
                            <a:latin typeface="Cambria Math" panose="02040503050406030204" pitchFamily="18" charset="0"/>
                          </a:rPr>
                          <m:t>,</m:t>
                        </m:r>
                        <m:r>
                          <a:rPr lang="zh-CN" altLang="zh-CN" sz="1800" i="1" kern="100">
                            <a:latin typeface="Cambria Math" panose="02040503050406030204" pitchFamily="18" charset="0"/>
                            <a:cs typeface="MS Gothic" panose="020B0609070205080204" pitchFamily="49" charset="-128"/>
                          </a:rPr>
                          <m:t>⋯</m:t>
                        </m:r>
                        <m:r>
                          <a:rPr lang="zh-CN" altLang="zh-CN" sz="1800" i="1" kern="100">
                            <a:latin typeface="Cambria Math" panose="02040503050406030204" pitchFamily="18" charset="0"/>
                          </a:rPr>
                          <m:t>,</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𝑤</m:t>
                            </m:r>
                          </m:e>
                          <m:sub>
                            <m:r>
                              <a:rPr lang="zh-CN" altLang="en-US" sz="1800" i="1" kern="100">
                                <a:latin typeface="Cambria Math" panose="02040503050406030204" pitchFamily="18" charset="0"/>
                              </a:rPr>
                              <m:t>𝑛</m:t>
                            </m:r>
                          </m:sub>
                        </m:sSub>
                      </m:e>
                    </m:d>
                    <m:d>
                      <m:dPr>
                        <m:begChr m:val="["/>
                        <m:endChr m:val="]"/>
                        <m:ctrlPr>
                          <a:rPr lang="x-none" altLang="zh-CN" sz="1800" i="1" kern="100">
                            <a:latin typeface="Cambria Math" panose="02040503050406030204" pitchFamily="18" charset="0"/>
                          </a:rPr>
                        </m:ctrlPr>
                      </m:dPr>
                      <m:e>
                        <m:eqArr>
                          <m:eqArrPr>
                            <m:ctrlPr>
                              <a:rPr lang="x-none" altLang="zh-CN" sz="1800" i="1" kern="100">
                                <a:latin typeface="Cambria Math" panose="02040503050406030204" pitchFamily="18" charset="0"/>
                              </a:rPr>
                            </m:ctrlPr>
                          </m:eqArrPr>
                          <m:e>
                            <m:r>
                              <a:rPr lang="zh-CN" altLang="zh-CN" sz="1800" i="1" kern="100">
                                <a:latin typeface="Cambria Math" panose="02040503050406030204" pitchFamily="18" charset="0"/>
                              </a:rPr>
                              <m:t>&amp;</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𝑥</m:t>
                                </m:r>
                              </m:e>
                              <m:sub>
                                <m:r>
                                  <a:rPr lang="zh-CN" altLang="zh-CN" sz="1800" i="1" kern="100">
                                    <a:latin typeface="Cambria Math" panose="02040503050406030204" pitchFamily="18" charset="0"/>
                                  </a:rPr>
                                  <m:t>1</m:t>
                                </m:r>
                              </m:sub>
                            </m:sSub>
                          </m:e>
                          <m:e>
                            <m:r>
                              <a:rPr lang="zh-CN" altLang="zh-CN" sz="1800" i="1" kern="100">
                                <a:latin typeface="Cambria Math" panose="02040503050406030204" pitchFamily="18" charset="0"/>
                              </a:rPr>
                              <m:t>&amp;</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𝑥</m:t>
                                </m:r>
                              </m:e>
                              <m:sub>
                                <m:r>
                                  <a:rPr lang="zh-CN" altLang="zh-CN" sz="1800" i="1" kern="100">
                                    <a:latin typeface="Cambria Math" panose="02040503050406030204" pitchFamily="18" charset="0"/>
                                  </a:rPr>
                                  <m:t>2</m:t>
                                </m:r>
                              </m:sub>
                            </m:sSub>
                          </m:e>
                          <m:e>
                            <m:r>
                              <a:rPr lang="zh-CN" altLang="zh-CN" sz="1800" i="1" kern="100">
                                <a:latin typeface="Cambria Math" panose="02040503050406030204" pitchFamily="18" charset="0"/>
                              </a:rPr>
                              <m:t>&amp;</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𝑥</m:t>
                                </m:r>
                              </m:e>
                              <m:sub>
                                <m:r>
                                  <a:rPr lang="zh-CN" altLang="zh-CN" sz="1800" i="1" kern="100">
                                    <a:latin typeface="Cambria Math" panose="02040503050406030204" pitchFamily="18" charset="0"/>
                                  </a:rPr>
                                  <m:t>3</m:t>
                                </m:r>
                              </m:sub>
                            </m:sSub>
                          </m:e>
                          <m:e>
                            <m:r>
                              <a:rPr lang="zh-CN" altLang="zh-CN" sz="1800" i="1" kern="100">
                                <a:latin typeface="Cambria Math" panose="02040503050406030204" pitchFamily="18" charset="0"/>
                              </a:rPr>
                              <m:t>&amp; </m:t>
                            </m:r>
                            <m:r>
                              <a:rPr lang="zh-CN" altLang="zh-CN" sz="1800" i="1" kern="100">
                                <a:latin typeface="Cambria Math" panose="02040503050406030204" pitchFamily="18" charset="0"/>
                                <a:cs typeface="MS Gothic" panose="020B0609070205080204" pitchFamily="49" charset="-128"/>
                              </a:rPr>
                              <m:t>⋮</m:t>
                            </m:r>
                          </m:e>
                          <m:e>
                            <m:r>
                              <a:rPr lang="zh-CN" altLang="zh-CN" sz="1800" i="1" kern="100">
                                <a:latin typeface="Cambria Math" panose="02040503050406030204" pitchFamily="18" charset="0"/>
                              </a:rPr>
                              <m:t>&amp;</m:t>
                            </m:r>
                            <m:sSub>
                              <m:sSubPr>
                                <m:ctrlPr>
                                  <a:rPr lang="x-none" altLang="zh-CN" sz="1800" i="1" kern="100">
                                    <a:latin typeface="Cambria Math" panose="02040503050406030204" pitchFamily="18" charset="0"/>
                                  </a:rPr>
                                </m:ctrlPr>
                              </m:sSubPr>
                              <m:e>
                                <m:r>
                                  <a:rPr lang="zh-CN" altLang="en-US" sz="1800" i="1" kern="100">
                                    <a:latin typeface="Cambria Math" panose="02040503050406030204" pitchFamily="18" charset="0"/>
                                  </a:rPr>
                                  <m:t>𝑥</m:t>
                                </m:r>
                              </m:e>
                              <m:sub>
                                <m:r>
                                  <a:rPr lang="zh-CN" altLang="en-US" sz="1800" i="1" kern="100">
                                    <a:latin typeface="Cambria Math" panose="02040503050406030204" pitchFamily="18" charset="0"/>
                                  </a:rPr>
                                  <m:t>𝑛</m:t>
                                </m:r>
                              </m:sub>
                            </m:sSub>
                          </m:e>
                        </m:eqArr>
                      </m:e>
                    </m:d>
                    <m:r>
                      <a:rPr lang="zh-CN" altLang="zh-CN" sz="1800" i="1" kern="100">
                        <a:latin typeface="Cambria Math" panose="02040503050406030204" pitchFamily="18" charset="0"/>
                      </a:rPr>
                      <m:t>+</m:t>
                    </m:r>
                    <m:r>
                      <a:rPr lang="zh-CN" altLang="en-US" sz="1800" i="1" kern="100">
                        <a:latin typeface="Cambria Math" panose="02040503050406030204" pitchFamily="18" charset="0"/>
                      </a:rPr>
                      <m:t>𝛽</m:t>
                    </m:r>
                    <m:r>
                      <a:rPr lang="zh-CN" altLang="zh-CN" sz="1800" i="1" kern="100">
                        <a:latin typeface="Cambria Math" panose="02040503050406030204" pitchFamily="18" charset="0"/>
                      </a:rPr>
                      <m:t>=</m:t>
                    </m:r>
                    <m:r>
                      <a:rPr lang="zh-CN" altLang="zh-CN" sz="1800" i="1" kern="100">
                        <a:latin typeface="Cambria Math" panose="02040503050406030204" pitchFamily="18" charset="0"/>
                      </a:rPr>
                      <m:t>0</m:t>
                    </m:r>
                  </m:oMath>
                </a14:m>
                <a:r>
                  <a:rPr lang="zh-CN" altLang="zh-CN" sz="1800" kern="100" dirty="0">
                    <a:latin typeface="+mn-ea"/>
                  </a:rPr>
                  <a:t>    </a:t>
                </a:r>
                <a:r>
                  <a:rPr lang="zh-CN" altLang="zh-CN" sz="2000" kern="100" dirty="0">
                    <a:latin typeface="+mn-ea"/>
                    <a:cs typeface="Times New Roman" panose="02020603050405020304" pitchFamily="18" charset="0"/>
                  </a:rPr>
                  <a:t>（</a:t>
                </a:r>
                <a:r>
                  <a:rPr lang="zh-CN" altLang="zh-CN" sz="1800" kern="100" dirty="0">
                    <a:latin typeface="+mn-ea"/>
                  </a:rPr>
                  <a:t>3</a:t>
                </a:r>
                <a:r>
                  <a:rPr lang="zh-CN" altLang="zh-CN" sz="1800" kern="100" dirty="0">
                    <a:latin typeface="+mn-ea"/>
                    <a:cs typeface="Times New Roman" panose="02020603050405020304" pitchFamily="18" charset="0"/>
                  </a:rPr>
                  <a:t>）</a:t>
                </a:r>
                <a:endParaRPr lang="en-US" altLang="zh-CN" sz="1600" kern="100" dirty="0">
                  <a:latin typeface="+mn-ea"/>
                  <a:cs typeface="Times New Roman" panose="02020603050405020304" pitchFamily="18" charset="0"/>
                </a:endParaRPr>
              </a:p>
              <a:p>
                <a:pPr algn="just">
                  <a:spcAft>
                    <a:spcPts val="0"/>
                  </a:spcAft>
                </a:pPr>
                <a:r>
                  <a:rPr lang="zh-CN" altLang="zh-CN" sz="2000" kern="100" dirty="0">
                    <a:latin typeface="+mn-ea"/>
                    <a:cs typeface="Times New Roman" panose="02020603050405020304" pitchFamily="18" charset="0"/>
                  </a:rPr>
                  <a:t>如果</a:t>
                </a:r>
                <a14:m>
                  <m:oMath xmlns:m="http://schemas.openxmlformats.org/officeDocument/2006/math">
                    <m:r>
                      <a:rPr lang="zh-CN" altLang="en-US" sz="2000" i="1" kern="100">
                        <a:latin typeface="Cambria Math" panose="02040503050406030204" pitchFamily="18" charset="0"/>
                      </a:rPr>
                      <m:t>𝑛</m:t>
                    </m:r>
                  </m:oMath>
                </a14:m>
                <a:r>
                  <a:rPr lang="zh-CN" altLang="zh-CN" sz="2000" kern="100" dirty="0">
                    <a:latin typeface="+mn-ea"/>
                    <a:cs typeface="Times New Roman" panose="02020603050405020304" pitchFamily="18" charset="0"/>
                  </a:rPr>
                  <a:t>为</a:t>
                </a:r>
                <a:r>
                  <a:rPr lang="zh-CN" altLang="zh-CN" sz="2000" kern="100" dirty="0">
                    <a:latin typeface="+mn-ea"/>
                  </a:rPr>
                  <a:t>3</a:t>
                </a:r>
                <a:r>
                  <a:rPr lang="zh-CN" altLang="zh-CN" sz="2000" kern="100" dirty="0">
                    <a:latin typeface="+mn-ea"/>
                    <a:cs typeface="Times New Roman" panose="02020603050405020304" pitchFamily="18" charset="0"/>
                  </a:rPr>
                  <a:t>，则分界线变成平面</a:t>
                </a:r>
                <a:r>
                  <a:rPr lang="zh-CN" altLang="en-US" sz="2000" kern="100" dirty="0">
                    <a:latin typeface="+mn-ea"/>
                    <a:cs typeface="Times New Roman" panose="02020603050405020304" pitchFamily="18" charset="0"/>
                  </a:rPr>
                  <a:t>。</a:t>
                </a:r>
                <a:r>
                  <a:rPr lang="zh-CN" altLang="zh-CN" sz="2000" kern="100" dirty="0">
                    <a:latin typeface="+mn-ea"/>
                    <a:cs typeface="Times New Roman" panose="02020603050405020304" pitchFamily="18" charset="0"/>
                  </a:rPr>
                  <a:t>如果超过</a:t>
                </a:r>
                <a:r>
                  <a:rPr lang="zh-CN" altLang="zh-CN" sz="2000" kern="100" dirty="0">
                    <a:latin typeface="+mn-ea"/>
                  </a:rPr>
                  <a:t>3</a:t>
                </a:r>
                <a:r>
                  <a:rPr lang="zh-CN" altLang="zh-CN" sz="2000" kern="100" dirty="0">
                    <a:latin typeface="+mn-ea"/>
                    <a:cs typeface="Times New Roman" panose="02020603050405020304" pitchFamily="18" charset="0"/>
                  </a:rPr>
                  <a:t>维，则分隔平面变成超平面，所以可以根据式（</a:t>
                </a:r>
                <a:r>
                  <a:rPr lang="zh-CN" altLang="zh-CN" sz="2000" kern="100" dirty="0">
                    <a:latin typeface="+mn-ea"/>
                  </a:rPr>
                  <a:t>3</a:t>
                </a:r>
                <a:r>
                  <a:rPr lang="zh-CN" altLang="zh-CN" sz="2000" kern="100" dirty="0">
                    <a:latin typeface="+mn-ea"/>
                    <a:cs typeface="Times New Roman" panose="02020603050405020304" pitchFamily="18" charset="0"/>
                  </a:rPr>
                  <a:t>）将</a:t>
                </a:r>
                <a:r>
                  <a:rPr lang="zh-CN" altLang="zh-CN" sz="2000" kern="100" dirty="0">
                    <a:solidFill>
                      <a:srgbClr val="FF0000"/>
                    </a:solidFill>
                    <a:latin typeface="+mn-ea"/>
                    <a:cs typeface="Times New Roman" panose="02020603050405020304" pitchFamily="18" charset="0"/>
                  </a:rPr>
                  <a:t>超平面方程</a:t>
                </a:r>
                <a:r>
                  <a:rPr lang="zh-CN" altLang="zh-CN" sz="2000" kern="100" dirty="0">
                    <a:latin typeface="+mn-ea"/>
                    <a:cs typeface="Times New Roman" panose="02020603050405020304" pitchFamily="18" charset="0"/>
                  </a:rPr>
                  <a:t>写成更一般的表达形式：</a:t>
                </a:r>
                <a:endParaRPr lang="en-US" altLang="zh-CN" sz="2000" kern="100" dirty="0">
                  <a:latin typeface="+mn-ea"/>
                  <a:ea typeface="+mn-ea"/>
                </a:endParaRPr>
              </a:p>
              <a:p>
                <a:pPr marL="0" indent="0" algn="ctr" latinLnBrk="1">
                  <a:spcAft>
                    <a:spcPts val="0"/>
                  </a:spcAft>
                  <a:buNone/>
                </a:pPr>
                <a14:m>
                  <m:oMath xmlns:m="http://schemas.openxmlformats.org/officeDocument/2006/math">
                    <m:sSup>
                      <m:sSupPr>
                        <m:ctrlPr>
                          <a:rPr lang="x-none" altLang="zh-CN" sz="2000" b="1" i="1" kern="100">
                            <a:latin typeface="Cambria Math" panose="02040503050406030204" pitchFamily="18" charset="0"/>
                            <a:ea typeface="+mn-ea"/>
                          </a:rPr>
                        </m:ctrlPr>
                      </m:sSupPr>
                      <m:e>
                        <m:r>
                          <a:rPr lang="zh-CN" altLang="en-US" sz="2000" b="1" i="1" kern="100">
                            <a:latin typeface="Cambria Math" panose="02040503050406030204" pitchFamily="18" charset="0"/>
                            <a:ea typeface="+mn-ea"/>
                          </a:rPr>
                          <m:t>𝒘</m:t>
                        </m:r>
                      </m:e>
                      <m:sup>
                        <m:r>
                          <a:rPr lang="zh-CN" altLang="en-US" sz="2000" b="1" i="1" kern="100">
                            <a:latin typeface="Cambria Math" panose="02040503050406030204" pitchFamily="18" charset="0"/>
                            <a:ea typeface="+mn-ea"/>
                          </a:rPr>
                          <m:t>𝑻</m:t>
                        </m:r>
                      </m:sup>
                    </m:sSup>
                    <m:r>
                      <a:rPr lang="zh-CN" altLang="en-US" sz="2000" b="1" i="1" kern="100">
                        <a:latin typeface="Cambria Math" panose="02040503050406030204" pitchFamily="18" charset="0"/>
                        <a:ea typeface="+mn-ea"/>
                      </a:rPr>
                      <m:t>𝒙</m:t>
                    </m:r>
                    <m:r>
                      <a:rPr lang="zh-CN" altLang="zh-CN" sz="2000" i="1" kern="100">
                        <a:latin typeface="Cambria Math" panose="02040503050406030204" pitchFamily="18" charset="0"/>
                        <a:ea typeface="+mn-ea"/>
                      </a:rPr>
                      <m:t>+</m:t>
                    </m:r>
                    <m:r>
                      <a:rPr lang="zh-CN" altLang="en-US" sz="2000" i="1" kern="100">
                        <a:latin typeface="Cambria Math" panose="02040503050406030204" pitchFamily="18" charset="0"/>
                        <a:ea typeface="+mn-ea"/>
                      </a:rPr>
                      <m:t>𝛽</m:t>
                    </m:r>
                    <m:r>
                      <a:rPr lang="zh-CN" altLang="zh-CN" sz="2000" i="1" kern="100">
                        <a:latin typeface="Cambria Math" panose="02040503050406030204" pitchFamily="18" charset="0"/>
                        <a:ea typeface="+mn-ea"/>
                      </a:rPr>
                      <m:t>=</m:t>
                    </m:r>
                    <m:r>
                      <a:rPr lang="zh-CN" altLang="zh-CN" sz="2000" i="1" kern="100">
                        <a:latin typeface="Cambria Math" panose="02040503050406030204" pitchFamily="18" charset="0"/>
                        <a:ea typeface="+mn-ea"/>
                      </a:rPr>
                      <m:t>0</m:t>
                    </m:r>
                  </m:oMath>
                </a14:m>
                <a:r>
                  <a:rPr lang="zh-CN" altLang="zh-CN" sz="2000" kern="100" dirty="0">
                    <a:latin typeface="+mn-ea"/>
                    <a:ea typeface="+mn-ea"/>
                  </a:rPr>
                  <a:t>      </a:t>
                </a:r>
                <a:r>
                  <a:rPr lang="zh-CN" altLang="zh-CN" sz="2000" kern="100" dirty="0">
                    <a:latin typeface="+mn-ea"/>
                    <a:ea typeface="+mn-ea"/>
                    <a:cs typeface="Times New Roman" panose="02020603050405020304" pitchFamily="18" charset="0"/>
                  </a:rPr>
                  <a:t>（</a:t>
                </a:r>
                <a:r>
                  <a:rPr lang="zh-CN" altLang="zh-CN" sz="2000" kern="100" dirty="0">
                    <a:latin typeface="+mn-ea"/>
                    <a:ea typeface="+mn-ea"/>
                  </a:rPr>
                  <a:t>4</a:t>
                </a:r>
                <a:r>
                  <a:rPr lang="zh-CN" altLang="zh-CN" sz="2000" kern="100" dirty="0">
                    <a:latin typeface="+mn-ea"/>
                    <a:ea typeface="+mn-ea"/>
                    <a:cs typeface="Times New Roman" panose="02020603050405020304" pitchFamily="18" charset="0"/>
                  </a:rPr>
                  <a:t>）</a:t>
                </a:r>
                <a:endParaRPr lang="en-US" altLang="zh-CN" sz="2000" kern="100" dirty="0">
                  <a:latin typeface="+mn-ea"/>
                  <a:ea typeface="+mn-ea"/>
                  <a:cs typeface="Times New Roman" panose="02020603050405020304" pitchFamily="18" charset="0"/>
                </a:endParaRPr>
              </a:p>
              <a:p>
                <a:pPr marL="0" indent="0" algn="ctr">
                  <a:buNone/>
                </a:pPr>
                <a:r>
                  <a:rPr lang="zh-CN" altLang="en-US" sz="2000" dirty="0">
                    <a:latin typeface="+mn-ea"/>
                    <a:ea typeface="+mn-ea"/>
                  </a:rPr>
                  <a:t>其中</a:t>
                </a:r>
                <a14:m>
                  <m:oMath xmlns:m="http://schemas.openxmlformats.org/officeDocument/2006/math">
                    <m:sSup>
                      <m:sSupPr>
                        <m:ctrlPr>
                          <a:rPr lang="x-none" altLang="zh-CN" sz="2000" i="1">
                            <a:latin typeface="Cambria Math" panose="02040503050406030204" pitchFamily="18" charset="0"/>
                            <a:ea typeface="+mn-ea"/>
                          </a:rPr>
                        </m:ctrlPr>
                      </m:sSupPr>
                      <m:e>
                        <m:r>
                          <a:rPr lang="zh-CN" altLang="en-US" sz="2000" b="1" i="1">
                            <a:latin typeface="Cambria Math" panose="02040503050406030204" pitchFamily="18" charset="0"/>
                            <a:ea typeface="+mn-ea"/>
                          </a:rPr>
                          <m:t>𝒘</m:t>
                        </m:r>
                      </m:e>
                      <m:sup>
                        <m:r>
                          <a:rPr lang="zh-CN" altLang="en-US" sz="2000" i="1">
                            <a:latin typeface="Cambria Math" panose="02040503050406030204" pitchFamily="18" charset="0"/>
                            <a:ea typeface="+mn-ea"/>
                          </a:rPr>
                          <m:t>𝑇</m:t>
                        </m:r>
                      </m:sup>
                    </m:sSup>
                    <m:r>
                      <a:rPr lang="en-US" altLang="zh-CN"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𝑤</m:t>
                        </m:r>
                      </m:e>
                      <m:sub>
                        <m:r>
                          <a:rPr lang="en-US" altLang="zh-CN" sz="2000" i="1">
                            <a:latin typeface="Cambria Math" panose="02040503050406030204" pitchFamily="18" charset="0"/>
                            <a:ea typeface="+mn-ea"/>
                          </a:rPr>
                          <m:t>1</m:t>
                        </m:r>
                      </m:sub>
                    </m:sSub>
                    <m:r>
                      <a:rPr lang="zh-CN" altLang="en-US"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𝑤</m:t>
                        </m:r>
                      </m:e>
                      <m:sub>
                        <m:r>
                          <a:rPr lang="en-US" altLang="zh-CN" sz="2000" i="1">
                            <a:latin typeface="Cambria Math" panose="02040503050406030204" pitchFamily="18" charset="0"/>
                            <a:ea typeface="+mn-ea"/>
                          </a:rPr>
                          <m:t>2</m:t>
                        </m:r>
                      </m:sub>
                    </m:sSub>
                    <m:r>
                      <a:rPr lang="zh-CN" altLang="en-US"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𝑤</m:t>
                        </m:r>
                      </m:e>
                      <m:sub>
                        <m:r>
                          <a:rPr lang="en-US" altLang="zh-CN" sz="2000" i="1">
                            <a:latin typeface="Cambria Math" panose="02040503050406030204" pitchFamily="18" charset="0"/>
                            <a:ea typeface="+mn-ea"/>
                          </a:rPr>
                          <m:t>3</m:t>
                        </m:r>
                      </m:sub>
                    </m:sSub>
                    <m:r>
                      <a:rPr lang="zh-CN" altLang="en-US" sz="2000" i="1">
                        <a:latin typeface="Cambria Math" panose="02040503050406030204" pitchFamily="18" charset="0"/>
                        <a:ea typeface="+mn-ea"/>
                      </a:rPr>
                      <m:t>，</m:t>
                    </m:r>
                    <m:r>
                      <a:rPr lang="zh-CN" altLang="en-US" sz="2000" i="1">
                        <a:latin typeface="Cambria Math" panose="02040503050406030204" pitchFamily="18" charset="0"/>
                        <a:ea typeface="+mn-ea"/>
                      </a:rPr>
                      <m:t>  ⋯</m:t>
                    </m:r>
                    <m:r>
                      <a:rPr lang="zh-CN" altLang="en-US"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𝑤</m:t>
                        </m:r>
                      </m:e>
                      <m:sub>
                        <m:r>
                          <a:rPr lang="zh-CN" altLang="en-US" sz="2000" i="1">
                            <a:latin typeface="Cambria Math" panose="02040503050406030204" pitchFamily="18" charset="0"/>
                            <a:ea typeface="+mn-ea"/>
                          </a:rPr>
                          <m:t>𝑛</m:t>
                        </m:r>
                      </m:sub>
                    </m:sSub>
                    <m:r>
                      <a:rPr lang="en-US" altLang="zh-CN" sz="2000" i="1">
                        <a:latin typeface="Cambria Math" panose="02040503050406030204" pitchFamily="18" charset="0"/>
                        <a:ea typeface="+mn-ea"/>
                      </a:rPr>
                      <m:t>]</m:t>
                    </m:r>
                    <m:r>
                      <a:rPr lang="zh-CN" altLang="en-US" sz="2000" i="1">
                        <a:latin typeface="Cambria Math" panose="02040503050406030204" pitchFamily="18" charset="0"/>
                        <a:ea typeface="+mn-ea"/>
                      </a:rPr>
                      <m:t>，</m:t>
                    </m:r>
                    <m:r>
                      <a:rPr lang="zh-CN" altLang="en-US" sz="2000" b="1" i="1">
                        <a:latin typeface="Cambria Math" panose="02040503050406030204" pitchFamily="18" charset="0"/>
                        <a:ea typeface="+mn-ea"/>
                      </a:rPr>
                      <m:t>𝒙</m:t>
                    </m:r>
                    <m:r>
                      <a:rPr lang="en-US" altLang="zh-CN"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𝑥</m:t>
                        </m:r>
                      </m:e>
                      <m:sub>
                        <m:r>
                          <a:rPr lang="en-US" altLang="zh-CN" sz="2000" i="1">
                            <a:latin typeface="Cambria Math" panose="02040503050406030204" pitchFamily="18" charset="0"/>
                            <a:ea typeface="+mn-ea"/>
                          </a:rPr>
                          <m:t>1</m:t>
                        </m:r>
                      </m:sub>
                    </m:sSub>
                    <m:r>
                      <a:rPr lang="zh-CN" altLang="en-US"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𝑥</m:t>
                        </m:r>
                      </m:e>
                      <m:sub>
                        <m:r>
                          <a:rPr lang="en-US" altLang="zh-CN" sz="2000" i="1">
                            <a:latin typeface="Cambria Math" panose="02040503050406030204" pitchFamily="18" charset="0"/>
                            <a:ea typeface="+mn-ea"/>
                          </a:rPr>
                          <m:t>2</m:t>
                        </m:r>
                      </m:sub>
                    </m:sSub>
                    <m:r>
                      <a:rPr lang="zh-CN" altLang="en-US"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𝑥</m:t>
                        </m:r>
                      </m:e>
                      <m:sub>
                        <m:r>
                          <a:rPr lang="en-US" altLang="zh-CN" sz="2000" i="1">
                            <a:latin typeface="Cambria Math" panose="02040503050406030204" pitchFamily="18" charset="0"/>
                            <a:ea typeface="+mn-ea"/>
                          </a:rPr>
                          <m:t>3</m:t>
                        </m:r>
                      </m:sub>
                    </m:sSub>
                    <m:r>
                      <a:rPr lang="zh-CN" altLang="en-US" sz="2000" i="1">
                        <a:latin typeface="Cambria Math" panose="02040503050406030204" pitchFamily="18" charset="0"/>
                        <a:ea typeface="+mn-ea"/>
                      </a:rPr>
                      <m:t>，</m:t>
                    </m:r>
                    <m:r>
                      <a:rPr lang="zh-CN" altLang="en-US" sz="2000" i="1">
                        <a:latin typeface="Cambria Math" panose="02040503050406030204" pitchFamily="18" charset="0"/>
                        <a:ea typeface="+mn-ea"/>
                      </a:rPr>
                      <m:t>  ⋯</m:t>
                    </m:r>
                    <m:r>
                      <a:rPr lang="zh-CN" altLang="en-US" sz="2000" i="1">
                        <a:latin typeface="Cambria Math" panose="02040503050406030204" pitchFamily="18" charset="0"/>
                        <a:ea typeface="+mn-ea"/>
                      </a:rPr>
                      <m:t>，</m:t>
                    </m:r>
                    <m:sSub>
                      <m:sSubPr>
                        <m:ctrlPr>
                          <a:rPr lang="x-none" altLang="zh-CN" sz="2000" i="1">
                            <a:latin typeface="Cambria Math" panose="02040503050406030204" pitchFamily="18" charset="0"/>
                            <a:ea typeface="+mn-ea"/>
                          </a:rPr>
                        </m:ctrlPr>
                      </m:sSubPr>
                      <m:e>
                        <m:r>
                          <a:rPr lang="zh-CN" altLang="en-US" sz="2000" i="1">
                            <a:latin typeface="Cambria Math" panose="02040503050406030204" pitchFamily="18" charset="0"/>
                            <a:ea typeface="+mn-ea"/>
                          </a:rPr>
                          <m:t>𝑥</m:t>
                        </m:r>
                      </m:e>
                      <m:sub>
                        <m:r>
                          <a:rPr lang="zh-CN" altLang="en-US" sz="2000" i="1">
                            <a:latin typeface="Cambria Math" panose="02040503050406030204" pitchFamily="18" charset="0"/>
                            <a:ea typeface="+mn-ea"/>
                          </a:rPr>
                          <m:t>𝑛</m:t>
                        </m:r>
                      </m:sub>
                    </m:sSub>
                    <m:sSup>
                      <m:sSupPr>
                        <m:ctrlPr>
                          <a:rPr lang="x-none" altLang="zh-CN" sz="2000" i="1">
                            <a:latin typeface="Cambria Math" panose="02040503050406030204" pitchFamily="18" charset="0"/>
                            <a:ea typeface="+mn-ea"/>
                          </a:rPr>
                        </m:ctrlPr>
                      </m:sSupPr>
                      <m:e>
                        <m:r>
                          <a:rPr lang="en-US" altLang="zh-CN" sz="2000" i="1">
                            <a:latin typeface="Cambria Math" panose="02040503050406030204" pitchFamily="18" charset="0"/>
                            <a:ea typeface="+mn-ea"/>
                          </a:rPr>
                          <m:t>]</m:t>
                        </m:r>
                      </m:e>
                      <m:sup>
                        <m:r>
                          <a:rPr lang="zh-CN" altLang="en-US" sz="2000" i="1">
                            <a:latin typeface="Cambria Math" panose="02040503050406030204" pitchFamily="18" charset="0"/>
                            <a:ea typeface="+mn-ea"/>
                          </a:rPr>
                          <m:t>𝑇</m:t>
                        </m:r>
                      </m:sup>
                    </m:sSup>
                  </m:oMath>
                </a14:m>
                <a:endParaRPr lang="x-none" altLang="zh-CN" sz="2000" dirty="0">
                  <a:latin typeface="+mn-ea"/>
                  <a:ea typeface="+mn-ea"/>
                </a:endParaRPr>
              </a:p>
              <a:p>
                <a:endParaRPr lang="zh-CN" altLang="en-US" sz="2000" dirty="0">
                  <a:latin typeface="+mn-ea"/>
                  <a:ea typeface="+mn-ea"/>
                </a:endParaRPr>
              </a:p>
            </p:txBody>
          </p:sp>
        </mc:Choice>
        <mc:Fallback>
          <p:sp>
            <p:nvSpPr>
              <p:cNvPr id="7" name="矩形 3"/>
              <p:cNvSpPr>
                <a:spLocks noRot="1" noChangeAspect="1" noMove="1" noResize="1" noEditPoints="1" noAdjustHandles="1" noChangeArrowheads="1" noChangeShapeType="1" noTextEdit="1"/>
              </p:cNvSpPr>
              <p:nvPr/>
            </p:nvSpPr>
            <p:spPr bwMode="auto">
              <a:xfrm>
                <a:off x="467544" y="938654"/>
                <a:ext cx="8045450" cy="5451301"/>
              </a:xfrm>
              <a:prstGeom prst="rect">
                <a:avLst/>
              </a:prstGeom>
              <a:blipFill rotWithShape="1">
                <a:blip r:embed="rId1"/>
                <a:stretch>
                  <a:fillRect l="-2" t="-2" r="2" b="-301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67544" y="1153919"/>
                <a:ext cx="8045450" cy="4650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t>超平面由向量</a:t>
                </a:r>
                <a14:m>
                  <m:oMath xmlns:m="http://schemas.openxmlformats.org/officeDocument/2006/math">
                    <m:r>
                      <a:rPr lang="zh-CN" altLang="en-US" sz="2000" i="1">
                        <a:latin typeface="Cambria Math" panose="02040503050406030204"/>
                      </a:rPr>
                      <m:t>𝑤</m:t>
                    </m:r>
                  </m:oMath>
                </a14:m>
                <a:r>
                  <a:rPr lang="zh-CN" altLang="en-US" sz="2000" dirty="0"/>
                  <a:t>和截距</a:t>
                </a:r>
                <a14:m>
                  <m:oMath xmlns:m="http://schemas.openxmlformats.org/officeDocument/2006/math">
                    <m:r>
                      <a:rPr lang="zh-CN" altLang="en-US" sz="2000" i="1">
                        <a:latin typeface="Cambria Math" panose="02040503050406030204"/>
                      </a:rPr>
                      <m:t>𝛽</m:t>
                    </m:r>
                  </m:oMath>
                </a14:m>
                <a:r>
                  <a:rPr lang="zh-CN" altLang="en-US" sz="2000" dirty="0"/>
                  <a:t>决定，对于给定线性可分数据集</a:t>
                </a:r>
                <a14:m>
                  <m:oMath xmlns:m="http://schemas.openxmlformats.org/officeDocument/2006/math">
                    <m:r>
                      <a:rPr lang="zh-CN" altLang="en-US" sz="2000" i="1">
                        <a:latin typeface="Cambria Math" panose="02040503050406030204"/>
                      </a:rPr>
                      <m:t> </m:t>
                    </m:r>
                    <m:r>
                      <a:rPr lang="zh-CN" altLang="en-US" sz="2000" i="1">
                        <a:latin typeface="Cambria Math" panose="02040503050406030204"/>
                      </a:rPr>
                      <m:t>𝑇</m:t>
                    </m:r>
                    <m:r>
                      <a:rPr lang="en-US" altLang="zh-CN" sz="2000" i="1">
                        <a:latin typeface="Cambria Math" panose="02040503050406030204"/>
                      </a:rPr>
                      <m:t>=</m:t>
                    </m:r>
                    <m:d>
                      <m:dPr>
                        <m:begChr m:val="{"/>
                        <m:endChr m:val="}"/>
                        <m:ctrlPr>
                          <a:rPr lang="x-none" altLang="zh-CN" sz="2000" i="1">
                            <a:latin typeface="Cambria Math" panose="02040503050406030204"/>
                          </a:rPr>
                        </m:ctrlPr>
                      </m:dPr>
                      <m:e>
                        <m:d>
                          <m:dPr>
                            <m:ctrlPr>
                              <a:rPr lang="x-none" altLang="zh-CN" sz="2000" i="1">
                                <a:latin typeface="Cambria Math" panose="02040503050406030204"/>
                              </a:rPr>
                            </m:ctrlPr>
                          </m:dPr>
                          <m:e>
                            <m:sSub>
                              <m:sSubPr>
                                <m:ctrlPr>
                                  <a:rPr lang="x-none" altLang="zh-CN" sz="2000" i="1">
                                    <a:latin typeface="Cambria Math" panose="02040503050406030204"/>
                                  </a:rPr>
                                </m:ctrlPr>
                              </m:sSubPr>
                              <m:e>
                                <m:r>
                                  <a:rPr lang="en-US" altLang="zh-CN" sz="2000" i="1">
                                    <a:latin typeface="Cambria Math" panose="02040503050406030204"/>
                                  </a:rPr>
                                  <m:t>𝑥</m:t>
                                </m:r>
                              </m:e>
                              <m:sub>
                                <m:r>
                                  <a:rPr lang="en-US" altLang="zh-CN" sz="2000" i="1">
                                    <a:latin typeface="Cambria Math" panose="02040503050406030204"/>
                                  </a:rPr>
                                  <m:t>1</m:t>
                                </m:r>
                              </m:sub>
                            </m:sSub>
                            <m:r>
                              <a:rPr lang="en-US" altLang="zh-CN" sz="2000" i="1">
                                <a:latin typeface="Cambria Math" panose="02040503050406030204"/>
                              </a:rPr>
                              <m:t>,</m:t>
                            </m:r>
                            <m:sSub>
                              <m:sSubPr>
                                <m:ctrlPr>
                                  <a:rPr lang="x-none" altLang="zh-CN" sz="2000" i="1">
                                    <a:latin typeface="Cambria Math" panose="02040503050406030204"/>
                                  </a:rPr>
                                </m:ctrlPr>
                              </m:sSubPr>
                              <m:e>
                                <m:r>
                                  <a:rPr lang="en-US" altLang="zh-CN" sz="2000" i="1">
                                    <a:latin typeface="Cambria Math" panose="02040503050406030204"/>
                                  </a:rPr>
                                  <m:t>𝑦</m:t>
                                </m:r>
                              </m:e>
                              <m:sub>
                                <m:r>
                                  <a:rPr lang="en-US" altLang="zh-CN" sz="2000" i="1">
                                    <a:latin typeface="Cambria Math" panose="02040503050406030204"/>
                                  </a:rPr>
                                  <m:t>1</m:t>
                                </m:r>
                              </m:sub>
                            </m:sSub>
                          </m:e>
                        </m:d>
                        <m:r>
                          <a:rPr lang="en-US" altLang="zh-CN" sz="2000" i="1">
                            <a:latin typeface="Cambria Math" panose="02040503050406030204"/>
                          </a:rPr>
                          <m:t>,</m:t>
                        </m:r>
                        <m:d>
                          <m:dPr>
                            <m:ctrlPr>
                              <a:rPr lang="x-none" altLang="zh-CN" sz="2000" i="1">
                                <a:latin typeface="Cambria Math" panose="02040503050406030204"/>
                              </a:rPr>
                            </m:ctrlPr>
                          </m:dPr>
                          <m:e>
                            <m:sSub>
                              <m:sSubPr>
                                <m:ctrlPr>
                                  <a:rPr lang="x-none" altLang="zh-CN" sz="2000" i="1">
                                    <a:latin typeface="Cambria Math" panose="02040503050406030204"/>
                                  </a:rPr>
                                </m:ctrlPr>
                              </m:sSubPr>
                              <m:e>
                                <m:r>
                                  <a:rPr lang="en-US" altLang="zh-CN" sz="2000" i="1">
                                    <a:latin typeface="Cambria Math" panose="02040503050406030204"/>
                                  </a:rPr>
                                  <m:t>𝑥</m:t>
                                </m:r>
                              </m:e>
                              <m:sub>
                                <m:r>
                                  <a:rPr lang="en-US" altLang="zh-CN" sz="2000" i="1">
                                    <a:latin typeface="Cambria Math" panose="02040503050406030204"/>
                                  </a:rPr>
                                  <m:t>2</m:t>
                                </m:r>
                              </m:sub>
                            </m:sSub>
                            <m:r>
                              <a:rPr lang="en-US" altLang="zh-CN" sz="2000" i="1">
                                <a:latin typeface="Cambria Math" panose="02040503050406030204"/>
                              </a:rPr>
                              <m:t>,</m:t>
                            </m:r>
                            <m:sSub>
                              <m:sSubPr>
                                <m:ctrlPr>
                                  <a:rPr lang="x-none" altLang="zh-CN" sz="2000" i="1">
                                    <a:latin typeface="Cambria Math" panose="02040503050406030204"/>
                                  </a:rPr>
                                </m:ctrlPr>
                              </m:sSubPr>
                              <m:e>
                                <m:r>
                                  <a:rPr lang="en-US" altLang="zh-CN" sz="2000" i="1">
                                    <a:latin typeface="Cambria Math" panose="02040503050406030204"/>
                                  </a:rPr>
                                  <m:t>𝑦</m:t>
                                </m:r>
                              </m:e>
                              <m:sub>
                                <m:r>
                                  <a:rPr lang="en-US" altLang="zh-CN" sz="2000" i="1">
                                    <a:latin typeface="Cambria Math" panose="02040503050406030204"/>
                                  </a:rPr>
                                  <m:t>2</m:t>
                                </m:r>
                              </m:sub>
                            </m:sSub>
                          </m:e>
                        </m:d>
                        <m:r>
                          <a:rPr lang="en-US" altLang="zh-CN" sz="2000" i="1">
                            <a:latin typeface="Cambria Math" panose="02040503050406030204"/>
                          </a:rPr>
                          <m:t>,</m:t>
                        </m:r>
                        <m:r>
                          <a:rPr lang="zh-CN" altLang="en-US" sz="2000" i="1">
                            <a:latin typeface="Cambria Math" panose="02040503050406030204" pitchFamily="18" charset="0"/>
                          </a:rPr>
                          <m:t> </m:t>
                        </m:r>
                        <m:r>
                          <a:rPr lang="en-US" altLang="zh-CN" sz="2000" i="1">
                            <a:latin typeface="Cambria Math" panose="02040503050406030204"/>
                          </a:rPr>
                          <m:t>…,</m:t>
                        </m:r>
                        <m:r>
                          <a:rPr lang="zh-CN" altLang="en-US" sz="2000" i="1">
                            <a:latin typeface="Cambria Math" panose="02040503050406030204" pitchFamily="18" charset="0"/>
                          </a:rPr>
                          <m:t> </m:t>
                        </m:r>
                        <m:d>
                          <m:dPr>
                            <m:ctrlPr>
                              <a:rPr lang="x-none" altLang="zh-CN" sz="2000" i="1">
                                <a:latin typeface="Cambria Math" panose="02040503050406030204"/>
                              </a:rPr>
                            </m:ctrlPr>
                          </m:dPr>
                          <m:e>
                            <m:sSub>
                              <m:sSubPr>
                                <m:ctrlPr>
                                  <a:rPr lang="x-none" altLang="zh-CN" sz="2000" i="1">
                                    <a:latin typeface="Cambria Math" panose="02040503050406030204"/>
                                  </a:rPr>
                                </m:ctrlPr>
                              </m:sSubPr>
                              <m:e>
                                <m:r>
                                  <a:rPr lang="en-US" altLang="zh-CN" sz="2000" i="1">
                                    <a:latin typeface="Cambria Math" panose="02040503050406030204"/>
                                  </a:rPr>
                                  <m:t>𝑥</m:t>
                                </m:r>
                              </m:e>
                              <m:sub>
                                <m:r>
                                  <a:rPr lang="en-US" altLang="zh-CN" sz="2000" i="1">
                                    <a:latin typeface="Cambria Math" panose="02040503050406030204"/>
                                  </a:rPr>
                                  <m:t>𝑛</m:t>
                                </m:r>
                              </m:sub>
                            </m:sSub>
                            <m:r>
                              <a:rPr lang="en-US" altLang="zh-CN" sz="2000" i="1">
                                <a:latin typeface="Cambria Math" panose="02040503050406030204"/>
                              </a:rPr>
                              <m:t>,</m:t>
                            </m:r>
                            <m:sSub>
                              <m:sSubPr>
                                <m:ctrlPr>
                                  <a:rPr lang="x-none" altLang="zh-CN" sz="2000" i="1">
                                    <a:latin typeface="Cambria Math" panose="02040503050406030204"/>
                                  </a:rPr>
                                </m:ctrlPr>
                              </m:sSubPr>
                              <m:e>
                                <m:r>
                                  <a:rPr lang="en-US" altLang="zh-CN" sz="2000" i="1">
                                    <a:latin typeface="Cambria Math" panose="02040503050406030204"/>
                                  </a:rPr>
                                  <m:t>𝑦</m:t>
                                </m:r>
                              </m:e>
                              <m:sub>
                                <m:r>
                                  <a:rPr lang="en-US" altLang="zh-CN" sz="2000" i="1">
                                    <a:latin typeface="Cambria Math" panose="02040503050406030204"/>
                                  </a:rPr>
                                  <m:t>𝑛</m:t>
                                </m:r>
                              </m:sub>
                            </m:sSub>
                          </m:e>
                        </m:d>
                      </m:e>
                    </m:d>
                  </m:oMath>
                </a14:m>
                <a:r>
                  <a:rPr lang="zh-CN" altLang="en-US" sz="2000" dirty="0"/>
                  <a:t>，向量指向的两侧分别为正例和反例。用函数区分两类数据，为每个样本点</a:t>
                </a:r>
                <a:r>
                  <a:rPr lang="en-US" altLang="zh-CN" sz="2000" i="1" dirty="0"/>
                  <a:t>x</a:t>
                </a:r>
                <a:r>
                  <a:rPr lang="zh-CN" altLang="en-US" sz="2000" dirty="0"/>
                  <a:t>设置一个类别标签</a:t>
                </a:r>
                <a14:m>
                  <m:oMath xmlns:m="http://schemas.openxmlformats.org/officeDocument/2006/math">
                    <m:sSub>
                      <m:sSubPr>
                        <m:ctrlPr>
                          <a:rPr lang="x-none" altLang="zh-CN" sz="2000" i="1">
                            <a:latin typeface="Cambria Math" panose="02040503050406030204"/>
                          </a:rPr>
                        </m:ctrlPr>
                      </m:sSubPr>
                      <m:e>
                        <m:r>
                          <a:rPr lang="zh-CN" altLang="en-US" sz="2000" i="1">
                            <a:latin typeface="Cambria Math" panose="02040503050406030204"/>
                          </a:rPr>
                          <m:t>𝑦</m:t>
                        </m:r>
                      </m:e>
                      <m:sub>
                        <m:r>
                          <a:rPr lang="zh-CN" altLang="en-US" sz="2000" i="1">
                            <a:latin typeface="Cambria Math" panose="02040503050406030204"/>
                          </a:rPr>
                          <m:t>𝑖</m:t>
                        </m:r>
                      </m:sub>
                    </m:sSub>
                  </m:oMath>
                </a14:m>
                <a:r>
                  <a:rPr lang="zh-CN" altLang="en-US" sz="2000" dirty="0"/>
                  <a:t>：</a:t>
                </a:r>
                <a:endParaRPr lang="x-none" altLang="zh-CN" sz="2000" dirty="0"/>
              </a:p>
              <a:p>
                <a:pPr marL="0" indent="0">
                  <a:lnSpc>
                    <a:spcPct val="150000"/>
                  </a:lnSpc>
                  <a:buNone/>
                </a:pPr>
                <a14:m>
                  <m:oMathPara xmlns:m="http://schemas.openxmlformats.org/officeDocument/2006/math">
                    <m:oMathParaPr>
                      <m:jc m:val="center"/>
                    </m:oMathParaPr>
                    <m:oMath xmlns:m="http://schemas.openxmlformats.org/officeDocument/2006/math">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r>
                        <a:rPr lang="en-US" altLang="zh-CN" sz="1800" i="1">
                          <a:latin typeface="Cambria Math" panose="02040503050406030204"/>
                        </a:rPr>
                        <m:t>=</m:t>
                      </m:r>
                      <m:d>
                        <m:dPr>
                          <m:begChr m:val="{"/>
                          <m:endChr m:val=""/>
                          <m:ctrlPr>
                            <a:rPr lang="x-none" altLang="zh-CN" sz="1800" i="1">
                              <a:latin typeface="Cambria Math" panose="02040503050406030204"/>
                            </a:rPr>
                          </m:ctrlPr>
                        </m:dPr>
                        <m:e>
                          <m:eqArr>
                            <m:eqArrPr>
                              <m:ctrlPr>
                                <a:rPr lang="x-none" altLang="zh-CN" sz="1800" i="1">
                                  <a:latin typeface="Cambria Math" panose="02040503050406030204"/>
                                </a:rPr>
                              </m:ctrlPr>
                            </m:eqArrPr>
                            <m:e>
                              <m:r>
                                <a:rPr lang="en-US" altLang="zh-CN" sz="1800" i="1">
                                  <a:latin typeface="Cambria Math" panose="02040503050406030204"/>
                                </a:rPr>
                                <m:t>&amp;+</m:t>
                              </m:r>
                              <m:r>
                                <a:rPr lang="en-US" altLang="zh-CN" sz="1800" i="1">
                                  <a:latin typeface="Cambria Math" panose="02040503050406030204"/>
                                </a:rPr>
                                <m:t>1</m:t>
                              </m:r>
                              <m:r>
                                <a:rPr lang="en-US" altLang="zh-CN" sz="1800" i="1">
                                  <a:latin typeface="Cambria Math" panose="02040503050406030204"/>
                                </a:rPr>
                                <m:t>     </m:t>
                              </m:r>
                              <m:r>
                                <a:rPr lang="zh-CN" altLang="en-US" sz="1800" i="1">
                                  <a:latin typeface="Cambria Math" panose="02040503050406030204"/>
                                </a:rPr>
                                <m:t>𝑓𝑜𝑟</m:t>
                              </m:r>
                              <m:r>
                                <a:rPr lang="zh-CN" altLang="en-US" sz="1800" i="1">
                                  <a:latin typeface="Cambria Math" panose="02040503050406030204"/>
                                </a:rPr>
                                <m:t>圆形数据</m:t>
                              </m:r>
                            </m:e>
                            <m:e>
                              <m:r>
                                <a:rPr lang="en-US" altLang="zh-CN" sz="1800" i="1">
                                  <a:latin typeface="Cambria Math" panose="02040503050406030204"/>
                                </a:rPr>
                                <m:t>&amp;</m:t>
                              </m:r>
                              <m:r>
                                <a:rPr lang="zh-CN" altLang="en-US" sz="1800" i="1">
                                  <a:latin typeface="Cambria Math" panose="02040503050406030204"/>
                                </a:rPr>
                                <m:t>−</m:t>
                              </m:r>
                              <m:r>
                                <a:rPr lang="en-US" altLang="zh-CN" sz="1800" i="1">
                                  <a:latin typeface="Cambria Math" panose="02040503050406030204"/>
                                </a:rPr>
                                <m:t>1</m:t>
                              </m:r>
                              <m:r>
                                <a:rPr lang="en-US" altLang="zh-CN" sz="1800" i="1">
                                  <a:latin typeface="Cambria Math" panose="02040503050406030204"/>
                                </a:rPr>
                                <m:t>     </m:t>
                              </m:r>
                              <m:r>
                                <a:rPr lang="zh-CN" altLang="en-US" sz="1800" i="1">
                                  <a:latin typeface="Cambria Math" panose="02040503050406030204"/>
                                </a:rPr>
                                <m:t>𝑓𝑜𝑟</m:t>
                              </m:r>
                              <m:r>
                                <a:rPr lang="zh-CN" altLang="en-US" sz="1800" i="1">
                                  <a:latin typeface="Cambria Math" panose="02040503050406030204"/>
                                </a:rPr>
                                <m:t>三角形数据</m:t>
                              </m:r>
                            </m:e>
                          </m:eqArr>
                        </m:e>
                      </m:d>
                    </m:oMath>
                  </m:oMathPara>
                </a14:m>
                <a:endParaRPr lang="x-none" altLang="zh-CN" sz="2000" dirty="0"/>
              </a:p>
              <a:p>
                <a:pPr algn="ctr">
                  <a:lnSpc>
                    <a:spcPct val="150000"/>
                  </a:lnSpc>
                </a:pPr>
                <a:r>
                  <a:rPr lang="zh-CN" altLang="en-US" sz="2000" dirty="0"/>
                  <a:t>则：</a:t>
                </a:r>
                <a14:m>
                  <m:oMath xmlns:m="http://schemas.openxmlformats.org/officeDocument/2006/math">
                    <m:d>
                      <m:dPr>
                        <m:begChr m:val="{"/>
                        <m:endChr m:val=""/>
                        <m:ctrlPr>
                          <a:rPr lang="x-none" altLang="zh-CN" sz="1800" i="1">
                            <a:latin typeface="Cambria Math" panose="02040503050406030204"/>
                          </a:rPr>
                        </m:ctrlPr>
                      </m:dPr>
                      <m:e>
                        <m:eqArr>
                          <m:eqArrPr>
                            <m:ctrlPr>
                              <a:rPr lang="x-none" altLang="zh-CN" sz="1800" i="1">
                                <a:latin typeface="Cambria Math" panose="02040503050406030204"/>
                              </a:rPr>
                            </m:ctrlPr>
                          </m:eqArrPr>
                          <m:e>
                            <m:r>
                              <a:rPr lang="en-US" altLang="zh-CN" sz="1800" i="1">
                                <a:latin typeface="Cambria Math" panose="02040503050406030204"/>
                              </a:rPr>
                              <m:t>&amp;</m:t>
                            </m:r>
                            <m:sSup>
                              <m:sSupPr>
                                <m:ctrlPr>
                                  <a:rPr lang="x-none" altLang="zh-CN" sz="1800" i="1">
                                    <a:latin typeface="Cambria Math" panose="02040503050406030204"/>
                                  </a:rPr>
                                </m:ctrlPr>
                              </m:sSupPr>
                              <m:e>
                                <m:r>
                                  <a:rPr lang="zh-CN" altLang="en-US" sz="1800" i="1">
                                    <a:latin typeface="Cambria Math" panose="02040503050406030204"/>
                                  </a:rPr>
                                  <m:t>𝑤</m:t>
                                </m:r>
                              </m:e>
                              <m:sup>
                                <m:r>
                                  <a:rPr lang="zh-CN" altLang="en-US" sz="1800" i="1">
                                    <a:latin typeface="Cambria Math" panose="02040503050406030204"/>
                                  </a:rPr>
                                  <m:t>𝑇</m:t>
                                </m:r>
                              </m:sup>
                            </m:sSup>
                            <m:r>
                              <a:rPr lang="zh-CN" altLang="en-US" sz="1800" i="1">
                                <a:latin typeface="Cambria Math" panose="02040503050406030204"/>
                              </a:rPr>
                              <m:t>𝑥</m:t>
                            </m:r>
                            <m:r>
                              <a:rPr lang="en-US" altLang="zh-CN" sz="1800" i="1">
                                <a:latin typeface="Cambria Math" panose="02040503050406030204"/>
                              </a:rPr>
                              <m:t>+</m:t>
                            </m:r>
                            <m:r>
                              <a:rPr lang="zh-CN" altLang="en-US" sz="1800" i="1">
                                <a:latin typeface="Cambria Math" panose="02040503050406030204"/>
                              </a:rPr>
                              <m:t>𝛽</m:t>
                            </m:r>
                            <m:r>
                              <a:rPr lang="en-US" altLang="zh-CN" sz="1800" i="1">
                                <a:latin typeface="Cambria Math" panose="02040503050406030204"/>
                              </a:rPr>
                              <m:t>&gt;</m:t>
                            </m:r>
                            <m:r>
                              <a:rPr lang="en-US" altLang="zh-CN" sz="1800" i="1">
                                <a:latin typeface="Cambria Math" panose="02040503050406030204"/>
                              </a:rPr>
                              <m:t>0</m:t>
                            </m:r>
                            <m:r>
                              <a:rPr lang="en-US" altLang="zh-CN" sz="1800" i="1">
                                <a:latin typeface="Cambria Math" panose="02040503050406030204"/>
                              </a:rPr>
                              <m:t>    </m:t>
                            </m:r>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r>
                              <a:rPr lang="en-US" altLang="zh-CN" sz="1800" i="1">
                                <a:latin typeface="Cambria Math" panose="02040503050406030204"/>
                              </a:rPr>
                              <m:t>=</m:t>
                            </m:r>
                            <m:r>
                              <a:rPr lang="en-US" altLang="zh-CN" sz="1800" i="1">
                                <a:latin typeface="Cambria Math" panose="02040503050406030204"/>
                              </a:rPr>
                              <m:t>1</m:t>
                            </m:r>
                          </m:e>
                          <m:e>
                            <m:r>
                              <a:rPr lang="en-US" altLang="zh-CN" sz="1800" i="1">
                                <a:latin typeface="Cambria Math" panose="02040503050406030204"/>
                              </a:rPr>
                              <m:t>&amp;</m:t>
                            </m:r>
                            <m:sSup>
                              <m:sSupPr>
                                <m:ctrlPr>
                                  <a:rPr lang="x-none" altLang="zh-CN" sz="1800" i="1">
                                    <a:latin typeface="Cambria Math" panose="02040503050406030204"/>
                                  </a:rPr>
                                </m:ctrlPr>
                              </m:sSupPr>
                              <m:e>
                                <m:r>
                                  <a:rPr lang="zh-CN" altLang="en-US" sz="1800" i="1">
                                    <a:latin typeface="Cambria Math" panose="02040503050406030204"/>
                                  </a:rPr>
                                  <m:t>𝑤</m:t>
                                </m:r>
                              </m:e>
                              <m:sup>
                                <m:r>
                                  <a:rPr lang="zh-CN" altLang="en-US" sz="1800" i="1">
                                    <a:latin typeface="Cambria Math" panose="02040503050406030204"/>
                                  </a:rPr>
                                  <m:t>𝑇</m:t>
                                </m:r>
                              </m:sup>
                            </m:sSup>
                            <m:r>
                              <a:rPr lang="zh-CN" altLang="en-US" sz="1800" i="1">
                                <a:latin typeface="Cambria Math" panose="02040503050406030204"/>
                              </a:rPr>
                              <m:t>𝑥</m:t>
                            </m:r>
                            <m:r>
                              <a:rPr lang="en-US" altLang="zh-CN" sz="1800" i="1">
                                <a:latin typeface="Cambria Math" panose="02040503050406030204"/>
                              </a:rPr>
                              <m:t>+</m:t>
                            </m:r>
                            <m:r>
                              <a:rPr lang="zh-CN" altLang="en-US" sz="1800" i="1">
                                <a:latin typeface="Cambria Math" panose="02040503050406030204"/>
                              </a:rPr>
                              <m:t>𝛽</m:t>
                            </m:r>
                            <m:r>
                              <a:rPr lang="en-US" altLang="zh-CN" sz="1800" i="1">
                                <a:latin typeface="Cambria Math" panose="02040503050406030204"/>
                              </a:rPr>
                              <m:t>&lt;</m:t>
                            </m:r>
                            <m:r>
                              <a:rPr lang="en-US" altLang="zh-CN" sz="1800" i="1">
                                <a:latin typeface="Cambria Math" panose="02040503050406030204"/>
                              </a:rPr>
                              <m:t>0</m:t>
                            </m:r>
                            <m:r>
                              <a:rPr lang="en-US" altLang="zh-CN" sz="1800" i="1">
                                <a:latin typeface="Cambria Math" panose="02040503050406030204"/>
                              </a:rPr>
                              <m:t>    </m:t>
                            </m:r>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r>
                              <a:rPr lang="en-US" altLang="zh-CN" sz="1800" i="1">
                                <a:latin typeface="Cambria Math" panose="02040503050406030204"/>
                              </a:rPr>
                              <m:t>=</m:t>
                            </m:r>
                            <m:r>
                              <a:rPr lang="zh-CN" altLang="en-US" sz="1800" i="1">
                                <a:latin typeface="Cambria Math" panose="02040503050406030204"/>
                              </a:rPr>
                              <m:t>−</m:t>
                            </m:r>
                            <m:r>
                              <a:rPr lang="en-US" altLang="zh-CN" sz="1800" i="1">
                                <a:latin typeface="Cambria Math" panose="02040503050406030204"/>
                              </a:rPr>
                              <m:t>1</m:t>
                            </m:r>
                          </m:e>
                        </m:eqArr>
                      </m:e>
                    </m:d>
                  </m:oMath>
                </a14:m>
                <a:r>
                  <a:rPr lang="zh-CN" altLang="en-US" sz="1800" dirty="0"/>
                  <a:t>      （</a:t>
                </a:r>
                <a:r>
                  <a:rPr lang="en-US" altLang="zh-CN" sz="1800" dirty="0"/>
                  <a:t>5</a:t>
                </a:r>
                <a:r>
                  <a:rPr lang="zh-CN" altLang="en-US" sz="1800" dirty="0"/>
                  <a:t>）</a:t>
                </a:r>
                <a:endParaRPr lang="x-none" altLang="zh-CN" sz="1800" dirty="0"/>
              </a:p>
              <a:p>
                <a:pPr>
                  <a:lnSpc>
                    <a:spcPct val="150000"/>
                  </a:lnSpc>
                </a:pPr>
                <a:r>
                  <a:rPr lang="zh-CN" altLang="en-US" sz="2000" dirty="0"/>
                  <a:t>样本点</a:t>
                </a:r>
                <a14:m>
                  <m:oMath xmlns:m="http://schemas.openxmlformats.org/officeDocument/2006/math">
                    <m:d>
                      <m:dPr>
                        <m:ctrlPr>
                          <a:rPr lang="x-none" altLang="zh-CN" sz="2000" i="1">
                            <a:latin typeface="Cambria Math" panose="02040503050406030204"/>
                          </a:rPr>
                        </m:ctrlPr>
                      </m:dPr>
                      <m:e>
                        <m:sSub>
                          <m:sSubPr>
                            <m:ctrlPr>
                              <a:rPr lang="x-none" altLang="zh-CN" sz="2000" i="1">
                                <a:latin typeface="Cambria Math" panose="02040503050406030204"/>
                              </a:rPr>
                            </m:ctrlPr>
                          </m:sSubPr>
                          <m:e>
                            <m:r>
                              <a:rPr lang="en-US" altLang="zh-CN" sz="2000" i="1">
                                <a:latin typeface="Cambria Math" panose="02040503050406030204"/>
                              </a:rPr>
                              <m:t>𝑥</m:t>
                            </m:r>
                          </m:e>
                          <m:sub>
                            <m:r>
                              <a:rPr lang="en-US" altLang="zh-CN" sz="2000" i="1">
                                <a:latin typeface="Cambria Math" panose="02040503050406030204"/>
                              </a:rPr>
                              <m:t>𝑖</m:t>
                            </m:r>
                          </m:sub>
                        </m:sSub>
                        <m:r>
                          <a:rPr lang="en-US" altLang="zh-CN" sz="2000" i="1">
                            <a:latin typeface="Cambria Math" panose="02040503050406030204"/>
                          </a:rPr>
                          <m:t>,</m:t>
                        </m:r>
                        <m:sSub>
                          <m:sSubPr>
                            <m:ctrlPr>
                              <a:rPr lang="x-none" altLang="zh-CN" sz="2000" i="1">
                                <a:latin typeface="Cambria Math" panose="02040503050406030204"/>
                              </a:rPr>
                            </m:ctrlPr>
                          </m:sSubPr>
                          <m:e>
                            <m:r>
                              <a:rPr lang="en-US" altLang="zh-CN" sz="2000" i="1">
                                <a:latin typeface="Cambria Math" panose="02040503050406030204"/>
                              </a:rPr>
                              <m:t>𝑦</m:t>
                            </m:r>
                          </m:e>
                          <m:sub>
                            <m:r>
                              <a:rPr lang="en-US" altLang="zh-CN" sz="2000" i="1">
                                <a:latin typeface="Cambria Math" panose="02040503050406030204"/>
                              </a:rPr>
                              <m:t>𝑖</m:t>
                            </m:r>
                          </m:sub>
                        </m:sSub>
                      </m:e>
                    </m:d>
                  </m:oMath>
                </a14:m>
                <a:r>
                  <a:rPr lang="zh-CN" altLang="en-US" sz="2000" dirty="0"/>
                  <a:t>到超平面的距离为：</a:t>
                </a:r>
                <a14:m>
                  <m:oMath xmlns:m="http://schemas.openxmlformats.org/officeDocument/2006/math">
                    <m:sSub>
                      <m:sSubPr>
                        <m:ctrlPr>
                          <a:rPr lang="x-none" altLang="zh-CN" sz="2000" i="1">
                            <a:latin typeface="Cambria Math" panose="02040503050406030204"/>
                          </a:rPr>
                        </m:ctrlPr>
                      </m:sSubPr>
                      <m:e>
                        <m:r>
                          <a:rPr lang="zh-CN" altLang="en-US" sz="2000" i="1">
                            <a:latin typeface="Cambria Math" panose="02040503050406030204"/>
                          </a:rPr>
                          <m:t>𝛾</m:t>
                        </m:r>
                      </m:e>
                      <m:sub>
                        <m:r>
                          <a:rPr lang="zh-CN" altLang="en-US" sz="2000" i="1">
                            <a:latin typeface="Cambria Math" panose="02040503050406030204"/>
                          </a:rPr>
                          <m:t>𝑖</m:t>
                        </m:r>
                      </m:sub>
                    </m:sSub>
                    <m:r>
                      <a:rPr lang="en-US" altLang="zh-CN" sz="2000" i="1">
                        <a:latin typeface="Cambria Math" panose="02040503050406030204"/>
                      </a:rPr>
                      <m:t>=</m:t>
                    </m:r>
                    <m:sSub>
                      <m:sSubPr>
                        <m:ctrlPr>
                          <a:rPr lang="x-none" altLang="zh-CN" sz="2000" i="1">
                            <a:latin typeface="Cambria Math" panose="02040503050406030204"/>
                          </a:rPr>
                        </m:ctrlPr>
                      </m:sSubPr>
                      <m:e>
                        <m:r>
                          <a:rPr lang="zh-CN" altLang="en-US" sz="2000" i="1">
                            <a:latin typeface="Cambria Math" panose="02040503050406030204"/>
                          </a:rPr>
                          <m:t>𝑦</m:t>
                        </m:r>
                      </m:e>
                      <m:sub>
                        <m:r>
                          <a:rPr lang="zh-CN" altLang="en-US" sz="2000" i="1">
                            <a:latin typeface="Cambria Math" panose="02040503050406030204"/>
                          </a:rPr>
                          <m:t>𝑖</m:t>
                        </m:r>
                      </m:sub>
                    </m:sSub>
                    <m:d>
                      <m:dPr>
                        <m:ctrlPr>
                          <a:rPr lang="x-none" altLang="zh-CN" sz="2000" i="1">
                            <a:latin typeface="Cambria Math" panose="02040503050406030204"/>
                          </a:rPr>
                        </m:ctrlPr>
                      </m:dPr>
                      <m:e>
                        <m:f>
                          <m:fPr>
                            <m:ctrlPr>
                              <a:rPr lang="x-none" altLang="zh-CN" sz="2000" i="1">
                                <a:latin typeface="Cambria Math" panose="02040503050406030204"/>
                              </a:rPr>
                            </m:ctrlPr>
                          </m:fPr>
                          <m:num>
                            <m:r>
                              <a:rPr lang="zh-CN" altLang="en-US" sz="2000" b="1" i="1">
                                <a:latin typeface="Cambria Math" panose="02040503050406030204"/>
                              </a:rPr>
                              <m:t>𝒘</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r>
                          <a:rPr lang="en-US" altLang="zh-CN" sz="2000" i="1">
                            <a:latin typeface="Cambria Math" panose="02040503050406030204"/>
                          </a:rPr>
                          <m:t>∙</m:t>
                        </m:r>
                        <m:sSub>
                          <m:sSubPr>
                            <m:ctrlPr>
                              <a:rPr lang="x-none" altLang="zh-CN" sz="2000" b="1" i="1">
                                <a:latin typeface="Cambria Math" panose="02040503050406030204"/>
                              </a:rPr>
                            </m:ctrlPr>
                          </m:sSubPr>
                          <m:e>
                            <m:r>
                              <a:rPr lang="zh-CN" altLang="en-US" sz="2000" b="1" i="1">
                                <a:latin typeface="Cambria Math" panose="02040503050406030204"/>
                              </a:rPr>
                              <m:t>𝒙</m:t>
                            </m:r>
                          </m:e>
                          <m:sub>
                            <m:r>
                              <a:rPr lang="zh-CN" altLang="en-US" sz="2000" b="1" i="1">
                                <a:latin typeface="Cambria Math" panose="02040503050406030204"/>
                              </a:rPr>
                              <m:t>𝒊</m:t>
                            </m:r>
                          </m:sub>
                        </m:sSub>
                        <m:r>
                          <a:rPr lang="en-US" altLang="zh-CN" sz="2000" i="1">
                            <a:latin typeface="Cambria Math" panose="02040503050406030204"/>
                          </a:rPr>
                          <m:t>+</m:t>
                        </m:r>
                        <m:f>
                          <m:fPr>
                            <m:ctrlPr>
                              <a:rPr lang="x-none" altLang="zh-CN" sz="2000" i="1">
                                <a:latin typeface="Cambria Math" panose="02040503050406030204"/>
                              </a:rPr>
                            </m:ctrlPr>
                          </m:fPr>
                          <m:num>
                            <m:r>
                              <a:rPr lang="zh-CN" altLang="en-US" sz="2000" i="1">
                                <a:latin typeface="Cambria Math" panose="02040503050406030204"/>
                              </a:rPr>
                              <m:t>𝛽</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e>
                    </m:d>
                  </m:oMath>
                </a14:m>
                <a:r>
                  <a:rPr lang="en-US" altLang="zh-CN" sz="2000" i="1" dirty="0"/>
                  <a:t> </a:t>
                </a:r>
                <a:r>
                  <a:rPr lang="zh-CN" altLang="en-US" sz="2000" dirty="0"/>
                  <a:t>（</a:t>
                </a:r>
                <a:r>
                  <a:rPr lang="en-US" altLang="zh-CN" sz="2000" dirty="0"/>
                  <a:t>6</a:t>
                </a:r>
                <a:r>
                  <a:rPr lang="zh-CN" altLang="en-US" sz="2000" dirty="0"/>
                  <a:t>）</a:t>
                </a:r>
                <a:endParaRPr lang="x-none" altLang="zh-CN" sz="2000" dirty="0"/>
              </a:p>
            </p:txBody>
          </p:sp>
        </mc:Choice>
        <mc:Fallback>
          <p:sp>
            <p:nvSpPr>
              <p:cNvPr id="7" name="矩形 3"/>
              <p:cNvSpPr>
                <a:spLocks noRot="1" noChangeAspect="1" noMove="1" noResize="1" noEditPoints="1" noAdjustHandles="1" noChangeArrowheads="1" noChangeShapeType="1" noTextEdit="1"/>
              </p:cNvSpPr>
              <p:nvPr/>
            </p:nvSpPr>
            <p:spPr bwMode="auto">
              <a:xfrm>
                <a:off x="467544" y="1153919"/>
                <a:ext cx="8045450" cy="4650247"/>
              </a:xfrm>
              <a:prstGeom prst="rect">
                <a:avLst/>
              </a:prstGeom>
              <a:blipFill rotWithShape="1">
                <a:blip r:embed="rId1"/>
                <a:stretch>
                  <a:fillRect l="-2" t="-3" r="2" b="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88429" y="1453727"/>
                <a:ext cx="8045450" cy="4456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t>超平面关于所有样本点的几何间隔是</a:t>
                </a:r>
                <a14:m>
                  <m:oMath xmlns:m="http://schemas.openxmlformats.org/officeDocument/2006/math">
                    <m:sSub>
                      <m:sSubPr>
                        <m:ctrlPr>
                          <a:rPr lang="x-none" altLang="zh-CN" sz="2000" i="1">
                            <a:latin typeface="Cambria Math" panose="02040503050406030204"/>
                          </a:rPr>
                        </m:ctrlPr>
                      </m:sSubPr>
                      <m:e>
                        <m:r>
                          <a:rPr lang="zh-CN" altLang="en-US" sz="2000" i="1">
                            <a:latin typeface="Cambria Math" panose="02040503050406030204"/>
                          </a:rPr>
                          <m:t>𝛾</m:t>
                        </m:r>
                      </m:e>
                      <m:sub>
                        <m:r>
                          <a:rPr lang="zh-CN" altLang="en-US" sz="2000" i="1">
                            <a:latin typeface="Cambria Math" panose="02040503050406030204"/>
                          </a:rPr>
                          <m:t>𝑖</m:t>
                        </m:r>
                      </m:sub>
                    </m:sSub>
                  </m:oMath>
                </a14:m>
                <a:r>
                  <a:rPr lang="zh-CN" altLang="en-US" sz="2000" dirty="0"/>
                  <a:t>的最小值，即</a:t>
                </a:r>
                <a:endParaRPr lang="en-US" altLang="zh-CN" sz="2000" dirty="0"/>
              </a:p>
              <a:p>
                <a:pPr marL="0" indent="0">
                  <a:buNone/>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a:rPr>
                        <m:t>𝛾</m:t>
                      </m:r>
                      <m:r>
                        <a:rPr lang="en-US" altLang="zh-CN" sz="2000" i="1">
                          <a:latin typeface="Cambria Math" panose="02040503050406030204"/>
                        </a:rPr>
                        <m:t>=</m:t>
                      </m:r>
                      <m:func>
                        <m:funcPr>
                          <m:ctrlPr>
                            <a:rPr lang="x-none" altLang="zh-CN" sz="2000" i="1">
                              <a:latin typeface="Cambria Math" panose="02040503050406030204"/>
                            </a:rPr>
                          </m:ctrlPr>
                        </m:funcPr>
                        <m:fName>
                          <m:r>
                            <a:rPr lang="en-US" altLang="zh-CN" sz="2000" i="1">
                              <a:latin typeface="Cambria Math" panose="02040503050406030204"/>
                            </a:rPr>
                            <m:t>𝑚𝑖𝑛</m:t>
                          </m:r>
                          <m:r>
                            <a:rPr lang="en-US" altLang="zh-CN" sz="2000" i="1">
                              <a:latin typeface="Cambria Math" panose="02040503050406030204"/>
                            </a:rPr>
                            <m:t> </m:t>
                          </m:r>
                        </m:fName>
                        <m:e>
                          <m:sSub>
                            <m:sSubPr>
                              <m:ctrlPr>
                                <a:rPr lang="x-none" altLang="zh-CN" sz="2000" i="1">
                                  <a:latin typeface="Cambria Math" panose="02040503050406030204"/>
                                </a:rPr>
                              </m:ctrlPr>
                            </m:sSubPr>
                            <m:e>
                              <m:r>
                                <a:rPr lang="zh-CN" altLang="en-US" sz="2000" i="1">
                                  <a:latin typeface="Cambria Math" panose="02040503050406030204"/>
                                </a:rPr>
                                <m:t>𝛾</m:t>
                              </m:r>
                            </m:e>
                            <m:sub>
                              <m:r>
                                <a:rPr lang="zh-CN" altLang="en-US" sz="2000" i="1">
                                  <a:latin typeface="Cambria Math" panose="02040503050406030204"/>
                                </a:rPr>
                                <m:t>𝑖</m:t>
                              </m:r>
                            </m:sub>
                          </m:sSub>
                        </m:e>
                      </m:func>
                    </m:oMath>
                  </m:oMathPara>
                </a14:m>
                <a:endParaRPr lang="x-none" altLang="zh-CN" sz="2000" dirty="0"/>
              </a:p>
              <a:p>
                <a14:m>
                  <m:oMath xmlns:m="http://schemas.openxmlformats.org/officeDocument/2006/math">
                    <m:r>
                      <a:rPr lang="zh-CN" altLang="en-US" sz="2000" i="1">
                        <a:latin typeface="Cambria Math" panose="02040503050406030204"/>
                      </a:rPr>
                      <m:t>𝛾</m:t>
                    </m:r>
                  </m:oMath>
                </a14:m>
                <a:r>
                  <a:rPr lang="zh-CN" altLang="en-US" sz="2000" dirty="0"/>
                  <a:t>也是支持向量到超平面的距离，为了求解最大分隔超平面，通过最大化间隔距离来实现，即最大化</a:t>
                </a:r>
                <a14:m>
                  <m:oMath xmlns:m="http://schemas.openxmlformats.org/officeDocument/2006/math">
                    <m:r>
                      <a:rPr lang="zh-CN" altLang="en-US" sz="2000" i="1">
                        <a:latin typeface="Cambria Math" panose="02040503050406030204"/>
                      </a:rPr>
                      <m:t>𝛾</m:t>
                    </m:r>
                  </m:oMath>
                </a14:m>
                <a:r>
                  <a:rPr lang="zh-CN" altLang="en-US" sz="2000" dirty="0"/>
                  <a:t>的值：</a:t>
                </a:r>
                <a:endParaRPr lang="x-none" altLang="zh-CN" sz="2000" dirty="0"/>
              </a:p>
              <a:p>
                <a:pPr marL="0" indent="0" algn="r">
                  <a:buNone/>
                </a:pPr>
                <a14:m>
                  <m:oMath xmlns:m="http://schemas.openxmlformats.org/officeDocument/2006/math">
                    <m:sSub>
                      <m:sSubPr>
                        <m:ctrlPr>
                          <a:rPr lang="x-none" altLang="zh-CN" sz="2000" i="1">
                            <a:latin typeface="Cambria Math" panose="02040503050406030204"/>
                          </a:rPr>
                        </m:ctrlPr>
                      </m:sSubPr>
                      <m:e>
                        <m:r>
                          <a:rPr lang="zh-CN" altLang="en-US" sz="2000" i="1">
                            <a:latin typeface="Cambria Math" panose="02040503050406030204"/>
                          </a:rPr>
                          <m:t>𝑦</m:t>
                        </m:r>
                      </m:e>
                      <m:sub>
                        <m:r>
                          <a:rPr lang="zh-CN" altLang="en-US" sz="2000" i="1">
                            <a:latin typeface="Cambria Math" panose="02040503050406030204"/>
                          </a:rPr>
                          <m:t>𝑖</m:t>
                        </m:r>
                      </m:sub>
                    </m:sSub>
                    <m:d>
                      <m:dPr>
                        <m:ctrlPr>
                          <a:rPr lang="x-none" altLang="zh-CN" sz="2000" i="1">
                            <a:latin typeface="Cambria Math" panose="02040503050406030204"/>
                          </a:rPr>
                        </m:ctrlPr>
                      </m:dPr>
                      <m:e>
                        <m:f>
                          <m:fPr>
                            <m:ctrlPr>
                              <a:rPr lang="x-none" altLang="zh-CN" sz="2000" i="1">
                                <a:latin typeface="Cambria Math" panose="02040503050406030204"/>
                              </a:rPr>
                            </m:ctrlPr>
                          </m:fPr>
                          <m:num>
                            <m:r>
                              <a:rPr lang="zh-CN" altLang="en-US" sz="2000" b="1" i="1">
                                <a:latin typeface="Cambria Math" panose="02040503050406030204"/>
                              </a:rPr>
                              <m:t>𝒘</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r>
                          <a:rPr lang="en-US" altLang="zh-CN" sz="2000" i="1">
                            <a:latin typeface="Cambria Math" panose="02040503050406030204"/>
                          </a:rPr>
                          <m:t>∙</m:t>
                        </m:r>
                        <m:sSub>
                          <m:sSubPr>
                            <m:ctrlPr>
                              <a:rPr lang="x-none" altLang="zh-CN" sz="2000" i="1">
                                <a:latin typeface="Cambria Math" panose="02040503050406030204"/>
                              </a:rPr>
                            </m:ctrlPr>
                          </m:sSubPr>
                          <m:e>
                            <m:r>
                              <a:rPr lang="zh-CN" altLang="en-US" sz="2000" i="1">
                                <a:latin typeface="Cambria Math" panose="02040503050406030204"/>
                              </a:rPr>
                              <m:t>𝑥</m:t>
                            </m:r>
                          </m:e>
                          <m:sub>
                            <m:r>
                              <a:rPr lang="zh-CN" altLang="en-US" sz="2000" i="1">
                                <a:latin typeface="Cambria Math" panose="02040503050406030204"/>
                              </a:rPr>
                              <m:t>𝑖</m:t>
                            </m:r>
                          </m:sub>
                        </m:sSub>
                        <m:r>
                          <a:rPr lang="en-US" altLang="zh-CN" sz="2000" i="1">
                            <a:latin typeface="Cambria Math" panose="02040503050406030204"/>
                          </a:rPr>
                          <m:t>+</m:t>
                        </m:r>
                        <m:f>
                          <m:fPr>
                            <m:ctrlPr>
                              <a:rPr lang="x-none" altLang="zh-CN" sz="2000" i="1">
                                <a:latin typeface="Cambria Math" panose="02040503050406030204"/>
                              </a:rPr>
                            </m:ctrlPr>
                          </m:fPr>
                          <m:num>
                            <m:r>
                              <a:rPr lang="zh-CN" altLang="en-US" sz="2000" i="1">
                                <a:latin typeface="Cambria Math" panose="02040503050406030204"/>
                              </a:rPr>
                              <m:t>𝛽</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e>
                    </m:d>
                    <m:r>
                      <a:rPr lang="en-US" altLang="zh-CN" sz="2000" i="1">
                        <a:latin typeface="Cambria Math" panose="02040503050406030204"/>
                      </a:rPr>
                      <m:t>≥</m:t>
                    </m:r>
                    <m:r>
                      <a:rPr lang="zh-CN" altLang="en-US" sz="2000" i="1">
                        <a:latin typeface="Cambria Math" panose="02040503050406030204"/>
                      </a:rPr>
                      <m:t>𝛾</m:t>
                    </m:r>
                    <m:r>
                      <a:rPr lang="zh-CN" altLang="en-US" sz="2000" i="1">
                        <a:latin typeface="Cambria Math" panose="02040503050406030204"/>
                      </a:rPr>
                      <m:t> </m:t>
                    </m:r>
                  </m:oMath>
                </a14:m>
                <a:r>
                  <a:rPr lang="en-US" altLang="zh-CN" sz="2000" i="1" dirty="0"/>
                  <a:t> , </a:t>
                </a:r>
                <a:r>
                  <a:rPr lang="en-US" altLang="zh-CN" sz="2000" i="1" dirty="0" err="1"/>
                  <a:t>i</a:t>
                </a:r>
                <a:r>
                  <a:rPr lang="en-US" altLang="zh-CN" sz="2000" i="1" dirty="0"/>
                  <a:t>=1,2,…,n		              	</a:t>
                </a:r>
                <a:r>
                  <a:rPr lang="zh-CN" altLang="en-US" sz="2000" dirty="0"/>
                  <a:t>（</a:t>
                </a:r>
                <a:r>
                  <a:rPr lang="en-US" altLang="zh-CN" sz="2000" dirty="0"/>
                  <a:t>7</a:t>
                </a:r>
                <a:r>
                  <a:rPr lang="zh-CN" altLang="en-US" sz="2000" dirty="0"/>
                  <a:t>）</a:t>
                </a:r>
                <a:endParaRPr lang="x-none" altLang="zh-CN" sz="2000" dirty="0"/>
              </a:p>
              <a:p>
                <a:r>
                  <a:rPr lang="zh-CN" altLang="en-US" sz="2000" dirty="0"/>
                  <a:t>两边同时除以</a:t>
                </a:r>
                <a14:m>
                  <m:oMath xmlns:m="http://schemas.openxmlformats.org/officeDocument/2006/math">
                    <m:r>
                      <a:rPr lang="zh-CN" altLang="en-US" sz="2000" i="1">
                        <a:latin typeface="Cambria Math" panose="02040503050406030204"/>
                      </a:rPr>
                      <m:t>𝛾</m:t>
                    </m:r>
                  </m:oMath>
                </a14:m>
                <a:r>
                  <a:rPr lang="zh-CN" altLang="en-US" sz="2000" dirty="0"/>
                  <a:t>，得到：</a:t>
                </a:r>
                <a:endParaRPr lang="x-none" altLang="zh-CN" sz="2000" dirty="0"/>
              </a:p>
              <a:p>
                <a:pPr marL="0" indent="0" algn="r">
                  <a:buNone/>
                </a:pPr>
                <a14:m>
                  <m:oMath xmlns:m="http://schemas.openxmlformats.org/officeDocument/2006/math">
                    <m:sSub>
                      <m:sSubPr>
                        <m:ctrlPr>
                          <a:rPr lang="x-none" altLang="zh-CN" sz="2000" i="1">
                            <a:latin typeface="Cambria Math" panose="02040503050406030204"/>
                          </a:rPr>
                        </m:ctrlPr>
                      </m:sSubPr>
                      <m:e>
                        <m:r>
                          <a:rPr lang="zh-CN" altLang="en-US" sz="2000" i="1">
                            <a:latin typeface="Cambria Math" panose="02040503050406030204"/>
                          </a:rPr>
                          <m:t>𝑦</m:t>
                        </m:r>
                      </m:e>
                      <m:sub>
                        <m:r>
                          <a:rPr lang="zh-CN" altLang="en-US" sz="2000" i="1">
                            <a:latin typeface="Cambria Math" panose="02040503050406030204"/>
                          </a:rPr>
                          <m:t>𝑖</m:t>
                        </m:r>
                      </m:sub>
                    </m:sSub>
                    <m:d>
                      <m:dPr>
                        <m:ctrlPr>
                          <a:rPr lang="x-none" altLang="zh-CN" sz="2000" i="1">
                            <a:latin typeface="Cambria Math" panose="02040503050406030204"/>
                          </a:rPr>
                        </m:ctrlPr>
                      </m:dPr>
                      <m:e>
                        <m:f>
                          <m:fPr>
                            <m:ctrlPr>
                              <a:rPr lang="x-none" altLang="zh-CN" sz="2000" i="1">
                                <a:latin typeface="Cambria Math" panose="02040503050406030204"/>
                              </a:rPr>
                            </m:ctrlPr>
                          </m:fPr>
                          <m:num>
                            <m:r>
                              <a:rPr lang="zh-CN" altLang="en-US" sz="2000" b="1" i="1">
                                <a:latin typeface="Cambria Math" panose="02040503050406030204"/>
                              </a:rPr>
                              <m:t>𝒘</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r>
                              <a:rPr lang="zh-CN" altLang="en-US" sz="2000" i="1">
                                <a:latin typeface="Cambria Math" panose="02040503050406030204"/>
                              </a:rPr>
                              <m:t>𝛾</m:t>
                            </m:r>
                          </m:den>
                        </m:f>
                        <m:r>
                          <a:rPr lang="en-US" altLang="zh-CN" sz="2000" i="1">
                            <a:latin typeface="Cambria Math" panose="02040503050406030204"/>
                          </a:rPr>
                          <m:t>∙</m:t>
                        </m:r>
                        <m:sSub>
                          <m:sSubPr>
                            <m:ctrlPr>
                              <a:rPr lang="x-none" altLang="zh-CN" sz="2000" i="1">
                                <a:latin typeface="Cambria Math" panose="02040503050406030204"/>
                              </a:rPr>
                            </m:ctrlPr>
                          </m:sSubPr>
                          <m:e>
                            <m:r>
                              <a:rPr lang="zh-CN" altLang="en-US" sz="2000" i="1">
                                <a:latin typeface="Cambria Math" panose="02040503050406030204"/>
                              </a:rPr>
                              <m:t>𝑥</m:t>
                            </m:r>
                          </m:e>
                          <m:sub>
                            <m:r>
                              <a:rPr lang="zh-CN" altLang="en-US" sz="2000" i="1">
                                <a:latin typeface="Cambria Math" panose="02040503050406030204"/>
                              </a:rPr>
                              <m:t>𝑖</m:t>
                            </m:r>
                          </m:sub>
                        </m:sSub>
                        <m:r>
                          <a:rPr lang="en-US" altLang="zh-CN" sz="2000" i="1">
                            <a:latin typeface="Cambria Math" panose="02040503050406030204"/>
                          </a:rPr>
                          <m:t>+</m:t>
                        </m:r>
                        <m:f>
                          <m:fPr>
                            <m:ctrlPr>
                              <a:rPr lang="x-none" altLang="zh-CN" sz="2000" i="1">
                                <a:latin typeface="Cambria Math" panose="02040503050406030204"/>
                              </a:rPr>
                            </m:ctrlPr>
                          </m:fPr>
                          <m:num>
                            <m:r>
                              <a:rPr lang="zh-CN" altLang="en-US" sz="2000" i="1">
                                <a:latin typeface="Cambria Math" panose="02040503050406030204"/>
                              </a:rPr>
                              <m:t>𝛽</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r>
                              <a:rPr lang="zh-CN" altLang="en-US" sz="2000" i="1">
                                <a:latin typeface="Cambria Math" panose="02040503050406030204"/>
                              </a:rPr>
                              <m:t>𝛾</m:t>
                            </m:r>
                          </m:den>
                        </m:f>
                      </m:e>
                    </m:d>
                    <m:r>
                      <a:rPr lang="en-US" altLang="zh-CN" sz="2000" i="1">
                        <a:latin typeface="Cambria Math" panose="02040503050406030204"/>
                      </a:rPr>
                      <m:t>≥ </m:t>
                    </m:r>
                    <m:r>
                      <a:rPr lang="en-US" altLang="zh-CN" sz="2000" i="1">
                        <a:latin typeface="Cambria Math" panose="02040503050406030204"/>
                      </a:rPr>
                      <m:t>1</m:t>
                    </m:r>
                  </m:oMath>
                </a14:m>
                <a:r>
                  <a:rPr lang="en-US" altLang="zh-CN" sz="2000" i="1" dirty="0"/>
                  <a:t>		                </a:t>
                </a:r>
                <a:r>
                  <a:rPr lang="zh-CN" altLang="en-US" sz="2000" i="1" dirty="0"/>
                  <a:t>           </a:t>
                </a:r>
                <a:r>
                  <a:rPr lang="en-US" altLang="zh-CN" sz="2000" i="1" dirty="0"/>
                  <a:t> 	</a:t>
                </a:r>
                <a:r>
                  <a:rPr lang="zh-CN" altLang="en-US" sz="2000" dirty="0"/>
                  <a:t>（</a:t>
                </a:r>
                <a:r>
                  <a:rPr lang="en-US" altLang="zh-CN" sz="2000" dirty="0"/>
                  <a:t>8</a:t>
                </a:r>
                <a:r>
                  <a:rPr lang="zh-CN" altLang="en-US" sz="2000" dirty="0"/>
                  <a:t>）</a:t>
                </a:r>
                <a:endParaRPr lang="x-none" altLang="zh-CN" sz="2000" dirty="0"/>
              </a:p>
              <a:p>
                <a:r>
                  <a:rPr lang="zh-CN" altLang="en-US" sz="2000" dirty="0"/>
                  <a:t>对上式进行简化，令</a:t>
                </a:r>
                <a14:m>
                  <m:oMath xmlns:m="http://schemas.openxmlformats.org/officeDocument/2006/math">
                    <m:r>
                      <a:rPr lang="zh-CN" altLang="en-US" sz="2000" b="1" i="1">
                        <a:latin typeface="Cambria Math" panose="02040503050406030204"/>
                      </a:rPr>
                      <m:t>𝒘</m:t>
                    </m:r>
                    <m:r>
                      <a:rPr lang="en-US" altLang="zh-CN" sz="2000" b="1" i="1">
                        <a:latin typeface="Cambria Math" panose="02040503050406030204"/>
                      </a:rPr>
                      <m:t>′</m:t>
                    </m:r>
                    <m:r>
                      <a:rPr lang="en-US" altLang="zh-CN" sz="2000" i="1">
                        <a:latin typeface="Cambria Math" panose="02040503050406030204"/>
                      </a:rPr>
                      <m:t>=</m:t>
                    </m:r>
                    <m:f>
                      <m:fPr>
                        <m:ctrlPr>
                          <a:rPr lang="x-none" altLang="zh-CN" sz="2000" i="1">
                            <a:latin typeface="Cambria Math" panose="02040503050406030204"/>
                          </a:rPr>
                        </m:ctrlPr>
                      </m:fPr>
                      <m:num>
                        <m:r>
                          <a:rPr lang="zh-CN" altLang="en-US" sz="2000" b="1" i="1">
                            <a:latin typeface="Cambria Math" panose="02040503050406030204"/>
                          </a:rPr>
                          <m:t>𝒘</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r>
                          <a:rPr lang="zh-CN" altLang="en-US" sz="2000" i="1">
                            <a:latin typeface="Cambria Math" panose="02040503050406030204"/>
                          </a:rPr>
                          <m:t>𝛾</m:t>
                        </m:r>
                      </m:den>
                    </m:f>
                  </m:oMath>
                </a14:m>
                <a:r>
                  <a:rPr lang="zh-CN" altLang="en-US" sz="2000" dirty="0"/>
                  <a:t>，</a:t>
                </a:r>
                <a14:m>
                  <m:oMath xmlns:m="http://schemas.openxmlformats.org/officeDocument/2006/math">
                    <m:r>
                      <a:rPr lang="zh-CN" altLang="en-US" sz="2000" i="1">
                        <a:latin typeface="Cambria Math" panose="02040503050406030204"/>
                      </a:rPr>
                      <m:t>𝛽</m:t>
                    </m:r>
                    <m:r>
                      <a:rPr lang="en-US" altLang="zh-CN" sz="2000" i="1">
                        <a:latin typeface="Cambria Math" panose="02040503050406030204"/>
                      </a:rPr>
                      <m:t>′=</m:t>
                    </m:r>
                    <m:f>
                      <m:fPr>
                        <m:ctrlPr>
                          <a:rPr lang="x-none" altLang="zh-CN" sz="2000" i="1">
                            <a:latin typeface="Cambria Math" panose="02040503050406030204"/>
                          </a:rPr>
                        </m:ctrlPr>
                      </m:fPr>
                      <m:num>
                        <m:r>
                          <a:rPr lang="zh-CN" altLang="en-US" sz="2000" i="1">
                            <a:latin typeface="Cambria Math" panose="02040503050406030204"/>
                          </a:rPr>
                          <m:t>𝛽</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r>
                          <a:rPr lang="zh-CN" altLang="en-US" sz="2000" i="1">
                            <a:latin typeface="Cambria Math" panose="02040503050406030204"/>
                          </a:rPr>
                          <m:t>𝛾</m:t>
                        </m:r>
                      </m:den>
                    </m:f>
                  </m:oMath>
                </a14:m>
                <a:r>
                  <a:rPr lang="zh-CN" altLang="en-US" sz="2000" dirty="0"/>
                  <a:t>，则有：</a:t>
                </a:r>
                <a:endParaRPr lang="x-none" altLang="zh-CN" sz="2000" dirty="0"/>
              </a:p>
              <a:p>
                <a:pPr marL="0" indent="0" algn="r">
                  <a:buNone/>
                </a:pPr>
                <a14:m>
                  <m:oMath xmlns:m="http://schemas.openxmlformats.org/officeDocument/2006/math">
                    <m:sSub>
                      <m:sSubPr>
                        <m:ctrlPr>
                          <a:rPr lang="x-none" altLang="zh-CN" sz="2000" i="1">
                            <a:latin typeface="Cambria Math" panose="02040503050406030204"/>
                          </a:rPr>
                        </m:ctrlPr>
                      </m:sSubPr>
                      <m:e>
                        <m:r>
                          <a:rPr lang="en-US" altLang="zh-CN" sz="2000" i="1">
                            <a:latin typeface="Cambria Math" panose="02040503050406030204"/>
                          </a:rPr>
                          <m:t>𝑦</m:t>
                        </m:r>
                      </m:e>
                      <m:sub>
                        <m:r>
                          <a:rPr lang="en-US" altLang="zh-CN" sz="2000" i="1">
                            <a:latin typeface="Cambria Math" panose="02040503050406030204"/>
                          </a:rPr>
                          <m:t>𝑖</m:t>
                        </m:r>
                      </m:sub>
                    </m:sSub>
                    <m:d>
                      <m:dPr>
                        <m:ctrlPr>
                          <a:rPr lang="x-none" altLang="zh-CN" sz="2000" i="1">
                            <a:latin typeface="Cambria Math" panose="02040503050406030204"/>
                          </a:rPr>
                        </m:ctrlPr>
                      </m:dPr>
                      <m:e>
                        <m:r>
                          <a:rPr lang="en-US" altLang="zh-CN" sz="2000" b="1" i="1">
                            <a:latin typeface="Cambria Math" panose="02040503050406030204"/>
                          </a:rPr>
                          <m:t>𝒘</m:t>
                        </m:r>
                        <m:r>
                          <a:rPr lang="en-US" altLang="zh-CN" sz="2000" b="1" i="1">
                            <a:latin typeface="Cambria Math" panose="02040503050406030204"/>
                          </a:rPr>
                          <m:t>′</m:t>
                        </m:r>
                        <m:sSub>
                          <m:sSubPr>
                            <m:ctrlPr>
                              <a:rPr lang="x-none" altLang="zh-CN" sz="2000" i="1">
                                <a:latin typeface="Cambria Math" panose="02040503050406030204"/>
                              </a:rPr>
                            </m:ctrlPr>
                          </m:sSubPr>
                          <m:e>
                            <m:r>
                              <a:rPr lang="en-US" altLang="zh-CN" sz="2000" i="1">
                                <a:latin typeface="Cambria Math" panose="02040503050406030204"/>
                              </a:rPr>
                              <m:t>𝑥</m:t>
                            </m:r>
                          </m:e>
                          <m:sub>
                            <m:r>
                              <a:rPr lang="en-US" altLang="zh-CN" sz="2000" i="1">
                                <a:latin typeface="Cambria Math" panose="02040503050406030204"/>
                              </a:rPr>
                              <m:t>𝑖</m:t>
                            </m:r>
                          </m:sub>
                        </m:sSub>
                        <m:r>
                          <a:rPr lang="en-US" altLang="zh-CN" sz="2000" i="1">
                            <a:latin typeface="Cambria Math" panose="02040503050406030204"/>
                          </a:rPr>
                          <m:t>+</m:t>
                        </m:r>
                        <m:r>
                          <a:rPr lang="en-US" altLang="zh-CN" sz="2000" i="1">
                            <a:latin typeface="Cambria Math" panose="02040503050406030204"/>
                          </a:rPr>
                          <m:t>𝛽</m:t>
                        </m:r>
                        <m:r>
                          <a:rPr lang="en-US" altLang="zh-CN" sz="2000" i="1">
                            <a:latin typeface="Cambria Math" panose="02040503050406030204"/>
                          </a:rPr>
                          <m:t>′ </m:t>
                        </m:r>
                      </m:e>
                    </m:d>
                    <m:r>
                      <a:rPr lang="en-US" altLang="zh-CN" sz="2000" i="1">
                        <a:latin typeface="Cambria Math" panose="02040503050406030204"/>
                      </a:rPr>
                      <m:t>≥</m:t>
                    </m:r>
                    <m:r>
                      <a:rPr lang="en-US" altLang="zh-CN" sz="2000" i="1">
                        <a:latin typeface="Cambria Math" panose="02040503050406030204"/>
                      </a:rPr>
                      <m:t>1</m:t>
                    </m:r>
                    <m:r>
                      <a:rPr lang="zh-CN" altLang="en-US" sz="2000" i="1">
                        <a:latin typeface="Cambria Math" panose="02040503050406030204"/>
                      </a:rPr>
                      <m:t>，</m:t>
                    </m:r>
                    <m:r>
                      <a:rPr lang="en-US" altLang="zh-CN" sz="2000" i="1">
                        <a:latin typeface="Cambria Math" panose="02040503050406030204"/>
                      </a:rPr>
                      <m:t>𝑖</m:t>
                    </m:r>
                    <m:r>
                      <a:rPr lang="en-US" altLang="zh-CN" sz="2000" i="1">
                        <a:latin typeface="Cambria Math" panose="02040503050406030204"/>
                      </a:rPr>
                      <m:t>=</m:t>
                    </m:r>
                    <m:r>
                      <a:rPr lang="en-US" altLang="zh-CN" sz="2000" i="1">
                        <a:latin typeface="Cambria Math" panose="02040503050406030204"/>
                      </a:rPr>
                      <m:t>1</m:t>
                    </m:r>
                    <m:r>
                      <a:rPr lang="zh-CN" altLang="en-US" sz="2000" i="1">
                        <a:latin typeface="Cambria Math" panose="02040503050406030204"/>
                      </a:rPr>
                      <m:t>，</m:t>
                    </m:r>
                    <m:r>
                      <a:rPr lang="en-US" altLang="zh-CN" sz="2000" i="1">
                        <a:latin typeface="Cambria Math" panose="02040503050406030204"/>
                      </a:rPr>
                      <m:t>2</m:t>
                    </m:r>
                    <m:r>
                      <a:rPr lang="zh-CN" altLang="en-US" sz="2000" i="1">
                        <a:latin typeface="Cambria Math" panose="02040503050406030204"/>
                      </a:rPr>
                      <m:t>，</m:t>
                    </m:r>
                    <m:r>
                      <a:rPr lang="en-US" altLang="zh-CN" sz="2000" i="1">
                        <a:latin typeface="Cambria Math" panose="02040503050406030204"/>
                      </a:rPr>
                      <m:t>3</m:t>
                    </m:r>
                    <m:r>
                      <a:rPr lang="zh-CN" altLang="en-US" sz="2000" i="1">
                        <a:latin typeface="Cambria Math" panose="02040503050406030204"/>
                      </a:rPr>
                      <m:t>，</m:t>
                    </m:r>
                    <m:r>
                      <a:rPr lang="zh-CN" altLang="en-US" sz="2000" i="1">
                        <a:latin typeface="Cambria Math" panose="02040503050406030204"/>
                      </a:rPr>
                      <m:t>⋯</m:t>
                    </m:r>
                    <m:r>
                      <a:rPr lang="zh-CN" altLang="en-US" sz="2000" i="1">
                        <a:latin typeface="Cambria Math" panose="02040503050406030204"/>
                      </a:rPr>
                      <m:t>，</m:t>
                    </m:r>
                    <m:r>
                      <a:rPr lang="en-US" altLang="zh-CN" sz="2000" i="1">
                        <a:latin typeface="Cambria Math" panose="02040503050406030204"/>
                      </a:rPr>
                      <m:t>𝑛</m:t>
                    </m:r>
                  </m:oMath>
                </a14:m>
                <a:r>
                  <a:rPr lang="en-US" altLang="zh-CN" sz="2000" dirty="0"/>
                  <a:t>          </a:t>
                </a:r>
                <a:r>
                  <a:rPr lang="zh-CN" altLang="en-US" sz="2000" dirty="0"/>
                  <a:t>（</a:t>
                </a:r>
                <a:r>
                  <a:rPr lang="en-US" altLang="zh-CN" sz="2000" dirty="0"/>
                  <a:t>9</a:t>
                </a:r>
                <a:r>
                  <a:rPr lang="zh-CN" altLang="en-US" sz="2000" dirty="0"/>
                  <a:t>）</a:t>
                </a:r>
                <a:r>
                  <a:rPr lang="x-none" altLang="zh-CN" sz="2000" dirty="0"/>
                  <a:t> </a:t>
                </a:r>
                <a:endParaRPr lang="x-none" altLang="zh-CN" sz="2000" dirty="0"/>
              </a:p>
              <a:p>
                <a:endParaRPr lang="zh-CN" altLang="en-US" sz="1800" dirty="0"/>
              </a:p>
            </p:txBody>
          </p:sp>
        </mc:Choice>
        <mc:Fallback>
          <p:sp>
            <p:nvSpPr>
              <p:cNvPr id="7" name="矩形 3"/>
              <p:cNvSpPr>
                <a:spLocks noRot="1" noChangeAspect="1" noMove="1" noResize="1" noEditPoints="1" noAdjustHandles="1" noChangeArrowheads="1" noChangeShapeType="1" noTextEdit="1"/>
              </p:cNvSpPr>
              <p:nvPr/>
            </p:nvSpPr>
            <p:spPr bwMode="auto">
              <a:xfrm>
                <a:off x="488429" y="1453727"/>
                <a:ext cx="8045450" cy="4456733"/>
              </a:xfrm>
              <a:prstGeom prst="rect">
                <a:avLst/>
              </a:prstGeom>
              <a:blipFill rotWithShape="1">
                <a:blip r:embed="rId1"/>
                <a:stretch>
                  <a:fillRect l="-1" t="-5" r="1" b="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488429" y="1453727"/>
                <a:ext cx="8045450" cy="4703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t>两个分类间隔为：</a:t>
                </a:r>
                <a:endParaRPr lang="x-none" altLang="zh-CN" sz="2000" dirty="0"/>
              </a:p>
              <a:p>
                <a:pPr marL="0" indent="0" algn="r" latinLnBrk="1">
                  <a:buNone/>
                </a:pPr>
                <a14:m>
                  <m:oMath xmlns:m="http://schemas.openxmlformats.org/officeDocument/2006/math">
                    <m:r>
                      <a:rPr lang="en-US" altLang="zh-CN" sz="2000" i="1">
                        <a:latin typeface="Cambria Math" panose="02040503050406030204"/>
                      </a:rPr>
                      <m:t>2</m:t>
                    </m:r>
                    <m:r>
                      <a:rPr lang="zh-CN" altLang="en-US" sz="2000" i="1">
                        <a:latin typeface="Cambria Math" panose="02040503050406030204"/>
                      </a:rPr>
                      <m:t>𝛾</m:t>
                    </m:r>
                    <m:r>
                      <a:rPr lang="en-US" altLang="zh-CN" sz="2000" i="1">
                        <a:latin typeface="Cambria Math" panose="02040503050406030204"/>
                      </a:rPr>
                      <m:t>=</m:t>
                    </m:r>
                    <m:r>
                      <a:rPr lang="en-US" altLang="zh-CN" sz="2000" i="1">
                        <a:latin typeface="Cambria Math" panose="02040503050406030204"/>
                      </a:rPr>
                      <m:t>2</m:t>
                    </m:r>
                    <m:r>
                      <a:rPr lang="zh-CN" altLang="en-US" sz="2000" i="1">
                        <a:latin typeface="Cambria Math" panose="02040503050406030204"/>
                      </a:rPr>
                      <m:t>𝑑</m:t>
                    </m:r>
                    <m:r>
                      <a:rPr lang="en-US" altLang="zh-CN" sz="2000" i="1">
                        <a:latin typeface="Cambria Math" panose="02040503050406030204"/>
                      </a:rPr>
                      <m:t>=</m:t>
                    </m:r>
                    <m:r>
                      <a:rPr lang="en-US" altLang="zh-CN" sz="2000" i="1">
                        <a:latin typeface="Cambria Math" panose="02040503050406030204"/>
                      </a:rPr>
                      <m:t>2</m:t>
                    </m:r>
                    <m:f>
                      <m:fPr>
                        <m:ctrlPr>
                          <a:rPr lang="x-none" altLang="zh-CN" sz="2000" i="1">
                            <a:latin typeface="Cambria Math" panose="02040503050406030204"/>
                          </a:rPr>
                        </m:ctrlPr>
                      </m:fPr>
                      <m:num>
                        <m:d>
                          <m:dPr>
                            <m:begChr m:val="|"/>
                            <m:endChr m:val="|"/>
                            <m:ctrlPr>
                              <a:rPr lang="x-none" altLang="zh-CN" sz="2000" i="1">
                                <a:latin typeface="Cambria Math" panose="02040503050406030204"/>
                              </a:rPr>
                            </m:ctrlPr>
                          </m:dPr>
                          <m:e>
                            <m:r>
                              <a:rPr lang="zh-CN" altLang="en-US" sz="2000" b="1" i="1">
                                <a:latin typeface="Cambria Math" panose="02040503050406030204"/>
                              </a:rPr>
                              <m:t>𝒘</m:t>
                            </m:r>
                            <m:r>
                              <a:rPr lang="zh-CN" altLang="en-US" sz="2000" i="1">
                                <a:latin typeface="Cambria Math" panose="02040503050406030204"/>
                              </a:rPr>
                              <m:t>𝑥</m:t>
                            </m:r>
                            <m:r>
                              <a:rPr lang="en-US" altLang="zh-CN" sz="2000" i="1">
                                <a:latin typeface="Cambria Math" panose="02040503050406030204"/>
                              </a:rPr>
                              <m:t>+</m:t>
                            </m:r>
                            <m:r>
                              <a:rPr lang="zh-CN" altLang="en-US" sz="2000" i="1">
                                <a:latin typeface="Cambria Math" panose="02040503050406030204"/>
                              </a:rPr>
                              <m:t>𝛽</m:t>
                            </m:r>
                          </m:e>
                        </m:d>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r>
                      <a:rPr lang="en-US" altLang="zh-CN" sz="2000" i="1">
                        <a:latin typeface="Cambria Math" panose="02040503050406030204"/>
                      </a:rPr>
                      <m:t>=</m:t>
                    </m:r>
                    <m:f>
                      <m:fPr>
                        <m:ctrlPr>
                          <a:rPr lang="x-none" altLang="zh-CN" sz="2000" i="1">
                            <a:latin typeface="Cambria Math" panose="02040503050406030204"/>
                          </a:rPr>
                        </m:ctrlPr>
                      </m:fPr>
                      <m:num>
                        <m:r>
                          <a:rPr lang="en-US" altLang="zh-CN" sz="2000" i="1">
                            <a:latin typeface="Cambria Math" panose="02040503050406030204"/>
                          </a:rPr>
                          <m:t>2</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oMath>
                </a14:m>
                <a:r>
                  <a:rPr lang="zh-CN" altLang="en-US" sz="2000" dirty="0"/>
                  <a:t>                 </a:t>
                </a:r>
                <a:r>
                  <a:rPr lang="en-US" altLang="zh-CN" sz="2000" dirty="0"/>
                  <a:t>  </a:t>
                </a:r>
                <a:r>
                  <a:rPr lang="zh-CN" altLang="en-US" sz="2000" dirty="0"/>
                  <a:t>      （</a:t>
                </a:r>
                <a:r>
                  <a:rPr lang="en-US" altLang="zh-CN" sz="2000" dirty="0"/>
                  <a:t>10</a:t>
                </a:r>
                <a:r>
                  <a:rPr lang="zh-CN" altLang="en-US" sz="2000" dirty="0"/>
                  <a:t>）</a:t>
                </a:r>
                <a:endParaRPr lang="x-none" altLang="zh-CN" sz="2000" dirty="0"/>
              </a:p>
              <a:p>
                <a:r>
                  <a:rPr lang="zh-CN" altLang="en-US" sz="2000" dirty="0"/>
                  <a:t>这里便转化成求：</a:t>
                </a:r>
                <a:endParaRPr lang="x-none" altLang="zh-CN" sz="2000" dirty="0"/>
              </a:p>
              <a:p>
                <a:pPr marL="0" indent="0" algn="r" latinLnBrk="1">
                  <a:buNone/>
                </a:pPr>
                <a:r>
                  <a:rPr lang="en-US" altLang="zh-CN" sz="2000" i="1" dirty="0"/>
                  <a:t>max </a:t>
                </a:r>
                <a14:m>
                  <m:oMath xmlns:m="http://schemas.openxmlformats.org/officeDocument/2006/math">
                    <m:f>
                      <m:fPr>
                        <m:ctrlPr>
                          <a:rPr lang="x-none" altLang="zh-CN" sz="2000" i="1">
                            <a:latin typeface="Cambria Math" panose="02040503050406030204"/>
                          </a:rPr>
                        </m:ctrlPr>
                      </m:fPr>
                      <m:num>
                        <m:r>
                          <a:rPr lang="en-US" altLang="zh-CN" sz="2000" i="1">
                            <a:latin typeface="Cambria Math" panose="02040503050406030204"/>
                          </a:rPr>
                          <m:t>2</m:t>
                        </m:r>
                      </m:num>
                      <m:den>
                        <m:d>
                          <m:dPr>
                            <m:begChr m:val="|"/>
                            <m:endChr m:val="|"/>
                            <m:ctrlPr>
                              <a:rPr lang="x-none" altLang="zh-CN" sz="2000" i="1">
                                <a:latin typeface="Cambria Math" panose="02040503050406030204"/>
                              </a:rPr>
                            </m:ctrlPr>
                          </m:dPr>
                          <m:e>
                            <m:d>
                              <m:dPr>
                                <m:begChr m:val="|"/>
                                <m:endChr m:val="|"/>
                                <m:ctrlPr>
                                  <a:rPr lang="x-none" altLang="zh-CN" sz="2000" i="1">
                                    <a:latin typeface="Cambria Math" panose="02040503050406030204"/>
                                  </a:rPr>
                                </m:ctrlPr>
                              </m:dPr>
                              <m:e>
                                <m:r>
                                  <a:rPr lang="zh-CN" altLang="en-US" sz="2000" b="1" i="1">
                                    <a:latin typeface="Cambria Math" panose="02040503050406030204"/>
                                  </a:rPr>
                                  <m:t>𝒘</m:t>
                                </m:r>
                              </m:e>
                            </m:d>
                          </m:e>
                        </m:d>
                      </m:den>
                    </m:f>
                  </m:oMath>
                </a14:m>
                <a:r>
                  <a:rPr lang="en-US" altLang="zh-CN" sz="2000" dirty="0"/>
                  <a:t> </a:t>
                </a:r>
                <a:r>
                  <a:rPr lang="zh-CN" altLang="en-US" sz="2000" dirty="0"/>
                  <a:t>或</a:t>
                </a:r>
                <a:r>
                  <a:rPr lang="en-US" altLang="zh-CN" sz="2000" dirty="0"/>
                  <a:t> </a:t>
                </a:r>
                <a14:m>
                  <m:oMath xmlns:m="http://schemas.openxmlformats.org/officeDocument/2006/math">
                    <m:func>
                      <m:funcPr>
                        <m:ctrlPr>
                          <a:rPr lang="x-none" altLang="zh-CN" sz="2000" i="1">
                            <a:latin typeface="Cambria Math" panose="02040503050406030204"/>
                          </a:rPr>
                        </m:ctrlPr>
                      </m:funcPr>
                      <m:fName>
                        <m:r>
                          <m:rPr>
                            <m:sty m:val="p"/>
                          </m:rPr>
                          <a:rPr lang="en-US" altLang="zh-CN" sz="2000">
                            <a:latin typeface="Cambria Math" panose="02040503050406030204"/>
                          </a:rPr>
                          <m:t>min</m:t>
                        </m:r>
                      </m:fName>
                      <m:e>
                        <m:r>
                          <a:rPr lang="en-US" altLang="zh-CN" sz="2000" b="1" i="1">
                            <a:latin typeface="Cambria Math" panose="02040503050406030204"/>
                          </a:rPr>
                          <m:t>||</m:t>
                        </m:r>
                        <m:r>
                          <a:rPr lang="zh-CN" altLang="en-US" sz="2000" b="1" i="1">
                            <a:latin typeface="Cambria Math" panose="02040503050406030204"/>
                          </a:rPr>
                          <m:t>𝒘</m:t>
                        </m:r>
                        <m:r>
                          <a:rPr lang="en-US" altLang="zh-CN" sz="2000" b="1" i="1">
                            <a:latin typeface="Cambria Math" panose="02040503050406030204"/>
                          </a:rPr>
                          <m:t>||</m:t>
                        </m:r>
                      </m:e>
                    </m:func>
                  </m:oMath>
                </a14:m>
                <a:r>
                  <a:rPr lang="zh-CN" altLang="en-US" sz="2000" dirty="0"/>
                  <a:t>            </a:t>
                </a:r>
                <a:r>
                  <a:rPr lang="en-US" altLang="zh-CN" sz="2000" dirty="0"/>
                  <a:t>  </a:t>
                </a:r>
                <a:r>
                  <a:rPr lang="zh-CN" altLang="en-US" sz="2000" dirty="0"/>
                  <a:t>                     （</a:t>
                </a:r>
                <a:r>
                  <a:rPr lang="en-US" altLang="zh-CN" sz="2000" dirty="0"/>
                  <a:t>11</a:t>
                </a:r>
                <a:r>
                  <a:rPr lang="zh-CN" altLang="en-US" sz="2000" dirty="0"/>
                  <a:t>）</a:t>
                </a:r>
                <a:endParaRPr lang="x-none" altLang="zh-CN" sz="2000" dirty="0"/>
              </a:p>
              <a:p>
                <a:pPr algn="just"/>
                <a:r>
                  <a:rPr lang="zh-CN" altLang="en-US" sz="2000" dirty="0"/>
                  <a:t>为了下面优化过程中对函数求导的方便，最小化</a:t>
                </a:r>
                <a:r>
                  <a:rPr lang="en-US" altLang="zh-CN" sz="2000" dirty="0"/>
                  <a:t>||</a:t>
                </a:r>
                <a:r>
                  <a:rPr lang="en-US" altLang="zh-CN" sz="2000" b="1" dirty="0"/>
                  <a:t>w</a:t>
                </a:r>
                <a:r>
                  <a:rPr lang="en-US" altLang="zh-CN" sz="2000" dirty="0"/>
                  <a:t>||</a:t>
                </a:r>
                <a:r>
                  <a:rPr lang="zh-CN" altLang="en-US" sz="2000" dirty="0"/>
                  <a:t>与最小化</a:t>
                </a:r>
                <a14:m>
                  <m:oMath xmlns:m="http://schemas.openxmlformats.org/officeDocument/2006/math">
                    <m:f>
                      <m:fPr>
                        <m:ctrlPr>
                          <a:rPr lang="x-none" altLang="zh-CN" sz="2000" i="1">
                            <a:latin typeface="Cambria Math" panose="02040503050406030204"/>
                          </a:rPr>
                        </m:ctrlPr>
                      </m:fPr>
                      <m:num>
                        <m:r>
                          <a:rPr lang="en-US" altLang="zh-CN" sz="2000" i="1">
                            <a:latin typeface="Cambria Math" panose="02040503050406030204"/>
                          </a:rPr>
                          <m:t>1</m:t>
                        </m:r>
                      </m:num>
                      <m:den>
                        <m:r>
                          <a:rPr lang="en-US" altLang="zh-CN" sz="2000" i="1">
                            <a:latin typeface="Cambria Math" panose="02040503050406030204"/>
                          </a:rPr>
                          <m:t>2</m:t>
                        </m:r>
                      </m:den>
                    </m:f>
                    <m:r>
                      <a:rPr lang="en-US" altLang="zh-CN" sz="2000" i="1">
                        <a:latin typeface="Cambria Math" panose="02040503050406030204"/>
                      </a:rPr>
                      <m:t>||</m:t>
                    </m:r>
                    <m:r>
                      <a:rPr lang="zh-CN" altLang="en-US" sz="2000" b="1" i="1">
                        <a:latin typeface="Cambria Math" panose="02040503050406030204"/>
                      </a:rPr>
                      <m:t>𝒘</m:t>
                    </m:r>
                    <m:r>
                      <a:rPr lang="en-US" altLang="zh-CN" sz="2000" i="1">
                        <a:latin typeface="Cambria Math" panose="02040503050406030204"/>
                      </a:rPr>
                      <m:t>|</m:t>
                    </m:r>
                    <m:sSup>
                      <m:sSupPr>
                        <m:ctrlPr>
                          <a:rPr lang="x-none" altLang="zh-CN" sz="2000" i="1">
                            <a:latin typeface="Cambria Math" panose="02040503050406030204"/>
                          </a:rPr>
                        </m:ctrlPr>
                      </m:sSupPr>
                      <m:e>
                        <m:r>
                          <a:rPr lang="en-US" altLang="zh-CN" sz="2000" i="1">
                            <a:latin typeface="Cambria Math" panose="02040503050406030204"/>
                          </a:rPr>
                          <m:t>|</m:t>
                        </m:r>
                      </m:e>
                      <m:sup>
                        <m:r>
                          <a:rPr lang="en-US" altLang="zh-CN" sz="2000" i="1">
                            <a:latin typeface="Cambria Math" panose="02040503050406030204"/>
                          </a:rPr>
                          <m:t>2</m:t>
                        </m:r>
                      </m:sup>
                    </m:sSup>
                  </m:oMath>
                </a14:m>
                <a:r>
                  <a:rPr lang="zh-CN" altLang="en-US" sz="2000" dirty="0"/>
                  <a:t>等价，将求</a:t>
                </a:r>
                <a14:m>
                  <m:oMath xmlns:m="http://schemas.openxmlformats.org/officeDocument/2006/math">
                    <m:func>
                      <m:funcPr>
                        <m:ctrlPr>
                          <a:rPr lang="x-none" altLang="zh-CN" sz="2000" i="1">
                            <a:latin typeface="Cambria Math" panose="02040503050406030204"/>
                          </a:rPr>
                        </m:ctrlPr>
                      </m:funcPr>
                      <m:fName>
                        <m:r>
                          <m:rPr>
                            <m:sty m:val="p"/>
                          </m:rPr>
                          <a:rPr lang="en-US" altLang="zh-CN" sz="2000">
                            <a:latin typeface="Cambria Math" panose="02040503050406030204"/>
                          </a:rPr>
                          <m:t>min</m:t>
                        </m:r>
                      </m:fName>
                      <m:e>
                        <m:r>
                          <a:rPr lang="en-US" altLang="zh-CN" sz="2000" b="1" i="1">
                            <a:latin typeface="Cambria Math" panose="02040503050406030204"/>
                          </a:rPr>
                          <m:t>||</m:t>
                        </m:r>
                        <m:r>
                          <a:rPr lang="zh-CN" altLang="en-US" sz="2000" b="1" i="1">
                            <a:latin typeface="Cambria Math" panose="02040503050406030204"/>
                          </a:rPr>
                          <m:t>𝒘</m:t>
                        </m:r>
                        <m:r>
                          <a:rPr lang="en-US" altLang="zh-CN" sz="2000" b="1" i="1">
                            <a:latin typeface="Cambria Math" panose="02040503050406030204"/>
                          </a:rPr>
                          <m:t>||</m:t>
                        </m:r>
                      </m:e>
                    </m:func>
                  </m:oMath>
                </a14:m>
                <a:r>
                  <a:rPr lang="zh-CN" altLang="en-US" sz="2000" dirty="0"/>
                  <a:t>转化为求式（</a:t>
                </a:r>
                <a:r>
                  <a:rPr lang="en-US" altLang="zh-CN" sz="2000" dirty="0"/>
                  <a:t>12</a:t>
                </a:r>
                <a:r>
                  <a:rPr lang="zh-CN" altLang="en-US" sz="2000" dirty="0"/>
                  <a:t>），即线性</a:t>
                </a:r>
                <a:r>
                  <a:rPr lang="en-US" altLang="zh-CN" sz="2000" dirty="0"/>
                  <a:t>SVM</a:t>
                </a:r>
                <a:r>
                  <a:rPr lang="zh-CN" altLang="en-US" sz="2000" dirty="0"/>
                  <a:t>最优化问题的数学描述如下：</a:t>
                </a:r>
                <a:r>
                  <a:rPr lang="en-US" altLang="zh-CN" sz="2000" dirty="0"/>
                  <a:t>         </a:t>
                </a:r>
                <a:endParaRPr lang="en-US" altLang="zh-CN" sz="2000" dirty="0"/>
              </a:p>
              <a:p>
                <a:pPr marL="0" indent="0" algn="ctr">
                  <a:buNone/>
                </a:pPr>
                <a14:m>
                  <m:oMathPara xmlns:m="http://schemas.openxmlformats.org/officeDocument/2006/math">
                    <m:oMathParaPr>
                      <m:jc m:val="centerGroup"/>
                    </m:oMathParaPr>
                    <m:oMath xmlns:m="http://schemas.openxmlformats.org/officeDocument/2006/math">
                      <m:func>
                        <m:funcPr>
                          <m:ctrlPr>
                            <a:rPr lang="x-none" altLang="zh-CN" sz="2000" i="1">
                              <a:latin typeface="Cambria Math" panose="02040503050406030204"/>
                            </a:rPr>
                          </m:ctrlPr>
                        </m:funcPr>
                        <m:fName>
                          <m:r>
                            <a:rPr lang="zh-CN" altLang="en-US" sz="2000" i="1">
                              <a:latin typeface="Cambria Math" panose="02040503050406030204"/>
                            </a:rPr>
                            <m:t>𝑚𝑖𝑛</m:t>
                          </m:r>
                        </m:fName>
                        <m:e>
                          <m:r>
                            <a:rPr lang="zh-CN" altLang="en-US" sz="2000" i="1">
                              <a:latin typeface="Cambria Math" panose="02040503050406030204"/>
                            </a:rPr>
                            <m:t> </m:t>
                          </m:r>
                          <m:f>
                            <m:fPr>
                              <m:ctrlPr>
                                <a:rPr lang="x-none" altLang="zh-CN" sz="2000" i="1">
                                  <a:latin typeface="Cambria Math" panose="02040503050406030204"/>
                                </a:rPr>
                              </m:ctrlPr>
                            </m:fPr>
                            <m:num>
                              <m:r>
                                <a:rPr lang="en-US" altLang="zh-CN" sz="2000" i="1">
                                  <a:latin typeface="Cambria Math" panose="02040503050406030204"/>
                                </a:rPr>
                                <m:t>1</m:t>
                              </m:r>
                            </m:num>
                            <m:den>
                              <m:r>
                                <a:rPr lang="en-US" altLang="zh-CN" sz="2000" i="1">
                                  <a:latin typeface="Cambria Math" panose="02040503050406030204"/>
                                </a:rPr>
                                <m:t>2</m:t>
                              </m:r>
                            </m:den>
                          </m:f>
                          <m:r>
                            <a:rPr lang="en-US" altLang="zh-CN" sz="2000" i="1">
                              <a:latin typeface="Cambria Math" panose="02040503050406030204"/>
                            </a:rPr>
                            <m:t>||</m:t>
                          </m:r>
                          <m:r>
                            <a:rPr lang="zh-CN" altLang="en-US" sz="2000" b="1" i="1">
                              <a:latin typeface="Cambria Math" panose="02040503050406030204"/>
                            </a:rPr>
                            <m:t>𝒘</m:t>
                          </m:r>
                          <m:r>
                            <a:rPr lang="en-US" altLang="zh-CN" sz="2000" i="1">
                              <a:latin typeface="Cambria Math" panose="02040503050406030204"/>
                            </a:rPr>
                            <m:t>|</m:t>
                          </m:r>
                          <m:sSup>
                            <m:sSupPr>
                              <m:ctrlPr>
                                <a:rPr lang="x-none" altLang="zh-CN" sz="2000" i="1">
                                  <a:latin typeface="Cambria Math" panose="02040503050406030204"/>
                                </a:rPr>
                              </m:ctrlPr>
                            </m:sSupPr>
                            <m:e>
                              <m:r>
                                <a:rPr lang="en-US" altLang="zh-CN" sz="2000" i="1">
                                  <a:latin typeface="Cambria Math" panose="02040503050406030204"/>
                                </a:rPr>
                                <m:t>|</m:t>
                              </m:r>
                            </m:e>
                            <m:sup>
                              <m:r>
                                <a:rPr lang="en-US" altLang="zh-CN" sz="2000" i="1">
                                  <a:latin typeface="Cambria Math" panose="02040503050406030204"/>
                                </a:rPr>
                                <m:t>2</m:t>
                              </m:r>
                            </m:sup>
                          </m:sSup>
                        </m:e>
                      </m:func>
                      <m:r>
                        <a:rPr lang="zh-CN" altLang="en-US" sz="2000" i="1">
                          <a:latin typeface="Cambria Math" panose="02040503050406030204"/>
                        </a:rPr>
                        <m:t> </m:t>
                      </m:r>
                      <m:r>
                        <a:rPr lang="en-US" altLang="zh-CN" sz="2000" b="0" i="1" smtClean="0">
                          <a:latin typeface="Cambria Math" panose="02040503050406030204" pitchFamily="18" charset="0"/>
                        </a:rPr>
                        <m:t>  </m:t>
                      </m:r>
                    </m:oMath>
                  </m:oMathPara>
                </a14:m>
                <a:endParaRPr lang="en-US" altLang="zh-CN" sz="2000" b="0" i="1" dirty="0">
                  <a:latin typeface="Cambria Math" panose="02040503050406030204" pitchFamily="18" charset="0"/>
                </a:endParaRPr>
              </a:p>
              <a:p>
                <a:pPr marL="0" indent="0" algn="ctr">
                  <a:buNone/>
                </a:pPr>
                <a14:m>
                  <m:oMath xmlns:m="http://schemas.openxmlformats.org/officeDocument/2006/math">
                    <m:r>
                      <a:rPr lang="en-US" altLang="zh-CN" sz="2000" b="0" i="1" smtClean="0">
                        <a:latin typeface="Cambria Math" panose="02040503050406030204" pitchFamily="18" charset="0"/>
                      </a:rPr>
                      <m:t> </m:t>
                    </m:r>
                  </m:oMath>
                </a14:m>
                <a:r>
                  <a:rPr lang="en-US" altLang="zh-CN" sz="2000" i="1" dirty="0"/>
                  <a:t>s</a:t>
                </a:r>
                <a:r>
                  <a:rPr lang="en-US" altLang="zh-CN" sz="2000" i="1" dirty="0" err="1"/>
                  <a:t>.t.</a:t>
                </a:r>
                <a14:m>
                  <m:oMath xmlns:m="http://schemas.openxmlformats.org/officeDocument/2006/math">
                    <m:r>
                      <a:rPr lang="en-US" altLang="zh-CN" sz="2000" i="1">
                        <a:latin typeface="Cambria Math" panose="02040503050406030204"/>
                      </a:rPr>
                      <m:t> </m:t>
                    </m:r>
                    <m:sSub>
                      <m:sSubPr>
                        <m:ctrlPr>
                          <a:rPr lang="x-none" altLang="zh-CN" sz="2000" i="1">
                            <a:latin typeface="Cambria Math" panose="02040503050406030204"/>
                          </a:rPr>
                        </m:ctrlPr>
                      </m:sSubPr>
                      <m:e>
                        <m:r>
                          <a:rPr lang="en-US" altLang="zh-CN" sz="2000" i="1">
                            <a:latin typeface="Cambria Math" panose="02040503050406030204"/>
                          </a:rPr>
                          <m:t>𝑦</m:t>
                        </m:r>
                      </m:e>
                      <m:sub>
                        <m:r>
                          <a:rPr lang="en-US" altLang="zh-CN" sz="2000" i="1">
                            <a:latin typeface="Cambria Math" panose="02040503050406030204"/>
                          </a:rPr>
                          <m:t>𝑖</m:t>
                        </m:r>
                      </m:sub>
                    </m:sSub>
                    <m:d>
                      <m:dPr>
                        <m:ctrlPr>
                          <a:rPr lang="x-none" altLang="zh-CN" sz="2000" i="1">
                            <a:latin typeface="Cambria Math" panose="02040503050406030204"/>
                          </a:rPr>
                        </m:ctrlPr>
                      </m:dPr>
                      <m:e>
                        <m:r>
                          <a:rPr lang="en-US" altLang="zh-CN" sz="2000" b="1" i="1">
                            <a:latin typeface="Cambria Math" panose="02040503050406030204"/>
                          </a:rPr>
                          <m:t>𝒘</m:t>
                        </m:r>
                        <m:sSub>
                          <m:sSubPr>
                            <m:ctrlPr>
                              <a:rPr lang="x-none" altLang="zh-CN" sz="2000" i="1">
                                <a:latin typeface="Cambria Math" panose="02040503050406030204"/>
                              </a:rPr>
                            </m:ctrlPr>
                          </m:sSubPr>
                          <m:e>
                            <m:r>
                              <a:rPr lang="en-US" altLang="zh-CN" sz="2000" i="1">
                                <a:latin typeface="Cambria Math" panose="02040503050406030204"/>
                              </a:rPr>
                              <m:t>𝑥</m:t>
                            </m:r>
                          </m:e>
                          <m:sub>
                            <m:r>
                              <a:rPr lang="en-US" altLang="zh-CN" sz="2000" i="1">
                                <a:latin typeface="Cambria Math" panose="02040503050406030204"/>
                              </a:rPr>
                              <m:t>𝑖</m:t>
                            </m:r>
                          </m:sub>
                        </m:sSub>
                        <m:r>
                          <a:rPr lang="en-US" altLang="zh-CN" sz="2000" i="1">
                            <a:latin typeface="Cambria Math" panose="02040503050406030204"/>
                          </a:rPr>
                          <m:t>+</m:t>
                        </m:r>
                        <m:r>
                          <a:rPr lang="en-US" altLang="zh-CN" sz="2000" b="1" i="1">
                            <a:latin typeface="Cambria Math" panose="02040503050406030204"/>
                          </a:rPr>
                          <m:t>𝜷</m:t>
                        </m:r>
                      </m:e>
                    </m:d>
                    <m:r>
                      <a:rPr lang="zh-CN" altLang="en-US" sz="2000" i="1">
                        <a:latin typeface="Cambria Math" panose="02040503050406030204"/>
                      </a:rPr>
                      <m:t>≥</m:t>
                    </m:r>
                    <m:r>
                      <a:rPr lang="en-US" altLang="zh-CN" sz="2000" i="1">
                        <a:latin typeface="Cambria Math" panose="02040503050406030204"/>
                      </a:rPr>
                      <m:t>1</m:t>
                    </m:r>
                    <m:r>
                      <a:rPr lang="zh-CN" altLang="en-US" sz="2000" i="1">
                        <a:latin typeface="Cambria Math" panose="02040503050406030204"/>
                      </a:rPr>
                      <m:t>，</m:t>
                    </m:r>
                    <m:r>
                      <a:rPr lang="en-US" altLang="zh-CN" sz="2000" i="1">
                        <a:latin typeface="Cambria Math" panose="02040503050406030204"/>
                      </a:rPr>
                      <m:t>𝑖</m:t>
                    </m:r>
                    <m:r>
                      <a:rPr lang="en-US" altLang="zh-CN" sz="2000" i="1">
                        <a:latin typeface="Cambria Math" panose="02040503050406030204"/>
                      </a:rPr>
                      <m:t>=</m:t>
                    </m:r>
                    <m:r>
                      <a:rPr lang="en-US" altLang="zh-CN" sz="2000" i="1">
                        <a:latin typeface="Cambria Math" panose="02040503050406030204"/>
                      </a:rPr>
                      <m:t>1</m:t>
                    </m:r>
                    <m:r>
                      <a:rPr lang="en-US" altLang="zh-CN" sz="2000" i="1">
                        <a:latin typeface="Cambria Math" panose="02040503050406030204"/>
                      </a:rPr>
                      <m:t>,</m:t>
                    </m:r>
                    <m:r>
                      <a:rPr lang="en-US" altLang="zh-CN" sz="2000" i="1">
                        <a:latin typeface="Cambria Math" panose="02040503050406030204"/>
                      </a:rPr>
                      <m:t>2</m:t>
                    </m:r>
                    <m:r>
                      <a:rPr lang="en-US" altLang="zh-CN" sz="2000" i="1">
                        <a:latin typeface="Cambria Math" panose="02040503050406030204"/>
                      </a:rPr>
                      <m:t> ⋯,</m:t>
                    </m:r>
                    <m:r>
                      <a:rPr lang="en-US" altLang="zh-CN" sz="2000" i="1">
                        <a:latin typeface="Cambria Math" panose="02040503050406030204"/>
                      </a:rPr>
                      <m:t>𝑛</m:t>
                    </m:r>
                  </m:oMath>
                </a14:m>
                <a:r>
                  <a:rPr lang="en-US" altLang="zh-CN" sz="2000" dirty="0"/>
                  <a:t>   </a:t>
                </a:r>
                <a:r>
                  <a:rPr lang="zh-CN" altLang="en-US" sz="2000" dirty="0"/>
                  <a:t>（</a:t>
                </a:r>
                <a:r>
                  <a:rPr lang="en-US" altLang="zh-CN" sz="2000" dirty="0"/>
                  <a:t>12</a:t>
                </a:r>
                <a:r>
                  <a:rPr lang="zh-CN" altLang="en-US" sz="2000" dirty="0"/>
                  <a:t>）</a:t>
                </a:r>
                <a:r>
                  <a:rPr lang="x-none" altLang="zh-CN" sz="2000" dirty="0"/>
                  <a:t> </a:t>
                </a:r>
                <a:endParaRPr lang="x-none" altLang="zh-CN" sz="2000" dirty="0"/>
              </a:p>
              <a:p>
                <a:endParaRPr lang="zh-CN" altLang="en-US" sz="3600" dirty="0"/>
              </a:p>
            </p:txBody>
          </p:sp>
        </mc:Choice>
        <mc:Fallback>
          <p:sp>
            <p:nvSpPr>
              <p:cNvPr id="7" name="矩形 3"/>
              <p:cNvSpPr>
                <a:spLocks noRot="1" noChangeAspect="1" noMove="1" noResize="1" noEditPoints="1" noAdjustHandles="1" noChangeArrowheads="1" noChangeShapeType="1" noTextEdit="1"/>
              </p:cNvSpPr>
              <p:nvPr/>
            </p:nvSpPr>
            <p:spPr bwMode="auto">
              <a:xfrm>
                <a:off x="488429" y="1453727"/>
                <a:ext cx="8045450" cy="4703339"/>
              </a:xfrm>
              <a:prstGeom prst="rect">
                <a:avLst/>
              </a:prstGeom>
              <a:blipFill rotWithShape="1">
                <a:blip r:embed="rId1"/>
                <a:stretch>
                  <a:fillRect l="-1" t="-5" r="1" b="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p:cNvPicPr>
            <a:picLocks noChangeAspect="1"/>
          </p:cNvPicPr>
          <p:nvPr/>
        </p:nvPicPr>
        <p:blipFill>
          <a:blip r:embed="rId1"/>
          <a:stretch>
            <a:fillRect/>
          </a:stretch>
        </p:blipFill>
        <p:spPr>
          <a:xfrm>
            <a:off x="1907429" y="2780928"/>
            <a:ext cx="5022878" cy="479571"/>
          </a:xfrm>
          <a:prstGeom prst="rect">
            <a:avLst/>
          </a:prstGeom>
        </p:spPr>
      </p:pic>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396143" y="1179508"/>
                <a:ext cx="8045450" cy="643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t>对偶问题求解：</a:t>
                </a:r>
                <a:endParaRPr lang="x-none" altLang="zh-CN" sz="1800" dirty="0"/>
              </a:p>
              <a:p>
                <a:pPr marL="0" indent="0" algn="ctr">
                  <a:buNone/>
                </a:pPr>
                <a14:m>
                  <m:oMathPara xmlns:m="http://schemas.openxmlformats.org/officeDocument/2006/math">
                    <m:oMathParaPr>
                      <m:jc m:val="centerGroup"/>
                    </m:oMathParaPr>
                    <m:oMath xmlns:m="http://schemas.openxmlformats.org/officeDocument/2006/math">
                      <m:func>
                        <m:funcPr>
                          <m:ctrlPr>
                            <a:rPr lang="x-none" altLang="zh-CN" sz="1800" i="1">
                              <a:latin typeface="Cambria Math" panose="02040503050406030204"/>
                            </a:rPr>
                          </m:ctrlPr>
                        </m:funcPr>
                        <m:fName>
                          <m:r>
                            <a:rPr lang="zh-CN" altLang="en-US" sz="1800" i="1">
                              <a:latin typeface="Cambria Math" panose="02040503050406030204"/>
                            </a:rPr>
                            <m:t>𝑚𝑖𝑛</m:t>
                          </m:r>
                        </m:fName>
                        <m:e>
                          <m:r>
                            <a:rPr lang="zh-CN" altLang="en-US" sz="1800" i="1">
                              <a:latin typeface="Cambria Math" panose="02040503050406030204"/>
                            </a:rPr>
                            <m:t> </m:t>
                          </m:r>
                          <m:f>
                            <m:fPr>
                              <m:ctrlPr>
                                <a:rPr lang="x-none" altLang="zh-CN" sz="1800" i="1">
                                  <a:latin typeface="Cambria Math" panose="02040503050406030204"/>
                                </a:rPr>
                              </m:ctrlPr>
                            </m:fPr>
                            <m:num>
                              <m:r>
                                <a:rPr lang="en-US" altLang="zh-CN" sz="1800" i="1">
                                  <a:latin typeface="Cambria Math" panose="02040503050406030204"/>
                                </a:rPr>
                                <m:t>1</m:t>
                              </m:r>
                            </m:num>
                            <m:den>
                              <m:r>
                                <a:rPr lang="en-US" altLang="zh-CN" sz="1800" i="1">
                                  <a:latin typeface="Cambria Math" panose="02040503050406030204"/>
                                </a:rPr>
                                <m:t>2</m:t>
                              </m:r>
                            </m:den>
                          </m:f>
                          <m:r>
                            <a:rPr lang="en-US" altLang="zh-CN" sz="1800" i="1">
                              <a:latin typeface="Cambria Math" panose="02040503050406030204"/>
                            </a:rPr>
                            <m:t>||</m:t>
                          </m:r>
                          <m:r>
                            <a:rPr lang="zh-CN" altLang="en-US" sz="1800" b="1" i="1">
                              <a:latin typeface="Cambria Math" panose="02040503050406030204"/>
                            </a:rPr>
                            <m:t>𝒘</m:t>
                          </m:r>
                          <m:r>
                            <a:rPr lang="en-US" altLang="zh-CN" sz="1800" i="1">
                              <a:latin typeface="Cambria Math" panose="02040503050406030204"/>
                            </a:rPr>
                            <m:t>|</m:t>
                          </m:r>
                          <m:sSup>
                            <m:sSupPr>
                              <m:ctrlPr>
                                <a:rPr lang="x-none" altLang="zh-CN" sz="1800" i="1">
                                  <a:latin typeface="Cambria Math" panose="02040503050406030204"/>
                                </a:rPr>
                              </m:ctrlPr>
                            </m:sSupPr>
                            <m:e>
                              <m:r>
                                <a:rPr lang="en-US" altLang="zh-CN" sz="1800" i="1">
                                  <a:latin typeface="Cambria Math" panose="02040503050406030204"/>
                                </a:rPr>
                                <m:t>|</m:t>
                              </m:r>
                            </m:e>
                            <m:sup>
                              <m:r>
                                <a:rPr lang="en-US" altLang="zh-CN" sz="1800" i="1">
                                  <a:latin typeface="Cambria Math" panose="02040503050406030204"/>
                                </a:rPr>
                                <m:t>2</m:t>
                              </m:r>
                            </m:sup>
                          </m:sSup>
                        </m:e>
                      </m:func>
                      <m:r>
                        <a:rPr lang="zh-CN" altLang="en-US" sz="1800" i="1">
                          <a:latin typeface="Cambria Math" panose="02040503050406030204"/>
                        </a:rPr>
                        <m:t> </m:t>
                      </m:r>
                      <m:r>
                        <a:rPr lang="en-US" altLang="zh-CN" sz="1800" i="1">
                          <a:latin typeface="Cambria Math" panose="02040503050406030204" pitchFamily="18" charset="0"/>
                        </a:rPr>
                        <m:t>  </m:t>
                      </m:r>
                    </m:oMath>
                  </m:oMathPara>
                </a14:m>
                <a:endParaRPr lang="en-US" altLang="zh-CN" sz="1800" i="1" dirty="0">
                  <a:latin typeface="Cambria Math" panose="02040503050406030204" pitchFamily="18" charset="0"/>
                </a:endParaRPr>
              </a:p>
              <a:p>
                <a:pPr marL="0" indent="0" algn="ctr">
                  <a:buNone/>
                </a:pPr>
                <a14:m>
                  <m:oMath xmlns:m="http://schemas.openxmlformats.org/officeDocument/2006/math">
                    <m:r>
                      <a:rPr lang="en-US" altLang="zh-CN" sz="1800" i="1">
                        <a:latin typeface="Cambria Math" panose="02040503050406030204" pitchFamily="18" charset="0"/>
                      </a:rPr>
                      <m:t> </m:t>
                    </m:r>
                  </m:oMath>
                </a14:m>
                <a:r>
                  <a:rPr lang="en-US" altLang="zh-CN" sz="1800" i="1" dirty="0"/>
                  <a:t>s</a:t>
                </a:r>
                <a:r>
                  <a:rPr lang="en-US" altLang="zh-CN" sz="1800" i="1" dirty="0" err="1"/>
                  <a:t>.t.</a:t>
                </a:r>
                <a14:m>
                  <m:oMath xmlns:m="http://schemas.openxmlformats.org/officeDocument/2006/math">
                    <m:r>
                      <a:rPr lang="en-US" altLang="zh-CN" sz="1800" i="1">
                        <a:latin typeface="Cambria Math" panose="02040503050406030204"/>
                      </a:rPr>
                      <m:t> </m:t>
                    </m:r>
                    <m:sSub>
                      <m:sSubPr>
                        <m:ctrlPr>
                          <a:rPr lang="x-none" altLang="zh-CN" sz="1800" i="1">
                            <a:latin typeface="Cambria Math" panose="02040503050406030204"/>
                          </a:rPr>
                        </m:ctrlPr>
                      </m:sSubPr>
                      <m:e>
                        <m:r>
                          <a:rPr lang="en-US" altLang="zh-CN" sz="1800" i="1">
                            <a:latin typeface="Cambria Math" panose="02040503050406030204"/>
                          </a:rPr>
                          <m:t>𝑦</m:t>
                        </m:r>
                      </m:e>
                      <m:sub>
                        <m:r>
                          <a:rPr lang="en-US" altLang="zh-CN" sz="1800" i="1">
                            <a:latin typeface="Cambria Math" panose="02040503050406030204"/>
                          </a:rPr>
                          <m:t>𝑖</m:t>
                        </m:r>
                      </m:sub>
                    </m:sSub>
                    <m:d>
                      <m:dPr>
                        <m:ctrlPr>
                          <a:rPr lang="x-none" altLang="zh-CN" sz="1800" i="1">
                            <a:latin typeface="Cambria Math" panose="02040503050406030204"/>
                          </a:rPr>
                        </m:ctrlPr>
                      </m:dPr>
                      <m:e>
                        <m:r>
                          <a:rPr lang="en-US" altLang="zh-CN" sz="1800" b="1" i="1">
                            <a:latin typeface="Cambria Math" panose="02040503050406030204"/>
                          </a:rPr>
                          <m:t>𝒘</m:t>
                        </m:r>
                        <m:sSub>
                          <m:sSubPr>
                            <m:ctrlPr>
                              <a:rPr lang="x-none" altLang="zh-CN" sz="1800" i="1">
                                <a:latin typeface="Cambria Math" panose="02040503050406030204"/>
                              </a:rPr>
                            </m:ctrlPr>
                          </m:sSubPr>
                          <m:e>
                            <m:r>
                              <a:rPr lang="en-US" altLang="zh-CN" sz="1800" i="1">
                                <a:latin typeface="Cambria Math" panose="02040503050406030204"/>
                              </a:rPr>
                              <m:t>𝑥</m:t>
                            </m:r>
                          </m:e>
                          <m:sub>
                            <m:r>
                              <a:rPr lang="en-US" altLang="zh-CN" sz="1800" i="1">
                                <a:latin typeface="Cambria Math" panose="02040503050406030204"/>
                              </a:rPr>
                              <m:t>𝑖</m:t>
                            </m:r>
                          </m:sub>
                        </m:sSub>
                        <m:r>
                          <a:rPr lang="en-US" altLang="zh-CN" sz="1800" i="1">
                            <a:latin typeface="Cambria Math" panose="02040503050406030204"/>
                          </a:rPr>
                          <m:t>+</m:t>
                        </m:r>
                        <m:r>
                          <a:rPr lang="en-US" altLang="zh-CN" sz="1800" b="1" i="1">
                            <a:latin typeface="Cambria Math" panose="02040503050406030204"/>
                          </a:rPr>
                          <m:t>𝜷</m:t>
                        </m:r>
                      </m:e>
                    </m:d>
                    <m:r>
                      <a:rPr lang="zh-CN" altLang="en-US" sz="1800" i="1">
                        <a:latin typeface="Cambria Math" panose="02040503050406030204"/>
                      </a:rPr>
                      <m:t>≥</m:t>
                    </m:r>
                    <m:r>
                      <a:rPr lang="en-US" altLang="zh-CN" sz="1800" i="1">
                        <a:latin typeface="Cambria Math" panose="02040503050406030204"/>
                      </a:rPr>
                      <m:t>1</m:t>
                    </m:r>
                    <m:r>
                      <a:rPr lang="zh-CN" altLang="en-US" sz="1800" i="1">
                        <a:latin typeface="Cambria Math" panose="02040503050406030204"/>
                      </a:rPr>
                      <m:t>，</m:t>
                    </m:r>
                    <m:r>
                      <a:rPr lang="en-US" altLang="zh-CN"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r>
                      <a:rPr lang="en-US" altLang="zh-CN" sz="1800" i="1">
                        <a:latin typeface="Cambria Math" panose="02040503050406030204"/>
                      </a:rPr>
                      <m:t>,</m:t>
                    </m:r>
                    <m:r>
                      <a:rPr lang="en-US" altLang="zh-CN" sz="1800" i="1">
                        <a:latin typeface="Cambria Math" panose="02040503050406030204"/>
                      </a:rPr>
                      <m:t>2</m:t>
                    </m:r>
                    <m:r>
                      <a:rPr lang="en-US" altLang="zh-CN" sz="1800" i="1">
                        <a:latin typeface="Cambria Math" panose="02040503050406030204"/>
                      </a:rPr>
                      <m:t> ⋯,</m:t>
                    </m:r>
                    <m:r>
                      <a:rPr lang="en-US" altLang="zh-CN" sz="1800" i="1">
                        <a:latin typeface="Cambria Math" panose="02040503050406030204"/>
                      </a:rPr>
                      <m:t>𝑛</m:t>
                    </m:r>
                  </m:oMath>
                </a14:m>
                <a:r>
                  <a:rPr lang="en-US" altLang="zh-CN" sz="1800" dirty="0"/>
                  <a:t>   </a:t>
                </a:r>
                <a:r>
                  <a:rPr lang="zh-CN" altLang="en-US" sz="1800" dirty="0"/>
                  <a:t>（</a:t>
                </a:r>
                <a:r>
                  <a:rPr lang="en-US" altLang="zh-CN" sz="1800" dirty="0"/>
                  <a:t>12</a:t>
                </a:r>
                <a:r>
                  <a:rPr lang="zh-CN" altLang="en-US" sz="1800" dirty="0"/>
                  <a:t>）</a:t>
                </a:r>
                <a:r>
                  <a:rPr lang="x-none" altLang="zh-CN" sz="1800" dirty="0"/>
                  <a:t> </a:t>
                </a:r>
                <a:endParaRPr lang="x-none" altLang="zh-CN" sz="1800" dirty="0"/>
              </a:p>
              <a:p>
                <a:r>
                  <a:rPr lang="zh-CN" altLang="en-US" sz="1800" dirty="0"/>
                  <a:t>为解决这个约束问题的最优解，引入</a:t>
                </a:r>
                <a:r>
                  <a:rPr lang="en-US" altLang="zh-CN" sz="1800" dirty="0"/>
                  <a:t>Lagrange</a:t>
                </a:r>
                <a:r>
                  <a:rPr lang="zh-CN" altLang="en-US" sz="1800" dirty="0"/>
                  <a:t>函数：</a:t>
                </a:r>
                <a:endParaRPr lang="en-US" altLang="zh-CN" sz="1800" dirty="0"/>
              </a:p>
              <a:p>
                <a:endParaRPr lang="en-US" altLang="zh-CN" sz="1800" dirty="0"/>
              </a:p>
              <a:p>
                <a:pPr marL="0" indent="0">
                  <a:buNone/>
                </a:pPr>
                <a:endParaRPr lang="en-US" altLang="zh-CN" sz="1800" dirty="0"/>
              </a:p>
              <a:p>
                <a:pPr algn="just">
                  <a:spcAft>
                    <a:spcPts val="0"/>
                  </a:spcAft>
                </a:pPr>
                <a:r>
                  <a:rPr lang="zh-CN" altLang="en-US" sz="1800" dirty="0"/>
                  <a:t>式中</a:t>
                </a:r>
                <a:r>
                  <a:rPr lang="el-GR" altLang="zh-CN" sz="1800" i="1" dirty="0"/>
                  <a:t>α</a:t>
                </a:r>
                <a:r>
                  <a:rPr lang="en-US" altLang="zh-CN" sz="1800" i="1" baseline="-25000" dirty="0"/>
                  <a:t>i</a:t>
                </a:r>
                <a:r>
                  <a:rPr lang="en-US" altLang="zh-CN" sz="1800" dirty="0"/>
                  <a:t>&gt;=0</a:t>
                </a:r>
                <a:r>
                  <a:rPr lang="zh-CN" altLang="en-US" sz="1800" dirty="0"/>
                  <a:t>为</a:t>
                </a:r>
                <a:r>
                  <a:rPr lang="en-US" altLang="zh-CN" sz="1800" dirty="0"/>
                  <a:t>Lagrange</a:t>
                </a:r>
                <a:r>
                  <a:rPr lang="zh-CN" altLang="en-US" sz="1800" dirty="0"/>
                  <a:t>乘子。为求函数的最小值，</a:t>
                </a:r>
                <a:endParaRPr lang="en-US" altLang="zh-CN" sz="1800" dirty="0"/>
              </a:p>
              <a:p>
                <a:pPr algn="just">
                  <a:spcAft>
                    <a:spcPts val="0"/>
                  </a:spcAft>
                </a:pPr>
                <a:r>
                  <a:rPr lang="zh-CN" altLang="en-US" sz="1800" dirty="0"/>
                  <a:t>分别对</a:t>
                </a:r>
                <a:r>
                  <a:rPr lang="en-US" altLang="zh-CN" sz="1800" i="1" dirty="0"/>
                  <a:t>w</a:t>
                </a:r>
                <a:r>
                  <a:rPr lang="zh-CN" altLang="en-US" sz="1800" i="1" dirty="0"/>
                  <a:t>、</a:t>
                </a:r>
                <a14:m>
                  <m:oMath xmlns:m="http://schemas.openxmlformats.org/officeDocument/2006/math">
                    <m:r>
                      <a:rPr lang="en-US" altLang="zh-CN" sz="1800" i="1">
                        <a:latin typeface="Cambria Math" panose="02040503050406030204"/>
                      </a:rPr>
                      <m:t>𝛽</m:t>
                    </m:r>
                  </m:oMath>
                </a14:m>
                <a:r>
                  <a:rPr lang="x-none" altLang="zh-CN" sz="1800" dirty="0"/>
                  <a:t> </a:t>
                </a:r>
                <a:r>
                  <a:rPr lang="zh-CN" altLang="en-US" sz="1800" i="1" dirty="0"/>
                  <a:t>、</a:t>
                </a:r>
                <a:r>
                  <a:rPr lang="el-GR" altLang="zh-CN" sz="1800" i="1" dirty="0"/>
                  <a:t> α</a:t>
                </a:r>
                <a:r>
                  <a:rPr lang="en-US" altLang="zh-CN" sz="1800" i="1" baseline="-25000" dirty="0"/>
                  <a:t>i</a:t>
                </a:r>
                <a:r>
                  <a:rPr lang="zh-CN" altLang="en-US" sz="1800" dirty="0"/>
                  <a:t>求偏导。</a:t>
                </a:r>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令</a:t>
                </a:r>
                <a14:m>
                  <m:oMath xmlns:m="http://schemas.openxmlformats.org/officeDocument/2006/math">
                    <m:r>
                      <a:rPr lang="zh-CN" altLang="en-US" sz="1800" i="1" kern="100">
                        <a:latin typeface="Cambria Math" panose="02040503050406030204" pitchFamily="18" charset="0"/>
                        <a:ea typeface="Cambria Math" panose="02040503050406030204" pitchFamily="18" charset="0"/>
                      </a:rPr>
                      <m:t>𝜃</m:t>
                    </m:r>
                    <m:r>
                      <a:rPr lang="zh-CN" altLang="zh-CN" sz="1800" i="1" kern="100">
                        <a:latin typeface="Cambria Math" panose="02040503050406030204" pitchFamily="18" charset="0"/>
                        <a:ea typeface="Cambria Math" panose="02040503050406030204" pitchFamily="18" charset="0"/>
                      </a:rPr>
                      <m:t>=</m:t>
                    </m:r>
                    <m:sPre>
                      <m:sPrePr>
                        <m:ctrlPr>
                          <a:rPr lang="x-none" altLang="zh-CN" sz="1800" i="1" kern="100">
                            <a:latin typeface="Cambria Math" panose="02040503050406030204"/>
                            <a:ea typeface="方正宋一简体"/>
                          </a:rPr>
                        </m:ctrlPr>
                      </m:sPrePr>
                      <m:sub>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𝛼</m:t>
                            </m:r>
                          </m:e>
                          <m:sub>
                            <m:r>
                              <a:rPr lang="zh-CN" altLang="en-US" sz="1800" i="1" kern="100">
                                <a:latin typeface="Cambria Math" panose="02040503050406030204" pitchFamily="18" charset="0"/>
                                <a:ea typeface="Cambria Math" panose="02040503050406030204" pitchFamily="18" charset="0"/>
                              </a:rPr>
                              <m:t>𝑖</m:t>
                            </m:r>
                          </m:sub>
                        </m:sSub>
                        <m:r>
                          <a:rPr lang="zh-CN" altLang="zh-CN" sz="1800" i="1" kern="100">
                            <a:latin typeface="Cambria Math" panose="02040503050406030204" pitchFamily="18" charset="0"/>
                            <a:ea typeface="Cambria Math" panose="02040503050406030204" pitchFamily="18" charset="0"/>
                          </a:rPr>
                          <m:t>≥</m:t>
                        </m:r>
                        <m:r>
                          <a:rPr lang="zh-CN" altLang="zh-CN" sz="1800" i="1" kern="100">
                            <a:latin typeface="Cambria Math" panose="02040503050406030204" pitchFamily="18" charset="0"/>
                            <a:ea typeface="Cambria Math" panose="02040503050406030204" pitchFamily="18" charset="0"/>
                          </a:rPr>
                          <m:t>0</m:t>
                        </m:r>
                      </m:sub>
                      <m:sup>
                        <m:r>
                          <a:rPr lang="zh-CN" altLang="en-US" sz="1800" i="1" kern="100">
                            <a:latin typeface="Cambria Math" panose="02040503050406030204" pitchFamily="18" charset="0"/>
                            <a:ea typeface="Cambria Math" panose="02040503050406030204" pitchFamily="18" charset="0"/>
                          </a:rPr>
                          <m:t>𝑚𝑎𝑥</m:t>
                        </m:r>
                      </m:sup>
                      <m:e>
                        <m:r>
                          <a:rPr lang="zh-CN" altLang="en-US" sz="1800" i="1" kern="100">
                            <a:latin typeface="Cambria Math" panose="02040503050406030204" pitchFamily="18" charset="0"/>
                            <a:ea typeface="Cambria Math" panose="02040503050406030204" pitchFamily="18" charset="0"/>
                          </a:rPr>
                          <m:t>𝐿</m:t>
                        </m:r>
                      </m:e>
                    </m:sPre>
                    <m:d>
                      <m:dPr>
                        <m:ctrlPr>
                          <a:rPr lang="x-none" altLang="zh-CN" sz="1800" i="1" kern="100">
                            <a:latin typeface="Cambria Math" panose="02040503050406030204"/>
                            <a:ea typeface="方正宋一简体"/>
                          </a:rPr>
                        </m:ctrlPr>
                      </m:dPr>
                      <m:e>
                        <m:r>
                          <a:rPr lang="zh-CN" altLang="en-US" sz="1800" b="1" i="1" kern="100">
                            <a:latin typeface="Cambria Math" panose="02040503050406030204" pitchFamily="18" charset="0"/>
                            <a:ea typeface="Cambria Math" panose="02040503050406030204" pitchFamily="18" charset="0"/>
                          </a:rPr>
                          <m:t>𝒘</m:t>
                        </m:r>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𝛽</m:t>
                        </m:r>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𝛼</m:t>
                        </m:r>
                      </m:e>
                    </m:d>
                  </m:oMath>
                </a14:m>
                <a:r>
                  <a:rPr lang="en-US" altLang="zh-CN" sz="1800" kern="100" dirty="0">
                    <a:latin typeface="宋体" panose="02010600030101010101" pitchFamily="2" charset="-122"/>
                    <a:ea typeface="宋体" panose="02010600030101010101" pitchFamily="2" charset="-122"/>
                  </a:rPr>
                  <a:t>,</a:t>
                </a:r>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当对于给定的</a:t>
                </a:r>
                <a14:m>
                  <m:oMath xmlns:m="http://schemas.openxmlformats.org/officeDocument/2006/math">
                    <m:r>
                      <a:rPr lang="zh-CN" altLang="en-US" sz="1800" b="1" i="1" kern="100">
                        <a:latin typeface="Cambria Math" panose="02040503050406030204" pitchFamily="18" charset="0"/>
                        <a:ea typeface="Cambria Math" panose="02040503050406030204" pitchFamily="18" charset="0"/>
                      </a:rPr>
                      <m:t>𝒘</m:t>
                    </m:r>
                    <m:r>
                      <a:rPr lang="zh-CN" altLang="zh-CN" sz="1800" kern="100">
                        <a:latin typeface="Cambria Math" panose="02040503050406030204" pitchFamily="18" charset="0"/>
                        <a:ea typeface="方正宋一简体"/>
                        <a:cs typeface="Times New Roman" panose="02020603050405020304" pitchFamily="18" charset="0"/>
                      </a:rPr>
                      <m:t>和</m:t>
                    </m:r>
                    <m:r>
                      <a:rPr lang="zh-CN" altLang="en-US" sz="1800" i="1" kern="100">
                        <a:latin typeface="Cambria Math" panose="02040503050406030204" pitchFamily="18" charset="0"/>
                        <a:ea typeface="Cambria Math" panose="02040503050406030204" pitchFamily="18" charset="0"/>
                      </a:rPr>
                      <m:t>𝛽</m:t>
                    </m:r>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，其不满足式（</a:t>
                </a:r>
                <a:r>
                  <a:rPr lang="zh-CN" altLang="zh-CN" sz="1800" kern="100" dirty="0">
                    <a:latin typeface="宋体" panose="02010600030101010101" pitchFamily="2" charset="-122"/>
                    <a:ea typeface="宋体" panose="02010600030101010101" pitchFamily="2" charset="-122"/>
                  </a:rPr>
                  <a:t>12</a:t>
                </a:r>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）的约束时，即在可行解区域外，也就是</a:t>
                </a:r>
                <a14:m>
                  <m:oMath xmlns:m="http://schemas.openxmlformats.org/officeDocument/2006/math">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𝑦</m:t>
                        </m:r>
                      </m:e>
                      <m:sub>
                        <m:r>
                          <a:rPr lang="zh-CN" altLang="en-US" sz="1800" i="1" kern="100">
                            <a:latin typeface="Cambria Math" panose="02040503050406030204" pitchFamily="18" charset="0"/>
                            <a:ea typeface="Cambria Math" panose="02040503050406030204" pitchFamily="18" charset="0"/>
                          </a:rPr>
                          <m:t>𝑖</m:t>
                        </m:r>
                      </m:sub>
                    </m:sSub>
                    <m:d>
                      <m:dPr>
                        <m:ctrlPr>
                          <a:rPr lang="x-none" altLang="zh-CN" sz="1800" i="1" kern="100">
                            <a:latin typeface="Cambria Math" panose="02040503050406030204"/>
                            <a:ea typeface="方正宋一简体"/>
                          </a:rPr>
                        </m:ctrlPr>
                      </m:dPr>
                      <m:e>
                        <m:r>
                          <a:rPr lang="zh-CN" altLang="en-US" sz="1800" b="1" i="1" kern="100">
                            <a:latin typeface="Cambria Math" panose="02040503050406030204" pitchFamily="18" charset="0"/>
                            <a:ea typeface="Cambria Math" panose="02040503050406030204" pitchFamily="18" charset="0"/>
                          </a:rPr>
                          <m:t>𝒘</m:t>
                        </m:r>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𝑥</m:t>
                            </m:r>
                          </m:e>
                          <m:sub>
                            <m:r>
                              <a:rPr lang="zh-CN" altLang="en-US" sz="1800" i="1" kern="100">
                                <a:latin typeface="Cambria Math" panose="02040503050406030204" pitchFamily="18" charset="0"/>
                                <a:ea typeface="Cambria Math" panose="02040503050406030204" pitchFamily="18" charset="0"/>
                              </a:rPr>
                              <m:t>𝑖</m:t>
                            </m:r>
                          </m:sub>
                        </m:sSub>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𝛽</m:t>
                        </m:r>
                      </m:e>
                    </m:d>
                    <m:r>
                      <a:rPr lang="en-US" altLang="zh-CN" sz="1800" i="1" kern="100">
                        <a:latin typeface="Cambria Math" panose="02040503050406030204" pitchFamily="18" charset="0"/>
                        <a:ea typeface="方正宋一简体"/>
                      </a:rPr>
                      <m:t>&lt;</m:t>
                    </m:r>
                    <m:r>
                      <a:rPr lang="en-US" altLang="zh-CN" sz="1800" i="1" kern="100">
                        <a:latin typeface="Cambria Math" panose="02040503050406030204" pitchFamily="18" charset="0"/>
                        <a:ea typeface="方正宋一简体"/>
                      </a:rPr>
                      <m:t>1</m:t>
                    </m:r>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，此时</a:t>
                </a:r>
                <a14:m>
                  <m:oMath xmlns:m="http://schemas.openxmlformats.org/officeDocument/2006/math">
                    <m:r>
                      <a:rPr lang="zh-CN" altLang="zh-CN" sz="1800" i="1" kern="100">
                        <a:latin typeface="Cambria Math" panose="02040503050406030204" pitchFamily="18" charset="0"/>
                        <a:ea typeface="Cambria Math" panose="02040503050406030204" pitchFamily="18" charset="0"/>
                      </a:rPr>
                      <m:t>1</m:t>
                    </m:r>
                    <m:r>
                      <a:rPr lang="zh-CN" altLang="en-US" sz="1800" i="1" kern="100">
                        <a:latin typeface="Cambria Math" panose="02040503050406030204" pitchFamily="18" charset="0"/>
                        <a:ea typeface="方正宋一简体"/>
                      </a:rPr>
                      <m:t>−</m:t>
                    </m:r>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𝑦</m:t>
                        </m:r>
                      </m:e>
                      <m:sub>
                        <m:r>
                          <a:rPr lang="zh-CN" altLang="en-US" sz="1800" i="1" kern="100">
                            <a:latin typeface="Cambria Math" panose="02040503050406030204" pitchFamily="18" charset="0"/>
                            <a:ea typeface="Cambria Math" panose="02040503050406030204" pitchFamily="18" charset="0"/>
                          </a:rPr>
                          <m:t>𝑖</m:t>
                        </m:r>
                      </m:sub>
                    </m:sSub>
                    <m:d>
                      <m:dPr>
                        <m:ctrlPr>
                          <a:rPr lang="x-none" altLang="zh-CN" sz="1800" i="1" kern="100">
                            <a:latin typeface="Cambria Math" panose="02040503050406030204"/>
                            <a:ea typeface="方正宋一简体"/>
                          </a:rPr>
                        </m:ctrlPr>
                      </m:dPr>
                      <m:e>
                        <m:r>
                          <a:rPr lang="zh-CN" altLang="en-US" sz="1800" b="1" i="1" kern="100">
                            <a:latin typeface="Cambria Math" panose="02040503050406030204" pitchFamily="18" charset="0"/>
                            <a:ea typeface="Cambria Math" panose="02040503050406030204" pitchFamily="18" charset="0"/>
                          </a:rPr>
                          <m:t>𝒘</m:t>
                        </m:r>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𝑥</m:t>
                            </m:r>
                          </m:e>
                          <m:sub>
                            <m:r>
                              <a:rPr lang="zh-CN" altLang="en-US" sz="1800" i="1" kern="100">
                                <a:latin typeface="Cambria Math" panose="02040503050406030204" pitchFamily="18" charset="0"/>
                                <a:ea typeface="Cambria Math" panose="02040503050406030204" pitchFamily="18" charset="0"/>
                              </a:rPr>
                              <m:t>𝑖</m:t>
                            </m:r>
                          </m:sub>
                        </m:sSub>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𝛽</m:t>
                        </m:r>
                      </m:e>
                    </m:d>
                    <m:r>
                      <a:rPr lang="en-US" altLang="zh-CN" sz="1800" i="1" kern="100">
                        <a:latin typeface="Cambria Math" panose="02040503050406030204" pitchFamily="18" charset="0"/>
                        <a:ea typeface="方正宋一简体"/>
                      </a:rPr>
                      <m:t>&gt;</m:t>
                    </m:r>
                    <m:r>
                      <a:rPr lang="en-US" altLang="zh-CN" sz="1800" i="1" kern="100">
                        <a:latin typeface="Cambria Math" panose="02040503050406030204" pitchFamily="18" charset="0"/>
                        <a:ea typeface="方正宋一简体"/>
                      </a:rPr>
                      <m:t>0</m:t>
                    </m:r>
                  </m:oMath>
                </a14:m>
                <a:r>
                  <a:rPr lang="en-US" altLang="zh-CN" sz="1800" kern="100" dirty="0">
                    <a:latin typeface="宋体" panose="02010600030101010101" pitchFamily="2" charset="-122"/>
                    <a:ea typeface="宋体" panose="02010600030101010101" pitchFamily="2" charset="-122"/>
                  </a:rPr>
                  <a:t>,</a:t>
                </a:r>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将</a:t>
                </a:r>
                <a14:m>
                  <m:oMath xmlns:m="http://schemas.openxmlformats.org/officeDocument/2006/math">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𝛼</m:t>
                        </m:r>
                      </m:e>
                      <m:sub>
                        <m:r>
                          <a:rPr lang="zh-CN" altLang="en-US" sz="1800" i="1" kern="100">
                            <a:latin typeface="Cambria Math" panose="02040503050406030204" pitchFamily="18" charset="0"/>
                            <a:ea typeface="Cambria Math" panose="02040503050406030204" pitchFamily="18" charset="0"/>
                          </a:rPr>
                          <m:t>𝑖</m:t>
                        </m:r>
                      </m:sub>
                    </m:sSub>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设置为无穷大，那么</a:t>
                </a:r>
                <a14:m>
                  <m:oMath xmlns:m="http://schemas.openxmlformats.org/officeDocument/2006/math">
                    <m:r>
                      <a:rPr lang="zh-CN" altLang="en-US" sz="1800" i="1" kern="100">
                        <a:latin typeface="Cambria Math" panose="02040503050406030204" pitchFamily="18" charset="0"/>
                        <a:ea typeface="Cambria Math" panose="02040503050406030204" pitchFamily="18" charset="0"/>
                      </a:rPr>
                      <m:t>𝜃</m:t>
                    </m:r>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的值也为无穷大；当</a:t>
                </a:r>
                <a14:m>
                  <m:oMath xmlns:m="http://schemas.openxmlformats.org/officeDocument/2006/math">
                    <m:r>
                      <a:rPr lang="zh-CN" altLang="en-US" sz="1800" i="1" kern="100">
                        <a:latin typeface="Cambria Math" panose="02040503050406030204" pitchFamily="18" charset="0"/>
                        <a:ea typeface="Cambria Math" panose="02040503050406030204" pitchFamily="18" charset="0"/>
                      </a:rPr>
                      <m:t>𝑤</m:t>
                    </m:r>
                    <m:r>
                      <a:rPr lang="zh-CN" altLang="zh-CN" sz="1800" kern="100">
                        <a:latin typeface="Cambria Math" panose="02040503050406030204" pitchFamily="18" charset="0"/>
                        <a:ea typeface="方正宋一简体"/>
                        <a:cs typeface="Times New Roman" panose="02020603050405020304" pitchFamily="18" charset="0"/>
                      </a:rPr>
                      <m:t>和</m:t>
                    </m:r>
                    <m:r>
                      <a:rPr lang="zh-CN" altLang="en-US" sz="1800" i="1" kern="100">
                        <a:latin typeface="Cambria Math" panose="02040503050406030204" pitchFamily="18" charset="0"/>
                        <a:ea typeface="Cambria Math" panose="02040503050406030204" pitchFamily="18" charset="0"/>
                      </a:rPr>
                      <m:t>𝛽</m:t>
                    </m:r>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满足约束条件时，</a:t>
                </a:r>
                <a14:m>
                  <m:oMath xmlns:m="http://schemas.openxmlformats.org/officeDocument/2006/math">
                    <m:r>
                      <a:rPr lang="zh-CN" altLang="en-US" sz="1800" i="1" kern="100">
                        <a:latin typeface="Cambria Math" panose="02040503050406030204" pitchFamily="18" charset="0"/>
                        <a:ea typeface="Cambria Math" panose="02040503050406030204" pitchFamily="18" charset="0"/>
                      </a:rPr>
                      <m:t>𝜃</m:t>
                    </m:r>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为原函数不变。</a:t>
                </a: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将两种情况合并，原约束问题转变为求解</a:t>
                </a:r>
                <a14:m>
                  <m:oMath xmlns:m="http://schemas.openxmlformats.org/officeDocument/2006/math">
                    <m:sPre>
                      <m:sPrePr>
                        <m:ctrlPr>
                          <a:rPr lang="x-none" altLang="zh-CN" sz="1800" i="1" kern="100">
                            <a:latin typeface="Cambria Math" panose="02040503050406030204"/>
                            <a:ea typeface="方正宋一简体"/>
                          </a:rPr>
                        </m:ctrlPr>
                      </m:sPrePr>
                      <m:sub>
                        <m:r>
                          <a:rPr lang="zh-CN" altLang="en-US" sz="1800" i="1" kern="100">
                            <a:latin typeface="Cambria Math" panose="02040503050406030204" pitchFamily="18" charset="0"/>
                            <a:ea typeface="Cambria Math" panose="02040503050406030204" pitchFamily="18" charset="0"/>
                          </a:rPr>
                          <m:t>𝑤</m:t>
                        </m:r>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𝛽</m:t>
                        </m:r>
                      </m:sub>
                      <m:sup>
                        <m:r>
                          <a:rPr lang="zh-CN" altLang="en-US" sz="1800" i="1" kern="100">
                            <a:latin typeface="Cambria Math" panose="02040503050406030204" pitchFamily="18" charset="0"/>
                            <a:ea typeface="Cambria Math" panose="02040503050406030204" pitchFamily="18" charset="0"/>
                          </a:rPr>
                          <m:t>𝑚𝑖𝑛</m:t>
                        </m:r>
                      </m:sup>
                      <m:e>
                        <m:r>
                          <a:rPr lang="zh-CN" altLang="zh-CN" sz="1800" i="1" kern="100">
                            <a:latin typeface="Cambria Math" panose="02040503050406030204" pitchFamily="18" charset="0"/>
                            <a:ea typeface="Cambria Math" panose="02040503050406030204" pitchFamily="18" charset="0"/>
                          </a:rPr>
                          <m:t> </m:t>
                        </m:r>
                      </m:e>
                    </m:sPre>
                    <m:sPre>
                      <m:sPrePr>
                        <m:ctrlPr>
                          <a:rPr lang="x-none" altLang="zh-CN" sz="1800" i="1" kern="100">
                            <a:latin typeface="Cambria Math" panose="02040503050406030204"/>
                            <a:ea typeface="方正宋一简体"/>
                          </a:rPr>
                        </m:ctrlPr>
                      </m:sPrePr>
                      <m:sub>
                        <m:sSub>
                          <m:sSubPr>
                            <m:ctrlPr>
                              <a:rPr lang="x-none" altLang="zh-CN" sz="1800" i="1" kern="100">
                                <a:latin typeface="Cambria Math" panose="02040503050406030204"/>
                                <a:ea typeface="方正宋一简体"/>
                              </a:rPr>
                            </m:ctrlPr>
                          </m:sSubPr>
                          <m:e>
                            <m:r>
                              <a:rPr lang="zh-CN" altLang="en-US" sz="1800" i="1" kern="100">
                                <a:latin typeface="Cambria Math" panose="02040503050406030204" pitchFamily="18" charset="0"/>
                                <a:ea typeface="Cambria Math" panose="02040503050406030204" pitchFamily="18" charset="0"/>
                              </a:rPr>
                              <m:t>𝛼</m:t>
                            </m:r>
                          </m:e>
                          <m:sub>
                            <m:r>
                              <a:rPr lang="zh-CN" altLang="en-US" sz="1800" i="1" kern="100">
                                <a:latin typeface="Cambria Math" panose="02040503050406030204" pitchFamily="18" charset="0"/>
                                <a:ea typeface="Cambria Math" panose="02040503050406030204" pitchFamily="18" charset="0"/>
                              </a:rPr>
                              <m:t>𝑖</m:t>
                            </m:r>
                          </m:sub>
                        </m:sSub>
                        <m:r>
                          <a:rPr lang="zh-CN" altLang="zh-CN" sz="1800" i="1" kern="100">
                            <a:latin typeface="Cambria Math" panose="02040503050406030204" pitchFamily="18" charset="0"/>
                            <a:ea typeface="Cambria Math" panose="02040503050406030204" pitchFamily="18" charset="0"/>
                          </a:rPr>
                          <m:t>≥</m:t>
                        </m:r>
                        <m:r>
                          <a:rPr lang="zh-CN" altLang="zh-CN" sz="1800" i="1" kern="100">
                            <a:latin typeface="Cambria Math" panose="02040503050406030204" pitchFamily="18" charset="0"/>
                            <a:ea typeface="Cambria Math" panose="02040503050406030204" pitchFamily="18" charset="0"/>
                          </a:rPr>
                          <m:t>0</m:t>
                        </m:r>
                      </m:sub>
                      <m:sup>
                        <m:r>
                          <a:rPr lang="zh-CN" altLang="en-US" sz="1800" i="1" kern="100">
                            <a:latin typeface="Cambria Math" panose="02040503050406030204" pitchFamily="18" charset="0"/>
                            <a:ea typeface="Cambria Math" panose="02040503050406030204" pitchFamily="18" charset="0"/>
                          </a:rPr>
                          <m:t>𝑚𝑎𝑥</m:t>
                        </m:r>
                      </m:sup>
                      <m:e>
                        <m:r>
                          <a:rPr lang="zh-CN" altLang="en-US" sz="1800" i="1" kern="100">
                            <a:latin typeface="Cambria Math" panose="02040503050406030204" pitchFamily="18" charset="0"/>
                            <a:ea typeface="Cambria Math" panose="02040503050406030204" pitchFamily="18" charset="0"/>
                          </a:rPr>
                          <m:t>𝐿</m:t>
                        </m:r>
                      </m:e>
                    </m:sPre>
                    <m:d>
                      <m:dPr>
                        <m:ctrlPr>
                          <a:rPr lang="x-none" altLang="zh-CN" sz="1800" i="1" kern="100">
                            <a:latin typeface="Cambria Math" panose="02040503050406030204"/>
                            <a:ea typeface="方正宋一简体"/>
                          </a:rPr>
                        </m:ctrlPr>
                      </m:dPr>
                      <m:e>
                        <m:r>
                          <a:rPr lang="zh-CN" altLang="en-US" sz="1800" b="1" i="1" kern="100">
                            <a:latin typeface="Cambria Math" panose="02040503050406030204" pitchFamily="18" charset="0"/>
                            <a:ea typeface="Cambria Math" panose="02040503050406030204" pitchFamily="18" charset="0"/>
                          </a:rPr>
                          <m:t>𝒘</m:t>
                        </m:r>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𝛽</m:t>
                        </m:r>
                        <m:r>
                          <a:rPr lang="zh-CN" altLang="zh-CN" sz="1800" i="1" kern="100">
                            <a:latin typeface="Cambria Math" panose="02040503050406030204" pitchFamily="18" charset="0"/>
                            <a:ea typeface="Cambria Math" panose="02040503050406030204" pitchFamily="18" charset="0"/>
                          </a:rPr>
                          <m:t>,</m:t>
                        </m:r>
                        <m:r>
                          <a:rPr lang="zh-CN" altLang="en-US" sz="1800" i="1" kern="100">
                            <a:latin typeface="Cambria Math" panose="02040503050406030204" pitchFamily="18" charset="0"/>
                            <a:ea typeface="Cambria Math" panose="02040503050406030204" pitchFamily="18" charset="0"/>
                          </a:rPr>
                          <m:t>𝛼</m:t>
                        </m:r>
                      </m:e>
                    </m:d>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algn="just">
                  <a:spcAft>
                    <a:spcPts val="0"/>
                  </a:spcAft>
                </a:pPr>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先求最大值再求最小值的过程中</a:t>
                </a:r>
                <a14:m>
                  <m:oMath xmlns:m="http://schemas.openxmlformats.org/officeDocument/2006/math">
                    <m:r>
                      <a:rPr lang="zh-CN" altLang="en-US" sz="1800" b="1" i="1" kern="100">
                        <a:latin typeface="Cambria Math" panose="02040503050406030204" pitchFamily="18" charset="0"/>
                        <a:ea typeface="Cambria Math" panose="02040503050406030204" pitchFamily="18" charset="0"/>
                      </a:rPr>
                      <m:t>𝒘</m:t>
                    </m:r>
                    <m:r>
                      <a:rPr lang="zh-CN" altLang="zh-CN" sz="1800" kern="100">
                        <a:latin typeface="Cambria Math" panose="02040503050406030204" pitchFamily="18" charset="0"/>
                        <a:ea typeface="方正宋一简体"/>
                        <a:cs typeface="Times New Roman" panose="02020603050405020304" pitchFamily="18" charset="0"/>
                      </a:rPr>
                      <m:t>和</m:t>
                    </m:r>
                    <m:r>
                      <a:rPr lang="zh-CN" altLang="en-US" sz="1800" i="1" kern="100">
                        <a:latin typeface="Cambria Math" panose="02040503050406030204" pitchFamily="18" charset="0"/>
                        <a:ea typeface="Cambria Math" panose="02040503050406030204" pitchFamily="18" charset="0"/>
                      </a:rPr>
                      <m:t>𝛽</m:t>
                    </m:r>
                  </m:oMath>
                </a14:m>
                <a:r>
                  <a:rPr lang="zh-CN" altLang="zh-CN" sz="1800" kern="100" dirty="0">
                    <a:latin typeface="宋体" panose="02010600030101010101" pitchFamily="2" charset="-122"/>
                    <a:ea typeface="宋体" panose="02010600030101010101" pitchFamily="2" charset="-122"/>
                    <a:cs typeface="Times New Roman" panose="02020603050405020304" pitchFamily="18" charset="0"/>
                  </a:rPr>
                  <a:t>的值都有涉及，较难实现。借助拉格朗日函数的对偶性，将求解顺序进行交换，得到其对偶形式</a:t>
                </a:r>
                <a:endParaRPr lang="en-US" altLang="zh-CN" sz="1800" kern="100" dirty="0">
                  <a:latin typeface="宋体" panose="02010600030101010101" pitchFamily="2" charset="-122"/>
                  <a:ea typeface="宋体" panose="02010600030101010101" pitchFamily="2" charset="-122"/>
                  <a:cs typeface="Times New Roman" panose="02020603050405020304" pitchFamily="18" charset="0"/>
                </a:endParaRPr>
              </a:p>
              <a:p>
                <a:pPr marL="0" indent="0" algn="ctr">
                  <a:spcAft>
                    <a:spcPts val="0"/>
                  </a:spcAft>
                  <a:buNone/>
                </a:pPr>
                <a14:m>
                  <m:oMath xmlns:m="http://schemas.openxmlformats.org/officeDocument/2006/math">
                    <m:r>
                      <a:rPr lang="zh-CN" altLang="en-US" sz="1800" i="1">
                        <a:latin typeface="Cambria Math" panose="02040503050406030204"/>
                      </a:rPr>
                      <m:t>𝑚𝑎𝑥</m:t>
                    </m:r>
                    <m:func>
                      <m:funcPr>
                        <m:ctrlPr>
                          <a:rPr lang="x-none" altLang="zh-CN" sz="1800" i="1">
                            <a:latin typeface="Cambria Math" panose="02040503050406030204"/>
                          </a:rPr>
                        </m:ctrlPr>
                      </m:funcPr>
                      <m:fName>
                        <m:r>
                          <a:rPr lang="zh-CN" altLang="en-US" sz="1800" i="1">
                            <a:latin typeface="Cambria Math" panose="02040503050406030204"/>
                          </a:rPr>
                          <m:t>𝑚𝑖𝑛</m:t>
                        </m:r>
                      </m:fName>
                      <m:e>
                        <m:r>
                          <a:rPr lang="zh-CN" altLang="en-US" sz="1800" i="1">
                            <a:latin typeface="Cambria Math" panose="02040503050406030204"/>
                          </a:rPr>
                          <m:t> </m:t>
                        </m:r>
                      </m:e>
                    </m:func>
                    <m:r>
                      <a:rPr lang="zh-CN" altLang="en-US" sz="1800" i="1">
                        <a:latin typeface="Cambria Math" panose="02040503050406030204"/>
                      </a:rPr>
                      <m:t>𝐿</m:t>
                    </m:r>
                    <m:r>
                      <a:rPr lang="en-US" altLang="zh-CN" sz="1800" i="1">
                        <a:latin typeface="Cambria Math" panose="02040503050406030204"/>
                      </a:rPr>
                      <m:t>(</m:t>
                    </m:r>
                    <m:r>
                      <a:rPr lang="zh-CN" altLang="en-US" sz="1800" b="1" i="1">
                        <a:latin typeface="Cambria Math" panose="02040503050406030204"/>
                      </a:rPr>
                      <m:t>𝒘</m:t>
                    </m:r>
                    <m:r>
                      <a:rPr lang="zh-CN" altLang="en-US" sz="1800" i="1">
                        <a:latin typeface="Cambria Math" panose="02040503050406030204"/>
                      </a:rPr>
                      <m:t>，</m:t>
                    </m:r>
                    <m:r>
                      <a:rPr lang="zh-CN" altLang="en-US" sz="1800" i="1">
                        <a:latin typeface="Cambria Math" panose="02040503050406030204"/>
                      </a:rPr>
                      <m:t>𝛽</m:t>
                    </m:r>
                    <m:r>
                      <a:rPr lang="zh-CN" altLang="en-US" sz="1800" i="1">
                        <a:latin typeface="Cambria Math" panose="02040503050406030204"/>
                      </a:rPr>
                      <m:t>，</m:t>
                    </m:r>
                    <m:r>
                      <a:rPr lang="zh-CN" altLang="en-US" sz="1800" i="1">
                        <a:latin typeface="Cambria Math" panose="02040503050406030204"/>
                      </a:rPr>
                      <m:t>𝛼</m:t>
                    </m:r>
                    <m:r>
                      <a:rPr lang="en-US" altLang="zh-CN" sz="1800" i="1">
                        <a:latin typeface="Cambria Math" panose="02040503050406030204"/>
                      </a:rPr>
                      <m:t>)</m:t>
                    </m:r>
                  </m:oMath>
                </a14:m>
                <a:r>
                  <a:rPr lang="zh-CN" altLang="en-US" sz="1800" dirty="0">
                    <a:latin typeface="宋体" panose="02010600030101010101" pitchFamily="2" charset="-122"/>
                    <a:ea typeface="宋体" panose="02010600030101010101" pitchFamily="2" charset="-122"/>
                  </a:rPr>
                  <a:t> （</a:t>
                </a:r>
                <a:r>
                  <a:rPr lang="en-US" altLang="zh-CN" sz="1800" dirty="0">
                    <a:latin typeface="宋体" panose="02010600030101010101" pitchFamily="2" charset="-122"/>
                    <a:ea typeface="宋体" panose="02010600030101010101" pitchFamily="2" charset="-122"/>
                  </a:rPr>
                  <a:t>14</a:t>
                </a:r>
                <a:r>
                  <a:rPr lang="zh-CN" altLang="en-US" sz="1800" dirty="0">
                    <a:latin typeface="宋体" panose="02010600030101010101" pitchFamily="2" charset="-122"/>
                    <a:ea typeface="宋体" panose="02010600030101010101" pitchFamily="2" charset="-122"/>
                  </a:rPr>
                  <a:t>）</a:t>
                </a:r>
                <a:endParaRPr lang="zh-CN" altLang="en-US" sz="1800" dirty="0"/>
              </a:p>
              <a:p>
                <a:endParaRPr lang="zh-CN" altLang="en-US" sz="1800" dirty="0"/>
              </a:p>
              <a:p>
                <a:pPr marL="285750" indent="-285750">
                  <a:buFont typeface="Wingdings" panose="05000000000000000000" pitchFamily="2" charset="2"/>
                  <a:buChar char="Ø"/>
                </a:pPr>
                <a:endParaRPr lang="en-US" altLang="zh-CN" sz="1800" dirty="0"/>
              </a:p>
              <a:p>
                <a:endParaRPr lang="en-US" altLang="zh-CN" sz="1800" dirty="0"/>
              </a:p>
              <a:p>
                <a:endParaRPr lang="zh-CN" altLang="en-US" sz="1800" dirty="0"/>
              </a:p>
            </p:txBody>
          </p:sp>
        </mc:Choice>
        <mc:Fallback>
          <p:sp>
            <p:nvSpPr>
              <p:cNvPr id="7" name="矩形 3"/>
              <p:cNvSpPr>
                <a:spLocks noRot="1" noChangeAspect="1" noMove="1" noResize="1" noEditPoints="1" noAdjustHandles="1" noChangeArrowheads="1" noChangeShapeType="1" noTextEdit="1"/>
              </p:cNvSpPr>
              <p:nvPr/>
            </p:nvSpPr>
            <p:spPr bwMode="auto">
              <a:xfrm>
                <a:off x="396143" y="1179508"/>
                <a:ext cx="8045450" cy="6432787"/>
              </a:xfrm>
              <a:prstGeom prst="rect">
                <a:avLst/>
              </a:prstGeom>
              <a:blipFill rotWithShape="1">
                <a:blip r:embed="rId2"/>
                <a:stretch>
                  <a:fillRect l="-7" t="-5" r="7" b="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179705" y="980440"/>
                <a:ext cx="8879205" cy="5227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t>求拉格朗日函数的极小值，分别令𝐿</a:t>
                </a:r>
                <a:r>
                  <a:rPr lang="en-US" altLang="zh-CN" sz="1800" dirty="0"/>
                  <a:t>(</a:t>
                </a:r>
                <a:r>
                  <a:rPr lang="zh-CN" altLang="en-US" sz="1800" dirty="0"/>
                  <a:t>𝜔</a:t>
                </a:r>
                <a:r>
                  <a:rPr lang="en-US" altLang="zh-CN" sz="1800" dirty="0"/>
                  <a:t>,</a:t>
                </a:r>
                <a:r>
                  <a:rPr lang="zh-CN" altLang="en-US" sz="1800" dirty="0"/>
                  <a:t>𝛽</a:t>
                </a:r>
                <a:r>
                  <a:rPr lang="en-US" altLang="zh-CN" sz="1800" dirty="0"/>
                  <a:t>,</a:t>
                </a:r>
                <a:r>
                  <a:rPr lang="zh-CN" altLang="en-US" sz="1800" dirty="0"/>
                  <a:t>𝛼</a:t>
                </a:r>
                <a:r>
                  <a:rPr lang="en-US" altLang="zh-CN" sz="1800" dirty="0"/>
                  <a:t>)</a:t>
                </a:r>
                <a:r>
                  <a:rPr lang="zh-CN" altLang="en-US" sz="1800" dirty="0"/>
                  <a:t>对𝒘，𝛽求偏导，并使其为</a:t>
                </a:r>
                <a:r>
                  <a:rPr lang="en-US" altLang="zh-CN" sz="1800" dirty="0"/>
                  <a:t>0</a:t>
                </a:r>
                <a:r>
                  <a:rPr lang="zh-CN" altLang="en-US" sz="1800" dirty="0"/>
                  <a:t>：</a:t>
                </a:r>
                <a:endParaRPr lang="zh-CN" altLang="en-US" sz="1800" dirty="0"/>
              </a:p>
              <a:p>
                <a:endParaRPr lang="x-none" altLang="zh-CN" sz="1800" dirty="0"/>
              </a:p>
              <a:p>
                <a:pPr marL="0" indent="0" algn="ctr">
                  <a:buNone/>
                </a:pPr>
                <a14:m>
                  <m:oMath xmlns:m="http://schemas.openxmlformats.org/officeDocument/2006/math">
                    <m:f>
                      <m:fPr>
                        <m:ctrlPr>
                          <a:rPr lang="x-none" altLang="zh-CN" sz="1800" i="1">
                            <a:latin typeface="Cambria Math" panose="02040503050406030204"/>
                          </a:rPr>
                        </m:ctrlPr>
                      </m:fPr>
                      <m:num>
                        <m:r>
                          <a:rPr lang="zh-CN" altLang="en-US" sz="1800" i="1">
                            <a:latin typeface="Cambria Math" panose="02040503050406030204"/>
                          </a:rPr>
                          <m:t>𝜕</m:t>
                        </m:r>
                        <m:r>
                          <a:rPr lang="zh-CN" altLang="en-US" sz="1800" i="1">
                            <a:latin typeface="Cambria Math" panose="02040503050406030204"/>
                          </a:rPr>
                          <m:t>𝐿</m:t>
                        </m:r>
                      </m:num>
                      <m:den>
                        <m:r>
                          <a:rPr lang="zh-CN" altLang="en-US" sz="1800" i="1">
                            <a:latin typeface="Cambria Math" panose="02040503050406030204"/>
                          </a:rPr>
                          <m:t>𝜕</m:t>
                        </m:r>
                        <m:r>
                          <a:rPr lang="zh-CN" altLang="en-US" sz="1800" b="1" i="1">
                            <a:latin typeface="Cambria Math" panose="02040503050406030204"/>
                          </a:rPr>
                          <m:t>𝒘</m:t>
                        </m:r>
                      </m:den>
                    </m:f>
                    <m:r>
                      <a:rPr lang="en-US" altLang="zh-CN" sz="1800" i="1">
                        <a:latin typeface="Cambria Math" panose="02040503050406030204"/>
                      </a:rPr>
                      <m:t>=</m:t>
                    </m:r>
                    <m:r>
                      <a:rPr lang="en-US" altLang="zh-CN" sz="1800" i="1">
                        <a:latin typeface="Cambria Math" panose="02040503050406030204"/>
                      </a:rPr>
                      <m:t>0</m:t>
                    </m:r>
                    <m:r>
                      <a:rPr lang="zh-CN" altLang="en-US" sz="1800" i="1">
                        <a:latin typeface="Cambria Math" panose="02040503050406030204"/>
                      </a:rPr>
                      <m:t>，</m:t>
                    </m:r>
                    <m:r>
                      <a:rPr lang="zh-CN" altLang="en-US" sz="1800" i="1">
                        <a:latin typeface="Cambria Math" panose="02040503050406030204"/>
                      </a:rPr>
                      <m:t>  </m:t>
                    </m:r>
                    <m:f>
                      <m:fPr>
                        <m:ctrlPr>
                          <a:rPr lang="x-none" altLang="zh-CN" sz="1800" i="1">
                            <a:latin typeface="Cambria Math" panose="02040503050406030204"/>
                          </a:rPr>
                        </m:ctrlPr>
                      </m:fPr>
                      <m:num>
                        <m:r>
                          <a:rPr lang="zh-CN" altLang="en-US" sz="1800" i="1">
                            <a:latin typeface="Cambria Math" panose="02040503050406030204"/>
                          </a:rPr>
                          <m:t>𝜕</m:t>
                        </m:r>
                        <m:r>
                          <a:rPr lang="zh-CN" altLang="en-US" sz="1800" i="1">
                            <a:latin typeface="Cambria Math" panose="02040503050406030204"/>
                          </a:rPr>
                          <m:t>𝐿</m:t>
                        </m:r>
                      </m:num>
                      <m:den>
                        <m:r>
                          <a:rPr lang="zh-CN" altLang="en-US" sz="1800" i="1">
                            <a:latin typeface="Cambria Math" panose="02040503050406030204"/>
                          </a:rPr>
                          <m:t>𝜕𝛽</m:t>
                        </m:r>
                      </m:den>
                    </m:f>
                    <m:r>
                      <a:rPr lang="en-US" altLang="zh-CN" sz="1800" i="1">
                        <a:latin typeface="Cambria Math" panose="02040503050406030204"/>
                      </a:rPr>
                      <m:t>=</m:t>
                    </m:r>
                    <m:r>
                      <a:rPr lang="en-US" altLang="zh-CN" sz="1800" i="1">
                        <a:latin typeface="Cambria Math" panose="02040503050406030204"/>
                      </a:rPr>
                      <m:t>0</m:t>
                    </m:r>
                  </m:oMath>
                </a14:m>
                <a:r>
                  <a:rPr lang="en-US" altLang="zh-CN" sz="1800" dirty="0"/>
                  <a:t>  </a:t>
                </a:r>
                <a:r>
                  <a:rPr lang="zh-CN" altLang="en-US" sz="1800" dirty="0"/>
                  <a:t>（</a:t>
                </a:r>
                <a:r>
                  <a:rPr lang="en-US" altLang="zh-CN" sz="1800" dirty="0"/>
                  <a:t>15</a:t>
                </a:r>
                <a:r>
                  <a:rPr lang="zh-CN" altLang="en-US" sz="1800" dirty="0"/>
                  <a:t>）</a:t>
                </a:r>
                <a:r>
                  <a:rPr lang="x-none" altLang="zh-CN" sz="1800" dirty="0"/>
                  <a:t> </a:t>
                </a:r>
                <a:endParaRPr lang="x-none" altLang="zh-CN" sz="1800" dirty="0"/>
              </a:p>
              <a:p>
                <a:r>
                  <a:rPr lang="zh-CN" altLang="en-US" sz="1800" dirty="0"/>
                  <a:t>可得</a:t>
                </a:r>
                <a14:m>
                  <m:oMath xmlns:m="http://schemas.openxmlformats.org/officeDocument/2006/math">
                    <m:r>
                      <a:rPr lang="zh-CN" altLang="en-US" sz="1800" i="1" dirty="0">
                        <a:latin typeface="Cambria Math" panose="02040503050406030204" pitchFamily="18" charset="0"/>
                      </a:rPr>
                      <m:t>：</m:t>
                    </m:r>
                  </m:oMath>
                </a14:m>
                <a:endParaRPr lang="en-US" altLang="zh-CN" sz="1800" i="1" dirty="0">
                  <a:latin typeface="Cambria Math" panose="02040503050406030204" pitchFamily="18" charset="0"/>
                </a:endParaRPr>
              </a:p>
              <a:p>
                <a:pPr marL="0" indent="0" algn="ctr">
                  <a:buNone/>
                </a:pPr>
                <a14:m>
                  <m:oMath xmlns:m="http://schemas.openxmlformats.org/officeDocument/2006/math">
                    <m:r>
                      <a:rPr lang="zh-CN" altLang="en-US" sz="1800" i="1">
                        <a:latin typeface="Cambria Math" panose="02040503050406030204"/>
                      </a:rPr>
                      <m:t>𝑤</m:t>
                    </m:r>
                    <m:r>
                      <a:rPr lang="en-US" altLang="zh-CN"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e>
                    </m:nary>
                  </m:oMath>
                </a14:m>
                <a:r>
                  <a:rPr lang="zh-CN" altLang="en-US" sz="1800" dirty="0"/>
                  <a:t> （</a:t>
                </a:r>
                <a:r>
                  <a:rPr lang="en-US" altLang="zh-CN" sz="1800" dirty="0"/>
                  <a:t>16</a:t>
                </a:r>
                <a:r>
                  <a:rPr lang="zh-CN" altLang="en-US" sz="1800" dirty="0"/>
                  <a:t>）</a:t>
                </a:r>
                <a:r>
                  <a:rPr lang="en-US" altLang="zh-CN" sz="1800" dirty="0"/>
                  <a:t> </a:t>
                </a:r>
                <a:r>
                  <a:rPr lang="zh-CN" altLang="en-US" sz="1800" dirty="0"/>
                  <a:t>        </a:t>
                </a:r>
                <a:endParaRPr lang="en-US" altLang="zh-CN" sz="1800" i="1" dirty="0">
                  <a:latin typeface="Cambria Math" panose="02040503050406030204"/>
                </a:endParaRPr>
              </a:p>
              <a:p>
                <a:pPr marL="0" indent="0" algn="ctr">
                  <a:buNone/>
                </a:pPr>
                <a14:m>
                  <m:oMath xmlns:m="http://schemas.openxmlformats.org/officeDocument/2006/math">
                    <m:r>
                      <a:rPr lang="en-US" altLang="zh-CN" sz="1800" i="1" smtClean="0">
                        <a:latin typeface="Cambria Math" panose="02040503050406030204"/>
                      </a:rPr>
                      <m:t>0</m:t>
                    </m:r>
                    <m:r>
                      <a:rPr lang="en-US" altLang="zh-CN"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e>
                    </m:nary>
                  </m:oMath>
                </a14:m>
                <a:r>
                  <a:rPr lang="zh-CN" altLang="en-US" sz="1800" dirty="0"/>
                  <a:t>     （</a:t>
                </a:r>
                <a:r>
                  <a:rPr lang="en-US" altLang="zh-CN" sz="1800" dirty="0"/>
                  <a:t>17</a:t>
                </a:r>
                <a:r>
                  <a:rPr lang="zh-CN" altLang="en-US" sz="1800" dirty="0"/>
                  <a:t>）</a:t>
                </a:r>
                <a:endParaRPr lang="en-US" altLang="zh-CN" sz="1800" dirty="0"/>
              </a:p>
              <a:p>
                <a:pPr algn="just">
                  <a:spcAft>
                    <a:spcPts val="0"/>
                  </a:spcAft>
                </a:pPr>
                <a:r>
                  <a:rPr lang="zh-CN" altLang="en-US" sz="1800" dirty="0"/>
                  <a:t>将式（</a:t>
                </a:r>
                <a:r>
                  <a:rPr lang="en-US" altLang="zh-CN" sz="1800" dirty="0"/>
                  <a:t>16</a:t>
                </a:r>
                <a:r>
                  <a:rPr lang="zh-CN" altLang="en-US" sz="1800" dirty="0"/>
                  <a:t>）、式（</a:t>
                </a:r>
                <a:r>
                  <a:rPr lang="en-US" altLang="zh-CN" sz="1800" dirty="0"/>
                  <a:t>17</a:t>
                </a:r>
                <a:r>
                  <a:rPr lang="zh-CN" altLang="en-US" sz="1800" dirty="0"/>
                  <a:t>）和式（</a:t>
                </a:r>
                <a:r>
                  <a:rPr lang="en-US" altLang="zh-CN" sz="1800" dirty="0"/>
                  <a:t>13</a:t>
                </a:r>
                <a:r>
                  <a:rPr lang="zh-CN" altLang="en-US" sz="1800" dirty="0"/>
                  <a:t>）带入式（</a:t>
                </a:r>
                <a:r>
                  <a:rPr lang="en-US" altLang="zh-CN" sz="1800" dirty="0"/>
                  <a:t>15</a:t>
                </a:r>
                <a:r>
                  <a:rPr lang="zh-CN" altLang="en-US" sz="1800" dirty="0"/>
                  <a:t>）</a:t>
                </a:r>
                <a:r>
                  <a:rPr lang="en-US" altLang="zh-CN" sz="1800" dirty="0"/>
                  <a:t>,</a:t>
                </a:r>
                <a:r>
                  <a:rPr lang="zh-CN" altLang="en-US" sz="1800" dirty="0"/>
                  <a:t>消去</a:t>
                </a:r>
                <a14:m>
                  <m:oMath xmlns:m="http://schemas.openxmlformats.org/officeDocument/2006/math">
                    <m:r>
                      <a:rPr lang="zh-CN" altLang="en-US" sz="1800" i="1">
                        <a:latin typeface="Cambria Math" panose="02040503050406030204"/>
                      </a:rPr>
                      <m:t>𝑤</m:t>
                    </m:r>
                  </m:oMath>
                </a14:m>
                <a:r>
                  <a:rPr lang="zh-CN" altLang="en-US" sz="1800" dirty="0"/>
                  <a:t>和</a:t>
                </a:r>
                <a14:m>
                  <m:oMath xmlns:m="http://schemas.openxmlformats.org/officeDocument/2006/math">
                    <m:r>
                      <a:rPr lang="zh-CN" altLang="en-US" sz="1800" i="1">
                        <a:latin typeface="Cambria Math" panose="02040503050406030204"/>
                      </a:rPr>
                      <m:t>𝛽</m:t>
                    </m:r>
                  </m:oMath>
                </a14:m>
                <a:r>
                  <a:rPr lang="zh-CN" altLang="en-US" sz="1800" dirty="0"/>
                  <a:t>，可得：</a:t>
                </a:r>
                <a:endParaRPr lang="en-US" altLang="zh-CN" sz="1800" dirty="0"/>
              </a:p>
              <a:p>
                <a:pPr marL="0" indent="0" algn="ctr">
                  <a:buNone/>
                </a:pPr>
                <a14:m>
                  <m:oMath xmlns:m="http://schemas.openxmlformats.org/officeDocument/2006/math">
                    <m:r>
                      <a:rPr lang="zh-CN" altLang="en-US" sz="1600" i="1">
                        <a:latin typeface="Cambria Math" panose="02040503050406030204"/>
                      </a:rPr>
                      <m:t>𝐿</m:t>
                    </m:r>
                    <m:d>
                      <m:dPr>
                        <m:ctrlPr>
                          <a:rPr lang="x-none" altLang="zh-CN" sz="1600" i="1">
                            <a:latin typeface="Cambria Math" panose="02040503050406030204"/>
                          </a:rPr>
                        </m:ctrlPr>
                      </m:dPr>
                      <m:e>
                        <m:r>
                          <a:rPr lang="zh-CN" altLang="en-US" sz="1600" i="1">
                            <a:latin typeface="Cambria Math" panose="02040503050406030204"/>
                          </a:rPr>
                          <m:t>𝑤</m:t>
                        </m:r>
                        <m:r>
                          <a:rPr lang="en-US" altLang="zh-CN" sz="1600" i="1">
                            <a:latin typeface="Cambria Math" panose="02040503050406030204"/>
                          </a:rPr>
                          <m:t>,</m:t>
                        </m:r>
                        <m:r>
                          <a:rPr lang="zh-CN" altLang="en-US" sz="1600" i="1">
                            <a:latin typeface="Cambria Math" panose="02040503050406030204"/>
                          </a:rPr>
                          <m:t>𝛽</m:t>
                        </m:r>
                        <m:r>
                          <a:rPr lang="en-US" altLang="zh-CN" sz="1600" i="1">
                            <a:latin typeface="Cambria Math" panose="02040503050406030204"/>
                          </a:rPr>
                          <m:t>,</m:t>
                        </m:r>
                        <m:r>
                          <a:rPr lang="zh-CN" altLang="en-US" sz="1600" i="1">
                            <a:latin typeface="Cambria Math" panose="02040503050406030204"/>
                          </a:rPr>
                          <m:t>𝛼</m:t>
                        </m:r>
                      </m:e>
                    </m:d>
                    <m:r>
                      <a:rPr lang="en-US" altLang="zh-CN" sz="1600" i="1">
                        <a:latin typeface="Cambria Math" panose="02040503050406030204"/>
                      </a:rPr>
                      <m:t>=</m:t>
                    </m:r>
                    <m:f>
                      <m:fPr>
                        <m:ctrlPr>
                          <a:rPr lang="x-none" altLang="zh-CN" sz="1600" i="1">
                            <a:latin typeface="Cambria Math" panose="02040503050406030204"/>
                          </a:rPr>
                        </m:ctrlPr>
                      </m:fPr>
                      <m:num>
                        <m:r>
                          <a:rPr lang="en-US" altLang="zh-CN" sz="1600" i="1">
                            <a:latin typeface="Cambria Math" panose="02040503050406030204"/>
                          </a:rPr>
                          <m:t>1</m:t>
                        </m:r>
                      </m:num>
                      <m:den>
                        <m:r>
                          <a:rPr lang="en-US" altLang="zh-CN" sz="1600" i="1">
                            <a:latin typeface="Cambria Math" panose="02040503050406030204"/>
                          </a:rPr>
                          <m:t>2</m:t>
                        </m:r>
                      </m:den>
                    </m:f>
                    <m:nary>
                      <m:naryPr>
                        <m:chr m:val="∑"/>
                        <m:ctrlPr>
                          <a:rPr lang="x-none" altLang="zh-CN" sz="1600" i="1">
                            <a:latin typeface="Cambria Math" panose="02040503050406030204"/>
                          </a:rPr>
                        </m:ctrlPr>
                      </m:naryPr>
                      <m:sub>
                        <m:r>
                          <a:rPr lang="zh-CN" altLang="en-US" sz="1600" i="1">
                            <a:latin typeface="Cambria Math" panose="02040503050406030204"/>
                          </a:rPr>
                          <m:t>𝑖</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nary>
                          <m:naryPr>
                            <m:chr m:val="∑"/>
                            <m:ctrlPr>
                              <a:rPr lang="x-none" altLang="zh-CN" sz="1600" i="1">
                                <a:latin typeface="Cambria Math" panose="02040503050406030204"/>
                              </a:rPr>
                            </m:ctrlPr>
                          </m:naryPr>
                          <m:sub>
                            <m:r>
                              <a:rPr lang="zh-CN" altLang="en-US" sz="1600" i="1">
                                <a:latin typeface="Cambria Math" panose="02040503050406030204"/>
                              </a:rPr>
                              <m:t>𝑗</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𝑗</m:t>
                                </m:r>
                              </m:sub>
                            </m:sSub>
                            <m:sSub>
                              <m:sSubPr>
                                <m:ctrlPr>
                                  <a:rPr lang="x-none" altLang="zh-CN" sz="1600" i="1">
                                    <a:latin typeface="Cambria Math" panose="02040503050406030204"/>
                                  </a:rPr>
                                </m:ctrlPr>
                              </m:sSubPr>
                              <m:e>
                                <m:r>
                                  <a:rPr lang="zh-CN" altLang="en-US" sz="1600" i="1">
                                    <a:latin typeface="Cambria Math" panose="02040503050406030204"/>
                                  </a:rPr>
                                  <m:t>𝑦</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𝑦</m:t>
                                </m:r>
                              </m:e>
                              <m:sub>
                                <m:r>
                                  <a:rPr lang="zh-CN" altLang="en-US" sz="1600" i="1">
                                    <a:latin typeface="Cambria Math" panose="02040503050406030204"/>
                                  </a:rPr>
                                  <m:t>𝑗</m:t>
                                </m:r>
                              </m:sub>
                            </m:sSub>
                          </m:e>
                        </m:nary>
                        <m:d>
                          <m:dPr>
                            <m:ctrlPr>
                              <a:rPr lang="x-none" altLang="zh-CN" sz="1600" i="1">
                                <a:latin typeface="Cambria Math" panose="02040503050406030204"/>
                              </a:rPr>
                            </m:ctrlPr>
                          </m:dPr>
                          <m:e>
                            <m:sSub>
                              <m:sSubPr>
                                <m:ctrlPr>
                                  <a:rPr lang="x-none" altLang="zh-CN" sz="1600" i="1">
                                    <a:latin typeface="Cambria Math" panose="02040503050406030204"/>
                                  </a:rPr>
                                </m:ctrlPr>
                              </m:sSubPr>
                              <m:e>
                                <m:r>
                                  <a:rPr lang="zh-CN" altLang="en-US" sz="1600" i="1">
                                    <a:latin typeface="Cambria Math" panose="02040503050406030204"/>
                                  </a:rPr>
                                  <m:t>𝑥</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m:t>
                                </m:r>
                                <m:r>
                                  <a:rPr lang="zh-CN" altLang="en-US" sz="1600" i="1">
                                    <a:latin typeface="Cambria Math" panose="02040503050406030204"/>
                                  </a:rPr>
                                  <m:t>𝑥</m:t>
                                </m:r>
                              </m:e>
                              <m:sub>
                                <m:r>
                                  <a:rPr lang="zh-CN" altLang="en-US" sz="1600" i="1">
                                    <a:latin typeface="Cambria Math" panose="02040503050406030204"/>
                                  </a:rPr>
                                  <m:t>𝑗</m:t>
                                </m:r>
                              </m:sub>
                            </m:sSub>
                          </m:e>
                        </m:d>
                      </m:e>
                    </m:nary>
                    <m:r>
                      <a:rPr lang="zh-CN" altLang="en-US" sz="1600" i="1">
                        <a:latin typeface="Cambria Math" panose="02040503050406030204"/>
                      </a:rPr>
                      <m:t>−</m:t>
                    </m:r>
                    <m:nary>
                      <m:naryPr>
                        <m:chr m:val="∑"/>
                        <m:ctrlPr>
                          <a:rPr lang="x-none" altLang="zh-CN" sz="1600" i="1">
                            <a:latin typeface="Cambria Math" panose="02040503050406030204"/>
                          </a:rPr>
                        </m:ctrlPr>
                      </m:naryPr>
                      <m:sub>
                        <m:r>
                          <a:rPr lang="zh-CN" altLang="en-US" sz="1600" i="1">
                            <a:latin typeface="Cambria Math" panose="02040503050406030204"/>
                          </a:rPr>
                          <m:t>𝑖</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𝑦</m:t>
                            </m:r>
                          </m:e>
                          <m:sub>
                            <m:r>
                              <a:rPr lang="zh-CN" altLang="en-US" sz="1600" i="1">
                                <a:latin typeface="Cambria Math" panose="02040503050406030204"/>
                              </a:rPr>
                              <m:t>𝑖</m:t>
                            </m:r>
                          </m:sub>
                        </m:sSub>
                        <m:d>
                          <m:dPr>
                            <m:ctrlPr>
                              <a:rPr lang="x-none" altLang="zh-CN" sz="1600" i="1">
                                <a:latin typeface="Cambria Math" panose="02040503050406030204"/>
                              </a:rPr>
                            </m:ctrlPr>
                          </m:dPr>
                          <m:e>
                            <m:d>
                              <m:dPr>
                                <m:ctrlPr>
                                  <a:rPr lang="x-none" altLang="zh-CN" sz="1600" i="1">
                                    <a:latin typeface="Cambria Math" panose="02040503050406030204"/>
                                  </a:rPr>
                                </m:ctrlPr>
                              </m:dPr>
                              <m:e>
                                <m:nary>
                                  <m:naryPr>
                                    <m:chr m:val="∑"/>
                                    <m:ctrlPr>
                                      <a:rPr lang="x-none" altLang="zh-CN" sz="1600" i="1">
                                        <a:latin typeface="Cambria Math" panose="02040503050406030204"/>
                                      </a:rPr>
                                    </m:ctrlPr>
                                  </m:naryPr>
                                  <m:sub>
                                    <m:r>
                                      <a:rPr lang="zh-CN" altLang="en-US" sz="1600" i="1">
                                        <a:latin typeface="Cambria Math" panose="02040503050406030204"/>
                                      </a:rPr>
                                      <m:t>𝑗</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𝑗</m:t>
                                        </m:r>
                                      </m:sub>
                                    </m:sSub>
                                    <m:sSub>
                                      <m:sSubPr>
                                        <m:ctrlPr>
                                          <a:rPr lang="x-none" altLang="zh-CN" sz="1600" i="1">
                                            <a:latin typeface="Cambria Math" panose="02040503050406030204"/>
                                          </a:rPr>
                                        </m:ctrlPr>
                                      </m:sSubPr>
                                      <m:e>
                                        <m:r>
                                          <a:rPr lang="zh-CN" altLang="en-US" sz="1600" i="1">
                                            <a:latin typeface="Cambria Math" panose="02040503050406030204"/>
                                          </a:rPr>
                                          <m:t>𝑦</m:t>
                                        </m:r>
                                      </m:e>
                                      <m:sub>
                                        <m:r>
                                          <a:rPr lang="zh-CN" altLang="en-US" sz="1600" i="1">
                                            <a:latin typeface="Cambria Math" panose="02040503050406030204"/>
                                          </a:rPr>
                                          <m:t>𝑗</m:t>
                                        </m:r>
                                      </m:sub>
                                    </m:sSub>
                                    <m:sSub>
                                      <m:sSubPr>
                                        <m:ctrlPr>
                                          <a:rPr lang="x-none" altLang="zh-CN" sz="1600" i="1">
                                            <a:latin typeface="Cambria Math" panose="02040503050406030204"/>
                                          </a:rPr>
                                        </m:ctrlPr>
                                      </m:sSubPr>
                                      <m:e>
                                        <m:r>
                                          <a:rPr lang="zh-CN" altLang="en-US" sz="1600" i="1">
                                            <a:latin typeface="Cambria Math" panose="02040503050406030204"/>
                                          </a:rPr>
                                          <m:t>𝑥</m:t>
                                        </m:r>
                                      </m:e>
                                      <m:sub>
                                        <m:r>
                                          <a:rPr lang="zh-CN" altLang="en-US" sz="1600" i="1">
                                            <a:latin typeface="Cambria Math" panose="02040503050406030204"/>
                                          </a:rPr>
                                          <m:t>𝑗</m:t>
                                        </m:r>
                                      </m:sub>
                                    </m:sSub>
                                  </m:e>
                                </m:nary>
                              </m:e>
                            </m:d>
                            <m:r>
                              <a:rPr lang="zh-CN" altLang="en-US" sz="1600" i="1">
                                <a:latin typeface="Cambria Math" panose="02040503050406030204"/>
                              </a:rPr>
                              <m:t>∙</m:t>
                            </m:r>
                            <m:sSub>
                              <m:sSubPr>
                                <m:ctrlPr>
                                  <a:rPr lang="x-none" altLang="zh-CN" sz="1600" i="1">
                                    <a:latin typeface="Cambria Math" panose="02040503050406030204"/>
                                  </a:rPr>
                                </m:ctrlPr>
                              </m:sSubPr>
                              <m:e>
                                <m:r>
                                  <a:rPr lang="zh-CN" altLang="en-US" sz="1600" i="1">
                                    <a:latin typeface="Cambria Math" panose="02040503050406030204"/>
                                  </a:rPr>
                                  <m:t>𝑥</m:t>
                                </m:r>
                              </m:e>
                              <m:sub>
                                <m:r>
                                  <a:rPr lang="zh-CN" altLang="en-US" sz="1600" i="1">
                                    <a:latin typeface="Cambria Math" panose="02040503050406030204"/>
                                  </a:rPr>
                                  <m:t>𝑖</m:t>
                                </m:r>
                              </m:sub>
                            </m:sSub>
                            <m:r>
                              <a:rPr lang="en-US" altLang="zh-CN" sz="1600" i="1">
                                <a:latin typeface="Cambria Math" panose="02040503050406030204"/>
                              </a:rPr>
                              <m:t>+</m:t>
                            </m:r>
                            <m:r>
                              <a:rPr lang="zh-CN" altLang="en-US" sz="1600" i="1">
                                <a:latin typeface="Cambria Math" panose="02040503050406030204"/>
                              </a:rPr>
                              <m:t>𝑏</m:t>
                            </m:r>
                          </m:e>
                        </m:d>
                      </m:e>
                    </m:nary>
                    <m:r>
                      <a:rPr lang="en-US" altLang="zh-CN" sz="1600" i="1">
                        <a:latin typeface="Cambria Math" panose="02040503050406030204"/>
                      </a:rPr>
                      <m:t>+</m:t>
                    </m:r>
                    <m:nary>
                      <m:naryPr>
                        <m:chr m:val="∑"/>
                        <m:limLoc m:val="undOvr"/>
                        <m:ctrlPr>
                          <a:rPr lang="x-none" altLang="zh-CN" sz="1600" i="1">
                            <a:latin typeface="Cambria Math" panose="02040503050406030204"/>
                          </a:rPr>
                        </m:ctrlPr>
                      </m:naryPr>
                      <m:sub>
                        <m:r>
                          <a:rPr lang="zh-CN" altLang="en-US" sz="1600" i="1">
                            <a:latin typeface="Cambria Math" panose="02040503050406030204"/>
                          </a:rPr>
                          <m:t>𝑖</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𝑖</m:t>
                            </m:r>
                          </m:sub>
                        </m:sSub>
                      </m:e>
                    </m:nary>
                  </m:oMath>
                </a14:m>
                <a:r>
                  <a:rPr lang="en-US" altLang="zh-CN" sz="1600" dirty="0"/>
                  <a:t> </a:t>
                </a:r>
                <a14:m>
                  <m:oMath xmlns:m="http://schemas.openxmlformats.org/officeDocument/2006/math">
                    <m:func>
                      <m:funcPr>
                        <m:ctrlPr>
                          <a:rPr lang="x-none" altLang="zh-CN" sz="1600" i="1">
                            <a:latin typeface="Cambria Math" panose="02040503050406030204"/>
                          </a:rPr>
                        </m:ctrlPr>
                      </m:funcPr>
                      <m:fName>
                        <m:r>
                          <m:rPr>
                            <m:sty m:val="p"/>
                          </m:rPr>
                          <a:rPr lang="en-US" altLang="zh-CN" sz="1600">
                            <a:latin typeface="Cambria Math" panose="02040503050406030204"/>
                          </a:rPr>
                          <m:t>min</m:t>
                        </m:r>
                      </m:fName>
                      <m:e/>
                    </m:func>
                    <m:r>
                      <a:rPr lang="zh-CN" altLang="en-US" sz="1600" i="1">
                        <a:latin typeface="Cambria Math" panose="02040503050406030204"/>
                      </a:rPr>
                      <m:t>𝐿</m:t>
                    </m:r>
                    <m:d>
                      <m:dPr>
                        <m:ctrlPr>
                          <a:rPr lang="x-none" altLang="zh-CN" sz="1600" i="1">
                            <a:latin typeface="Cambria Math" panose="02040503050406030204"/>
                          </a:rPr>
                        </m:ctrlPr>
                      </m:dPr>
                      <m:e>
                        <m:r>
                          <a:rPr lang="zh-CN" altLang="en-US" sz="1600" i="1">
                            <a:latin typeface="Cambria Math" panose="02040503050406030204"/>
                          </a:rPr>
                          <m:t>𝑤</m:t>
                        </m:r>
                        <m:r>
                          <a:rPr lang="en-US" altLang="zh-CN" sz="1600" i="1">
                            <a:latin typeface="Cambria Math" panose="02040503050406030204"/>
                          </a:rPr>
                          <m:t>,</m:t>
                        </m:r>
                        <m:r>
                          <a:rPr lang="zh-CN" altLang="en-US" sz="1600" i="1">
                            <a:latin typeface="Cambria Math" panose="02040503050406030204"/>
                          </a:rPr>
                          <m:t>𝛽</m:t>
                        </m:r>
                        <m:r>
                          <a:rPr lang="en-US" altLang="zh-CN" sz="1600" i="1">
                            <a:latin typeface="Cambria Math" panose="02040503050406030204"/>
                          </a:rPr>
                          <m:t>,</m:t>
                        </m:r>
                        <m:r>
                          <a:rPr lang="zh-CN" altLang="en-US" sz="1600" i="1">
                            <a:latin typeface="Cambria Math" panose="02040503050406030204"/>
                          </a:rPr>
                          <m:t>𝛼</m:t>
                        </m:r>
                      </m:e>
                    </m:d>
                    <m:r>
                      <a:rPr lang="en-US" altLang="zh-CN" sz="1600" i="1">
                        <a:latin typeface="Cambria Math" panose="02040503050406030204"/>
                      </a:rPr>
                      <m:t>=</m:t>
                    </m:r>
                    <m:nary>
                      <m:naryPr>
                        <m:chr m:val="∑"/>
                        <m:ctrlPr>
                          <a:rPr lang="x-none" altLang="zh-CN" sz="1600" i="1">
                            <a:latin typeface="Cambria Math" panose="02040503050406030204"/>
                          </a:rPr>
                        </m:ctrlPr>
                      </m:naryPr>
                      <m:sub>
                        <m:r>
                          <a:rPr lang="zh-CN" altLang="en-US" sz="1600" i="1">
                            <a:latin typeface="Cambria Math" panose="02040503050406030204"/>
                          </a:rPr>
                          <m:t>𝑖</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𝑖</m:t>
                            </m:r>
                          </m:sub>
                        </m:sSub>
                      </m:e>
                    </m:nary>
                    <m:r>
                      <a:rPr lang="zh-CN" altLang="en-US" sz="1600" i="1">
                        <a:latin typeface="Cambria Math" panose="02040503050406030204"/>
                      </a:rPr>
                      <m:t>−</m:t>
                    </m:r>
                    <m:f>
                      <m:fPr>
                        <m:ctrlPr>
                          <a:rPr lang="x-none" altLang="zh-CN" sz="1600" i="1">
                            <a:latin typeface="Cambria Math" panose="02040503050406030204"/>
                          </a:rPr>
                        </m:ctrlPr>
                      </m:fPr>
                      <m:num>
                        <m:r>
                          <a:rPr lang="en-US" altLang="zh-CN" sz="1600" i="1">
                            <a:latin typeface="Cambria Math" panose="02040503050406030204"/>
                          </a:rPr>
                          <m:t>1</m:t>
                        </m:r>
                      </m:num>
                      <m:den>
                        <m:r>
                          <a:rPr lang="en-US" altLang="zh-CN" sz="1600" i="1">
                            <a:latin typeface="Cambria Math" panose="02040503050406030204"/>
                          </a:rPr>
                          <m:t>2</m:t>
                        </m:r>
                      </m:den>
                    </m:f>
                    <m:nary>
                      <m:naryPr>
                        <m:chr m:val="∑"/>
                        <m:ctrlPr>
                          <a:rPr lang="x-none" altLang="zh-CN" sz="1600" i="1">
                            <a:latin typeface="Cambria Math" panose="02040503050406030204"/>
                          </a:rPr>
                        </m:ctrlPr>
                      </m:naryPr>
                      <m:sub>
                        <m:r>
                          <a:rPr lang="zh-CN" altLang="en-US" sz="1600" i="1">
                            <a:latin typeface="Cambria Math" panose="02040503050406030204"/>
                          </a:rPr>
                          <m:t>𝑖</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nary>
                          <m:naryPr>
                            <m:chr m:val="∑"/>
                            <m:ctrlPr>
                              <a:rPr lang="x-none" altLang="zh-CN" sz="1600" i="1">
                                <a:latin typeface="Cambria Math" panose="02040503050406030204"/>
                              </a:rPr>
                            </m:ctrlPr>
                          </m:naryPr>
                          <m:sub>
                            <m:r>
                              <a:rPr lang="zh-CN" altLang="en-US" sz="1600" i="1">
                                <a:latin typeface="Cambria Math" panose="02040503050406030204"/>
                              </a:rPr>
                              <m:t>𝑗</m:t>
                            </m:r>
                            <m:r>
                              <a:rPr lang="en-US" altLang="zh-CN" sz="1600" i="1">
                                <a:latin typeface="Cambria Math" panose="02040503050406030204"/>
                              </a:rPr>
                              <m:t>=</m:t>
                            </m:r>
                            <m:r>
                              <a:rPr lang="en-US" altLang="zh-CN" sz="1600" i="1">
                                <a:latin typeface="Cambria Math" panose="02040503050406030204"/>
                              </a:rPr>
                              <m:t>1</m:t>
                            </m:r>
                          </m:sub>
                          <m:sup>
                            <m:r>
                              <a:rPr lang="zh-CN" altLang="en-US" sz="1600" i="1">
                                <a:latin typeface="Cambria Math" panose="02040503050406030204"/>
                              </a:rPr>
                              <m:t>𝑛</m:t>
                            </m:r>
                          </m:sup>
                          <m:e>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𝛼</m:t>
                                </m:r>
                              </m:e>
                              <m:sub>
                                <m:r>
                                  <a:rPr lang="zh-CN" altLang="en-US" sz="1600" i="1">
                                    <a:latin typeface="Cambria Math" panose="02040503050406030204"/>
                                  </a:rPr>
                                  <m:t>𝑗</m:t>
                                </m:r>
                              </m:sub>
                            </m:sSub>
                            <m:sSub>
                              <m:sSubPr>
                                <m:ctrlPr>
                                  <a:rPr lang="x-none" altLang="zh-CN" sz="1600" i="1">
                                    <a:latin typeface="Cambria Math" panose="02040503050406030204"/>
                                  </a:rPr>
                                </m:ctrlPr>
                              </m:sSubPr>
                              <m:e>
                                <m:r>
                                  <a:rPr lang="zh-CN" altLang="en-US" sz="1600" i="1">
                                    <a:latin typeface="Cambria Math" panose="02040503050406030204"/>
                                  </a:rPr>
                                  <m:t>𝑦</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𝑦</m:t>
                                </m:r>
                              </m:e>
                              <m:sub>
                                <m:r>
                                  <a:rPr lang="zh-CN" altLang="en-US" sz="1600" i="1">
                                    <a:latin typeface="Cambria Math" panose="02040503050406030204"/>
                                  </a:rPr>
                                  <m:t>𝑗</m:t>
                                </m:r>
                              </m:sub>
                            </m:sSub>
                          </m:e>
                        </m:nary>
                        <m:sSub>
                          <m:sSubPr>
                            <m:ctrlPr>
                              <a:rPr lang="x-none" altLang="zh-CN" sz="1600" i="1">
                                <a:latin typeface="Cambria Math" panose="02040503050406030204"/>
                              </a:rPr>
                            </m:ctrlPr>
                          </m:sSubPr>
                          <m:e>
                            <m:r>
                              <a:rPr lang="zh-CN" altLang="en-US" sz="1600" i="1">
                                <a:latin typeface="Cambria Math" panose="02040503050406030204"/>
                              </a:rPr>
                              <m:t>𝑥</m:t>
                            </m:r>
                          </m:e>
                          <m:sub>
                            <m:r>
                              <a:rPr lang="zh-CN" altLang="en-US" sz="1600" i="1">
                                <a:latin typeface="Cambria Math" panose="02040503050406030204"/>
                              </a:rPr>
                              <m:t>𝑖</m:t>
                            </m:r>
                          </m:sub>
                        </m:sSub>
                        <m:sSub>
                          <m:sSubPr>
                            <m:ctrlPr>
                              <a:rPr lang="x-none" altLang="zh-CN" sz="1600" i="1">
                                <a:latin typeface="Cambria Math" panose="02040503050406030204"/>
                              </a:rPr>
                            </m:ctrlPr>
                          </m:sSubPr>
                          <m:e>
                            <m:r>
                              <a:rPr lang="zh-CN" altLang="en-US" sz="1600" i="1">
                                <a:latin typeface="Cambria Math" panose="02040503050406030204"/>
                              </a:rPr>
                              <m:t>𝑥</m:t>
                            </m:r>
                          </m:e>
                          <m:sub>
                            <m:r>
                              <a:rPr lang="zh-CN" altLang="en-US" sz="1600" i="1">
                                <a:latin typeface="Cambria Math" panose="02040503050406030204"/>
                              </a:rPr>
                              <m:t>𝑗</m:t>
                            </m:r>
                          </m:sub>
                        </m:sSub>
                      </m:e>
                    </m:nary>
                  </m:oMath>
                </a14:m>
                <a:r>
                  <a:rPr lang="zh-CN" altLang="en-US" sz="1600" dirty="0"/>
                  <a:t>      </a:t>
                </a:r>
                <a:r>
                  <a:rPr lang="en-US" altLang="zh-CN" sz="1600" dirty="0"/>
                  <a:t>  </a:t>
                </a:r>
                <a:r>
                  <a:rPr lang="zh-CN" altLang="en-US" sz="1600" dirty="0"/>
                  <a:t>          （</a:t>
                </a:r>
                <a:r>
                  <a:rPr lang="en-US" altLang="zh-CN" sz="1600" dirty="0"/>
                  <a:t>19</a:t>
                </a:r>
                <a:r>
                  <a:rPr lang="zh-CN" altLang="en-US" sz="1600" dirty="0"/>
                  <a:t>）</a:t>
                </a:r>
                <a:endParaRPr lang="en-US" altLang="zh-CN" sz="1600" dirty="0"/>
              </a:p>
              <a:p>
                <a:r>
                  <a:rPr lang="zh-CN" altLang="en-US" sz="1800" dirty="0"/>
                  <a:t>将式（</a:t>
                </a:r>
                <a:r>
                  <a:rPr lang="en-US" altLang="zh-CN" sz="1800" dirty="0"/>
                  <a:t>19</a:t>
                </a:r>
                <a:r>
                  <a:rPr lang="zh-CN" altLang="en-US" sz="1800" dirty="0"/>
                  <a:t>）带入式（</a:t>
                </a:r>
                <a:r>
                  <a:rPr lang="en-US" altLang="zh-CN" sz="1800" dirty="0"/>
                  <a:t>14</a:t>
                </a:r>
                <a:r>
                  <a:rPr lang="zh-CN" altLang="en-US" sz="1800" dirty="0"/>
                  <a:t>）可得最终优化表达式：</a:t>
                </a:r>
                <a:endParaRPr lang="x-none" altLang="zh-CN" sz="1800" dirty="0"/>
              </a:p>
              <a:p>
                <a:pPr marL="0" indent="0" algn="r" latinLnBrk="1">
                  <a:buNone/>
                </a:pPr>
                <a14:m>
                  <m:oMath xmlns:m="http://schemas.openxmlformats.org/officeDocument/2006/math">
                    <m:func>
                      <m:funcPr>
                        <m:ctrlPr>
                          <a:rPr lang="x-none" altLang="zh-CN" sz="1800" i="1">
                            <a:latin typeface="Cambria Math" panose="02040503050406030204"/>
                          </a:rPr>
                        </m:ctrlPr>
                      </m:funcPr>
                      <m:fName>
                        <m:r>
                          <m:rPr>
                            <m:sty m:val="p"/>
                          </m:rPr>
                          <a:rPr lang="en-US" altLang="zh-CN" sz="1800">
                            <a:latin typeface="Cambria Math" panose="02040503050406030204"/>
                          </a:rPr>
                          <m:t>max</m:t>
                        </m:r>
                        <m:r>
                          <a:rPr lang="en-US" altLang="zh-CN" sz="1800">
                            <a:latin typeface="Cambria Math" panose="02040503050406030204"/>
                          </a:rPr>
                          <m:t> </m:t>
                        </m:r>
                      </m:fName>
                      <m:e>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r>
                              <a:rPr lang="zh-CN" altLang="en-US" sz="1800" i="1">
                                <a:latin typeface="Cambria Math" panose="02040503050406030204"/>
                              </a:rPr>
                              <m:t>−</m:t>
                            </m:r>
                            <m:f>
                              <m:fPr>
                                <m:ctrlPr>
                                  <a:rPr lang="x-none" altLang="zh-CN" sz="1800" i="1">
                                    <a:latin typeface="Cambria Math" panose="02040503050406030204"/>
                                  </a:rPr>
                                </m:ctrlPr>
                              </m:fPr>
                              <m:num>
                                <m:r>
                                  <a:rPr lang="en-US" altLang="zh-CN" sz="1800" i="1">
                                    <a:latin typeface="Cambria Math" panose="02040503050406030204"/>
                                  </a:rPr>
                                  <m:t>1</m:t>
                                </m:r>
                              </m:num>
                              <m:den>
                                <m:r>
                                  <a:rPr lang="en-US" altLang="zh-CN" sz="1800" i="1">
                                    <a:latin typeface="Cambria Math" panose="02040503050406030204"/>
                                  </a:rPr>
                                  <m:t>2</m:t>
                                </m:r>
                              </m:den>
                            </m:f>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nary>
                                  <m:naryPr>
                                    <m:chr m:val="∑"/>
                                    <m:ctrlPr>
                                      <a:rPr lang="x-none" altLang="zh-CN" sz="1800" i="1">
                                        <a:latin typeface="Cambria Math" panose="02040503050406030204"/>
                                      </a:rPr>
                                    </m:ctrlPr>
                                  </m:naryPr>
                                  <m:sub>
                                    <m:r>
                                      <a:rPr lang="zh-CN" altLang="en-US" sz="1800" i="1">
                                        <a:latin typeface="Cambria Math" panose="02040503050406030204"/>
                                      </a:rPr>
                                      <m:t>𝑗</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𝑗</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𝑗</m:t>
                                        </m:r>
                                      </m:sub>
                                    </m:sSub>
                                  </m:e>
                                </m:nary>
                                <m:sSub>
                                  <m:sSubPr>
                                    <m:ctrlPr>
                                      <a:rPr lang="x-none" altLang="zh-CN" sz="1800" i="1">
                                        <a:latin typeface="Cambria Math" panose="02040503050406030204"/>
                                      </a:rPr>
                                    </m:ctrlPr>
                                  </m:sSubPr>
                                  <m:e>
                                    <m:r>
                                      <a:rPr lang="zh-CN" altLang="en-US" sz="1800" i="1">
                                        <a:latin typeface="Cambria Math" panose="02040503050406030204"/>
                                      </a:rPr>
                                      <m:t>𝑥</m:t>
                                    </m:r>
                                  </m:e>
                                  <m:sub>
                                    <m:r>
                                      <a:rPr lang="en-US" altLang="zh-CN"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𝑗</m:t>
                                    </m:r>
                                  </m:sub>
                                </m:sSub>
                              </m:e>
                            </m:nary>
                          </m:e>
                        </m:nary>
                      </m:e>
                    </m:func>
                    <m:r>
                      <a:rPr lang="zh-CN" altLang="en-US" sz="1800" i="1">
                        <a:latin typeface="Cambria Math" panose="02040503050406030204"/>
                      </a:rPr>
                      <m:t>，</m:t>
                    </m:r>
                    <m:r>
                      <a:rPr lang="zh-CN" altLang="en-US" sz="1800" i="1">
                        <a:latin typeface="Cambria Math" panose="02040503050406030204"/>
                      </a:rPr>
                      <m:t>  </m:t>
                    </m:r>
                    <m:r>
                      <a:rPr lang="zh-CN" altLang="en-US" sz="1800" i="1">
                        <a:latin typeface="Cambria Math" panose="02040503050406030204"/>
                      </a:rPr>
                      <m:t>0</m:t>
                    </m:r>
                    <m:r>
                      <a:rPr lang="zh-CN" altLang="en-US"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r>
                          <a:rPr lang="zh-CN" altLang="en-US" sz="1800" i="1">
                            <a:latin typeface="Cambria Math" panose="02040503050406030204"/>
                          </a:rPr>
                          <m:t>，</m:t>
                        </m:r>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r>
                          <a:rPr lang="zh-CN" altLang="en-US" sz="1800" i="1">
                            <a:latin typeface="Cambria Math" panose="02040503050406030204"/>
                          </a:rPr>
                          <m:t>≥</m:t>
                        </m:r>
                        <m:r>
                          <a:rPr lang="en-US" altLang="zh-CN" sz="1800" i="1">
                            <a:latin typeface="Cambria Math" panose="02040503050406030204"/>
                          </a:rPr>
                          <m:t>0</m:t>
                        </m:r>
                      </m:e>
                    </m:nary>
                  </m:oMath>
                </a14:m>
                <a:r>
                  <a:rPr lang="zh-CN" altLang="en-US" sz="1800" dirty="0"/>
                  <a:t>    （</a:t>
                </a:r>
                <a:r>
                  <a:rPr lang="en-US" altLang="zh-CN" sz="1800" dirty="0"/>
                  <a:t>20</a:t>
                </a:r>
                <a:r>
                  <a:rPr lang="zh-CN" altLang="en-US" sz="1800" dirty="0"/>
                  <a:t>）</a:t>
                </a:r>
                <a:endParaRPr lang="x-none" altLang="zh-CN" sz="1800" dirty="0"/>
              </a:p>
              <a:p>
                <a:r>
                  <a:rPr lang="zh-CN" altLang="en-US" sz="1800" dirty="0"/>
                  <a:t>为了采用高效的序列最小优化算法，将式（</a:t>
                </a:r>
                <a:r>
                  <a:rPr lang="en-US" altLang="zh-CN" sz="1800" dirty="0"/>
                  <a:t>20</a:t>
                </a:r>
                <a:r>
                  <a:rPr lang="zh-CN" altLang="en-US" sz="1800" dirty="0"/>
                  <a:t>）前加负号，转化为：</a:t>
                </a:r>
                <a:endParaRPr lang="zh-CN" altLang="en-US" sz="1800" dirty="0"/>
              </a:p>
              <a:p>
                <a:pPr marL="0" indent="0" algn="r">
                  <a:buNone/>
                </a:pPr>
                <a14:m>
                  <m:oMath xmlns:m="http://schemas.openxmlformats.org/officeDocument/2006/math">
                    <m:func>
                      <m:funcPr>
                        <m:ctrlPr>
                          <a:rPr lang="x-none" altLang="zh-CN" sz="1800" i="1">
                            <a:latin typeface="Cambria Math" panose="02040503050406030204"/>
                          </a:rPr>
                        </m:ctrlPr>
                      </m:funcPr>
                      <m:fName>
                        <m:r>
                          <m:rPr>
                            <m:sty m:val="p"/>
                          </m:rPr>
                          <a:rPr lang="en-US" altLang="zh-CN" sz="1800">
                            <a:latin typeface="Cambria Math" panose="02040503050406030204"/>
                          </a:rPr>
                          <m:t>min</m:t>
                        </m:r>
                        <m:r>
                          <a:rPr lang="en-US" altLang="zh-CN" sz="1800">
                            <a:latin typeface="Cambria Math" panose="02040503050406030204"/>
                          </a:rPr>
                          <m:t> </m:t>
                        </m:r>
                      </m:fName>
                      <m:e>
                        <m:f>
                          <m:fPr>
                            <m:ctrlPr>
                              <a:rPr lang="x-none" altLang="zh-CN" sz="1800" i="1">
                                <a:latin typeface="Cambria Math" panose="02040503050406030204"/>
                              </a:rPr>
                            </m:ctrlPr>
                          </m:fPr>
                          <m:num>
                            <m:r>
                              <a:rPr lang="en-US" altLang="zh-CN" sz="1800" i="1">
                                <a:latin typeface="Cambria Math" panose="02040503050406030204"/>
                              </a:rPr>
                              <m:t>1</m:t>
                            </m:r>
                          </m:num>
                          <m:den>
                            <m:r>
                              <a:rPr lang="en-US" altLang="zh-CN" sz="1800" i="1">
                                <a:latin typeface="Cambria Math" panose="02040503050406030204"/>
                              </a:rPr>
                              <m:t>2</m:t>
                            </m:r>
                          </m:den>
                        </m:f>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nary>
                              <m:naryPr>
                                <m:chr m:val="∑"/>
                                <m:ctrlPr>
                                  <a:rPr lang="x-none" altLang="zh-CN" sz="1800" i="1">
                                    <a:latin typeface="Cambria Math" panose="02040503050406030204"/>
                                  </a:rPr>
                                </m:ctrlPr>
                              </m:naryPr>
                              <m:sub>
                                <m:r>
                                  <a:rPr lang="zh-CN" altLang="en-US" sz="1800" i="1">
                                    <a:latin typeface="Cambria Math" panose="02040503050406030204"/>
                                  </a:rPr>
                                  <m:t>𝑗</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𝑗</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𝑗</m:t>
                                    </m:r>
                                  </m:sub>
                                </m:sSub>
                              </m:e>
                            </m:nary>
                            <m:sSub>
                              <m:sSubPr>
                                <m:ctrlPr>
                                  <a:rPr lang="x-none" altLang="zh-CN" sz="1800" i="1">
                                    <a:latin typeface="Cambria Math" panose="02040503050406030204"/>
                                  </a:rPr>
                                </m:ctrlPr>
                              </m:sSubPr>
                              <m:e>
                                <m:r>
                                  <a:rPr lang="zh-CN" altLang="en-US" sz="1800" i="1">
                                    <a:latin typeface="Cambria Math" panose="02040503050406030204"/>
                                  </a:rPr>
                                  <m:t>𝑥</m:t>
                                </m:r>
                              </m:e>
                              <m:sub>
                                <m:r>
                                  <a:rPr lang="en-US" altLang="zh-CN"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𝑗</m:t>
                                </m:r>
                              </m:sub>
                            </m:sSub>
                          </m:e>
                        </m:nary>
                        <m:r>
                          <a:rPr lang="en-US" altLang="zh-CN"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e>
                        </m:nary>
                      </m:e>
                    </m:func>
                    <m:r>
                      <a:rPr lang="zh-CN" altLang="en-US" sz="1800" i="1">
                        <a:latin typeface="Cambria Math" panose="02040503050406030204"/>
                      </a:rPr>
                      <m:t>，</m:t>
                    </m:r>
                    <m:r>
                      <a:rPr lang="en-US" altLang="zh-CN" sz="1800" i="1">
                        <a:latin typeface="Cambria Math" panose="02040503050406030204"/>
                      </a:rPr>
                      <m:t>0</m:t>
                    </m:r>
                    <m:r>
                      <a:rPr lang="en-US" altLang="zh-CN"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r>
                          <a:rPr lang="zh-CN" altLang="en-US" sz="1800" i="1" smtClean="0">
                            <a:latin typeface="Cambria Math" panose="02040503050406030204"/>
                          </a:rPr>
                          <m:t>，</m:t>
                        </m:r>
                        <m:r>
                          <a:rPr lang="en-US" altLang="zh-CN" sz="1800" i="1" smtClean="0">
                            <a:latin typeface="Cambria Math" panose="02040503050406030204"/>
                          </a:rPr>
                          <m:t> </m:t>
                        </m:r>
                        <m:r>
                          <a:rPr lang="en-US" altLang="zh-CN" sz="1800" i="1">
                            <a:latin typeface="Cambria Math" panose="02040503050406030204"/>
                          </a:rPr>
                          <m:t> </m:t>
                        </m:r>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r>
                          <a:rPr lang="zh-CN" altLang="en-US" sz="1800" i="1">
                            <a:latin typeface="Cambria Math" panose="02040503050406030204"/>
                          </a:rPr>
                          <m:t>≥</m:t>
                        </m:r>
                        <m:r>
                          <a:rPr lang="en-US" altLang="zh-CN" sz="1800" i="1">
                            <a:latin typeface="Cambria Math" panose="02040503050406030204"/>
                          </a:rPr>
                          <m:t>0</m:t>
                        </m:r>
                      </m:e>
                    </m:nary>
                  </m:oMath>
                </a14:m>
                <a:r>
                  <a:rPr lang="en-US" altLang="zh-CN" sz="1800" dirty="0"/>
                  <a:t>	  </a:t>
                </a:r>
                <a:r>
                  <a:rPr lang="zh-CN" altLang="en-US" sz="1800" dirty="0"/>
                  <a:t>（</a:t>
                </a:r>
                <a:r>
                  <a:rPr lang="en-US" altLang="zh-CN" sz="1800" dirty="0"/>
                  <a:t>22</a:t>
                </a:r>
                <a:r>
                  <a:rPr lang="zh-CN" altLang="en-US" sz="1800" dirty="0"/>
                  <a:t>）</a:t>
                </a:r>
                <a:endParaRPr lang="zh-CN" altLang="en-US" sz="1800" dirty="0"/>
              </a:p>
            </p:txBody>
          </p:sp>
        </mc:Choice>
        <mc:Fallback>
          <p:sp>
            <p:nvSpPr>
              <p:cNvPr id="7" name="矩形 3"/>
              <p:cNvSpPr>
                <a:spLocks noRot="1" noChangeAspect="1" noMove="1" noResize="1" noEditPoints="1" noAdjustHandles="1" noChangeArrowheads="1" noChangeShapeType="1" noTextEdit="1"/>
              </p:cNvSpPr>
              <p:nvPr/>
            </p:nvSpPr>
            <p:spPr bwMode="auto">
              <a:xfrm>
                <a:off x="179705" y="980440"/>
                <a:ext cx="8879205" cy="5227320"/>
              </a:xfrm>
              <a:prstGeom prst="rect">
                <a:avLst/>
              </a:prstGeom>
              <a:blipFill rotWithShape="1">
                <a:blip r:embed="rId1"/>
                <a:stretch>
                  <a:fillRect t="-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mc:AlternateContent xmlns:mc="http://schemas.openxmlformats.org/markup-compatibility/2006">
        <mc:Choice xmlns:a14="http://schemas.microsoft.com/office/drawing/2010/main" Requires="a14">
          <p:sp>
            <p:nvSpPr>
              <p:cNvPr id="7" name="矩形 3"/>
              <p:cNvSpPr>
                <a:spLocks noChangeArrowheads="1"/>
              </p:cNvSpPr>
              <p:nvPr/>
            </p:nvSpPr>
            <p:spPr bwMode="auto">
              <a:xfrm>
                <a:off x="396143" y="1179508"/>
                <a:ext cx="8045450" cy="592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1800" dirty="0"/>
                  <a:t>在求解出</a:t>
                </a:r>
                <a14:m>
                  <m:oMath xmlns:m="http://schemas.openxmlformats.org/officeDocument/2006/math">
                    <m:sSup>
                      <m:sSupPr>
                        <m:ctrlPr>
                          <a:rPr lang="x-none" altLang="zh-CN" sz="1800" i="1">
                            <a:latin typeface="Cambria Math" panose="02040503050406030204"/>
                          </a:rPr>
                        </m:ctrlPr>
                      </m:sSupPr>
                      <m:e>
                        <m:r>
                          <a:rPr lang="zh-CN" altLang="en-US" sz="1800" i="1">
                            <a:latin typeface="Cambria Math" panose="02040503050406030204"/>
                          </a:rPr>
                          <m:t>𝛼</m:t>
                        </m:r>
                      </m:e>
                      <m:sup>
                        <m:r>
                          <a:rPr lang="zh-CN" altLang="en-US" sz="1800" i="1">
                            <a:latin typeface="Cambria Math" panose="02040503050406030204"/>
                          </a:rPr>
                          <m:t>∗</m:t>
                        </m:r>
                      </m:sup>
                    </m:sSup>
                  </m:oMath>
                </a14:m>
                <a:r>
                  <a:rPr lang="zh-CN" altLang="en-US" sz="1800" dirty="0"/>
                  <a:t>后，由式（</a:t>
                </a:r>
                <a:r>
                  <a:rPr lang="en-US" altLang="zh-CN" sz="1800" dirty="0"/>
                  <a:t>16</a:t>
                </a:r>
                <a:r>
                  <a:rPr lang="zh-CN" altLang="en-US" sz="1800" dirty="0"/>
                  <a:t>）和式（</a:t>
                </a:r>
                <a:r>
                  <a:rPr lang="en-US" altLang="zh-CN" sz="1800" dirty="0"/>
                  <a:t>17</a:t>
                </a:r>
                <a:r>
                  <a:rPr lang="zh-CN" altLang="en-US" sz="1800" dirty="0"/>
                  <a:t>）可以证明至少存在一个</a:t>
                </a:r>
                <a14:m>
                  <m:oMath xmlns:m="http://schemas.openxmlformats.org/officeDocument/2006/math">
                    <m:sSubSup>
                      <m:sSubSupPr>
                        <m:ctrlPr>
                          <a:rPr lang="x-none" altLang="zh-CN" sz="1800" i="1">
                            <a:latin typeface="Cambria Math" panose="02040503050406030204"/>
                          </a:rPr>
                        </m:ctrlPr>
                      </m:sSubSupPr>
                      <m:e>
                        <m:r>
                          <a:rPr lang="zh-CN" altLang="en-US" sz="1800" i="1">
                            <a:latin typeface="Cambria Math" panose="02040503050406030204"/>
                          </a:rPr>
                          <m:t>𝛼</m:t>
                        </m:r>
                      </m:e>
                      <m:sub>
                        <m:r>
                          <a:rPr lang="zh-CN" altLang="en-US" sz="1800" i="1">
                            <a:latin typeface="Cambria Math" panose="02040503050406030204"/>
                          </a:rPr>
                          <m:t>𝑗</m:t>
                        </m:r>
                      </m:sub>
                      <m:sup>
                        <m:r>
                          <a:rPr lang="zh-CN" altLang="en-US" sz="1800" i="1">
                            <a:latin typeface="Cambria Math" panose="02040503050406030204"/>
                          </a:rPr>
                          <m:t>∗</m:t>
                        </m:r>
                      </m:sup>
                    </m:sSubSup>
                    <m:r>
                      <a:rPr lang="en-US" altLang="zh-CN" sz="1800" i="1">
                        <a:latin typeface="Cambria Math" panose="02040503050406030204"/>
                      </a:rPr>
                      <m:t>&gt;</m:t>
                    </m:r>
                    <m:r>
                      <a:rPr lang="en-US" altLang="zh-CN" sz="1800" i="1">
                        <a:latin typeface="Cambria Math" panose="02040503050406030204"/>
                      </a:rPr>
                      <m:t>0</m:t>
                    </m:r>
                  </m:oMath>
                </a14:m>
                <a:r>
                  <a:rPr lang="zh-CN" altLang="en-US" sz="1800" dirty="0"/>
                  <a:t>，可以由式（</a:t>
                </a:r>
                <a:r>
                  <a:rPr lang="en-US" altLang="zh-CN" sz="1800" dirty="0"/>
                  <a:t>22</a:t>
                </a:r>
                <a:r>
                  <a:rPr lang="zh-CN" altLang="en-US" sz="1800" dirty="0"/>
                  <a:t>）中的互补条件得到</a:t>
                </a:r>
                <a14:m>
                  <m:oMath xmlns:m="http://schemas.openxmlformats.org/officeDocument/2006/math">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d>
                      <m:dPr>
                        <m:ctrlPr>
                          <a:rPr lang="x-none" altLang="zh-CN" sz="1800" i="1">
                            <a:latin typeface="Cambria Math" panose="02040503050406030204"/>
                          </a:rPr>
                        </m:ctrlPr>
                      </m:dPr>
                      <m:e>
                        <m:sSup>
                          <m:sSupPr>
                            <m:ctrlPr>
                              <a:rPr lang="x-none" altLang="zh-CN" sz="1800" i="1">
                                <a:latin typeface="Cambria Math" panose="02040503050406030204"/>
                              </a:rPr>
                            </m:ctrlPr>
                          </m:sSupPr>
                          <m:e>
                            <m:r>
                              <a:rPr lang="zh-CN" altLang="en-US" sz="1800" i="1">
                                <a:latin typeface="Cambria Math" panose="02040503050406030204"/>
                              </a:rPr>
                              <m:t>𝑤</m:t>
                            </m:r>
                          </m:e>
                          <m:sup>
                            <m:r>
                              <a:rPr lang="zh-CN" altLang="en-US" sz="1800" i="1">
                                <a:latin typeface="Cambria Math" panose="02040503050406030204"/>
                              </a:rPr>
                              <m:t>∗</m:t>
                            </m:r>
                          </m:sup>
                        </m:sSup>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r>
                          <a:rPr lang="en-US" altLang="zh-CN" sz="1800" i="1">
                            <a:latin typeface="Cambria Math" panose="02040503050406030204"/>
                          </a:rPr>
                          <m:t>+</m:t>
                        </m:r>
                        <m:sSup>
                          <m:sSupPr>
                            <m:ctrlPr>
                              <a:rPr lang="x-none" altLang="zh-CN" sz="1800" i="1">
                                <a:latin typeface="Cambria Math" panose="02040503050406030204"/>
                              </a:rPr>
                            </m:ctrlPr>
                          </m:sSupPr>
                          <m:e>
                            <m:r>
                              <a:rPr lang="zh-CN" altLang="en-US" sz="1800" i="1">
                                <a:latin typeface="Cambria Math" panose="02040503050406030204"/>
                              </a:rPr>
                              <m:t>𝛽</m:t>
                            </m:r>
                          </m:e>
                          <m:sup>
                            <m:r>
                              <a:rPr lang="zh-CN" altLang="en-US" sz="1800" i="1">
                                <a:latin typeface="Cambria Math" panose="02040503050406030204"/>
                              </a:rPr>
                              <m:t>∗</m:t>
                            </m:r>
                          </m:sup>
                        </m:sSup>
                      </m:e>
                    </m:d>
                    <m:r>
                      <a:rPr lang="zh-CN" altLang="en-US" sz="1800" i="1">
                        <a:latin typeface="Cambria Math" panose="02040503050406030204"/>
                      </a:rPr>
                      <m:t>−</m:t>
                    </m:r>
                    <m:r>
                      <a:rPr lang="en-US" altLang="zh-CN" sz="1800" i="1">
                        <a:latin typeface="Cambria Math" panose="02040503050406030204"/>
                      </a:rPr>
                      <m:t>1</m:t>
                    </m:r>
                  </m:oMath>
                </a14:m>
                <a:r>
                  <a:rPr lang="en-US" altLang="zh-CN" sz="1800" dirty="0"/>
                  <a:t>=0,</a:t>
                </a:r>
                <a:r>
                  <a:rPr lang="zh-CN" altLang="en-US" sz="1800" dirty="0"/>
                  <a:t>将</a:t>
                </a:r>
                <a14:m>
                  <m:oMath xmlns:m="http://schemas.openxmlformats.org/officeDocument/2006/math">
                    <m:sSup>
                      <m:sSupPr>
                        <m:ctrlPr>
                          <a:rPr lang="x-none" altLang="zh-CN" sz="1800" i="1">
                            <a:latin typeface="Cambria Math" panose="02040503050406030204"/>
                          </a:rPr>
                        </m:ctrlPr>
                      </m:sSupPr>
                      <m:e>
                        <m:r>
                          <a:rPr lang="zh-CN" altLang="en-US" sz="1800" i="1">
                            <a:latin typeface="Cambria Math" panose="02040503050406030204"/>
                          </a:rPr>
                          <m:t>𝛼</m:t>
                        </m:r>
                      </m:e>
                      <m:sup>
                        <m:r>
                          <a:rPr lang="en-US" altLang="zh-CN" sz="1800" i="1">
                            <a:latin typeface="Cambria Math" panose="02040503050406030204"/>
                          </a:rPr>
                          <m:t>∗</m:t>
                        </m:r>
                      </m:sup>
                    </m:sSup>
                  </m:oMath>
                </a14:m>
                <a:r>
                  <a:rPr lang="zh-CN" altLang="en-US" sz="1800" dirty="0"/>
                  <a:t>代入式（</a:t>
                </a:r>
                <a:r>
                  <a:rPr lang="en-US" altLang="zh-CN" sz="1800" dirty="0"/>
                  <a:t>16</a:t>
                </a:r>
                <a:r>
                  <a:rPr lang="zh-CN" altLang="en-US" sz="1800" dirty="0"/>
                  <a:t>）可求得最优</a:t>
                </a:r>
                <a14:m>
                  <m:oMath xmlns:m="http://schemas.openxmlformats.org/officeDocument/2006/math">
                    <m:sSup>
                      <m:sSupPr>
                        <m:ctrlPr>
                          <a:rPr lang="x-none" altLang="zh-CN" sz="1800" i="1">
                            <a:latin typeface="Cambria Math" panose="02040503050406030204"/>
                          </a:rPr>
                        </m:ctrlPr>
                      </m:sSupPr>
                      <m:e>
                        <m:r>
                          <a:rPr lang="zh-CN" altLang="en-US" sz="1800" i="1">
                            <a:latin typeface="Cambria Math" panose="02040503050406030204"/>
                          </a:rPr>
                          <m:t>𝑤</m:t>
                        </m:r>
                      </m:e>
                      <m:sup>
                        <m:r>
                          <a:rPr lang="en-US" altLang="zh-CN" sz="1800" i="1">
                            <a:latin typeface="Cambria Math" panose="02040503050406030204"/>
                          </a:rPr>
                          <m:t>∗</m:t>
                        </m:r>
                      </m:sup>
                    </m:sSup>
                  </m:oMath>
                </a14:m>
                <a:r>
                  <a:rPr lang="zh-CN" altLang="en-US" sz="1800" dirty="0"/>
                  <a:t>：</a:t>
                </a:r>
                <a:endParaRPr lang="zh-CN" altLang="en-US" sz="1800" dirty="0"/>
              </a:p>
              <a:p>
                <a:endParaRPr lang="x-none" altLang="zh-CN" sz="1800" dirty="0"/>
              </a:p>
              <a:p>
                <a:pPr marL="0" indent="0" algn="ctr">
                  <a:buNone/>
                </a:pPr>
                <a14:m>
                  <m:oMath xmlns:m="http://schemas.openxmlformats.org/officeDocument/2006/math">
                    <m:r>
                      <a:rPr lang="en-US" altLang="zh-CN" sz="1800" i="1">
                        <a:latin typeface="Cambria Math" panose="02040503050406030204"/>
                      </a:rPr>
                      <m:t> </m:t>
                    </m:r>
                    <m:sSup>
                      <m:sSupPr>
                        <m:ctrlPr>
                          <a:rPr lang="x-none" altLang="zh-CN" sz="1800" i="1">
                            <a:latin typeface="Cambria Math" panose="02040503050406030204"/>
                          </a:rPr>
                        </m:ctrlPr>
                      </m:sSupPr>
                      <m:e>
                        <m:r>
                          <a:rPr lang="zh-CN" altLang="en-US" sz="1800" i="1">
                            <a:latin typeface="Cambria Math" panose="02040503050406030204"/>
                          </a:rPr>
                          <m:t>𝑤</m:t>
                        </m:r>
                      </m:e>
                      <m:sup>
                        <m:r>
                          <a:rPr lang="en-US" altLang="zh-CN" sz="1800" i="1">
                            <a:latin typeface="Cambria Math" panose="02040503050406030204"/>
                          </a:rPr>
                          <m:t>∗</m:t>
                        </m:r>
                      </m:sup>
                    </m:sSup>
                    <m:r>
                      <a:rPr lang="en-US" altLang="zh-CN"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Sup>
                          <m:sSubSupPr>
                            <m:ctrlPr>
                              <a:rPr lang="x-none" altLang="zh-CN" sz="1800" i="1">
                                <a:latin typeface="Cambria Math" panose="02040503050406030204"/>
                              </a:rPr>
                            </m:ctrlPr>
                          </m:sSubSupPr>
                          <m:e>
                            <m:r>
                              <a:rPr lang="zh-CN" altLang="en-US" sz="1800" i="1">
                                <a:latin typeface="Cambria Math" panose="02040503050406030204"/>
                              </a:rPr>
                              <m:t>𝛼</m:t>
                            </m:r>
                          </m:e>
                          <m:sub>
                            <m:r>
                              <a:rPr lang="en-US" altLang="zh-CN" sz="1800" i="1">
                                <a:latin typeface="Cambria Math" panose="02040503050406030204"/>
                              </a:rPr>
                              <m:t>𝑖</m:t>
                            </m:r>
                          </m:sub>
                          <m:sup>
                            <m:r>
                              <a:rPr lang="zh-CN" altLang="en-US" sz="1800" i="1">
                                <a:latin typeface="Cambria Math" panose="02040503050406030204"/>
                              </a:rPr>
                              <m:t>∗</m:t>
                            </m:r>
                          </m:sup>
                        </m:sSubSup>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e>
                    </m:nary>
                  </m:oMath>
                </a14:m>
                <a:r>
                  <a:rPr lang="x-none" altLang="zh-CN" sz="1800" dirty="0"/>
                  <a:t> </a:t>
                </a:r>
                <a:endParaRPr lang="x-none" altLang="zh-CN" sz="1800" dirty="0"/>
              </a:p>
              <a:p>
                <a:pPr latinLnBrk="1"/>
                <a:r>
                  <a:rPr lang="zh-CN" altLang="en-US" sz="1800" dirty="0"/>
                  <a:t>由式（</a:t>
                </a:r>
                <a:r>
                  <a:rPr lang="en-US" altLang="zh-CN" sz="1800" dirty="0"/>
                  <a:t>22</a:t>
                </a:r>
                <a:r>
                  <a:rPr lang="zh-CN" altLang="en-US" sz="1800" dirty="0"/>
                  <a:t>）中约束条件，可以求得最优</a:t>
                </a:r>
                <a14:m>
                  <m:oMath xmlns:m="http://schemas.openxmlformats.org/officeDocument/2006/math">
                    <m:sSup>
                      <m:sSupPr>
                        <m:ctrlPr>
                          <a:rPr lang="x-none" altLang="zh-CN" sz="1800" i="1">
                            <a:latin typeface="Cambria Math" panose="02040503050406030204"/>
                          </a:rPr>
                        </m:ctrlPr>
                      </m:sSupPr>
                      <m:e>
                        <m:r>
                          <a:rPr lang="zh-CN" altLang="en-US" sz="1800" i="1">
                            <a:latin typeface="Cambria Math" panose="02040503050406030204"/>
                          </a:rPr>
                          <m:t>𝛽</m:t>
                        </m:r>
                      </m:e>
                      <m:sup>
                        <m:r>
                          <a:rPr lang="zh-CN" altLang="en-US" sz="1800" i="1">
                            <a:latin typeface="Cambria Math" panose="02040503050406030204"/>
                          </a:rPr>
                          <m:t>∗</m:t>
                        </m:r>
                      </m:sup>
                    </m:sSup>
                  </m:oMath>
                </a14:m>
                <a:r>
                  <a:rPr lang="en-US" altLang="zh-CN" sz="1800" dirty="0"/>
                  <a:t>,</a:t>
                </a:r>
                <a:r>
                  <a:rPr lang="zh-CN" altLang="en-US" sz="1800" dirty="0"/>
                  <a:t>计算过程如下：</a:t>
                </a:r>
                <a:endParaRPr lang="en-US" altLang="zh-CN" sz="1800" dirty="0"/>
              </a:p>
              <a:p>
                <a:pPr marL="0" indent="0" latinLnBrk="1">
                  <a:buNone/>
                </a:pPr>
                <a14:m>
                  <m:oMathPara xmlns:m="http://schemas.openxmlformats.org/officeDocument/2006/math">
                    <m:oMathParaPr>
                      <m:jc m:val="centerGroup"/>
                    </m:oMathParaPr>
                    <m:oMath xmlns:m="http://schemas.openxmlformats.org/officeDocument/2006/math">
                      <m:sSup>
                        <m:sSupPr>
                          <m:ctrlPr>
                            <a:rPr lang="x-none" altLang="zh-CN" sz="1800" i="1">
                              <a:latin typeface="Cambria Math" panose="02040503050406030204"/>
                            </a:rPr>
                          </m:ctrlPr>
                        </m:sSupPr>
                        <m:e>
                          <m:r>
                            <a:rPr lang="zh-CN" altLang="en-US" sz="1800" i="1">
                              <a:latin typeface="Cambria Math" panose="02040503050406030204"/>
                            </a:rPr>
                            <m:t>𝛽</m:t>
                          </m:r>
                        </m:e>
                        <m:sup>
                          <m:r>
                            <a:rPr lang="zh-CN" altLang="en-US" sz="1800" i="1">
                              <a:latin typeface="Cambria Math" panose="02040503050406030204"/>
                            </a:rPr>
                            <m:t>∗</m:t>
                          </m:r>
                        </m:sup>
                      </m:sSup>
                      <m:r>
                        <a:rPr lang="en-US" altLang="zh-CN" sz="1800" i="1">
                          <a:latin typeface="Cambria Math" panose="02040503050406030204"/>
                        </a:rPr>
                        <m:t>=</m:t>
                      </m:r>
                      <m:f>
                        <m:fPr>
                          <m:ctrlPr>
                            <a:rPr lang="x-none" altLang="zh-CN" sz="1800" i="1">
                              <a:latin typeface="Cambria Math" panose="02040503050406030204"/>
                            </a:rPr>
                          </m:ctrlPr>
                        </m:fPr>
                        <m:num>
                          <m:r>
                            <a:rPr lang="en-US" altLang="zh-CN" sz="1800" i="1">
                              <a:latin typeface="Cambria Math" panose="02040503050406030204"/>
                            </a:rPr>
                            <m:t>1</m:t>
                          </m:r>
                        </m:num>
                        <m:den>
                          <m:sSub>
                            <m:sSubPr>
                              <m:ctrlPr>
                                <a:rPr lang="x-none" altLang="zh-CN" sz="1800" i="1">
                                  <a:latin typeface="Cambria Math" panose="02040503050406030204"/>
                                </a:rPr>
                              </m:ctrlPr>
                            </m:sSubPr>
                            <m:e>
                              <m:r>
                                <a:rPr lang="en-US" altLang="zh-CN" sz="1800" i="1">
                                  <a:latin typeface="Cambria Math" panose="02040503050406030204"/>
                                </a:rPr>
                                <m:t>𝑦</m:t>
                              </m:r>
                            </m:e>
                            <m:sub>
                              <m:r>
                                <a:rPr lang="en-US" altLang="zh-CN" sz="1800" i="1">
                                  <a:latin typeface="Cambria Math" panose="02040503050406030204"/>
                                </a:rPr>
                                <m:t>𝑗</m:t>
                              </m:r>
                            </m:sub>
                          </m:sSub>
                        </m:den>
                      </m:f>
                      <m:r>
                        <a:rPr lang="en-US" altLang="zh-CN" sz="1800" i="1">
                          <a:latin typeface="Cambria Math" panose="02040503050406030204"/>
                        </a:rPr>
                        <m:t>−</m:t>
                      </m:r>
                      <m:sSub>
                        <m:sSubPr>
                          <m:ctrlPr>
                            <a:rPr lang="x-none" altLang="zh-CN" sz="1800" i="1">
                              <a:latin typeface="Cambria Math" panose="02040503050406030204"/>
                            </a:rPr>
                          </m:ctrlPr>
                        </m:sSubPr>
                        <m:e>
                          <m:sSup>
                            <m:sSupPr>
                              <m:ctrlPr>
                                <a:rPr lang="x-none" altLang="zh-CN" sz="1800" i="1">
                                  <a:latin typeface="Cambria Math" panose="02040503050406030204"/>
                                </a:rPr>
                              </m:ctrlPr>
                            </m:sSupPr>
                            <m:e>
                              <m:r>
                                <a:rPr lang="zh-CN" altLang="en-US" sz="1800" i="1">
                                  <a:latin typeface="Cambria Math" panose="02040503050406030204"/>
                                </a:rPr>
                                <m:t>𝑤</m:t>
                              </m:r>
                            </m:e>
                            <m:sup>
                              <m:r>
                                <a:rPr lang="en-US" altLang="zh-CN" sz="1800" i="1">
                                  <a:latin typeface="Cambria Math" panose="02040503050406030204"/>
                                </a:rPr>
                                <m:t>∗</m:t>
                              </m:r>
                            </m:sup>
                          </m:sSup>
                          <m:r>
                            <a:rPr lang="en-US" altLang="zh-CN" sz="1800" i="1">
                              <a:latin typeface="Cambria Math" panose="02040503050406030204"/>
                            </a:rPr>
                            <m:t>𝑥</m:t>
                          </m:r>
                        </m:e>
                        <m:sub>
                          <m:r>
                            <a:rPr lang="en-US" altLang="zh-CN" sz="1800" i="1">
                              <a:latin typeface="Cambria Math" panose="02040503050406030204"/>
                            </a:rPr>
                            <m:t>𝑗</m:t>
                          </m:r>
                        </m:sub>
                      </m:sSub>
                      <m:r>
                        <a:rPr lang="en-US" altLang="zh-CN" sz="1800" i="1">
                          <a:latin typeface="Cambria Math" panose="02040503050406030204"/>
                        </a:rPr>
                        <m:t>=</m:t>
                      </m:r>
                      <m:sSub>
                        <m:sSubPr>
                          <m:ctrlPr>
                            <a:rPr lang="x-none" altLang="zh-CN" sz="1800" i="1">
                              <a:latin typeface="Cambria Math" panose="02040503050406030204"/>
                            </a:rPr>
                          </m:ctrlPr>
                        </m:sSubPr>
                        <m:e>
                          <m:r>
                            <a:rPr lang="en-US" altLang="zh-CN" sz="1800" i="1">
                              <a:latin typeface="Cambria Math" panose="02040503050406030204"/>
                            </a:rPr>
                            <m:t>𝑦</m:t>
                          </m:r>
                        </m:e>
                        <m:sub>
                          <m:r>
                            <a:rPr lang="en-US" altLang="zh-CN" sz="1800" i="1">
                              <a:latin typeface="Cambria Math" panose="02040503050406030204"/>
                            </a:rPr>
                            <m:t>𝑗</m:t>
                          </m:r>
                        </m:sub>
                      </m:sSub>
                      <m:r>
                        <a:rPr lang="en-US" altLang="zh-CN" sz="1800" i="1">
                          <a:latin typeface="Cambria Math" panose="02040503050406030204"/>
                        </a:rPr>
                        <m:t>−</m:t>
                      </m:r>
                      <m:sSub>
                        <m:sSubPr>
                          <m:ctrlPr>
                            <a:rPr lang="x-none" altLang="zh-CN" sz="1800" i="1">
                              <a:latin typeface="Cambria Math" panose="02040503050406030204"/>
                            </a:rPr>
                          </m:ctrlPr>
                        </m:sSubPr>
                        <m:e>
                          <m:sSup>
                            <m:sSupPr>
                              <m:ctrlPr>
                                <a:rPr lang="x-none" altLang="zh-CN" sz="1800" i="1">
                                  <a:latin typeface="Cambria Math" panose="02040503050406030204"/>
                                </a:rPr>
                              </m:ctrlPr>
                            </m:sSupPr>
                            <m:e>
                              <m:r>
                                <a:rPr lang="zh-CN" altLang="en-US" sz="1800" i="1">
                                  <a:latin typeface="Cambria Math" panose="02040503050406030204"/>
                                </a:rPr>
                                <m:t>𝑤</m:t>
                              </m:r>
                            </m:e>
                            <m:sup>
                              <m:r>
                                <a:rPr lang="en-US" altLang="zh-CN" sz="1800" i="1">
                                  <a:latin typeface="Cambria Math" panose="02040503050406030204"/>
                                </a:rPr>
                                <m:t>∗</m:t>
                              </m:r>
                            </m:sup>
                          </m:sSup>
                          <m:r>
                            <a:rPr lang="en-US" altLang="zh-CN" sz="1800" i="1">
                              <a:latin typeface="Cambria Math" panose="02040503050406030204"/>
                            </a:rPr>
                            <m:t>𝑥</m:t>
                          </m:r>
                        </m:e>
                        <m:sub>
                          <m:r>
                            <a:rPr lang="en-US" altLang="zh-CN" sz="1800" i="1">
                              <a:latin typeface="Cambria Math" panose="02040503050406030204"/>
                            </a:rPr>
                            <m:t>𝑗</m:t>
                          </m:r>
                        </m:sub>
                      </m:sSub>
                      <m:r>
                        <a:rPr lang="en-US" altLang="zh-CN" sz="1800" i="1">
                          <a:latin typeface="Cambria Math" panose="02040503050406030204"/>
                        </a:rPr>
                        <m:t> =</m:t>
                      </m:r>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𝑗</m:t>
                          </m:r>
                        </m:sub>
                      </m:sSub>
                      <m:r>
                        <a:rPr lang="en-US" altLang="zh-CN" sz="1800" i="1">
                          <a:latin typeface="Cambria Math" panose="02040503050406030204"/>
                        </a:rPr>
                        <m:t>−</m:t>
                      </m:r>
                      <m:nary>
                        <m:naryPr>
                          <m:chr m:val="∑"/>
                          <m:ctrlPr>
                            <a:rPr lang="x-none" altLang="zh-CN" sz="1800" i="1">
                              <a:latin typeface="Cambria Math" panose="02040503050406030204"/>
                            </a:rPr>
                          </m:ctrlPr>
                        </m:naryPr>
                        <m:sub>
                          <m:r>
                            <a:rPr lang="zh-CN" altLang="en-US" sz="1800" i="1">
                              <a:latin typeface="Cambria Math" panose="02040503050406030204"/>
                            </a:rPr>
                            <m:t>𝑖</m:t>
                          </m:r>
                          <m:r>
                            <a:rPr lang="en-US" altLang="zh-CN" sz="1800" i="1">
                              <a:latin typeface="Cambria Math" panose="02040503050406030204"/>
                            </a:rPr>
                            <m:t>=</m:t>
                          </m:r>
                          <m:r>
                            <a:rPr lang="en-US" altLang="zh-CN" sz="1800" i="1">
                              <a:latin typeface="Cambria Math" panose="02040503050406030204"/>
                            </a:rPr>
                            <m:t>1</m:t>
                          </m:r>
                        </m:sub>
                        <m:sup>
                          <m:r>
                            <a:rPr lang="zh-CN" altLang="en-US" sz="1800" i="1">
                              <a:latin typeface="Cambria Math" panose="02040503050406030204"/>
                            </a:rPr>
                            <m:t>𝑛</m:t>
                          </m:r>
                        </m:sup>
                        <m:e>
                          <m:sSubSup>
                            <m:sSubSupPr>
                              <m:ctrlPr>
                                <a:rPr lang="x-none" altLang="zh-CN" sz="1800" i="1">
                                  <a:latin typeface="Cambria Math" panose="02040503050406030204"/>
                                </a:rPr>
                              </m:ctrlPr>
                            </m:sSubSupPr>
                            <m:e>
                              <m:r>
                                <a:rPr lang="zh-CN" altLang="en-US" sz="1800" i="1">
                                  <a:latin typeface="Cambria Math" panose="02040503050406030204"/>
                                </a:rPr>
                                <m:t>𝛼</m:t>
                              </m:r>
                            </m:e>
                            <m:sub>
                              <m:r>
                                <a:rPr lang="en-US" altLang="zh-CN" sz="1800" i="1">
                                  <a:latin typeface="Cambria Math" panose="02040503050406030204"/>
                                </a:rPr>
                                <m:t>𝑖</m:t>
                              </m:r>
                            </m:sub>
                            <m:sup>
                              <m:r>
                                <a:rPr lang="zh-CN" altLang="en-US" sz="1800" i="1">
                                  <a:latin typeface="Cambria Math" panose="02040503050406030204"/>
                                </a:rPr>
                                <m:t>∗</m:t>
                              </m:r>
                            </m:sup>
                          </m:sSubSup>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e>
                      </m:nary>
                      <m:d>
                        <m:dPr>
                          <m:ctrlPr>
                            <a:rPr lang="x-none" altLang="zh-CN" sz="1800" i="1">
                              <a:latin typeface="Cambria Math" panose="02040503050406030204"/>
                            </a:rPr>
                          </m:ctrlPr>
                        </m:dPr>
                        <m:e>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r>
                            <a:rPr lang="zh-CN" altLang="en-US" sz="1800" i="1">
                              <a:latin typeface="Cambria Math" panose="02040503050406030204"/>
                            </a:rPr>
                            <m:t>⋅</m:t>
                          </m:r>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𝑗</m:t>
                              </m:r>
                            </m:sub>
                          </m:sSub>
                        </m:e>
                      </m:d>
                    </m:oMath>
                  </m:oMathPara>
                </a14:m>
                <a:endParaRPr lang="x-none" altLang="zh-CN" sz="1800" dirty="0"/>
              </a:p>
              <a:p>
                <a:pPr latinLnBrk="1"/>
                <a:r>
                  <a:rPr lang="zh-CN" altLang="en-US" sz="1800" dirty="0"/>
                  <a:t>求得的</a:t>
                </a:r>
                <a:r>
                  <a:rPr lang="zh-CN" altLang="en-US" sz="1800" dirty="0">
                    <a:solidFill>
                      <a:srgbClr val="FF0000"/>
                    </a:solidFill>
                  </a:rPr>
                  <a:t>分隔超平面</a:t>
                </a:r>
                <a:r>
                  <a:rPr lang="zh-CN" altLang="en-US" sz="1800" dirty="0"/>
                  <a:t>为：</a:t>
                </a:r>
                <a14:m>
                  <m:oMath xmlns:m="http://schemas.openxmlformats.org/officeDocument/2006/math">
                    <m:nary>
                      <m:naryPr>
                        <m:chr m:val="∑"/>
                        <m:ctrlPr>
                          <a:rPr lang="x-none" altLang="zh-CN" sz="1800" i="1">
                            <a:latin typeface="Cambria Math" panose="02040503050406030204"/>
                          </a:rPr>
                        </m:ctrlPr>
                      </m:naryPr>
                      <m:sub>
                        <m:r>
                          <a:rPr lang="zh-CN" altLang="en-US"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1</m:t>
                        </m:r>
                      </m:sub>
                      <m:sup>
                        <m:r>
                          <a:rPr lang="zh-CN" altLang="en-US" sz="1800" i="1">
                            <a:latin typeface="Cambria Math" panose="02040503050406030204" pitchFamily="18" charset="0"/>
                          </a:rPr>
                          <m:t>𝑛</m:t>
                        </m:r>
                      </m:sup>
                      <m:e>
                        <m:sSubSup>
                          <m:sSubSupPr>
                            <m:ctrlPr>
                              <a:rPr lang="x-none" altLang="zh-CN" sz="1800" i="1">
                                <a:latin typeface="Cambria Math" panose="02040503050406030204"/>
                              </a:rPr>
                            </m:ctrlPr>
                          </m:sSubSupPr>
                          <m:e>
                            <m:r>
                              <a:rPr lang="zh-CN" altLang="en-US" sz="1800" i="1">
                                <a:latin typeface="Cambria Math" panose="02040503050406030204" pitchFamily="18" charset="0"/>
                              </a:rPr>
                              <m:t>𝛼</m:t>
                            </m:r>
                          </m:e>
                          <m:sub>
                            <m:r>
                              <a:rPr lang="en-US" altLang="zh-CN" sz="1800" i="1">
                                <a:latin typeface="Cambria Math" panose="02040503050406030204" pitchFamily="18" charset="0"/>
                              </a:rPr>
                              <m:t>𝑖</m:t>
                            </m:r>
                          </m:sub>
                          <m:sup>
                            <m:r>
                              <a:rPr lang="zh-CN" altLang="en-US" sz="1800" i="1">
                                <a:latin typeface="Cambria Math" panose="02040503050406030204" pitchFamily="18" charset="0"/>
                              </a:rPr>
                              <m:t>∗</m:t>
                            </m:r>
                          </m:sup>
                        </m:sSubSup>
                        <m:sSub>
                          <m:sSubPr>
                            <m:ctrlPr>
                              <a:rPr lang="x-none" altLang="zh-CN" sz="1800" i="1">
                                <a:latin typeface="Cambria Math" panose="02040503050406030204"/>
                              </a:rPr>
                            </m:ctrlPr>
                          </m:sSubPr>
                          <m:e>
                            <m:r>
                              <a:rPr lang="zh-CN" altLang="en-US" sz="1800" i="1">
                                <a:latin typeface="Cambria Math" panose="02040503050406030204" pitchFamily="18" charset="0"/>
                              </a:rPr>
                              <m:t>𝑦</m:t>
                            </m:r>
                          </m:e>
                          <m:sub>
                            <m:r>
                              <a:rPr lang="zh-CN" altLang="en-US" sz="1800" i="1">
                                <a:latin typeface="Cambria Math" panose="02040503050406030204" pitchFamily="18" charset="0"/>
                              </a:rPr>
                              <m:t>𝑖</m:t>
                            </m:r>
                          </m:sub>
                        </m:sSub>
                        <m:sSub>
                          <m:sSubPr>
                            <m:ctrlPr>
                              <a:rPr lang="x-none" altLang="zh-CN" sz="1800" i="1">
                                <a:latin typeface="Cambria Math" panose="02040503050406030204"/>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e>
                    </m:nary>
                    <m:r>
                      <a:rPr lang="en-US" altLang="zh-CN" sz="1800" i="1">
                        <a:latin typeface="Cambria Math" panose="02040503050406030204" pitchFamily="18" charset="0"/>
                      </a:rPr>
                      <m:t>+</m:t>
                    </m:r>
                    <m:sSup>
                      <m:sSupPr>
                        <m:ctrlPr>
                          <a:rPr lang="x-none" altLang="zh-CN" sz="1800" i="1">
                            <a:latin typeface="Cambria Math" panose="02040503050406030204"/>
                          </a:rPr>
                        </m:ctrlPr>
                      </m:sSupPr>
                      <m:e>
                        <m:r>
                          <a:rPr lang="zh-CN" altLang="en-US" sz="1800" i="1">
                            <a:latin typeface="Cambria Math" panose="02040503050406030204" pitchFamily="18" charset="0"/>
                          </a:rPr>
                          <m:t>𝛽</m:t>
                        </m:r>
                      </m:e>
                      <m:sup>
                        <m:r>
                          <a:rPr lang="zh-CN" altLang="en-US" sz="1800" i="1">
                            <a:latin typeface="Cambria Math" panose="02040503050406030204" pitchFamily="18" charset="0"/>
                          </a:rPr>
                          <m:t>∗</m:t>
                        </m:r>
                      </m:sup>
                    </m:sSup>
                    <m:r>
                      <a:rPr lang="en-US" altLang="zh-CN" sz="1800" i="1">
                        <a:latin typeface="Cambria Math" panose="02040503050406030204" pitchFamily="18" charset="0"/>
                      </a:rPr>
                      <m:t>=</m:t>
                    </m:r>
                    <m:r>
                      <a:rPr lang="en-US" altLang="zh-CN" sz="1800" i="1">
                        <a:latin typeface="Cambria Math" panose="02040503050406030204" pitchFamily="18" charset="0"/>
                      </a:rPr>
                      <m:t>0</m:t>
                    </m:r>
                  </m:oMath>
                </a14:m>
                <a:endParaRPr lang="x-none" altLang="zh-CN" sz="1800" dirty="0"/>
              </a:p>
              <a:p>
                <a:pPr latinLnBrk="1"/>
                <a:r>
                  <a:rPr lang="zh-CN" altLang="en-US" sz="1800" dirty="0"/>
                  <a:t>分类的</a:t>
                </a:r>
                <a:r>
                  <a:rPr lang="zh-CN" altLang="en-US" sz="1800" dirty="0">
                    <a:solidFill>
                      <a:srgbClr val="FF0000"/>
                    </a:solidFill>
                  </a:rPr>
                  <a:t>决策函数</a:t>
                </a:r>
                <a:r>
                  <a:rPr lang="zh-CN" altLang="en-US" sz="1800" dirty="0"/>
                  <a:t>为：</a:t>
                </a:r>
                <a14:m>
                  <m:oMath xmlns:m="http://schemas.openxmlformats.org/officeDocument/2006/math">
                    <m:r>
                      <a:rPr lang="zh-CN" altLang="en-US" sz="1800" i="1">
                        <a:latin typeface="Cambria Math" panose="02040503050406030204" pitchFamily="18" charset="0"/>
                      </a:rPr>
                      <m:t>𝑓</m:t>
                    </m:r>
                    <m:d>
                      <m:dPr>
                        <m:ctrlPr>
                          <a:rPr lang="x-none" altLang="zh-CN" sz="1800" i="1">
                            <a:latin typeface="Cambria Math" panose="02040503050406030204"/>
                          </a:rPr>
                        </m:ctrlPr>
                      </m:dPr>
                      <m:e>
                        <m:r>
                          <a:rPr lang="zh-CN" altLang="en-US" sz="1800" i="1">
                            <a:latin typeface="Cambria Math" panose="02040503050406030204" pitchFamily="18" charset="0"/>
                          </a:rPr>
                          <m:t>𝑋</m:t>
                        </m:r>
                      </m:e>
                    </m:d>
                    <m:r>
                      <a:rPr lang="en-US" altLang="zh-CN" sz="1800" i="1">
                        <a:latin typeface="Cambria Math" panose="02040503050406030204" pitchFamily="18" charset="0"/>
                      </a:rPr>
                      <m:t>=</m:t>
                    </m:r>
                    <m:r>
                      <a:rPr lang="zh-CN" altLang="en-US" sz="1800" i="1">
                        <a:latin typeface="Cambria Math" panose="02040503050406030204" pitchFamily="18" charset="0"/>
                      </a:rPr>
                      <m:t>𝑠𝑖𝑔𝑛</m:t>
                    </m:r>
                    <m:d>
                      <m:dPr>
                        <m:ctrlPr>
                          <a:rPr lang="x-none" altLang="zh-CN" sz="1800" i="1">
                            <a:latin typeface="Cambria Math" panose="02040503050406030204"/>
                          </a:rPr>
                        </m:ctrlPr>
                      </m:dPr>
                      <m:e>
                        <m:nary>
                          <m:naryPr>
                            <m:chr m:val="∑"/>
                            <m:ctrlPr>
                              <a:rPr lang="x-none" altLang="zh-CN" sz="1800" i="1">
                                <a:latin typeface="Cambria Math" panose="02040503050406030204"/>
                              </a:rPr>
                            </m:ctrlPr>
                          </m:naryPr>
                          <m:sub>
                            <m:r>
                              <a:rPr lang="zh-CN" altLang="en-US"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1</m:t>
                            </m:r>
                          </m:sub>
                          <m:sup>
                            <m:r>
                              <a:rPr lang="zh-CN" altLang="en-US" sz="1800" i="1">
                                <a:latin typeface="Cambria Math" panose="02040503050406030204" pitchFamily="18" charset="0"/>
                              </a:rPr>
                              <m:t>𝑛</m:t>
                            </m:r>
                          </m:sup>
                          <m:e>
                            <m:sSubSup>
                              <m:sSubSupPr>
                                <m:ctrlPr>
                                  <a:rPr lang="x-none" altLang="zh-CN" sz="1800" i="1">
                                    <a:latin typeface="Cambria Math" panose="02040503050406030204"/>
                                  </a:rPr>
                                </m:ctrlPr>
                              </m:sSubSupPr>
                              <m:e>
                                <m:r>
                                  <a:rPr lang="zh-CN" altLang="en-US" sz="1800" i="1">
                                    <a:latin typeface="Cambria Math" panose="02040503050406030204" pitchFamily="18" charset="0"/>
                                  </a:rPr>
                                  <m:t>𝛼</m:t>
                                </m:r>
                              </m:e>
                              <m:sub>
                                <m:r>
                                  <a:rPr lang="en-US" altLang="zh-CN" sz="1800" i="1">
                                    <a:latin typeface="Cambria Math" panose="02040503050406030204" pitchFamily="18" charset="0"/>
                                  </a:rPr>
                                  <m:t>𝑖</m:t>
                                </m:r>
                              </m:sub>
                              <m:sup>
                                <m:r>
                                  <a:rPr lang="zh-CN" altLang="en-US" sz="1800" i="1">
                                    <a:latin typeface="Cambria Math" panose="02040503050406030204" pitchFamily="18" charset="0"/>
                                  </a:rPr>
                                  <m:t>∗</m:t>
                                </m:r>
                              </m:sup>
                            </m:sSubSup>
                            <m:sSub>
                              <m:sSubPr>
                                <m:ctrlPr>
                                  <a:rPr lang="x-none" altLang="zh-CN" sz="1800" i="1">
                                    <a:latin typeface="Cambria Math" panose="02040503050406030204"/>
                                  </a:rPr>
                                </m:ctrlPr>
                              </m:sSubPr>
                              <m:e>
                                <m:r>
                                  <a:rPr lang="zh-CN" altLang="en-US" sz="1800" i="1">
                                    <a:latin typeface="Cambria Math" panose="02040503050406030204" pitchFamily="18" charset="0"/>
                                  </a:rPr>
                                  <m:t>𝑦</m:t>
                                </m:r>
                              </m:e>
                              <m:sub>
                                <m:r>
                                  <a:rPr lang="zh-CN" altLang="en-US" sz="1800" i="1">
                                    <a:latin typeface="Cambria Math" panose="02040503050406030204" pitchFamily="18" charset="0"/>
                                  </a:rPr>
                                  <m:t>𝑖</m:t>
                                </m:r>
                              </m:sub>
                            </m:sSub>
                            <m:sSub>
                              <m:sSubPr>
                                <m:ctrlPr>
                                  <a:rPr lang="x-none" altLang="zh-CN" sz="1800" i="1">
                                    <a:latin typeface="Cambria Math" panose="02040503050406030204"/>
                                  </a:rPr>
                                </m:ctrlPr>
                              </m:sSubPr>
                              <m:e>
                                <m:r>
                                  <a:rPr lang="zh-CN" altLang="en-US" sz="1800" i="1">
                                    <a:latin typeface="Cambria Math" panose="02040503050406030204" pitchFamily="18" charset="0"/>
                                  </a:rPr>
                                  <m:t>𝑥</m:t>
                                </m:r>
                              </m:e>
                              <m:sub>
                                <m:r>
                                  <a:rPr lang="zh-CN" altLang="en-US" sz="1800" i="1">
                                    <a:latin typeface="Cambria Math" panose="02040503050406030204" pitchFamily="18" charset="0"/>
                                  </a:rPr>
                                  <m:t>𝑖</m:t>
                                </m:r>
                              </m:sub>
                            </m:sSub>
                            <m:r>
                              <a:rPr lang="zh-CN" altLang="en-US" sz="1800" i="1">
                                <a:latin typeface="Cambria Math" panose="02040503050406030204" pitchFamily="18" charset="0"/>
                              </a:rPr>
                              <m:t>𝑋</m:t>
                            </m:r>
                          </m:e>
                        </m:nary>
                        <m:r>
                          <a:rPr lang="en-US" altLang="zh-CN" sz="1800" i="1">
                            <a:latin typeface="Cambria Math" panose="02040503050406030204" pitchFamily="18" charset="0"/>
                          </a:rPr>
                          <m:t>+</m:t>
                        </m:r>
                        <m:sSup>
                          <m:sSupPr>
                            <m:ctrlPr>
                              <a:rPr lang="x-none" altLang="zh-CN" sz="1800" i="1">
                                <a:latin typeface="Cambria Math" panose="02040503050406030204"/>
                              </a:rPr>
                            </m:ctrlPr>
                          </m:sSupPr>
                          <m:e>
                            <m:r>
                              <a:rPr lang="zh-CN" altLang="en-US" sz="1800" i="1">
                                <a:latin typeface="Cambria Math" panose="02040503050406030204" pitchFamily="18" charset="0"/>
                              </a:rPr>
                              <m:t>𝛽</m:t>
                            </m:r>
                          </m:e>
                          <m:sup>
                            <m:r>
                              <a:rPr lang="zh-CN" altLang="en-US" sz="1800" i="1">
                                <a:latin typeface="Cambria Math" panose="02040503050406030204" pitchFamily="18" charset="0"/>
                              </a:rPr>
                              <m:t>∗</m:t>
                            </m:r>
                          </m:sup>
                        </m:sSup>
                      </m:e>
                    </m:d>
                  </m:oMath>
                </a14:m>
                <a:endParaRPr lang="en-US" altLang="zh-CN" sz="1800" dirty="0"/>
              </a:p>
              <a:p>
                <a:pPr marL="0" indent="0" latinLnBrk="1">
                  <a:buNone/>
                </a:pPr>
                <a:endParaRPr lang="x-none" altLang="zh-CN" sz="1800" dirty="0"/>
              </a:p>
              <a:p>
                <a:pPr marL="0" indent="0" latinLnBrk="1">
                  <a:buNone/>
                </a:pPr>
                <a:r>
                  <a:rPr lang="zh-CN" altLang="en-US" sz="1800" dirty="0"/>
                  <a:t>对于任意训练样本（</a:t>
                </a:r>
                <a14:m>
                  <m:oMath xmlns:m="http://schemas.openxmlformats.org/officeDocument/2006/math">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r>
                      <a:rPr lang="en-US" altLang="zh-CN" sz="1800" i="1">
                        <a:latin typeface="Cambria Math" panose="02040503050406030204"/>
                      </a:rPr>
                      <m:t>,</m:t>
                    </m:r>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oMath>
                </a14:m>
                <a:r>
                  <a:rPr lang="zh-CN" altLang="en-US" sz="1800" dirty="0"/>
                  <a:t>），由互补条件可知，总会有</a:t>
                </a:r>
                <a14:m>
                  <m:oMath xmlns:m="http://schemas.openxmlformats.org/officeDocument/2006/math">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r>
                      <a:rPr lang="en-US" altLang="zh-CN" sz="1800" i="1">
                        <a:latin typeface="Cambria Math" panose="02040503050406030204"/>
                      </a:rPr>
                      <m:t>=</m:t>
                    </m:r>
                    <m:r>
                      <a:rPr lang="en-US" altLang="zh-CN" sz="1800" i="1">
                        <a:latin typeface="Cambria Math" panose="02040503050406030204"/>
                      </a:rPr>
                      <m:t>0</m:t>
                    </m:r>
                  </m:oMath>
                </a14:m>
                <a:r>
                  <a:rPr lang="zh-CN" altLang="en-US" sz="1800" dirty="0"/>
                  <a:t>或者</a:t>
                </a:r>
                <a14:m>
                  <m:oMath xmlns:m="http://schemas.openxmlformats.org/officeDocument/2006/math">
                    <m:sSub>
                      <m:sSubPr>
                        <m:ctrlPr>
                          <a:rPr lang="x-none" altLang="zh-CN" sz="1800" i="1">
                            <a:latin typeface="Cambria Math" panose="02040503050406030204"/>
                          </a:rPr>
                        </m:ctrlPr>
                      </m:sSubPr>
                      <m:e>
                        <m:r>
                          <a:rPr lang="zh-CN" altLang="en-US" sz="1800" i="1">
                            <a:latin typeface="Cambria Math" panose="02040503050406030204"/>
                          </a:rPr>
                          <m:t>𝑦</m:t>
                        </m:r>
                      </m:e>
                      <m:sub>
                        <m:r>
                          <a:rPr lang="zh-CN" altLang="en-US" sz="1800" i="1">
                            <a:latin typeface="Cambria Math" panose="02040503050406030204"/>
                          </a:rPr>
                          <m:t>𝑖</m:t>
                        </m:r>
                      </m:sub>
                    </m:sSub>
                    <m:d>
                      <m:dPr>
                        <m:ctrlPr>
                          <a:rPr lang="x-none" altLang="zh-CN" sz="1800" i="1">
                            <a:latin typeface="Cambria Math" panose="02040503050406030204"/>
                          </a:rPr>
                        </m:ctrlPr>
                      </m:dPr>
                      <m:e>
                        <m:r>
                          <a:rPr lang="zh-CN" altLang="en-US" sz="1800" b="1" i="1">
                            <a:latin typeface="Cambria Math" panose="02040503050406030204"/>
                          </a:rPr>
                          <m:t>𝒘</m:t>
                        </m:r>
                        <m:sSub>
                          <m:sSubPr>
                            <m:ctrlPr>
                              <a:rPr lang="x-none" altLang="zh-CN" sz="1800" i="1">
                                <a:latin typeface="Cambria Math" panose="02040503050406030204"/>
                              </a:rPr>
                            </m:ctrlPr>
                          </m:sSubPr>
                          <m:e>
                            <m:r>
                              <a:rPr lang="zh-CN" altLang="en-US" sz="1800" i="1">
                                <a:latin typeface="Cambria Math" panose="02040503050406030204"/>
                              </a:rPr>
                              <m:t>𝑥</m:t>
                            </m:r>
                          </m:e>
                          <m:sub>
                            <m:r>
                              <a:rPr lang="zh-CN" altLang="en-US" sz="1800" i="1">
                                <a:latin typeface="Cambria Math" panose="02040503050406030204"/>
                              </a:rPr>
                              <m:t>𝑖</m:t>
                            </m:r>
                          </m:sub>
                        </m:sSub>
                        <m:r>
                          <a:rPr lang="en-US" altLang="zh-CN" sz="1800" i="1">
                            <a:latin typeface="Cambria Math" panose="02040503050406030204"/>
                          </a:rPr>
                          <m:t>+</m:t>
                        </m:r>
                        <m:r>
                          <a:rPr lang="zh-CN" altLang="en-US" sz="1800" i="1">
                            <a:latin typeface="Cambria Math" panose="02040503050406030204"/>
                          </a:rPr>
                          <m:t>𝛽</m:t>
                        </m:r>
                      </m:e>
                    </m:d>
                    <m:r>
                      <a:rPr lang="en-US" altLang="zh-CN" sz="1800" i="1">
                        <a:latin typeface="Cambria Math" panose="02040503050406030204"/>
                      </a:rPr>
                      <m:t>=</m:t>
                    </m:r>
                    <m:r>
                      <a:rPr lang="en-US" altLang="zh-CN" sz="1800" i="1">
                        <a:latin typeface="Cambria Math" panose="02040503050406030204"/>
                      </a:rPr>
                      <m:t>1</m:t>
                    </m:r>
                  </m:oMath>
                </a14:m>
                <a:r>
                  <a:rPr lang="zh-CN" altLang="en-US" sz="1800" dirty="0"/>
                  <a:t>，如果</a:t>
                </a:r>
                <a14:m>
                  <m:oMath xmlns:m="http://schemas.openxmlformats.org/officeDocument/2006/math">
                    <m:sSub>
                      <m:sSubPr>
                        <m:ctrlPr>
                          <a:rPr lang="x-none" altLang="zh-CN" sz="1800" i="1">
                            <a:latin typeface="Cambria Math" panose="02040503050406030204"/>
                          </a:rPr>
                        </m:ctrlPr>
                      </m:sSubPr>
                      <m:e>
                        <m:r>
                          <a:rPr lang="zh-CN" altLang="en-US" sz="1800" i="1">
                            <a:latin typeface="Cambria Math" panose="02040503050406030204"/>
                          </a:rPr>
                          <m:t>𝛼</m:t>
                        </m:r>
                      </m:e>
                      <m:sub>
                        <m:r>
                          <a:rPr lang="zh-CN" altLang="en-US" sz="1800" i="1">
                            <a:latin typeface="Cambria Math" panose="02040503050406030204"/>
                          </a:rPr>
                          <m:t>𝑖</m:t>
                        </m:r>
                      </m:sub>
                    </m:sSub>
                    <m:r>
                      <a:rPr lang="en-US" altLang="zh-CN" sz="1800" i="1">
                        <a:latin typeface="Cambria Math" panose="02040503050406030204"/>
                      </a:rPr>
                      <m:t>&gt;</m:t>
                    </m:r>
                    <m:r>
                      <a:rPr lang="en-US" altLang="zh-CN" sz="1800" i="1">
                        <a:latin typeface="Cambria Math" panose="02040503050406030204"/>
                      </a:rPr>
                      <m:t>0</m:t>
                    </m:r>
                  </m:oMath>
                </a14:m>
                <a:r>
                  <a:rPr lang="zh-CN" altLang="en-US" sz="1800" dirty="0"/>
                  <a:t>时，对应的样本点在最大间隔边界上，是一个支持向量。支持向量机在训练完成后，最终模型仅与支持向量有关。</a:t>
                </a:r>
                <a:endParaRPr lang="x-none" altLang="zh-CN" sz="1800" dirty="0"/>
              </a:p>
              <a:p>
                <a:endParaRPr lang="zh-CN" altLang="en-US" sz="1800" dirty="0"/>
              </a:p>
              <a:p>
                <a:pPr marL="285750" indent="-285750">
                  <a:buFont typeface="Wingdings" panose="05000000000000000000" pitchFamily="2" charset="2"/>
                  <a:buChar char="Ø"/>
                </a:pPr>
                <a:endParaRPr lang="en-US" altLang="zh-CN" sz="1800" dirty="0"/>
              </a:p>
              <a:p>
                <a:endParaRPr lang="en-US" altLang="zh-CN" sz="1800" dirty="0"/>
              </a:p>
              <a:p>
                <a:endParaRPr lang="zh-CN" altLang="en-US" sz="1800" dirty="0"/>
              </a:p>
            </p:txBody>
          </p:sp>
        </mc:Choice>
        <mc:Fallback>
          <p:sp>
            <p:nvSpPr>
              <p:cNvPr id="7" name="矩形 3"/>
              <p:cNvSpPr>
                <a:spLocks noRot="1" noChangeAspect="1" noMove="1" noResize="1" noEditPoints="1" noAdjustHandles="1" noChangeArrowheads="1" noChangeShapeType="1" noTextEdit="1"/>
              </p:cNvSpPr>
              <p:nvPr/>
            </p:nvSpPr>
            <p:spPr bwMode="auto">
              <a:xfrm>
                <a:off x="396143" y="1179508"/>
                <a:ext cx="8045450" cy="5925148"/>
              </a:xfrm>
              <a:prstGeom prst="rect">
                <a:avLst/>
              </a:prstGeom>
              <a:blipFill rotWithShape="1">
                <a:blip r:embed="rId1"/>
                <a:stretch>
                  <a:fillRect l="-7" t="-5" r="7" b="-12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常见核函数 </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396143" y="1179508"/>
            <a:ext cx="8045450" cy="450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a:lnSpc>
                <a:spcPct val="150000"/>
              </a:lnSpc>
            </a:pPr>
            <a:r>
              <a:rPr lang="zh-CN" altLang="en-US" sz="2000" dirty="0">
                <a:solidFill>
                  <a:srgbClr val="000000"/>
                </a:solidFill>
              </a:rPr>
              <a:t>支持向量机通过</a:t>
            </a:r>
            <a:r>
              <a:rPr lang="zh-CN" altLang="en-US" sz="2000" dirty="0">
                <a:solidFill>
                  <a:srgbClr val="FF0000"/>
                </a:solidFill>
              </a:rPr>
              <a:t>线性变换</a:t>
            </a:r>
            <a:r>
              <a:rPr lang="en-US" altLang="zh-CN" sz="2000" dirty="0">
                <a:solidFill>
                  <a:srgbClr val="FF0000"/>
                </a:solidFill>
              </a:rPr>
              <a:t>A(x)</a:t>
            </a:r>
            <a:r>
              <a:rPr lang="zh-CN" altLang="en-US" sz="2000" dirty="0">
                <a:solidFill>
                  <a:srgbClr val="000000"/>
                </a:solidFill>
              </a:rPr>
              <a:t>将输入空间</a:t>
            </a:r>
            <a:r>
              <a:rPr lang="en-US" altLang="zh-CN" sz="2000" dirty="0">
                <a:solidFill>
                  <a:srgbClr val="000000"/>
                </a:solidFill>
              </a:rPr>
              <a:t>X</a:t>
            </a:r>
            <a:r>
              <a:rPr lang="zh-CN" altLang="en-US" sz="2000" dirty="0">
                <a:solidFill>
                  <a:srgbClr val="000000"/>
                </a:solidFill>
              </a:rPr>
              <a:t>映射到高维特征空间</a:t>
            </a:r>
            <a:r>
              <a:rPr lang="en-US" altLang="zh-CN" sz="2000" dirty="0">
                <a:solidFill>
                  <a:srgbClr val="000000"/>
                </a:solidFill>
              </a:rPr>
              <a:t>Y</a:t>
            </a:r>
            <a:r>
              <a:rPr lang="zh-CN" altLang="en-US" sz="2000" dirty="0">
                <a:solidFill>
                  <a:srgbClr val="000000"/>
                </a:solidFill>
              </a:rPr>
              <a:t>，如果低维空间存在函数</a:t>
            </a:r>
            <a:r>
              <a:rPr lang="en-US" altLang="zh-CN" sz="2000" dirty="0">
                <a:solidFill>
                  <a:srgbClr val="000000"/>
                </a:solidFill>
              </a:rPr>
              <a:t>K</a:t>
            </a:r>
            <a:r>
              <a:rPr lang="zh-CN" altLang="en-US" sz="2000" dirty="0">
                <a:solidFill>
                  <a:srgbClr val="000000"/>
                </a:solidFill>
              </a:rPr>
              <a:t>，</a:t>
            </a:r>
            <a:r>
              <a:rPr lang="en-US" altLang="zh-CN" sz="2000" dirty="0" err="1">
                <a:solidFill>
                  <a:srgbClr val="000000"/>
                </a:solidFill>
              </a:rPr>
              <a:t>x,y</a:t>
            </a:r>
            <a:r>
              <a:rPr lang="zh-CN" altLang="en-US" sz="2000" dirty="0">
                <a:solidFill>
                  <a:srgbClr val="000000"/>
                </a:solidFill>
              </a:rPr>
              <a:t>∈</a:t>
            </a:r>
            <a:r>
              <a:rPr lang="en-US" altLang="zh-CN" sz="2000" dirty="0">
                <a:solidFill>
                  <a:srgbClr val="000000"/>
                </a:solidFill>
              </a:rPr>
              <a:t>X</a:t>
            </a:r>
            <a:r>
              <a:rPr lang="zh-CN" altLang="en-US" sz="2000" dirty="0">
                <a:solidFill>
                  <a:srgbClr val="000000"/>
                </a:solidFill>
              </a:rPr>
              <a:t>，使得</a:t>
            </a:r>
            <a:r>
              <a:rPr lang="en-US" altLang="zh-CN" sz="2000" dirty="0">
                <a:solidFill>
                  <a:srgbClr val="000000"/>
                </a:solidFill>
              </a:rPr>
              <a:t>K(</a:t>
            </a:r>
            <a:r>
              <a:rPr lang="en-US" altLang="zh-CN" sz="2000" dirty="0" err="1">
                <a:solidFill>
                  <a:srgbClr val="000000"/>
                </a:solidFill>
              </a:rPr>
              <a:t>x,y</a:t>
            </a:r>
            <a:r>
              <a:rPr lang="en-US" altLang="zh-CN" sz="2000" dirty="0">
                <a:solidFill>
                  <a:srgbClr val="000000"/>
                </a:solidFill>
              </a:rPr>
              <a:t>)=A(x)·A(y)</a:t>
            </a:r>
            <a:r>
              <a:rPr lang="zh-CN" altLang="en-US" sz="2000" dirty="0">
                <a:solidFill>
                  <a:srgbClr val="000000"/>
                </a:solidFill>
              </a:rPr>
              <a:t>，则称</a:t>
            </a:r>
            <a:r>
              <a:rPr lang="en-US" altLang="zh-CN" sz="2000" dirty="0">
                <a:solidFill>
                  <a:srgbClr val="000000"/>
                </a:solidFill>
              </a:rPr>
              <a:t>K(</a:t>
            </a:r>
            <a:r>
              <a:rPr lang="en-US" altLang="zh-CN" sz="2000" dirty="0" err="1">
                <a:solidFill>
                  <a:srgbClr val="000000"/>
                </a:solidFill>
              </a:rPr>
              <a:t>x,y</a:t>
            </a:r>
            <a:r>
              <a:rPr lang="en-US" altLang="zh-CN" sz="2000" dirty="0">
                <a:solidFill>
                  <a:srgbClr val="000000"/>
                </a:solidFill>
              </a:rPr>
              <a:t>)</a:t>
            </a:r>
            <a:r>
              <a:rPr lang="zh-CN" altLang="en-US" sz="2000" dirty="0">
                <a:solidFill>
                  <a:srgbClr val="000000"/>
                </a:solidFill>
              </a:rPr>
              <a:t>为核函数。核函数方法可以与不同的算法相结合，形成多种不同的基于核函数的方法，常用的核函数有：</a:t>
            </a:r>
            <a:endParaRPr lang="en-US" altLang="zh-CN" sz="2000" dirty="0">
              <a:solidFill>
                <a:srgbClr val="000000"/>
              </a:solidFill>
            </a:endParaRPr>
          </a:p>
          <a:p>
            <a:pPr lvl="1">
              <a:lnSpc>
                <a:spcPct val="150000"/>
              </a:lnSpc>
            </a:pPr>
            <a:r>
              <a:rPr lang="zh-CN" altLang="en-US" sz="2000" dirty="0">
                <a:solidFill>
                  <a:srgbClr val="000000"/>
                </a:solidFill>
              </a:rPr>
              <a:t>线性核函数</a:t>
            </a:r>
            <a:endParaRPr lang="en-US" altLang="zh-CN" sz="2000" dirty="0">
              <a:solidFill>
                <a:srgbClr val="000000"/>
              </a:solidFill>
            </a:endParaRPr>
          </a:p>
          <a:p>
            <a:pPr lvl="1">
              <a:lnSpc>
                <a:spcPct val="150000"/>
              </a:lnSpc>
            </a:pPr>
            <a:r>
              <a:rPr lang="zh-CN" altLang="en-US" sz="2000" dirty="0">
                <a:solidFill>
                  <a:srgbClr val="000000"/>
                </a:solidFill>
              </a:rPr>
              <a:t>多项式核函数</a:t>
            </a:r>
            <a:endParaRPr lang="en-US" altLang="zh-CN" sz="2000" dirty="0">
              <a:solidFill>
                <a:srgbClr val="000000"/>
              </a:solidFill>
            </a:endParaRPr>
          </a:p>
          <a:p>
            <a:pPr lvl="1">
              <a:lnSpc>
                <a:spcPct val="150000"/>
              </a:lnSpc>
            </a:pPr>
            <a:r>
              <a:rPr lang="zh-CN" altLang="en-US" sz="2000" dirty="0">
                <a:solidFill>
                  <a:srgbClr val="000000"/>
                </a:solidFill>
              </a:rPr>
              <a:t>径向基核函数</a:t>
            </a:r>
            <a:endParaRPr lang="en-US" altLang="zh-CN" sz="2000" dirty="0">
              <a:solidFill>
                <a:srgbClr val="000000"/>
              </a:solidFill>
            </a:endParaRPr>
          </a:p>
          <a:p>
            <a:pPr lvl="1">
              <a:lnSpc>
                <a:spcPct val="150000"/>
              </a:lnSpc>
            </a:pPr>
            <a:r>
              <a:rPr lang="en-US" altLang="zh-CN" sz="2000" dirty="0">
                <a:solidFill>
                  <a:srgbClr val="000000"/>
                </a:solidFill>
              </a:rPr>
              <a:t>Sigmoid</a:t>
            </a:r>
            <a:r>
              <a:rPr lang="zh-CN" altLang="en-US" sz="2000" dirty="0">
                <a:solidFill>
                  <a:srgbClr val="000000"/>
                </a:solidFill>
              </a:rPr>
              <a:t>核</a:t>
            </a:r>
            <a:endParaRPr lang="en-US" altLang="zh-CN" sz="2000" dirty="0">
              <a:solidFill>
                <a:srgbClr val="000000"/>
              </a:solidFill>
            </a:endParaRPr>
          </a:p>
          <a:p>
            <a:pPr marL="0" indent="0">
              <a:lnSpc>
                <a:spcPct val="150000"/>
              </a:lnSpc>
              <a:buNone/>
            </a:pPr>
            <a:endParaRPr lang="en-US" altLang="zh-CN" sz="2000" dirty="0">
              <a:solidFill>
                <a:srgbClr val="000000"/>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常见核函数 </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396143" y="1179508"/>
            <a:ext cx="8045450" cy="4585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线性核函数</a:t>
            </a:r>
            <a:r>
              <a:rPr lang="en-US" altLang="zh-CN" sz="2000" dirty="0">
                <a:solidFill>
                  <a:srgbClr val="000000"/>
                </a:solidFill>
              </a:rPr>
              <a:t>(Linear Kernel)</a:t>
            </a:r>
            <a:r>
              <a:rPr lang="zh-CN" altLang="en-US" sz="2000" dirty="0">
                <a:solidFill>
                  <a:srgbClr val="000000"/>
                </a:solidFill>
              </a:rPr>
              <a:t>是最简单的核函数，主要用于线性可分的情况，表达式如下：</a:t>
            </a:r>
            <a:endParaRPr lang="en-US" altLang="zh-CN" sz="2000" dirty="0">
              <a:solidFill>
                <a:srgbClr val="000000"/>
              </a:solidFill>
            </a:endParaRPr>
          </a:p>
          <a:p>
            <a:endParaRPr lang="en-US" altLang="zh-CN" sz="2000" dirty="0">
              <a:solidFill>
                <a:srgbClr val="000000"/>
              </a:solidFill>
            </a:endParaRPr>
          </a:p>
          <a:p>
            <a:pPr marL="0" indent="0" algn="ctr">
              <a:buNone/>
            </a:pPr>
            <a:r>
              <a:rPr lang="en-US" altLang="zh-CN" sz="2000" dirty="0">
                <a:solidFill>
                  <a:srgbClr val="000000"/>
                </a:solidFill>
              </a:rPr>
              <a:t>K(</a:t>
            </a:r>
            <a:r>
              <a:rPr lang="en-US" altLang="zh-CN" sz="2000" dirty="0" err="1">
                <a:solidFill>
                  <a:srgbClr val="000000"/>
                </a:solidFill>
              </a:rPr>
              <a:t>x,y</a:t>
            </a:r>
            <a:r>
              <a:rPr lang="en-US" altLang="zh-CN" sz="2000" dirty="0">
                <a:solidFill>
                  <a:srgbClr val="000000"/>
                </a:solidFill>
              </a:rPr>
              <a:t>) = </a:t>
            </a:r>
            <a:r>
              <a:rPr lang="en-US" altLang="zh-CN" sz="2000" dirty="0" err="1">
                <a:solidFill>
                  <a:srgbClr val="000000"/>
                </a:solidFill>
              </a:rPr>
              <a:t>x·y+c</a:t>
            </a:r>
            <a:endParaRPr lang="en-US" altLang="zh-CN" sz="2000" dirty="0">
              <a:solidFill>
                <a:srgbClr val="000000"/>
              </a:solidFill>
            </a:endParaRPr>
          </a:p>
          <a:p>
            <a:pPr marL="0" indent="0">
              <a:buNone/>
            </a:pPr>
            <a:r>
              <a:rPr lang="en-US" altLang="zh-CN" sz="2000" dirty="0">
                <a:solidFill>
                  <a:srgbClr val="000000"/>
                </a:solidFill>
              </a:rPr>
              <a:t>       </a:t>
            </a:r>
            <a:r>
              <a:rPr lang="zh-CN" altLang="en-US" sz="2000" dirty="0">
                <a:solidFill>
                  <a:srgbClr val="000000"/>
                </a:solidFill>
              </a:rPr>
              <a:t>其中</a:t>
            </a:r>
            <a:r>
              <a:rPr lang="en-US" altLang="zh-CN" sz="2000" dirty="0">
                <a:solidFill>
                  <a:srgbClr val="000000"/>
                </a:solidFill>
              </a:rPr>
              <a:t>c</a:t>
            </a:r>
            <a:r>
              <a:rPr lang="zh-CN" altLang="en-US" sz="2000" dirty="0">
                <a:solidFill>
                  <a:srgbClr val="000000"/>
                </a:solidFill>
              </a:rPr>
              <a:t>是可选的常数。线性核函数是原始输入空间的内积，即特征空间和输入空间的维度是一样的，参数较少运算速度较快。适用的情景是在特征数量相对于样本数量非常多时。</a:t>
            </a:r>
            <a:endParaRPr lang="en-US" altLang="zh-CN" sz="2000" dirty="0">
              <a:solidFill>
                <a:srgbClr val="000000"/>
              </a:solidFill>
            </a:endParaRPr>
          </a:p>
          <a:p>
            <a:pPr marL="0" indent="0">
              <a:buNone/>
            </a:pPr>
            <a:endParaRPr lang="en-US" altLang="zh-CN" sz="2000" dirty="0">
              <a:solidFill>
                <a:srgbClr val="000000"/>
              </a:solidFill>
            </a:endParaRPr>
          </a:p>
          <a:p>
            <a:r>
              <a:rPr lang="zh-CN" altLang="en-US" sz="2000" dirty="0">
                <a:solidFill>
                  <a:srgbClr val="000000"/>
                </a:solidFill>
              </a:rPr>
              <a:t>多项式核函数</a:t>
            </a:r>
            <a:r>
              <a:rPr lang="en-US" altLang="zh-CN" sz="2000" dirty="0">
                <a:solidFill>
                  <a:srgbClr val="000000"/>
                </a:solidFill>
              </a:rPr>
              <a:t>(Polynomial Kernel)</a:t>
            </a:r>
            <a:r>
              <a:rPr lang="zh-CN" altLang="en-US" sz="2000" dirty="0">
                <a:solidFill>
                  <a:srgbClr val="000000"/>
                </a:solidFill>
              </a:rPr>
              <a:t>是一种非稳态核函数，适合于正交归一化后的数据，表达式如下：</a:t>
            </a:r>
            <a:endParaRPr lang="en-US" altLang="zh-CN" sz="2000" dirty="0">
              <a:solidFill>
                <a:srgbClr val="000000"/>
              </a:solidFill>
            </a:endParaRPr>
          </a:p>
          <a:p>
            <a:endParaRPr lang="en-US" altLang="zh-CN" sz="2000" dirty="0">
              <a:solidFill>
                <a:srgbClr val="000000"/>
              </a:solidFill>
            </a:endParaRPr>
          </a:p>
          <a:p>
            <a:pPr marL="0" indent="0" algn="ctr">
              <a:buNone/>
            </a:pPr>
            <a:r>
              <a:rPr lang="en-US" altLang="zh-CN" sz="2000" dirty="0">
                <a:solidFill>
                  <a:srgbClr val="000000"/>
                </a:solidFill>
              </a:rPr>
              <a:t>K(</a:t>
            </a:r>
            <a:r>
              <a:rPr lang="en-US" altLang="zh-CN" sz="2000" dirty="0" err="1">
                <a:solidFill>
                  <a:srgbClr val="000000"/>
                </a:solidFill>
              </a:rPr>
              <a:t>x,y</a:t>
            </a:r>
            <a:r>
              <a:rPr lang="en-US" altLang="zh-CN" sz="2000" dirty="0">
                <a:solidFill>
                  <a:srgbClr val="000000"/>
                </a:solidFill>
              </a:rPr>
              <a:t>) = [</a:t>
            </a:r>
            <a:r>
              <a:rPr lang="en-US" altLang="zh-CN" sz="2000" dirty="0" err="1">
                <a:solidFill>
                  <a:srgbClr val="000000"/>
                </a:solidFill>
              </a:rPr>
              <a:t>a·x·y+c</a:t>
            </a:r>
            <a:r>
              <a:rPr lang="en-US" altLang="zh-CN" sz="2000" dirty="0">
                <a:solidFill>
                  <a:srgbClr val="000000"/>
                </a:solidFill>
              </a:rPr>
              <a:t>] </a:t>
            </a:r>
            <a:r>
              <a:rPr lang="en-US" altLang="zh-CN" sz="2000" baseline="30000" dirty="0">
                <a:solidFill>
                  <a:srgbClr val="000000"/>
                </a:solidFill>
              </a:rPr>
              <a:t>d</a:t>
            </a:r>
            <a:endParaRPr lang="en-US" altLang="zh-CN" sz="2000" dirty="0">
              <a:solidFill>
                <a:srgbClr val="000000"/>
              </a:solidFill>
            </a:endParaRPr>
          </a:p>
          <a:p>
            <a:pPr marL="0" indent="0">
              <a:buNone/>
            </a:pPr>
            <a:r>
              <a:rPr lang="en-US" altLang="zh-CN" sz="2000" dirty="0">
                <a:solidFill>
                  <a:srgbClr val="000000"/>
                </a:solidFill>
              </a:rPr>
              <a:t>       </a:t>
            </a:r>
            <a:r>
              <a:rPr lang="zh-CN" altLang="en-US" sz="2000" dirty="0">
                <a:solidFill>
                  <a:srgbClr val="000000"/>
                </a:solidFill>
              </a:rPr>
              <a:t>其中</a:t>
            </a:r>
            <a:r>
              <a:rPr lang="en-US" altLang="zh-CN" sz="2000" dirty="0">
                <a:solidFill>
                  <a:srgbClr val="000000"/>
                </a:solidFill>
              </a:rPr>
              <a:t>a</a:t>
            </a:r>
            <a:r>
              <a:rPr lang="zh-CN" altLang="en-US" sz="2000" dirty="0">
                <a:solidFill>
                  <a:srgbClr val="000000"/>
                </a:solidFill>
              </a:rPr>
              <a:t>是调节参数，</a:t>
            </a:r>
            <a:r>
              <a:rPr lang="en-US" altLang="zh-CN" sz="2000" dirty="0">
                <a:solidFill>
                  <a:srgbClr val="000000"/>
                </a:solidFill>
              </a:rPr>
              <a:t>d</a:t>
            </a:r>
            <a:r>
              <a:rPr lang="zh-CN" altLang="en-US" sz="2000" dirty="0">
                <a:solidFill>
                  <a:srgbClr val="000000"/>
                </a:solidFill>
              </a:rPr>
              <a:t>是最高次项次数，</a:t>
            </a:r>
            <a:r>
              <a:rPr lang="en-US" altLang="zh-CN" sz="2000" dirty="0">
                <a:solidFill>
                  <a:srgbClr val="000000"/>
                </a:solidFill>
              </a:rPr>
              <a:t>c</a:t>
            </a:r>
            <a:r>
              <a:rPr lang="zh-CN" altLang="en-US" sz="2000" dirty="0">
                <a:solidFill>
                  <a:srgbClr val="000000"/>
                </a:solidFill>
              </a:rPr>
              <a:t>是可选的常数。</a:t>
            </a:r>
            <a:endParaRPr lang="en-US" altLang="zh-CN" sz="2000" dirty="0">
              <a:solidFill>
                <a:srgbClr val="000000"/>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常见核函数 </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396143" y="1179508"/>
            <a:ext cx="8045450" cy="5816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r>
              <a:rPr lang="zh-CN" altLang="en-US" sz="2000" dirty="0">
                <a:solidFill>
                  <a:srgbClr val="000000"/>
                </a:solidFill>
              </a:rPr>
              <a:t>径向基核函数</a:t>
            </a:r>
            <a:r>
              <a:rPr lang="en-US" altLang="zh-CN" sz="2000" dirty="0">
                <a:solidFill>
                  <a:srgbClr val="000000"/>
                </a:solidFill>
              </a:rPr>
              <a:t>(Radial Basis Function Kernel)</a:t>
            </a:r>
            <a:r>
              <a:rPr lang="zh-CN" altLang="en-US" sz="2000" dirty="0">
                <a:solidFill>
                  <a:srgbClr val="000000"/>
                </a:solidFill>
              </a:rPr>
              <a:t>具有很强的灵活性，应用广泛。与多项式核函数相比参数较少。因此大多数情况下都有较好的性能。径向基核函数类似于高斯函数，所以也被称为高斯核函数。在不确定用哪种核函数时，可优先验证高斯核函数。</a:t>
            </a:r>
            <a:endParaRPr lang="en-US" altLang="zh-CN" sz="2000" dirty="0">
              <a:solidFill>
                <a:srgbClr val="000000"/>
              </a:solidFill>
            </a:endParaRPr>
          </a:p>
          <a:p>
            <a:pPr marL="0" indent="0">
              <a:buNone/>
            </a:pPr>
            <a:r>
              <a:rPr lang="en-US" altLang="zh-CN" sz="2000" dirty="0">
                <a:solidFill>
                  <a:srgbClr val="000000"/>
                </a:solidFill>
              </a:rPr>
              <a:t>     </a:t>
            </a:r>
            <a:r>
              <a:rPr lang="zh-CN" altLang="en-US" sz="2000" dirty="0">
                <a:solidFill>
                  <a:srgbClr val="000000"/>
                </a:solidFill>
              </a:rPr>
              <a:t>表达式如下：</a:t>
            </a:r>
            <a:endParaRPr lang="en-US" altLang="zh-CN" sz="2000" dirty="0">
              <a:solidFill>
                <a:srgbClr val="000000"/>
              </a:solidFill>
            </a:endParaRPr>
          </a:p>
          <a:p>
            <a:pPr marL="0" indent="0" algn="ctr">
              <a:buNone/>
            </a:pPr>
            <a:r>
              <a:rPr lang="en-US" altLang="zh-CN" sz="2000" dirty="0">
                <a:solidFill>
                  <a:srgbClr val="000000"/>
                </a:solidFill>
              </a:rPr>
              <a:t>K(</a:t>
            </a:r>
            <a:r>
              <a:rPr lang="en-US" altLang="zh-CN" sz="2000" dirty="0" err="1">
                <a:solidFill>
                  <a:srgbClr val="000000"/>
                </a:solidFill>
              </a:rPr>
              <a:t>x,y</a:t>
            </a:r>
            <a:r>
              <a:rPr lang="en-US" altLang="zh-CN" sz="2000" dirty="0">
                <a:solidFill>
                  <a:srgbClr val="000000"/>
                </a:solidFill>
              </a:rPr>
              <a:t>) = exp{-[(||x-y||</a:t>
            </a:r>
            <a:r>
              <a:rPr lang="en-US" altLang="zh-CN" sz="2000" baseline="30000" dirty="0">
                <a:solidFill>
                  <a:srgbClr val="000000"/>
                </a:solidFill>
              </a:rPr>
              <a:t>2</a:t>
            </a:r>
            <a:r>
              <a:rPr lang="en-US" altLang="zh-CN" sz="2000" dirty="0">
                <a:solidFill>
                  <a:srgbClr val="000000"/>
                </a:solidFill>
              </a:rPr>
              <a:t>)/(2·a</a:t>
            </a:r>
            <a:r>
              <a:rPr lang="en-US" altLang="zh-CN" sz="2000" baseline="30000" dirty="0">
                <a:solidFill>
                  <a:srgbClr val="000000"/>
                </a:solidFill>
              </a:rPr>
              <a:t>2</a:t>
            </a:r>
            <a:r>
              <a:rPr lang="en-US" altLang="zh-CN" sz="2000" dirty="0">
                <a:solidFill>
                  <a:srgbClr val="000000"/>
                </a:solidFill>
              </a:rPr>
              <a:t>)]}       </a:t>
            </a:r>
            <a:endParaRPr lang="en-US" altLang="zh-CN" sz="2000" dirty="0">
              <a:solidFill>
                <a:srgbClr val="000000"/>
              </a:solidFill>
            </a:endParaRPr>
          </a:p>
          <a:p>
            <a:pPr marL="0" indent="0">
              <a:buNone/>
            </a:pPr>
            <a:r>
              <a:rPr lang="en-US" altLang="zh-CN" sz="2000" dirty="0">
                <a:solidFill>
                  <a:srgbClr val="000000"/>
                </a:solidFill>
              </a:rPr>
              <a:t>       </a:t>
            </a:r>
            <a:r>
              <a:rPr lang="zh-CN" altLang="en-US" sz="2000" dirty="0">
                <a:solidFill>
                  <a:srgbClr val="000000"/>
                </a:solidFill>
              </a:rPr>
              <a:t>其中</a:t>
            </a:r>
            <a:r>
              <a:rPr lang="en-US" altLang="zh-CN" sz="2000" dirty="0">
                <a:solidFill>
                  <a:srgbClr val="000000"/>
                </a:solidFill>
              </a:rPr>
              <a:t>a</a:t>
            </a:r>
            <a:r>
              <a:rPr lang="en-US" altLang="zh-CN" sz="2000" baseline="30000" dirty="0">
                <a:solidFill>
                  <a:srgbClr val="000000"/>
                </a:solidFill>
              </a:rPr>
              <a:t>2</a:t>
            </a:r>
            <a:r>
              <a:rPr lang="zh-CN" altLang="en-US" sz="2000" dirty="0">
                <a:solidFill>
                  <a:srgbClr val="000000"/>
                </a:solidFill>
              </a:rPr>
              <a:t>越大。高斯核函数就会变得越平滑，此时函数随输入</a:t>
            </a:r>
            <a:r>
              <a:rPr lang="en-US" altLang="zh-CN" sz="2000" dirty="0">
                <a:solidFill>
                  <a:srgbClr val="000000"/>
                </a:solidFill>
              </a:rPr>
              <a:t>x</a:t>
            </a:r>
            <a:r>
              <a:rPr lang="zh-CN" altLang="en-US" sz="2000" dirty="0">
                <a:solidFill>
                  <a:srgbClr val="000000"/>
                </a:solidFill>
              </a:rPr>
              <a:t>变化较缓慢，模型的偏差和方差大，泛化能力差，容易过拟合。</a:t>
            </a:r>
            <a:r>
              <a:rPr lang="en-US" altLang="zh-CN" sz="2000" dirty="0">
                <a:solidFill>
                  <a:srgbClr val="000000"/>
                </a:solidFill>
              </a:rPr>
              <a:t> a</a:t>
            </a:r>
            <a:r>
              <a:rPr lang="en-US" altLang="zh-CN" sz="2000" baseline="30000" dirty="0">
                <a:solidFill>
                  <a:srgbClr val="000000"/>
                </a:solidFill>
              </a:rPr>
              <a:t>2</a:t>
            </a:r>
            <a:r>
              <a:rPr lang="zh-CN" altLang="en-US" sz="2000" dirty="0">
                <a:solidFill>
                  <a:srgbClr val="000000"/>
                </a:solidFill>
              </a:rPr>
              <a:t>越小，高斯核函数变化越剧烈，模型的偏差和方差越小，模型对噪声样本比较敏感。</a:t>
            </a:r>
            <a:endParaRPr lang="en-US" altLang="zh-CN" sz="2000" dirty="0">
              <a:solidFill>
                <a:srgbClr val="000000"/>
              </a:solidFill>
            </a:endParaRPr>
          </a:p>
          <a:p>
            <a:pPr marL="0" indent="0">
              <a:buNone/>
            </a:pPr>
            <a:endParaRPr lang="en-US" altLang="zh-CN" sz="2000" dirty="0">
              <a:solidFill>
                <a:srgbClr val="000000"/>
              </a:solidFill>
            </a:endParaRPr>
          </a:p>
          <a:p>
            <a:r>
              <a:rPr lang="en-US" altLang="zh-CN" sz="2000" dirty="0">
                <a:solidFill>
                  <a:srgbClr val="000000"/>
                </a:solidFill>
              </a:rPr>
              <a:t>Sigmoid</a:t>
            </a:r>
            <a:r>
              <a:rPr lang="zh-CN" altLang="en-US" sz="2000" dirty="0">
                <a:solidFill>
                  <a:srgbClr val="000000"/>
                </a:solidFill>
              </a:rPr>
              <a:t>核</a:t>
            </a:r>
            <a:r>
              <a:rPr lang="en-US" altLang="zh-CN" sz="2000" dirty="0">
                <a:solidFill>
                  <a:srgbClr val="000000"/>
                </a:solidFill>
              </a:rPr>
              <a:t>(Sigmoid Kernel)</a:t>
            </a:r>
            <a:r>
              <a:rPr lang="zh-CN" altLang="en-US" sz="2000" dirty="0">
                <a:solidFill>
                  <a:srgbClr val="000000"/>
                </a:solidFill>
              </a:rPr>
              <a:t>来源于</a:t>
            </a:r>
            <a:r>
              <a:rPr lang="en-US" altLang="zh-CN" sz="2000" dirty="0">
                <a:solidFill>
                  <a:srgbClr val="000000"/>
                </a:solidFill>
              </a:rPr>
              <a:t>MLP</a:t>
            </a:r>
            <a:r>
              <a:rPr lang="zh-CN" altLang="en-US" sz="2000" dirty="0">
                <a:solidFill>
                  <a:srgbClr val="000000"/>
                </a:solidFill>
              </a:rPr>
              <a:t>中的激活函数，</a:t>
            </a:r>
            <a:r>
              <a:rPr lang="en-US" altLang="zh-CN" sz="2000" dirty="0">
                <a:solidFill>
                  <a:srgbClr val="000000"/>
                </a:solidFill>
              </a:rPr>
              <a:t>SVM</a:t>
            </a:r>
            <a:r>
              <a:rPr lang="zh-CN" altLang="en-US" sz="2000" dirty="0">
                <a:solidFill>
                  <a:srgbClr val="000000"/>
                </a:solidFill>
              </a:rPr>
              <a:t>使用</a:t>
            </a:r>
            <a:r>
              <a:rPr lang="en-US" altLang="zh-CN" sz="2000" dirty="0">
                <a:solidFill>
                  <a:srgbClr val="000000"/>
                </a:solidFill>
              </a:rPr>
              <a:t>Sigmoid</a:t>
            </a:r>
            <a:r>
              <a:rPr lang="zh-CN" altLang="en-US" sz="2000" dirty="0">
                <a:solidFill>
                  <a:srgbClr val="000000"/>
                </a:solidFill>
              </a:rPr>
              <a:t>相当于一个两层的感知机网络，表达式如下：</a:t>
            </a:r>
            <a:endParaRPr lang="en-US" altLang="zh-CN" sz="2000" dirty="0">
              <a:solidFill>
                <a:srgbClr val="000000"/>
              </a:solidFill>
            </a:endParaRPr>
          </a:p>
          <a:p>
            <a:pPr marL="0" indent="0" algn="ctr">
              <a:buNone/>
            </a:pPr>
            <a:r>
              <a:rPr lang="en-US" altLang="zh-CN" sz="2000" dirty="0">
                <a:solidFill>
                  <a:srgbClr val="000000"/>
                </a:solidFill>
              </a:rPr>
              <a:t>K(</a:t>
            </a:r>
            <a:r>
              <a:rPr lang="en-US" altLang="zh-CN" sz="2000" dirty="0" err="1">
                <a:solidFill>
                  <a:srgbClr val="000000"/>
                </a:solidFill>
              </a:rPr>
              <a:t>x,y</a:t>
            </a:r>
            <a:r>
              <a:rPr lang="en-US" altLang="zh-CN" sz="2000" dirty="0">
                <a:solidFill>
                  <a:srgbClr val="000000"/>
                </a:solidFill>
              </a:rPr>
              <a:t>) = tanh(</a:t>
            </a:r>
            <a:r>
              <a:rPr lang="en-US" altLang="zh-CN" sz="2000" dirty="0" err="1">
                <a:solidFill>
                  <a:srgbClr val="000000"/>
                </a:solidFill>
              </a:rPr>
              <a:t>a·x·y+c</a:t>
            </a:r>
            <a:r>
              <a:rPr lang="en-US" altLang="zh-CN" sz="2000" dirty="0">
                <a:solidFill>
                  <a:srgbClr val="000000"/>
                </a:solidFill>
              </a:rPr>
              <a:t>)</a:t>
            </a:r>
            <a:endParaRPr lang="en-US" altLang="zh-CN" sz="2000" dirty="0">
              <a:solidFill>
                <a:srgbClr val="000000"/>
              </a:solidFill>
            </a:endParaRPr>
          </a:p>
          <a:p>
            <a:pPr marL="0" indent="0">
              <a:buNone/>
            </a:pPr>
            <a:r>
              <a:rPr lang="en-US" altLang="zh-CN" sz="2000" dirty="0">
                <a:solidFill>
                  <a:srgbClr val="000000"/>
                </a:solidFill>
              </a:rPr>
              <a:t>       </a:t>
            </a:r>
            <a:r>
              <a:rPr lang="zh-CN" altLang="en-US" sz="2000" dirty="0">
                <a:solidFill>
                  <a:srgbClr val="000000"/>
                </a:solidFill>
              </a:rPr>
              <a:t>其中</a:t>
            </a:r>
            <a:r>
              <a:rPr lang="en-US" altLang="zh-CN" sz="2000" dirty="0">
                <a:solidFill>
                  <a:srgbClr val="000000"/>
                </a:solidFill>
              </a:rPr>
              <a:t>a</a:t>
            </a:r>
            <a:r>
              <a:rPr lang="zh-CN" altLang="en-US" sz="2000" dirty="0">
                <a:solidFill>
                  <a:srgbClr val="000000"/>
                </a:solidFill>
              </a:rPr>
              <a:t>表示调节参数，</a:t>
            </a:r>
            <a:r>
              <a:rPr lang="en-US" altLang="zh-CN" sz="2000" dirty="0">
                <a:solidFill>
                  <a:srgbClr val="000000"/>
                </a:solidFill>
              </a:rPr>
              <a:t>c</a:t>
            </a:r>
            <a:r>
              <a:rPr lang="zh-CN" altLang="en-US" sz="2000" dirty="0">
                <a:solidFill>
                  <a:srgbClr val="000000"/>
                </a:solidFill>
              </a:rPr>
              <a:t>为可选常数，一般情况</a:t>
            </a:r>
            <a:r>
              <a:rPr lang="en-US" altLang="zh-CN" sz="2000" dirty="0">
                <a:solidFill>
                  <a:srgbClr val="000000"/>
                </a:solidFill>
              </a:rPr>
              <a:t>c</a:t>
            </a:r>
            <a:r>
              <a:rPr lang="zh-CN" altLang="en-US" sz="2000" dirty="0">
                <a:solidFill>
                  <a:srgbClr val="000000"/>
                </a:solidFill>
              </a:rPr>
              <a:t>取</a:t>
            </a:r>
            <a:r>
              <a:rPr lang="en-US" altLang="zh-CN" sz="2000" dirty="0">
                <a:solidFill>
                  <a:srgbClr val="000000"/>
                </a:solidFill>
              </a:rPr>
              <a:t>1/n</a:t>
            </a:r>
            <a:r>
              <a:rPr lang="zh-CN" altLang="en-US" sz="2000" dirty="0">
                <a:solidFill>
                  <a:srgbClr val="000000"/>
                </a:solidFill>
              </a:rPr>
              <a:t>，</a:t>
            </a:r>
            <a:r>
              <a:rPr lang="en-US" altLang="zh-CN" sz="2000" dirty="0">
                <a:solidFill>
                  <a:srgbClr val="000000"/>
                </a:solidFill>
              </a:rPr>
              <a:t>n</a:t>
            </a:r>
            <a:r>
              <a:rPr lang="zh-CN" altLang="en-US" sz="2000" dirty="0">
                <a:solidFill>
                  <a:srgbClr val="000000"/>
                </a:solidFill>
              </a:rPr>
              <a:t>是数据维度。</a:t>
            </a:r>
            <a:endParaRPr lang="en-US" altLang="zh-CN" sz="2000" dirty="0">
              <a:solidFill>
                <a:srgbClr val="000000"/>
              </a:solidFill>
            </a:endParaRPr>
          </a:p>
          <a:p>
            <a:pPr marL="0" indent="0">
              <a:buNone/>
            </a:pPr>
            <a:endParaRPr lang="en-US" altLang="zh-CN" sz="2000" dirty="0">
              <a:solidFill>
                <a:srgbClr val="000000"/>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支持向量机应用</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7" name="矩形 3"/>
          <p:cNvSpPr>
            <a:spLocks noChangeArrowheads="1"/>
          </p:cNvSpPr>
          <p:nvPr/>
        </p:nvSpPr>
        <p:spPr bwMode="auto">
          <a:xfrm>
            <a:off x="396143" y="1179508"/>
            <a:ext cx="8045450"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endParaRPr lang="en-US" altLang="zh-CN" sz="2000" dirty="0">
              <a:solidFill>
                <a:srgbClr val="000000"/>
              </a:solidFill>
            </a:endParaRPr>
          </a:p>
          <a:p>
            <a:r>
              <a:rPr lang="zh-CN" altLang="en-US" sz="2000" dirty="0">
                <a:solidFill>
                  <a:srgbClr val="000000"/>
                </a:solidFill>
              </a:rPr>
              <a:t>支持向量机（</a:t>
            </a:r>
            <a:r>
              <a:rPr lang="en-US" altLang="zh-CN" sz="2000" dirty="0">
                <a:solidFill>
                  <a:srgbClr val="000000"/>
                </a:solidFill>
              </a:rPr>
              <a:t>SVM</a:t>
            </a:r>
            <a:r>
              <a:rPr lang="zh-CN" altLang="en-US" sz="2000" dirty="0">
                <a:solidFill>
                  <a:srgbClr val="000000"/>
                </a:solidFill>
              </a:rPr>
              <a:t>）算法比较适合图像和文本等样本特征较多的应用场合。基于结构风险最小化原理，对样本集进行压缩，解决了以往需要大样本数量进行训练的问题。它将文本通过计算抽象成向量化的训练数据，提高了分类的精确率。</a:t>
            </a:r>
            <a:endParaRPr lang="en-US" altLang="zh-CN" sz="2000" dirty="0">
              <a:solidFill>
                <a:srgbClr val="000000"/>
              </a:solidFill>
            </a:endParaRPr>
          </a:p>
        </p:txBody>
      </p:sp>
    </p:spTree>
  </p:cSld>
  <p:clrMapOvr>
    <a:masterClrMapping/>
  </p:clrMapOvr>
</p:sld>
</file>

<file path=ppt/tags/tag1.xml><?xml version="1.0" encoding="utf-8"?>
<p:tagLst xmlns:p="http://schemas.openxmlformats.org/presentationml/2006/main">
  <p:tag name="KSO_WM_DIAGRAM_VIRTUALLY_FRAME" val="{&quot;height&quot;:305.85,&quot;left&quot;:53.5,&quot;top&quot;:94.25,&quot;width&quot;:379.1}"/>
</p:tagLst>
</file>

<file path=ppt/tags/tag2.xml><?xml version="1.0" encoding="utf-8"?>
<p:tagLst xmlns:p="http://schemas.openxmlformats.org/presentationml/2006/main">
  <p:tag name="KSO_WM_DIAGRAM_VIRTUALLY_FRAME" val="{&quot;height&quot;:305.85,&quot;left&quot;:53.5,&quot;top&quot;:94.25,&quot;width&quot;:379.1}"/>
</p:tagLst>
</file>

<file path=ppt/tags/tag3.xml><?xml version="1.0" encoding="utf-8"?>
<p:tagLst xmlns:p="http://schemas.openxmlformats.org/presentationml/2006/main">
  <p:tag name="KSO_WM_DIAGRAM_VIRTUALLY_FRAME" val="{&quot;height&quot;:305.85,&quot;left&quot;:53.5,&quot;top&quot;:94.25,&quot;width&quot;:379.1}"/>
</p:tagLst>
</file>

<file path=ppt/tags/tag4.xml><?xml version="1.0" encoding="utf-8"?>
<p:tagLst xmlns:p="http://schemas.openxmlformats.org/presentationml/2006/main">
  <p:tag name="KSO_WM_DIAGRAM_VIRTUALLY_FRAME" val="{&quot;height&quot;:305.85,&quot;left&quot;:53.5,&quot;top&quot;:94.25,&quot;width&quot;:379.1}"/>
</p:tagLst>
</file>

<file path=ppt/tags/tag5.xml><?xml version="1.0" encoding="utf-8"?>
<p:tagLst xmlns:p="http://schemas.openxmlformats.org/presentationml/2006/main">
  <p:tag name="KSO_WM_DIAGRAM_VIRTUALLY_FRAME" val="{&quot;height&quot;:305.85,&quot;left&quot;:53.5,&quot;top&quot;:94.25,&quot;width&quot;:379.1}"/>
</p:tagLst>
</file>

<file path=ppt/tags/tag6.xml><?xml version="1.0" encoding="utf-8"?>
<p:tagLst xmlns:p="http://schemas.openxmlformats.org/presentationml/2006/main">
  <p:tag name="KSO_WM_DIAGRAM_VIRTUALLY_FRAME" val="{&quot;height&quot;:305.85,&quot;left&quot;:53.5,&quot;top&quot;:94.25,&quot;width&quot;:379.1}"/>
</p:tagLst>
</file>

<file path=ppt/tags/tag7.xml><?xml version="1.0" encoding="utf-8"?>
<p:tagLst xmlns:p="http://schemas.openxmlformats.org/presentationml/2006/main">
  <p:tag name="KSO_WM_DIAGRAM_VIRTUALLY_FRAME" val="{&quot;height&quot;:305.85,&quot;left&quot;:53.5,&quot;top&quot;:94.25,&quot;width&quot;:379.1}"/>
</p:tagLst>
</file>

<file path=ppt/tags/tag8.xml><?xml version="1.0" encoding="utf-8"?>
<p:tagLst xmlns:p="http://schemas.openxmlformats.org/presentationml/2006/main">
  <p:tag name="KSO_WM_DIAGRAM_VIRTUALLY_FRAME" val="{&quot;height&quot;:305.85,&quot;left&quot;:53.5,&quot;top&quot;:94.25,&quot;width&quot;:379.1}"/>
</p:tagLst>
</file>

<file path=ppt/tags/tag9.xml><?xml version="1.0" encoding="utf-8"?>
<p:tagLst xmlns:p="http://schemas.openxmlformats.org/presentationml/2006/main">
  <p:tag name="KSO_WM_DIAGRAM_VIRTUALLY_FRAME" val="{&quot;height&quot;:305.85,&quot;left&quot;:53.5,&quot;top&quot;:94.25,&quot;width&quot;:379.1}"/>
</p:tagLst>
</file>

<file path=ppt/tags/tag10.xml><?xml version="1.0" encoding="utf-8"?>
<p:tagLst xmlns:p="http://schemas.openxmlformats.org/presentationml/2006/main">
  <p:tag name="KSO_WM_DIAGRAM_VIRTUALLY_FRAME" val="{&quot;height&quot;:305.85,&quot;left&quot;:53.5,&quot;top&quot;:94.25,&quot;width&quot;:379.1}"/>
</p:tagLst>
</file>

<file path=ppt/tags/tag11.xml><?xml version="1.0" encoding="utf-8"?>
<p:tagLst xmlns:p="http://schemas.openxmlformats.org/presentationml/2006/main">
  <p:tag name="KSO_WM_DIAGRAM_VIRTUALLY_FRAME" val="{&quot;height&quot;:305.85,&quot;left&quot;:53.5,&quot;top&quot;:94.25,&quot;width&quot;:379.1}"/>
</p:tagLst>
</file>

<file path=ppt/tags/tag12.xml><?xml version="1.0" encoding="utf-8"?>
<p:tagLst xmlns:p="http://schemas.openxmlformats.org/presentationml/2006/main">
  <p:tag name="KSO_WM_DIAGRAM_VIRTUALLY_FRAME" val="{&quot;height&quot;:305.85,&quot;left&quot;:53.5,&quot;top&quot;:94.25,&quot;width&quot;:379.1}"/>
</p:tagLst>
</file>

<file path=ppt/tags/tag13.xml><?xml version="1.0" encoding="utf-8"?>
<p:tagLst xmlns:p="http://schemas.openxmlformats.org/presentationml/2006/main">
  <p:tag name="KSO_WM_DIAGRAM_VIRTUALLY_FRAME" val="{&quot;height&quot;:305.85,&quot;left&quot;:53.5,&quot;top&quot;:94.25,&quot;width&quot;:379.1}"/>
</p:tagLst>
</file>

<file path=ppt/tags/tag14.xml><?xml version="1.0" encoding="utf-8"?>
<p:tagLst xmlns:p="http://schemas.openxmlformats.org/presentationml/2006/main">
  <p:tag name="KSO_WM_DIAGRAM_VIRTUALLY_FRAME" val="{&quot;height&quot;:305.85,&quot;left&quot;:53.5,&quot;top&quot;:94.25,&quot;width&quot;:379.1}"/>
</p:tagLst>
</file>

<file path=ppt/tags/tag15.xml><?xml version="1.0" encoding="utf-8"?>
<p:tagLst xmlns:p="http://schemas.openxmlformats.org/presentationml/2006/main">
  <p:tag name="KSO_WM_DIAGRAM_VIRTUALLY_FRAME" val="{&quot;height&quot;:305.85,&quot;left&quot;:53.5,&quot;top&quot;:94.25,&quot;width&quot;:379.1}"/>
</p:tagLst>
</file>

<file path=ppt/tags/tag16.xml><?xml version="1.0" encoding="utf-8"?>
<p:tagLst xmlns:p="http://schemas.openxmlformats.org/presentationml/2006/main">
  <p:tag name="KSO_WM_DIAGRAM_VIRTUALLY_FRAME" val="{&quot;height&quot;:305.85,&quot;left&quot;:53.5,&quot;top&quot;:94.25,&quot;width&quot;:379.1}"/>
</p:tagLst>
</file>

<file path=ppt/tags/tag17.xml><?xml version="1.0" encoding="utf-8"?>
<p:tagLst xmlns:p="http://schemas.openxmlformats.org/presentationml/2006/main">
  <p:tag name="KSO_WM_DIAGRAM_VIRTUALLY_FRAME" val="{&quot;height&quot;:305.85,&quot;left&quot;:53.5,&quot;top&quot;:94.25,&quot;width&quot;:379.1}"/>
</p:tagLst>
</file>

<file path=ppt/tags/tag18.xml><?xml version="1.0" encoding="utf-8"?>
<p:tagLst xmlns:p="http://schemas.openxmlformats.org/presentationml/2006/main">
  <p:tag name="KSO_WM_DIAGRAM_VIRTUALLY_FRAME" val="{&quot;height&quot;:305.85,&quot;left&quot;:53.5,&quot;top&quot;:94.25,&quot;width&quot;:379.1}"/>
</p:tagLst>
</file>

<file path=ppt/tags/tag19.xml><?xml version="1.0" encoding="utf-8"?>
<p:tagLst xmlns:p="http://schemas.openxmlformats.org/presentationml/2006/main">
  <p:tag name="KSO_WM_DIAGRAM_VIRTUALLY_FRAME" val="{&quot;height&quot;:305.85,&quot;left&quot;:53.5,&quot;top&quot;:94.25,&quot;width&quot;:379.1}"/>
</p:tagLst>
</file>

<file path=ppt/tags/tag20.xml><?xml version="1.0" encoding="utf-8"?>
<p:tagLst xmlns:p="http://schemas.openxmlformats.org/presentationml/2006/main">
  <p:tag name="KSO_WM_DIAGRAM_VIRTUALLY_FRAME" val="{&quot;height&quot;:305.85,&quot;left&quot;:53.5,&quot;top&quot;:94.25,&quot;width&quot;:379.1}"/>
</p:tagLst>
</file>

<file path=ppt/tags/tag21.xml><?xml version="1.0" encoding="utf-8"?>
<p:tagLst xmlns:p="http://schemas.openxmlformats.org/presentationml/2006/main">
  <p:tag name="KSO_WM_DIAGRAM_VIRTUALLY_FRAME" val="{&quot;height&quot;:305.85,&quot;left&quot;:53.5,&quot;top&quot;:94.25,&quot;width&quot;:379.1}"/>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ppt/theme/themeOverride2.xml><?xml version="1.0" encoding="utf-8"?>
<a:themeOverride xmlns:a="http://schemas.openxmlformats.org/drawingml/2006/main">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Retrospect</Template>
  <TotalTime>0</TotalTime>
  <Words>19425</Words>
  <Application>WPS 演示</Application>
  <PresentationFormat>全屏显示(4:3)</PresentationFormat>
  <Paragraphs>1448</Paragraphs>
  <Slides>93</Slides>
  <Notes>4</Notes>
  <HiddenSlides>0</HiddenSlides>
  <MMClips>0</MMClips>
  <ScaleCrop>false</ScaleCrop>
  <HeadingPairs>
    <vt:vector size="8" baseType="variant">
      <vt:variant>
        <vt:lpstr>已用的字体</vt:lpstr>
      </vt:variant>
      <vt:variant>
        <vt:i4>27</vt:i4>
      </vt:variant>
      <vt:variant>
        <vt:lpstr>主题</vt:lpstr>
      </vt:variant>
      <vt:variant>
        <vt:i4>1</vt:i4>
      </vt:variant>
      <vt:variant>
        <vt:lpstr>嵌入 OLE 服务器</vt:lpstr>
      </vt:variant>
      <vt:variant>
        <vt:i4>1</vt:i4>
      </vt:variant>
      <vt:variant>
        <vt:lpstr>幻灯片标题</vt:lpstr>
      </vt:variant>
      <vt:variant>
        <vt:i4>93</vt:i4>
      </vt:variant>
    </vt:vector>
  </HeadingPairs>
  <TitlesOfParts>
    <vt:vector size="122" baseType="lpstr">
      <vt:lpstr>Arial</vt:lpstr>
      <vt:lpstr>宋体</vt:lpstr>
      <vt:lpstr>Wingdings</vt:lpstr>
      <vt:lpstr>Tahoma</vt:lpstr>
      <vt:lpstr>Calibri Light</vt:lpstr>
      <vt:lpstr>Calibri</vt:lpstr>
      <vt:lpstr>Times New Roman</vt:lpstr>
      <vt:lpstr>黑体</vt:lpstr>
      <vt:lpstr>Arial</vt:lpstr>
      <vt:lpstr>华文新魏</vt:lpstr>
      <vt:lpstr>Cambria Math</vt:lpstr>
      <vt:lpstr>Cambria Math</vt:lpstr>
      <vt:lpstr>微软雅黑</vt:lpstr>
      <vt:lpstr>Arial Unicode MS</vt:lpstr>
      <vt:lpstr>Wingdings</vt:lpstr>
      <vt:lpstr>思源黑体 CN Medium</vt:lpstr>
      <vt:lpstr>Euclid</vt:lpstr>
      <vt:lpstr>DejaVu Math TeX Gyre</vt:lpstr>
      <vt:lpstr>思源黑体 CN Normal</vt:lpstr>
      <vt:lpstr>华文中宋</vt:lpstr>
      <vt:lpstr>Verdana</vt:lpstr>
      <vt:lpstr>MS Gothic</vt:lpstr>
      <vt:lpstr>方正宋一简体</vt:lpstr>
      <vt:lpstr>MS PGothic</vt:lpstr>
      <vt:lpstr>KSOF954951BB</vt:lpstr>
      <vt:lpstr>Segoe Print</vt:lpstr>
      <vt:lpstr>BatangChe</vt:lpstr>
      <vt:lpstr>回顾</vt:lpstr>
      <vt:lpstr>Equation.DSMT4</vt:lpstr>
      <vt:lpstr>第三章  监督性机器学习</vt:lpstr>
      <vt:lpstr>内容大纲</vt:lpstr>
      <vt:lpstr>统计分析</vt:lpstr>
      <vt:lpstr>回归分析</vt:lpstr>
      <vt:lpstr>PowerPoint 演示文稿</vt:lpstr>
      <vt:lpstr>损失函数</vt:lpstr>
      <vt:lpstr>损失函数</vt:lpstr>
      <vt:lpstr>参数估计</vt:lpstr>
      <vt:lpstr>线性回归</vt:lpstr>
      <vt:lpstr>一元线性回归</vt:lpstr>
      <vt:lpstr>一元线性回归</vt:lpstr>
      <vt:lpstr>线性回归检验</vt:lpstr>
      <vt:lpstr>多元线性回归</vt:lpstr>
      <vt:lpstr>多元线性回归</vt:lpstr>
      <vt:lpstr>多元线性回归</vt:lpstr>
      <vt:lpstr>PowerPoint 演示文稿</vt:lpstr>
      <vt:lpstr>PowerPoint 演示文稿</vt:lpstr>
      <vt:lpstr>PowerPoint 演示文稿</vt:lpstr>
      <vt:lpstr>PowerPoint 演示文稿</vt:lpstr>
      <vt:lpstr>岭回归、LASSO回归和弹性网络</vt:lpstr>
      <vt:lpstr>非线性回归</vt:lpstr>
      <vt:lpstr>非线性回归</vt:lpstr>
      <vt:lpstr>非线性回归</vt:lpstr>
      <vt:lpstr>非线性回归</vt:lpstr>
      <vt:lpstr>非线性回归</vt:lpstr>
      <vt:lpstr>广义线性回归GLM</vt:lpstr>
      <vt:lpstr>广义线性回归GLM</vt:lpstr>
      <vt:lpstr>常用的GLM模型</vt:lpstr>
      <vt:lpstr>逻辑回归</vt:lpstr>
      <vt:lpstr>逻辑回归</vt:lpstr>
      <vt:lpstr>逻辑回归</vt:lpstr>
      <vt:lpstr>逻辑回归</vt:lpstr>
      <vt:lpstr>逻辑回归</vt:lpstr>
      <vt:lpstr>逻辑回归</vt:lpstr>
      <vt:lpstr>逻辑回归</vt:lpstr>
      <vt:lpstr>逻辑回归</vt:lpstr>
      <vt:lpstr>极大似然估计</vt:lpstr>
      <vt:lpstr>极大似然估计</vt:lpstr>
      <vt:lpstr>逻辑回归求解</vt:lpstr>
      <vt:lpstr>逻辑回归求解</vt:lpstr>
      <vt:lpstr>逻辑回归求解</vt:lpstr>
      <vt:lpstr>逻辑回归</vt:lpstr>
      <vt:lpstr>逻辑回归</vt:lpstr>
      <vt:lpstr>内容大纲</vt:lpstr>
      <vt:lpstr>决策树原理</vt:lpstr>
      <vt:lpstr>决策树原理</vt:lpstr>
      <vt:lpstr>决策树原理</vt:lpstr>
      <vt:lpstr>ID3算法</vt:lpstr>
      <vt:lpstr>ID3算法</vt:lpstr>
      <vt:lpstr>ID3算法</vt:lpstr>
      <vt:lpstr>ID3算法</vt:lpstr>
      <vt:lpstr>ID3算法</vt:lpstr>
      <vt:lpstr>C4.5算法</vt:lpstr>
      <vt:lpstr>CART算法</vt:lpstr>
      <vt:lpstr>CART算法</vt:lpstr>
      <vt:lpstr>CART算法</vt:lpstr>
      <vt:lpstr>CART算法</vt:lpstr>
      <vt:lpstr>连续属性离散化</vt:lpstr>
      <vt:lpstr>连续属性离散化</vt:lpstr>
      <vt:lpstr>欠拟合和过拟合</vt:lpstr>
      <vt:lpstr>错误率降低剪枝</vt:lpstr>
      <vt:lpstr>悲观剪枝</vt:lpstr>
      <vt:lpstr>代价复杂度剪枝</vt:lpstr>
      <vt:lpstr>内容大纲</vt:lpstr>
      <vt:lpstr>集成学习</vt:lpstr>
      <vt:lpstr>Stacking</vt:lpstr>
      <vt:lpstr>装袋法</vt:lpstr>
      <vt:lpstr>提升法</vt:lpstr>
      <vt:lpstr>AdBoost算法</vt:lpstr>
      <vt:lpstr>AdBoost算法</vt:lpstr>
      <vt:lpstr>随机森林</vt:lpstr>
      <vt:lpstr>梯度提升决策树算法</vt:lpstr>
      <vt:lpstr>内容大纲</vt:lpstr>
      <vt:lpstr>距离度量</vt:lpstr>
      <vt:lpstr>距离度量</vt:lpstr>
      <vt:lpstr>距离度量</vt:lpstr>
      <vt:lpstr>K近邻算法</vt:lpstr>
      <vt:lpstr>K近邻算法</vt:lpstr>
      <vt:lpstr>K近邻算法</vt:lpstr>
      <vt:lpstr>内容大纲</vt:lpstr>
      <vt:lpstr>间隔与超平面</vt:lpstr>
      <vt:lpstr>支持向量</vt:lpstr>
      <vt:lpstr>支持向量机</vt:lpstr>
      <vt:lpstr>支持向量机</vt:lpstr>
      <vt:lpstr>支持向量机</vt:lpstr>
      <vt:lpstr>支持向量机</vt:lpstr>
      <vt:lpstr>支持向量机</vt:lpstr>
      <vt:lpstr>支持向量机</vt:lpstr>
      <vt:lpstr>支持向量机</vt:lpstr>
      <vt:lpstr>常见核函数 </vt:lpstr>
      <vt:lpstr>常见核函数 </vt:lpstr>
      <vt:lpstr>常见核函数 </vt:lpstr>
      <vt:lpstr>支持向量机应用</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邓苏</dc:creator>
  <cp:lastModifiedBy>宗威</cp:lastModifiedBy>
  <cp:revision>1777</cp:revision>
  <dcterms:created xsi:type="dcterms:W3CDTF">1996-07-03T01:00:00Z</dcterms:created>
  <dcterms:modified xsi:type="dcterms:W3CDTF">2026-05-29T13:58:23Z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6F629A0CAF4A420C8FD3FF604F1351E0_13</vt:lpwstr>
  </property>
</Properties>
</file>