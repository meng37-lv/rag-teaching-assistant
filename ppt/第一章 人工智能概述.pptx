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89"/>
  </p:handoutMasterIdLst>
  <p:sldIdLst>
    <p:sldId id="751" r:id="rId3"/>
    <p:sldId id="832" r:id="rId5"/>
    <p:sldId id="838" r:id="rId6"/>
    <p:sldId id="708" r:id="rId7"/>
    <p:sldId id="963" r:id="rId8"/>
    <p:sldId id="964" r:id="rId9"/>
    <p:sldId id="839" r:id="rId10"/>
    <p:sldId id="956" r:id="rId11"/>
    <p:sldId id="957" r:id="rId12"/>
    <p:sldId id="958" r:id="rId13"/>
    <p:sldId id="933" r:id="rId14"/>
    <p:sldId id="955" r:id="rId15"/>
    <p:sldId id="952" r:id="rId16"/>
    <p:sldId id="959" r:id="rId17"/>
    <p:sldId id="889" r:id="rId18"/>
    <p:sldId id="833" r:id="rId19"/>
    <p:sldId id="961" r:id="rId20"/>
    <p:sldId id="894" r:id="rId21"/>
    <p:sldId id="895" r:id="rId22"/>
    <p:sldId id="896" r:id="rId23"/>
    <p:sldId id="834" r:id="rId24"/>
    <p:sldId id="890" r:id="rId25"/>
    <p:sldId id="892" r:id="rId26"/>
    <p:sldId id="893" r:id="rId27"/>
    <p:sldId id="898" r:id="rId28"/>
    <p:sldId id="899" r:id="rId29"/>
    <p:sldId id="900" r:id="rId30"/>
    <p:sldId id="901" r:id="rId31"/>
    <p:sldId id="902" r:id="rId32"/>
    <p:sldId id="903" r:id="rId33"/>
    <p:sldId id="897" r:id="rId34"/>
    <p:sldId id="912" r:id="rId35"/>
    <p:sldId id="953" r:id="rId36"/>
    <p:sldId id="914" r:id="rId37"/>
    <p:sldId id="962" r:id="rId38"/>
    <p:sldId id="915" r:id="rId39"/>
    <p:sldId id="916" r:id="rId40"/>
    <p:sldId id="883" r:id="rId41"/>
    <p:sldId id="884" r:id="rId42"/>
    <p:sldId id="904" r:id="rId43"/>
    <p:sldId id="906" r:id="rId44"/>
    <p:sldId id="907" r:id="rId45"/>
    <p:sldId id="905" r:id="rId46"/>
    <p:sldId id="908" r:id="rId47"/>
    <p:sldId id="909" r:id="rId48"/>
    <p:sldId id="910" r:id="rId49"/>
    <p:sldId id="911" r:id="rId50"/>
    <p:sldId id="954" r:id="rId51"/>
    <p:sldId id="927" r:id="rId52"/>
    <p:sldId id="917" r:id="rId53"/>
    <p:sldId id="918" r:id="rId54"/>
    <p:sldId id="928" r:id="rId55"/>
    <p:sldId id="929" r:id="rId56"/>
    <p:sldId id="919" r:id="rId57"/>
    <p:sldId id="920" r:id="rId58"/>
    <p:sldId id="921" r:id="rId59"/>
    <p:sldId id="922" r:id="rId60"/>
    <p:sldId id="923" r:id="rId61"/>
    <p:sldId id="924" r:id="rId62"/>
    <p:sldId id="925" r:id="rId63"/>
    <p:sldId id="926" r:id="rId64"/>
    <p:sldId id="950" r:id="rId65"/>
    <p:sldId id="930" r:id="rId66"/>
    <p:sldId id="932" r:id="rId67"/>
    <p:sldId id="931" r:id="rId68"/>
    <p:sldId id="935" r:id="rId69"/>
    <p:sldId id="936" r:id="rId70"/>
    <p:sldId id="937" r:id="rId71"/>
    <p:sldId id="891" r:id="rId72"/>
    <p:sldId id="885" r:id="rId73"/>
    <p:sldId id="938" r:id="rId74"/>
    <p:sldId id="886" r:id="rId75"/>
    <p:sldId id="951" r:id="rId76"/>
    <p:sldId id="939" r:id="rId77"/>
    <p:sldId id="941" r:id="rId78"/>
    <p:sldId id="940" r:id="rId79"/>
    <p:sldId id="942" r:id="rId80"/>
    <p:sldId id="943" r:id="rId81"/>
    <p:sldId id="944" r:id="rId82"/>
    <p:sldId id="945" r:id="rId83"/>
    <p:sldId id="946" r:id="rId84"/>
    <p:sldId id="948" r:id="rId85"/>
    <p:sldId id="947" r:id="rId86"/>
    <p:sldId id="887" r:id="rId87"/>
    <p:sldId id="949" r:id="rId88"/>
  </p:sldIdLst>
  <p:sldSz cx="9144000" cy="6858000" type="screen4x3"/>
  <p:notesSz cx="9144000" cy="6858000"/>
  <p:defaultTextStyle>
    <a:defPPr>
      <a:defRPr lang="zh-CN"/>
    </a:defPPr>
    <a:lvl1pPr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3384"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003399"/>
    <a:srgbClr val="FF3300"/>
    <a:srgbClr val="E48312"/>
    <a:srgbClr val="FF99FF"/>
    <a:srgbClr val="ECE7E3"/>
    <a:srgbClr val="21C5FF"/>
    <a:srgbClr val="E28E7F"/>
    <a:srgbClr val="C26F0E"/>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2" autoAdjust="0"/>
    <p:restoredTop sz="88628" autoAdjust="0"/>
  </p:normalViewPr>
  <p:slideViewPr>
    <p:cSldViewPr showGuides="1">
      <p:cViewPr varScale="1">
        <p:scale>
          <a:sx n="94" d="100"/>
          <a:sy n="94" d="100"/>
        </p:scale>
        <p:origin x="1300" y="68"/>
      </p:cViewPr>
      <p:guideLst>
        <p:guide orient="horz" pos="3384"/>
        <p:guide pos="2894"/>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howGuides="1">
      <p:cViewPr varScale="1">
        <p:scale>
          <a:sx n="43" d="100"/>
          <a:sy n="43" d="100"/>
        </p:scale>
        <p:origin x="-1416" y="-90"/>
      </p:cViewPr>
      <p:guideLst>
        <p:guide orient="horz" pos="2240"/>
        <p:guide pos="2894"/>
      </p:guideLst>
    </p:cSldViewPr>
  </p:notesViewPr>
  <p:gridSpacing cx="72008" cy="72008"/>
</p:viewPr>
</file>

<file path=ppt/_rels/presentation.xml.rels><?xml version="1.0" encoding="UTF-8" standalone="yes"?>
<Relationships xmlns="http://schemas.openxmlformats.org/package/2006/relationships"><Relationship Id="rId92" Type="http://schemas.openxmlformats.org/officeDocument/2006/relationships/tableStyles" Target="tableStyles.xml"/><Relationship Id="rId91" Type="http://schemas.openxmlformats.org/officeDocument/2006/relationships/viewProps" Target="viewProps.xml"/><Relationship Id="rId90" Type="http://schemas.openxmlformats.org/officeDocument/2006/relationships/presProps" Target="presProps.xml"/><Relationship Id="rId9" Type="http://schemas.openxmlformats.org/officeDocument/2006/relationships/slide" Target="slides/slide6.xml"/><Relationship Id="rId89" Type="http://schemas.openxmlformats.org/officeDocument/2006/relationships/handoutMaster" Target="handoutMasters/handoutMaster1.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3962400" cy="342900"/>
          </a:xfrm>
          <a:prstGeom prst="rect">
            <a:avLst/>
          </a:prstGeom>
          <a:noFill/>
          <a:ln w="9525">
            <a:noFill/>
            <a:miter lim="800000"/>
          </a:ln>
          <a:effectLst/>
        </p:spPr>
        <p:txBody>
          <a:bodyPr vert="horz" wrap="square" lIns="19050" tIns="0" rIns="19050" bIns="0" numCol="1" anchor="t" anchorCtr="0" compatLnSpc="1"/>
          <a:lstStyle>
            <a:lvl1pP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2051" name="Rectangle 3"/>
          <p:cNvSpPr>
            <a:spLocks noGrp="1" noChangeArrowheads="1"/>
          </p:cNvSpPr>
          <p:nvPr>
            <p:ph type="dt" idx="1"/>
          </p:nvPr>
        </p:nvSpPr>
        <p:spPr bwMode="auto">
          <a:xfrm>
            <a:off x="5181600" y="0"/>
            <a:ext cx="3962400" cy="342900"/>
          </a:xfrm>
          <a:prstGeom prst="rect">
            <a:avLst/>
          </a:prstGeom>
          <a:noFill/>
          <a:ln w="9525">
            <a:noFill/>
            <a:miter lim="800000"/>
          </a:ln>
          <a:effectLst/>
        </p:spPr>
        <p:txBody>
          <a:bodyPr vert="horz" wrap="square" lIns="19050" tIns="0" rIns="19050" bIns="0" numCol="1" anchor="t" anchorCtr="0" compatLnSpc="1"/>
          <a:lstStyle>
            <a:lvl1pPr algn="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11268" name="Rectangle 4"/>
          <p:cNvSpPr>
            <a:spLocks noGrp="1" noRot="1" noChangeAspect="1" noChangeArrowheads="1" noTextEdit="1"/>
          </p:cNvSpPr>
          <p:nvPr>
            <p:ph type="sldImg" idx="2"/>
          </p:nvPr>
        </p:nvSpPr>
        <p:spPr bwMode="auto">
          <a:xfrm>
            <a:off x="2863850" y="519113"/>
            <a:ext cx="3416300" cy="2562225"/>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19200" y="3257550"/>
            <a:ext cx="6705600" cy="3086100"/>
          </a:xfrm>
          <a:prstGeom prst="rect">
            <a:avLst/>
          </a:prstGeom>
          <a:noFill/>
          <a:ln w="9525">
            <a:noFill/>
            <a:miter lim="800000"/>
          </a:ln>
          <a:effectLst/>
        </p:spPr>
        <p:txBody>
          <a:bodyPr vert="horz" wrap="square" lIns="92075" tIns="46038" rIns="92075" bIns="46038"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2054" name="Rectangle 6"/>
          <p:cNvSpPr>
            <a:spLocks noGrp="1" noChangeArrowheads="1"/>
          </p:cNvSpPr>
          <p:nvPr>
            <p:ph type="ftr" sz="quarter" idx="4"/>
          </p:nvPr>
        </p:nvSpPr>
        <p:spPr bwMode="auto">
          <a:xfrm>
            <a:off x="0" y="6515100"/>
            <a:ext cx="3962400" cy="342900"/>
          </a:xfrm>
          <a:prstGeom prst="rect">
            <a:avLst/>
          </a:prstGeom>
          <a:noFill/>
          <a:ln w="9525">
            <a:noFill/>
            <a:miter lim="800000"/>
          </a:ln>
          <a:effectLst/>
        </p:spPr>
        <p:txBody>
          <a:bodyPr vert="horz" wrap="square" lIns="19050" tIns="0" rIns="19050" bIns="0" numCol="1" anchor="b" anchorCtr="0" compatLnSpc="1"/>
          <a:lstStyle>
            <a:lvl1pPr eaLnBrk="0" hangingPunct="0">
              <a:defRPr sz="1000" i="1">
                <a:latin typeface="Times New Roman" panose="02020603050405020304" pitchFamily="18" charset="0"/>
                <a:ea typeface="宋体" panose="02010600030101010101" pitchFamily="2" charset="-122"/>
              </a:defRPr>
            </a:lvl1pPr>
          </a:lstStyle>
          <a:p>
            <a:pPr>
              <a:defRPr/>
            </a:pPr>
            <a:endParaRPr lang="en-US" altLang="zh-CN"/>
          </a:p>
        </p:txBody>
      </p:sp>
      <p:sp>
        <p:nvSpPr>
          <p:cNvPr id="2055" name="Rectangle 7"/>
          <p:cNvSpPr>
            <a:spLocks noGrp="1" noChangeArrowheads="1"/>
          </p:cNvSpPr>
          <p:nvPr>
            <p:ph type="sldNum" sz="quarter" idx="5"/>
          </p:nvPr>
        </p:nvSpPr>
        <p:spPr bwMode="auto">
          <a:xfrm>
            <a:off x="5181600" y="6515100"/>
            <a:ext cx="3962400" cy="342900"/>
          </a:xfrm>
          <a:prstGeom prst="rect">
            <a:avLst/>
          </a:prstGeom>
          <a:noFill/>
          <a:ln w="9525">
            <a:noFill/>
            <a:miter lim="800000"/>
          </a:ln>
          <a:effectLst/>
        </p:spPr>
        <p:txBody>
          <a:bodyPr vert="horz" wrap="square" lIns="19050" tIns="0" rIns="19050" bIns="0" numCol="1" anchor="b" anchorCtr="0" compatLnSpc="1"/>
          <a:lstStyle>
            <a:lvl1pPr algn="r" eaLnBrk="0" hangingPunct="0">
              <a:defRPr sz="1000" i="1">
                <a:latin typeface="Times New Roman" panose="02020603050405020304" pitchFamily="18" charset="0"/>
              </a:defRPr>
            </a:lvl1pPr>
          </a:lstStyle>
          <a:p>
            <a:pPr>
              <a:defRPr/>
            </a:pPr>
            <a:fld id="{0500817F-17F9-46F0-832A-0BFACEB59CF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defTabSz="762000"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第三种</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762000" rtl="0" eaLnBrk="0" fontAlgn="base" latinLnBrk="0" hangingPunct="0">
              <a:lnSpc>
                <a:spcPct val="100000"/>
              </a:lnSpc>
              <a:spcBef>
                <a:spcPct val="30000"/>
              </a:spcBef>
              <a:spcAft>
                <a:spcPct val="0"/>
              </a:spcAft>
              <a:buClrTx/>
              <a:buSzTx/>
              <a:buFontTx/>
              <a:buNone/>
              <a:defRPr/>
            </a:pPr>
            <a:r>
              <a:rPr lang="zh-CN" altLang="en-US" dirty="0"/>
              <a:t>所有的实体概念关系和属性都必须符号化，用知识图谱的形式表示</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只有耶利哥城在约书亚书中提及</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给黑人头像打上了黑猩猩的标签</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波士顿动力</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国家自然科学基金委员会信息学部人工智能学科代码</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五段</a:t>
            </a:r>
            <a:r>
              <a:rPr lang="en-US" altLang="zh-CN" dirty="0"/>
              <a:t>—</a:t>
            </a:r>
            <a:r>
              <a:rPr lang="zh-CN" altLang="en-US" dirty="0"/>
              <a:t>九段</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战胜柯洁</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黑体" panose="02010609060101010101" pitchFamily="2" charset="-122"/>
                <a:ea typeface="黑体" panose="02010609060101010101" pitchFamily="2" charset="-122"/>
              </a:rPr>
              <a:t>经过</a:t>
            </a:r>
            <a:r>
              <a:rPr lang="en-US" altLang="zh-CN" sz="1800" b="0" i="0" u="none" strike="noStrike" baseline="0" dirty="0">
                <a:latin typeface="Times New Roman" panose="02020603050405020304" pitchFamily="18" charset="0"/>
                <a:ea typeface="黑体" panose="02010609060101010101" pitchFamily="2" charset="-122"/>
              </a:rPr>
              <a:t>40</a:t>
            </a:r>
            <a:r>
              <a:rPr lang="zh-CN" altLang="en-US" sz="1800" b="0" i="0" u="none" strike="noStrike" baseline="0" dirty="0">
                <a:latin typeface="黑体" panose="02010609060101010101" pitchFamily="2" charset="-122"/>
                <a:ea typeface="黑体" panose="02010609060101010101" pitchFamily="2" charset="-122"/>
              </a:rPr>
              <a:t>天训练后，</a:t>
            </a:r>
            <a:r>
              <a:rPr lang="en-US" altLang="zh-CN" sz="1800" b="0" i="0" u="none" strike="noStrike" baseline="0" dirty="0">
                <a:latin typeface="Times New Roman" panose="02020603050405020304" pitchFamily="18" charset="0"/>
                <a:ea typeface="黑体" panose="02010609060101010101" pitchFamily="2" charset="-122"/>
              </a:rPr>
              <a:t>Zero</a:t>
            </a:r>
            <a:r>
              <a:rPr lang="zh-CN" altLang="en-US" sz="1800" b="0" i="0" u="none" strike="noStrike" baseline="0" dirty="0">
                <a:latin typeface="黑体" panose="02010609060101010101" pitchFamily="2" charset="-122"/>
                <a:ea typeface="黑体" panose="02010609060101010101" pitchFamily="2" charset="-122"/>
              </a:rPr>
              <a:t>总计运行约</a:t>
            </a:r>
            <a:r>
              <a:rPr lang="en-US" altLang="zh-CN" sz="1800" b="0" i="0" u="none" strike="noStrike" baseline="0" dirty="0">
                <a:latin typeface="Times New Roman" panose="02020603050405020304" pitchFamily="18" charset="0"/>
                <a:ea typeface="黑体" panose="02010609060101010101" pitchFamily="2" charset="-122"/>
              </a:rPr>
              <a:t>2900</a:t>
            </a:r>
            <a:r>
              <a:rPr lang="zh-CN" altLang="en-US" sz="1800" b="0" i="0" u="none" strike="noStrike" baseline="0" dirty="0">
                <a:latin typeface="黑体" panose="02010609060101010101" pitchFamily="2" charset="-122"/>
                <a:ea typeface="黑体" panose="02010609060101010101" pitchFamily="2" charset="-122"/>
              </a:rPr>
              <a:t>万次自我对弈，得以击败</a:t>
            </a:r>
            <a:r>
              <a:rPr lang="en-US" altLang="zh-CN" sz="1800" b="0" i="0" u="none" strike="noStrike" baseline="0" dirty="0">
                <a:latin typeface="Times New Roman" panose="02020603050405020304" pitchFamily="18" charset="0"/>
                <a:ea typeface="黑体" panose="02010609060101010101" pitchFamily="2" charset="-122"/>
              </a:rPr>
              <a:t>AlphaGo Master</a:t>
            </a:r>
            <a:r>
              <a:rPr lang="zh-CN" altLang="en-US" sz="1800" b="0" i="0" u="none" strike="noStrike" baseline="0" dirty="0">
                <a:latin typeface="黑体" panose="02010609060101010101" pitchFamily="2" charset="-122"/>
                <a:ea typeface="黑体" panose="02010609060101010101" pitchFamily="2" charset="-122"/>
              </a:rPr>
              <a:t>，比分为</a:t>
            </a:r>
            <a:r>
              <a:rPr lang="en-US" altLang="zh-CN" sz="1800" b="0" i="0" u="none" strike="noStrike" baseline="0" dirty="0">
                <a:latin typeface="Times New Roman" panose="02020603050405020304" pitchFamily="18" charset="0"/>
                <a:ea typeface="黑体" panose="02010609060101010101" pitchFamily="2" charset="-122"/>
              </a:rPr>
              <a:t>89</a:t>
            </a:r>
            <a:r>
              <a:rPr lang="zh-CN" altLang="en-US" sz="1800" b="0" i="0" u="none" strike="noStrike" baseline="0" dirty="0">
                <a:latin typeface="黑体" panose="02010609060101010101" pitchFamily="2" charset="-122"/>
                <a:ea typeface="黑体" panose="02010609060101010101" pitchFamily="2" charset="-122"/>
              </a:rPr>
              <a:t>比</a:t>
            </a:r>
            <a:r>
              <a:rPr lang="en-US" altLang="zh-CN" sz="1800" b="0" i="0" u="none" strike="noStrike" baseline="0" dirty="0">
                <a:latin typeface="Times New Roman" panose="02020603050405020304" pitchFamily="18" charset="0"/>
                <a:ea typeface="黑体" panose="02010609060101010101" pitchFamily="2" charset="-122"/>
              </a:rPr>
              <a:t>11 </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记忆驱动的智能计算</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latin typeface="微软雅黑" panose="020B0503020204020204" charset="-122"/>
                <a:ea typeface="微软雅黑" panose="020B0503020204020204" charset="-122"/>
              </a:rPr>
              <a:t>要证明现在致力于构建的通用智能是可行的，人类大脑是现有唯一证据，因此把神经科学作为新算法的灵感来源是有意义的。 </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GB" altLang="zh-CN" dirty="0"/>
              <a:t>https://mp.weixin.qq.com/s/LsHefxiPREw3XkwR2VOv7A</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pc="-100" dirty="0">
                <a:solidFill>
                  <a:srgbClr val="D2533C"/>
                </a:solidFill>
                <a:latin typeface="Arial" panose="020B0604020202020204"/>
                <a:ea typeface="华文新魏" panose="02010800040101010101" pitchFamily="2" charset="-122"/>
              </a:rPr>
              <a:t>从关联到推理：因果推理</a:t>
            </a:r>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500817F-17F9-46F0-832A-0BFACEB59CFB}"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6"/>
          <p:cNvSpPr/>
          <p:nvPr userDrawn="1"/>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Image result for 西安电子科技大学"/>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32363" y="92075"/>
            <a:ext cx="381635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E:\Z_20141020浙大应用项调整\PPT-10.23\PPT源文件-10.23-03.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68313" y="6535738"/>
            <a:ext cx="520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822960" y="758952"/>
            <a:ext cx="7543800" cy="3566160"/>
          </a:xfrm>
        </p:spPr>
        <p:txBody>
          <a:bodyPr/>
          <a:lstStyle>
            <a:lvl1pPr algn="l">
              <a:lnSpc>
                <a:spcPct val="85000"/>
              </a:lnSpc>
              <a:defRPr sz="8000" spc="-50" baseline="0">
                <a:solidFill>
                  <a:schemeClr val="tx1">
                    <a:lumMod val="85000"/>
                    <a:lumOff val="15000"/>
                  </a:schemeClr>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Picture 4" descr="E:\Z_20141020浙大应用项调整\PPT-10.23\PPT源文件-10.23-03.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68313" y="6535738"/>
            <a:ext cx="52022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矩形 4"/>
          <p:cNvSpPr/>
          <p:nvPr userDrawn="1"/>
        </p:nvSpPr>
        <p:spPr>
          <a:xfrm>
            <a:off x="822325" y="1557338"/>
            <a:ext cx="7543800" cy="2873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 name="Title 1"/>
          <p:cNvSpPr>
            <a:spLocks noGrp="1"/>
          </p:cNvSpPr>
          <p:nvPr>
            <p:ph type="title"/>
          </p:nvPr>
        </p:nvSpPr>
        <p:spPr>
          <a:xfrm>
            <a:off x="822960" y="286604"/>
            <a:ext cx="7543800" cy="892239"/>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822959" y="1484784"/>
            <a:ext cx="7543801" cy="438431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6" name="Slide Number Placeholder 5"/>
          <p:cNvSpPr>
            <a:spLocks noGrp="1"/>
          </p:cNvSpPr>
          <p:nvPr>
            <p:ph type="sldNum" sz="quarter" idx="10"/>
          </p:nvPr>
        </p:nvSpPr>
        <p:spPr/>
        <p:txBody>
          <a:bodyPr/>
          <a:lstStyle>
            <a:lvl1pPr>
              <a:defRPr/>
            </a:lvl1pPr>
          </a:lstStyle>
          <a:p>
            <a:pPr>
              <a:defRPr/>
            </a:pPr>
            <a:fld id="{F6DA434B-3FE0-453D-8E32-922B8A93A0FC}"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Pr>
        <a:solidFill>
          <a:schemeClr val="bg1"/>
        </a:solidFill>
        <a:effectLst/>
      </p:bgPr>
    </p:bg>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8"/>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2" descr="Image result for 西安电子科技大学"/>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32363" y="92075"/>
            <a:ext cx="3816350"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8" name="Date Placeholder 3"/>
          <p:cNvSpPr>
            <a:spLocks noGrp="1"/>
          </p:cNvSpPr>
          <p:nvPr>
            <p:ph type="dt" sz="half" idx="10"/>
          </p:nvPr>
        </p:nvSpPr>
        <p:spPr/>
        <p:txBody>
          <a:bodyPr/>
          <a:lstStyle>
            <a:lvl1pPr>
              <a:defRPr/>
            </a:lvl1pPr>
          </a:lstStyle>
          <a:p>
            <a:pPr>
              <a:defRPr/>
            </a:pPr>
            <a:endParaRPr lang="en-US" altLang="zh-CN"/>
          </a:p>
        </p:txBody>
      </p:sp>
      <p:sp>
        <p:nvSpPr>
          <p:cNvPr id="9" name="Footer Placeholder 4"/>
          <p:cNvSpPr>
            <a:spLocks noGrp="1"/>
          </p:cNvSpPr>
          <p:nvPr>
            <p:ph type="ftr" sz="quarter" idx="11"/>
          </p:nvPr>
        </p:nvSpPr>
        <p:spPr/>
        <p:txBody>
          <a:bodyPr/>
          <a:lstStyle>
            <a:lvl1pPr>
              <a:defRPr/>
            </a:lvl1pPr>
          </a:lstStyle>
          <a:p>
            <a:pPr>
              <a:defRPr/>
            </a:pPr>
            <a:endParaRPr lang="en-US" altLang="zh-CN"/>
          </a:p>
        </p:txBody>
      </p:sp>
      <p:sp>
        <p:nvSpPr>
          <p:cNvPr id="10" name="Slide Number Placeholder 5"/>
          <p:cNvSpPr>
            <a:spLocks noGrp="1"/>
          </p:cNvSpPr>
          <p:nvPr>
            <p:ph type="sldNum" sz="quarter" idx="12"/>
          </p:nvPr>
        </p:nvSpPr>
        <p:spPr/>
        <p:txBody>
          <a:bodyPr/>
          <a:lstStyle>
            <a:lvl1pPr>
              <a:defRPr/>
            </a:lvl1pPr>
          </a:lstStyle>
          <a:p>
            <a:pPr>
              <a:defRPr/>
            </a:pPr>
            <a:fld id="{256FA0F2-C9A2-4F64-A66E-20022CCEEAEC}"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ltLang="zh-CN"/>
          </a:p>
        </p:txBody>
      </p:sp>
      <p:sp>
        <p:nvSpPr>
          <p:cNvPr id="6" name="Footer Placeholder 4"/>
          <p:cNvSpPr>
            <a:spLocks noGrp="1"/>
          </p:cNvSpPr>
          <p:nvPr>
            <p:ph type="ftr" sz="quarter" idx="11"/>
          </p:nvPr>
        </p:nvSpPr>
        <p:spPr/>
        <p:txBody>
          <a:bodyPr/>
          <a:lstStyle>
            <a:lvl1pPr>
              <a:defRPr/>
            </a:lvl1pPr>
          </a:lstStyle>
          <a:p>
            <a:pPr>
              <a:defRPr/>
            </a:pPr>
            <a:endParaRPr lang="en-US" altLang="zh-CN"/>
          </a:p>
        </p:txBody>
      </p:sp>
      <p:sp>
        <p:nvSpPr>
          <p:cNvPr id="7" name="Slide Number Placeholder 5"/>
          <p:cNvSpPr>
            <a:spLocks noGrp="1"/>
          </p:cNvSpPr>
          <p:nvPr>
            <p:ph type="sldNum" sz="quarter" idx="12"/>
          </p:nvPr>
        </p:nvSpPr>
        <p:spPr/>
        <p:txBody>
          <a:bodyPr/>
          <a:lstStyle>
            <a:lvl1pPr>
              <a:defRPr/>
            </a:lvl1pPr>
          </a:lstStyle>
          <a:p>
            <a:pPr>
              <a:defRPr/>
            </a:pPr>
            <a:fld id="{1C950D77-C628-43FC-BC46-456A714236B9}"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822960" y="2582334"/>
            <a:ext cx="3703320" cy="32867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63440" y="2582334"/>
            <a:ext cx="3703320" cy="328676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ltLang="zh-CN"/>
          </a:p>
        </p:txBody>
      </p:sp>
      <p:sp>
        <p:nvSpPr>
          <p:cNvPr id="8" name="Footer Placeholder 4"/>
          <p:cNvSpPr>
            <a:spLocks noGrp="1"/>
          </p:cNvSpPr>
          <p:nvPr>
            <p:ph type="ftr" sz="quarter" idx="11"/>
          </p:nvPr>
        </p:nvSpPr>
        <p:spPr/>
        <p:txBody>
          <a:bodyPr/>
          <a:lstStyle>
            <a:lvl1pPr>
              <a:defRPr/>
            </a:lvl1pPr>
          </a:lstStyle>
          <a:p>
            <a:pPr>
              <a:defRPr/>
            </a:pPr>
            <a:endParaRPr lang="en-US" altLang="zh-CN"/>
          </a:p>
        </p:txBody>
      </p:sp>
      <p:sp>
        <p:nvSpPr>
          <p:cNvPr id="9" name="Slide Number Placeholder 5"/>
          <p:cNvSpPr>
            <a:spLocks noGrp="1"/>
          </p:cNvSpPr>
          <p:nvPr>
            <p:ph type="sldNum" sz="quarter" idx="12"/>
          </p:nvPr>
        </p:nvSpPr>
        <p:spPr/>
        <p:txBody>
          <a:bodyPr/>
          <a:lstStyle>
            <a:lvl1pPr>
              <a:defRPr/>
            </a:lvl1pPr>
          </a:lstStyle>
          <a:p>
            <a:pPr>
              <a:defRPr/>
            </a:pPr>
            <a:fld id="{83FD6D5D-01DA-4DC2-BBDE-EB5119091C7F}"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ltLang="zh-CN"/>
          </a:p>
        </p:txBody>
      </p:sp>
      <p:sp>
        <p:nvSpPr>
          <p:cNvPr id="4" name="Footer Placeholder 4"/>
          <p:cNvSpPr>
            <a:spLocks noGrp="1"/>
          </p:cNvSpPr>
          <p:nvPr>
            <p:ph type="ftr" sz="quarter" idx="11"/>
          </p:nvPr>
        </p:nvSpPr>
        <p:spPr/>
        <p:txBody>
          <a:bodyPr/>
          <a:lstStyle>
            <a:lvl1pPr>
              <a:defRPr/>
            </a:lvl1pPr>
          </a:lstStyle>
          <a:p>
            <a:pPr>
              <a:defRPr/>
            </a:pPr>
            <a:endParaRPr lang="en-US" altLang="zh-CN"/>
          </a:p>
        </p:txBody>
      </p:sp>
      <p:sp>
        <p:nvSpPr>
          <p:cNvPr id="5" name="Slide Number Placeholder 5"/>
          <p:cNvSpPr>
            <a:spLocks noGrp="1"/>
          </p:cNvSpPr>
          <p:nvPr>
            <p:ph type="sldNum" sz="quarter" idx="12"/>
          </p:nvPr>
        </p:nvSpPr>
        <p:spPr/>
        <p:txBody>
          <a:bodyPr/>
          <a:lstStyle>
            <a:lvl1pPr>
              <a:defRPr/>
            </a:lvl1pPr>
          </a:lstStyle>
          <a:p>
            <a:pPr>
              <a:defRPr/>
            </a:pPr>
            <a:fld id="{C9C69257-8032-4398-859F-185CE6CE699B}"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Rectangle 4"/>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5"/>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endParaRPr lang="en-US" altLang="zh-CN"/>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US" altLang="zh-CN"/>
          </a:p>
        </p:txBody>
      </p:sp>
      <p:sp>
        <p:nvSpPr>
          <p:cNvPr id="6" name="Slide Number Placeholder 8"/>
          <p:cNvSpPr>
            <a:spLocks noGrp="1"/>
          </p:cNvSpPr>
          <p:nvPr>
            <p:ph type="sldNum" sz="quarter" idx="12"/>
          </p:nvPr>
        </p:nvSpPr>
        <p:spPr/>
        <p:txBody>
          <a:bodyPr/>
          <a:lstStyle>
            <a:lvl1pPr>
              <a:defRPr/>
            </a:lvl1pPr>
          </a:lstStyle>
          <a:p>
            <a:pPr>
              <a:defRPr/>
            </a:pPr>
            <a:fld id="{AA51C516-9C89-45EA-8E3A-FDE8D53A16AD}"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5" name="Rectangle 7"/>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a:xfrm>
            <a:off x="349250" y="6459538"/>
            <a:ext cx="1963738" cy="365125"/>
          </a:xfrm>
        </p:spPr>
        <p:txBody>
          <a:bodyPr/>
          <a:lstStyle>
            <a:lvl1pPr algn="l">
              <a:defRPr/>
            </a:lvl1pPr>
          </a:lstStyle>
          <a:p>
            <a:pPr>
              <a:defRPr/>
            </a:pPr>
            <a:endParaRPr lang="en-US" altLang="zh-CN"/>
          </a:p>
        </p:txBody>
      </p:sp>
      <p:sp>
        <p:nvSpPr>
          <p:cNvPr id="8" name="Footer Placeholder 5"/>
          <p:cNvSpPr>
            <a:spLocks noGrp="1"/>
          </p:cNvSpPr>
          <p:nvPr>
            <p:ph type="ftr" sz="quarter" idx="11"/>
          </p:nvPr>
        </p:nvSpPr>
        <p:spPr>
          <a:xfrm>
            <a:off x="3600450" y="6459538"/>
            <a:ext cx="3486150" cy="365125"/>
          </a:xfrm>
        </p:spPr>
        <p:txBody>
          <a:bodyPr/>
          <a:lstStyle>
            <a:lvl1pPr algn="l">
              <a:defRPr>
                <a:solidFill>
                  <a:schemeClr val="tx2"/>
                </a:solidFill>
              </a:defRPr>
            </a:lvl1pPr>
          </a:lstStyle>
          <a:p>
            <a:pPr>
              <a:defRPr/>
            </a:pPr>
            <a:endParaRPr lang="en-US" altLang="zh-CN"/>
          </a:p>
        </p:txBody>
      </p:sp>
      <p:sp>
        <p:nvSpPr>
          <p:cNvPr id="9" name="Slide Number Placeholder 6"/>
          <p:cNvSpPr>
            <a:spLocks noGrp="1"/>
          </p:cNvSpPr>
          <p:nvPr>
            <p:ph type="sldNum" sz="quarter" idx="12"/>
          </p:nvPr>
        </p:nvSpPr>
        <p:spPr/>
        <p:txBody>
          <a:bodyPr/>
          <a:lstStyle>
            <a:lvl1pPr>
              <a:defRPr>
                <a:solidFill>
                  <a:schemeClr val="tx2"/>
                </a:solidFill>
              </a:defRPr>
            </a:lvl1pPr>
          </a:lstStyle>
          <a:p>
            <a:pPr>
              <a:defRPr/>
            </a:pPr>
            <a:fld id="{EEDFC271-D8E7-4FF2-943A-13935E45B499}"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图片与标题">
    <p:spTree>
      <p:nvGrpSpPr>
        <p:cNvPr id="1" name=""/>
        <p:cNvGrpSpPr/>
        <p:nvPr/>
      </p:nvGrpSpPr>
      <p:grpSpPr>
        <a:xfrm>
          <a:off x="0" y="0"/>
          <a:ext cx="0" cy="0"/>
          <a:chOff x="0" y="0"/>
          <a:chExt cx="0" cy="0"/>
        </a:xfrm>
      </p:grpSpPr>
      <p:sp>
        <p:nvSpPr>
          <p:cNvPr id="5" name="Rectangle 7"/>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8"/>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oAutofit/>
          </a:bodyPr>
          <a:lstStyle>
            <a:lvl1pPr>
              <a:defRPr sz="3600" b="0">
                <a:solidFill>
                  <a:srgbClr val="FFFFFF"/>
                </a:solidFill>
              </a:defRPr>
            </a:lvl1pPr>
          </a:lstStyle>
          <a:p>
            <a:r>
              <a:rPr lang="zh-CN" altLang="en-US"/>
              <a:t>单击此处编辑母版标题样式</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7" name="Date Placeholder 4"/>
          <p:cNvSpPr>
            <a:spLocks noGrp="1"/>
          </p:cNvSpPr>
          <p:nvPr>
            <p:ph type="dt" sz="half" idx="10"/>
          </p:nvPr>
        </p:nvSpPr>
        <p:spPr/>
        <p:txBody>
          <a:bodyPr/>
          <a:lstStyle>
            <a:lvl1pPr>
              <a:defRPr/>
            </a:lvl1pPr>
          </a:lstStyle>
          <a:p>
            <a:pPr>
              <a:defRPr/>
            </a:pPr>
            <a:endParaRPr lang="en-US" altLang="zh-CN"/>
          </a:p>
        </p:txBody>
      </p:sp>
      <p:sp>
        <p:nvSpPr>
          <p:cNvPr id="8" name="Footer Placeholder 5"/>
          <p:cNvSpPr>
            <a:spLocks noGrp="1"/>
          </p:cNvSpPr>
          <p:nvPr>
            <p:ph type="ftr" sz="quarter" idx="11"/>
          </p:nvPr>
        </p:nvSpPr>
        <p:spPr/>
        <p:txBody>
          <a:bodyPr/>
          <a:lstStyle>
            <a:lvl1pPr>
              <a:defRPr/>
            </a:lvl1pPr>
          </a:lstStyle>
          <a:p>
            <a:pPr>
              <a:defRPr/>
            </a:pPr>
            <a:endParaRPr lang="en-US" altLang="zh-CN"/>
          </a:p>
        </p:txBody>
      </p:sp>
      <p:sp>
        <p:nvSpPr>
          <p:cNvPr id="9" name="Slide Number Placeholder 6"/>
          <p:cNvSpPr>
            <a:spLocks noGrp="1"/>
          </p:cNvSpPr>
          <p:nvPr>
            <p:ph type="sldNum" sz="quarter" idx="12"/>
          </p:nvPr>
        </p:nvSpPr>
        <p:spPr/>
        <p:txBody>
          <a:bodyPr/>
          <a:lstStyle>
            <a:lvl1pPr>
              <a:defRPr/>
            </a:lvl1pPr>
          </a:lstStyle>
          <a:p>
            <a:pPr>
              <a:defRPr/>
            </a:pPr>
            <a:fld id="{D0FD5BEA-9E28-41CA-BE91-C9A1BA7CFA11}"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3191729D-44E3-49BA-994F-783CF7E187B3}"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10;文本">
    <p:spTree>
      <p:nvGrpSpPr>
        <p:cNvPr id="1" name=""/>
        <p:cNvGrpSpPr/>
        <p:nvPr/>
      </p:nvGrpSpPr>
      <p:grpSpPr>
        <a:xfrm>
          <a:off x="0" y="0"/>
          <a:ext cx="0" cy="0"/>
          <a:chOff x="0" y="0"/>
          <a:chExt cx="0" cy="0"/>
        </a:xfrm>
      </p:grpSpPr>
      <p:sp>
        <p:nvSpPr>
          <p:cNvPr id="4" name="Rectangle 6"/>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7"/>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ltLang="zh-CN"/>
          </a:p>
        </p:txBody>
      </p:sp>
      <p:sp>
        <p:nvSpPr>
          <p:cNvPr id="7" name="Footer Placeholder 4"/>
          <p:cNvSpPr>
            <a:spLocks noGrp="1"/>
          </p:cNvSpPr>
          <p:nvPr>
            <p:ph type="ftr" sz="quarter" idx="11"/>
          </p:nvPr>
        </p:nvSpPr>
        <p:spPr/>
        <p:txBody>
          <a:bodyPr/>
          <a:lstStyle>
            <a:lvl1pPr>
              <a:defRPr/>
            </a:lvl1pPr>
          </a:lstStyle>
          <a:p>
            <a:pPr>
              <a:defRPr/>
            </a:pPr>
            <a:endParaRPr lang="en-US" altLang="zh-CN"/>
          </a:p>
        </p:txBody>
      </p:sp>
      <p:sp>
        <p:nvSpPr>
          <p:cNvPr id="8" name="Slide Number Placeholder 5"/>
          <p:cNvSpPr>
            <a:spLocks noGrp="1"/>
          </p:cNvSpPr>
          <p:nvPr>
            <p:ph type="sldNum" sz="quarter" idx="12"/>
          </p:nvPr>
        </p:nvSpPr>
        <p:spPr/>
        <p:txBody>
          <a:bodyPr/>
          <a:lstStyle>
            <a:lvl1pPr>
              <a:defRPr/>
            </a:lvl1pPr>
          </a:lstStyle>
          <a:p>
            <a:pPr>
              <a:defRPr/>
            </a:pPr>
            <a:fld id="{D26B558E-6E52-4ECF-B6D6-3B703C722682}" type="slidenum">
              <a:rPr lang="en-US" altLang="zh-CN"/>
            </a:fld>
            <a:endParaRPr lang="en-US" altLang="zh-CN"/>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325" y="287338"/>
            <a:ext cx="7543800" cy="1449387"/>
          </a:xfrm>
          <a:prstGeom prst="rect">
            <a:avLst/>
          </a:prstGeom>
        </p:spPr>
        <p:txBody>
          <a:bodyPr vert="horz" lIns="91440" tIns="45720" rIns="91440" bIns="45720" rtlCol="0" anchor="b">
            <a:normAutofit/>
          </a:bodyPr>
          <a:lstStyle/>
          <a:p>
            <a:r>
              <a:rPr lang="zh-CN" altLang="en-US"/>
              <a:t>单击此处编辑母版标题样式</a:t>
            </a:r>
            <a:endParaRPr lang="en-US" dirty="0"/>
          </a:p>
        </p:txBody>
      </p:sp>
      <p:sp>
        <p:nvSpPr>
          <p:cNvPr id="1029" name="Text Placeholder 2"/>
          <p:cNvSpPr>
            <a:spLocks noGrp="1"/>
          </p:cNvSpPr>
          <p:nvPr>
            <p:ph type="body" idx="1"/>
          </p:nvPr>
        </p:nvSpPr>
        <p:spPr bwMode="auto">
          <a:xfrm>
            <a:off x="822325" y="1846263"/>
            <a:ext cx="75438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a:p>
        </p:txBody>
      </p:sp>
      <p:sp>
        <p:nvSpPr>
          <p:cNvPr id="4" name="Date Placeholder 3"/>
          <p:cNvSpPr>
            <a:spLocks noGrp="1"/>
          </p:cNvSpPr>
          <p:nvPr>
            <p:ph type="dt" sz="half" idx="2"/>
          </p:nvPr>
        </p:nvSpPr>
        <p:spPr>
          <a:xfrm>
            <a:off x="822325" y="6459538"/>
            <a:ext cx="1854200"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ltLang="zh-CN"/>
          </a:p>
        </p:txBody>
      </p:sp>
      <p:sp>
        <p:nvSpPr>
          <p:cNvPr id="5" name="Footer Placeholder 4"/>
          <p:cNvSpPr>
            <a:spLocks noGrp="1"/>
          </p:cNvSpPr>
          <p:nvPr>
            <p:ph type="ftr" sz="quarter" idx="3"/>
          </p:nvPr>
        </p:nvSpPr>
        <p:spPr>
          <a:xfrm>
            <a:off x="2765425" y="6459538"/>
            <a:ext cx="3616325"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ltLang="zh-CN"/>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lIns="91440" tIns="45720" rIns="91440" bIns="45720" rtlCol="0" anchor="ctr"/>
          <a:lstStyle>
            <a:lvl1pPr algn="r">
              <a:defRPr sz="1050">
                <a:solidFill>
                  <a:srgbClr val="FFFFFF"/>
                </a:solidFill>
              </a:defRPr>
            </a:lvl1pPr>
          </a:lstStyle>
          <a:p>
            <a:pPr>
              <a:defRPr/>
            </a:pPr>
            <a:fld id="{47489B64-E570-46EF-ABE2-C5B7231161B8}" type="slidenum">
              <a:rPr lang="en-US" altLang="zh-CN"/>
            </a:fld>
            <a:endParaRPr lang="en-US" altLang="zh-CN"/>
          </a:p>
        </p:txBody>
      </p:sp>
      <p:cxnSp>
        <p:nvCxnSpPr>
          <p:cNvPr id="10" name="Straight Connector 9"/>
          <p:cNvCxnSpPr/>
          <p:nvPr/>
        </p:nvCxnSpPr>
        <p:spPr>
          <a:xfrm>
            <a:off x="895350" y="1738313"/>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ea typeface="宋体" panose="02010600030101010101" pitchFamily="2" charset="-122"/>
        </a:defRPr>
      </a:lvl9pPr>
    </p:titleStyle>
    <p:bodyStyle>
      <a:lvl1pPr marL="90805" indent="-90805"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90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7055"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2180" indent="-182880"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0" Type="http://schemas.openxmlformats.org/officeDocument/2006/relationships/slideLayout" Target="../slideLayouts/slideLayout2.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image" Target="../media/image20.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5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5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9.png"/><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6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64.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2.xml"/><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8.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6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image" Target="../media/image7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7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image" Target="../media/image79.png"/></Relationships>
</file>

<file path=ppt/slides/_rels/slide72.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5.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7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image" Target="../media/image88.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91.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2.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3.png"/></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4.png"/></Relationships>
</file>

<file path=ppt/slides/_rels/slide8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image" Target="../media/image95.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9.png"/><Relationship Id="rId1" Type="http://schemas.openxmlformats.org/officeDocument/2006/relationships/image" Target="../media/image98.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0.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1.png"/></Relationships>
</file>

<file path=ppt/slides/_rels/slide8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image" Target="../media/image102.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31563" y="2060848"/>
            <a:ext cx="7543800" cy="1687438"/>
          </a:xfrm>
        </p:spPr>
        <p:txBody>
          <a:bodyPr>
            <a:normAutofit/>
          </a:bodyPr>
          <a:lstStyle/>
          <a:p>
            <a:pPr algn="ctr" eaLnBrk="1" fontAlgn="auto" hangingPunct="1">
              <a:lnSpc>
                <a:spcPct val="125000"/>
              </a:lnSpc>
              <a:spcAft>
                <a:spcPts val="0"/>
              </a:spcAft>
              <a:defRPr/>
            </a:pP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人工智能与机器学习</a:t>
            </a:r>
            <a:endParaRPr lang="zh-CN" altLang="en-US" dirty="0">
              <a:solidFill>
                <a:srgbClr val="C00000"/>
              </a:solidFill>
            </a:endParaRPr>
          </a:p>
        </p:txBody>
      </p:sp>
      <p:sp>
        <p:nvSpPr>
          <p:cNvPr id="3" name="副标题 2"/>
          <p:cNvSpPr>
            <a:spLocks noGrp="1"/>
          </p:cNvSpPr>
          <p:nvPr>
            <p:ph type="subTitle" idx="1"/>
          </p:nvPr>
        </p:nvSpPr>
        <p:spPr>
          <a:xfrm>
            <a:off x="825500" y="4456112"/>
            <a:ext cx="7543800" cy="2141239"/>
          </a:xfrm>
        </p:spPr>
        <p:txBody>
          <a:bodyPr rtlCol="0">
            <a:normAutofit/>
          </a:bodyPr>
          <a:lstStyle/>
          <a:p>
            <a:pPr algn="ctr" eaLnBrk="1" fontAlgn="auto" hangingPunct="1">
              <a:defRPr/>
            </a:pPr>
            <a:r>
              <a:rPr lang="zh-CN" altLang="en-US" b="1" dirty="0">
                <a:latin typeface="Tahoma" panose="020B0604030504040204" pitchFamily="34" charset="0"/>
                <a:ea typeface="Tahoma" panose="020B0604030504040204" pitchFamily="34" charset="0"/>
                <a:cs typeface="Tahoma" panose="020B0604030504040204" pitchFamily="34" charset="0"/>
              </a:rPr>
              <a:t>宗威</a:t>
            </a:r>
            <a:endParaRPr lang="en-US" altLang="zh-CN" b="1" dirty="0">
              <a:latin typeface="Tahoma" panose="020B0604030504040204" pitchFamily="34" charset="0"/>
              <a:ea typeface="Tahoma" panose="020B0604030504040204" pitchFamily="34" charset="0"/>
              <a:cs typeface="Tahoma" panose="020B0604030504040204" pitchFamily="34" charset="0"/>
            </a:endParaRPr>
          </a:p>
          <a:p>
            <a:pPr algn="ctr" eaLnBrk="1" fontAlgn="auto" hangingPunct="1">
              <a:defRPr/>
            </a:pPr>
            <a:r>
              <a:rPr lang="zh-CN" altLang="en-US" b="1" dirty="0">
                <a:latin typeface="Tahoma" panose="020B0604030504040204" pitchFamily="34" charset="0"/>
                <a:cs typeface="Tahoma" panose="020B0604030504040204" pitchFamily="34" charset="0"/>
              </a:rPr>
              <a:t>西安电子科技大学经济与管理学院</a:t>
            </a:r>
            <a:endParaRPr lang="en-US" altLang="zh-CN" b="1" dirty="0">
              <a:latin typeface="Tahoma" panose="020B0604030504040204" pitchFamily="34" charset="0"/>
              <a:cs typeface="Tahoma" panose="020B0604030504040204" pitchFamily="34" charset="0"/>
            </a:endParaRPr>
          </a:p>
          <a:p>
            <a:pPr algn="ctr" eaLnBrk="1" fontAlgn="auto" hangingPunct="1">
              <a:defRPr/>
            </a:pPr>
            <a:r>
              <a:rPr lang="en-US" altLang="zh-CN" cap="none" dirty="0">
                <a:latin typeface="Tahoma" panose="020B0604030504040204" pitchFamily="34" charset="0"/>
                <a:cs typeface="Tahoma" panose="020B0604030504040204" pitchFamily="34" charset="0"/>
              </a:rPr>
              <a:t>weizong@xidian.edu.cn</a:t>
            </a:r>
            <a:endParaRPr lang="en-US" altLang="zh-CN" cap="none" dirty="0">
              <a:latin typeface="Tahoma" panose="020B0604030504040204" pitchFamily="34" charset="0"/>
              <a:cs typeface="Tahoma" panose="020B0604030504040204" pitchFamily="34" charset="0"/>
            </a:endParaRPr>
          </a:p>
          <a:p>
            <a:pPr algn="ctr" eaLnBrk="1" fontAlgn="auto" hangingPunct="1">
              <a:defRPr/>
            </a:pPr>
            <a:endParaRPr lang="zh-CN" altLang="en-US" b="1" dirty="0">
              <a:latin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4294967295"/>
          </p:nvPr>
        </p:nvSpPr>
        <p:spPr/>
        <p:txBody>
          <a:bodyPr/>
          <a:lstStyle/>
          <a:p>
            <a:pPr>
              <a:defRPr/>
            </a:pPr>
            <a:fld id="{5C607526-F0CC-4C74-8DBA-9971CBCEA052}" type="slidenum">
              <a:rPr lang="en-US" altLang="zh-CN"/>
            </a:fld>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课程简介</a:t>
            </a:r>
            <a:endParaRPr lang="zh-CN" altLang="en-US" spc="-100" dirty="0">
              <a:solidFill>
                <a:srgbClr val="D2533C"/>
              </a:solidFill>
              <a:latin typeface="Arial" panose="020B0604020202020204"/>
              <a:ea typeface="华文新魏" panose="02010800040101010101" pitchFamily="2" charset="-122"/>
            </a:endParaRPr>
          </a:p>
        </p:txBody>
      </p:sp>
      <p:sp>
        <p:nvSpPr>
          <p:cNvPr id="8" name="Rectangle 3"/>
          <p:cNvSpPr txBox="1">
            <a:spLocks noChangeArrowheads="1"/>
          </p:cNvSpPr>
          <p:nvPr/>
        </p:nvSpPr>
        <p:spPr bwMode="auto">
          <a:xfrm>
            <a:off x="683568" y="1556792"/>
            <a:ext cx="5267325" cy="406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ctr" hangingPunct="0">
              <a:spcBef>
                <a:spcPct val="20000"/>
              </a:spcBef>
              <a:spcAft>
                <a:spcPct val="0"/>
              </a:spcAft>
              <a:buClr>
                <a:srgbClr val="E46B1F"/>
              </a:buClr>
              <a:buSzPct val="80000"/>
              <a:buFont typeface="Wingdings" panose="05000000000000000000" pitchFamily="2" charset="2"/>
              <a:buChar char="n"/>
              <a:defRPr sz="2800" b="1">
                <a:solidFill>
                  <a:srgbClr val="000080"/>
                </a:solidFill>
                <a:latin typeface="+mn-lt"/>
                <a:ea typeface="+mn-ea"/>
                <a:cs typeface="+mn-cs"/>
              </a:defRPr>
            </a:lvl1pPr>
            <a:lvl2pPr marL="742950" indent="-285750" algn="l" rtl="0" eaLnBrk="0" fontAlgn="ctr" hangingPunct="0">
              <a:spcBef>
                <a:spcPct val="20000"/>
              </a:spcBef>
              <a:spcAft>
                <a:spcPct val="0"/>
              </a:spcAft>
              <a:buClr>
                <a:srgbClr val="E46B1F"/>
              </a:buClr>
              <a:buSzPct val="80000"/>
              <a:buFont typeface="Arial" panose="020B0604020202020204" pitchFamily="34" charset="0"/>
              <a:buChar char="—"/>
              <a:defRPr sz="2400" b="1">
                <a:solidFill>
                  <a:srgbClr val="000080"/>
                </a:solidFill>
                <a:latin typeface="+mn-lt"/>
                <a:ea typeface="+mn-ea"/>
              </a:defRPr>
            </a:lvl2pPr>
            <a:lvl3pPr marL="1143000" indent="-228600" algn="l" rtl="0" eaLnBrk="0" fontAlgn="ctr" hangingPunct="0">
              <a:spcBef>
                <a:spcPct val="20000"/>
              </a:spcBef>
              <a:spcAft>
                <a:spcPct val="0"/>
              </a:spcAft>
              <a:buClr>
                <a:srgbClr val="E46B1F"/>
              </a:buClr>
              <a:buSzPct val="80000"/>
              <a:buFont typeface="Wingdings" panose="05000000000000000000" pitchFamily="2" charset="2"/>
              <a:buChar char="u"/>
              <a:defRPr sz="2000" b="1">
                <a:solidFill>
                  <a:srgbClr val="000080"/>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ctr" latinLnBrk="0" hangingPunct="1">
              <a:lnSpc>
                <a:spcPct val="110000"/>
              </a:lnSpc>
              <a:spcBef>
                <a:spcPct val="20000"/>
              </a:spcBef>
              <a:spcAft>
                <a:spcPct val="0"/>
              </a:spcAft>
              <a:buClr>
                <a:srgbClr val="E46B1F"/>
              </a:buClr>
              <a:buSzPct val="80000"/>
              <a:buFont typeface="Wingdings" panose="05000000000000000000" pitchFamily="2" charset="2"/>
              <a:buChar char="n"/>
              <a:defRPr/>
            </a:pPr>
            <a:r>
              <a:rPr kumimoji="0" lang="zh-CN" altLang="en-US" sz="3200" b="0" kern="0" dirty="0">
                <a:solidFill>
                  <a:schemeClr val="tx1"/>
                </a:solidFill>
                <a:latin typeface="Arial" panose="020B0604020202020204"/>
                <a:ea typeface="宋体" panose="02010600030101010101" pitchFamily="2" charset="-122"/>
              </a:rPr>
              <a:t>课程体系</a:t>
            </a:r>
            <a:endParaRPr kumimoji="0" lang="zh-CN" altLang="en-US" sz="32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110000"/>
              </a:lnSpc>
              <a:spcBef>
                <a:spcPct val="20000"/>
              </a:spcBef>
              <a:spcAft>
                <a:spcPct val="0"/>
              </a:spcAft>
              <a:buClr>
                <a:srgbClr val="E46B1F"/>
              </a:buClr>
              <a:buSzPct val="8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课程</a:t>
            </a:r>
            <a:r>
              <a:rPr kumimoji="0" lang="zh-CN" altLang="en-US" sz="3200" b="0" kern="0" dirty="0">
                <a:solidFill>
                  <a:schemeClr val="tx1"/>
                </a:solidFill>
                <a:latin typeface="Arial" panose="020B0604020202020204"/>
                <a:ea typeface="宋体" panose="02010600030101010101" pitchFamily="2" charset="-122"/>
              </a:rPr>
              <a:t>内容概要</a:t>
            </a:r>
            <a:endParaRPr kumimoji="0" lang="zh-CN" altLang="en-US" sz="32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110000"/>
              </a:lnSpc>
              <a:spcBef>
                <a:spcPct val="20000"/>
              </a:spcBef>
              <a:spcAft>
                <a:spcPct val="0"/>
              </a:spcAft>
              <a:buClr>
                <a:srgbClr val="E46B1F"/>
              </a:buClr>
              <a:buSzPct val="80000"/>
              <a:buFont typeface="Wingdings" panose="05000000000000000000" pitchFamily="2" charset="2"/>
              <a:buChar char="n"/>
              <a:defRPr/>
            </a:pPr>
            <a:r>
              <a:rPr kumimoji="0" lang="zh-CN" altLang="en-US" sz="3200" b="0" kern="0" dirty="0">
                <a:solidFill>
                  <a:schemeClr val="tx1"/>
                </a:solidFill>
                <a:latin typeface="Arial" panose="020B0604020202020204"/>
                <a:ea typeface="宋体" panose="02010600030101010101" pitchFamily="2" charset="-122"/>
              </a:rPr>
              <a:t>课程考核方法</a:t>
            </a:r>
            <a:endParaRPr kumimoji="0" lang="zh-CN" altLang="en-US" sz="32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110000"/>
              </a:lnSpc>
              <a:spcBef>
                <a:spcPct val="20000"/>
              </a:spcBef>
              <a:spcAft>
                <a:spcPct val="0"/>
              </a:spcAft>
              <a:buClr>
                <a:srgbClr val="E46B1F"/>
              </a:buClr>
              <a:buSzPct val="80000"/>
              <a:buFont typeface="Wingdings" panose="05000000000000000000" pitchFamily="2" charset="2"/>
              <a:buChar char="n"/>
              <a:defRPr/>
            </a:pPr>
            <a:r>
              <a:rPr kumimoji="0" lang="zh-CN" altLang="en-US" sz="32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参考</a:t>
            </a:r>
            <a:r>
              <a:rPr kumimoji="0" lang="zh-CN" altLang="en-US" sz="3200" b="0" kern="0" dirty="0">
                <a:solidFill>
                  <a:schemeClr val="tx1"/>
                </a:solidFill>
                <a:latin typeface="Arial" panose="020B0604020202020204"/>
                <a:ea typeface="宋体" panose="02010600030101010101" pitchFamily="2" charset="-122"/>
              </a:rPr>
              <a:t>资料</a:t>
            </a:r>
            <a:endParaRPr kumimoji="0" lang="zh-CN" altLang="en-US" sz="32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347780" y="0"/>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课程主要内容</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581761" y="1340768"/>
            <a:ext cx="8562239" cy="6162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ctr" hangingPunct="0">
              <a:spcBef>
                <a:spcPct val="20000"/>
              </a:spcBef>
              <a:spcAft>
                <a:spcPct val="0"/>
              </a:spcAft>
              <a:buClr>
                <a:srgbClr val="E46B1F"/>
              </a:buClr>
              <a:buSzPct val="80000"/>
              <a:buFont typeface="Wingdings" panose="05000000000000000000" pitchFamily="2" charset="2"/>
              <a:buChar char="n"/>
              <a:defRPr sz="2800" b="1">
                <a:solidFill>
                  <a:srgbClr val="000080"/>
                </a:solidFill>
                <a:latin typeface="+mn-lt"/>
                <a:ea typeface="+mn-ea"/>
                <a:cs typeface="+mn-cs"/>
              </a:defRPr>
            </a:lvl1pPr>
            <a:lvl2pPr marL="742950" indent="-285750" algn="l" rtl="0" eaLnBrk="0" fontAlgn="ctr" hangingPunct="0">
              <a:spcBef>
                <a:spcPct val="20000"/>
              </a:spcBef>
              <a:spcAft>
                <a:spcPct val="0"/>
              </a:spcAft>
              <a:buClr>
                <a:srgbClr val="E46B1F"/>
              </a:buClr>
              <a:buSzPct val="80000"/>
              <a:buFont typeface="Arial" panose="020B0604020202020204" pitchFamily="34" charset="0"/>
              <a:buChar char="—"/>
              <a:defRPr sz="2400" b="1">
                <a:solidFill>
                  <a:srgbClr val="000080"/>
                </a:solidFill>
                <a:latin typeface="+mn-lt"/>
                <a:ea typeface="+mn-ea"/>
              </a:defRPr>
            </a:lvl2pPr>
            <a:lvl3pPr marL="1143000" indent="-228600" algn="l" rtl="0" eaLnBrk="0" fontAlgn="ctr" hangingPunct="0">
              <a:spcBef>
                <a:spcPct val="20000"/>
              </a:spcBef>
              <a:spcAft>
                <a:spcPct val="0"/>
              </a:spcAft>
              <a:buClr>
                <a:srgbClr val="E46B1F"/>
              </a:buClr>
              <a:buSzPct val="80000"/>
              <a:buFont typeface="Wingdings" panose="05000000000000000000" pitchFamily="2" charset="2"/>
              <a:buChar char="u"/>
              <a:defRPr sz="2000" b="1">
                <a:solidFill>
                  <a:srgbClr val="000080"/>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ctr" latinLnBrk="0" hangingPunct="1">
              <a:lnSpc>
                <a:spcPts val="2400"/>
              </a:lnSpc>
              <a:spcBef>
                <a:spcPct val="40000"/>
              </a:spcBef>
              <a:spcAft>
                <a:spcPct val="0"/>
              </a:spcAft>
              <a:buClr>
                <a:srgbClr val="E46B1F"/>
              </a:buClr>
              <a:buSzPct val="80000"/>
              <a:buFont typeface="Wingdings" panose="05000000000000000000" pitchFamily="2" charset="2"/>
              <a:buChar char="n"/>
              <a:defRPr/>
            </a:pPr>
            <a:r>
              <a:rPr kumimoji="0" lang="zh-CN" altLang="en-US" sz="2400" b="0" kern="0" dirty="0">
                <a:solidFill>
                  <a:schemeClr val="tx1"/>
                </a:solidFill>
                <a:latin typeface="Arial" panose="020B0604020202020204"/>
                <a:ea typeface="宋体" panose="02010600030101010101" pitchFamily="2" charset="-122"/>
              </a:rPr>
              <a:t>人工智能概述</a:t>
            </a:r>
            <a:endParaRPr kumimoji="0" lang="en-US" altLang="zh-CN" sz="2400" b="0" kern="0" dirty="0">
              <a:solidFill>
                <a:schemeClr val="tx1"/>
              </a:solidFill>
              <a:latin typeface="Arial" panose="020B0604020202020204"/>
              <a:ea typeface="宋体" panose="02010600030101010101" pitchFamily="2" charset="-122"/>
            </a:endParaRPr>
          </a:p>
          <a:p>
            <a:pPr lvl="1" indent="-342900" eaLnBrk="1" hangingPunct="1">
              <a:lnSpc>
                <a:spcPts val="2400"/>
              </a:lnSpc>
              <a:spcBef>
                <a:spcPct val="40000"/>
              </a:spcBef>
              <a:buFont typeface="Wingdings" panose="05000000000000000000" pitchFamily="2" charset="2"/>
              <a:buChar char="Ø"/>
              <a:defRPr/>
            </a:pPr>
            <a:r>
              <a:rPr kumimoji="0" lang="zh-CN" altLang="en-US" sz="2000" b="0" kern="0" dirty="0">
                <a:solidFill>
                  <a:schemeClr val="tx1"/>
                </a:solidFill>
                <a:latin typeface="Arial" panose="020B0604020202020204"/>
                <a:ea typeface="宋体" panose="02010600030101010101" pitchFamily="2" charset="-122"/>
              </a:rPr>
              <a:t>人工智能的概念、发展简史、研究内容、发展与挑战</a:t>
            </a:r>
            <a:endParaRPr kumimoji="0" lang="en-US" altLang="zh-CN" sz="2000" b="0" kern="0" dirty="0">
              <a:solidFill>
                <a:schemeClr val="tx1"/>
              </a:solidFill>
              <a:latin typeface="Arial" panose="020B0604020202020204"/>
              <a:ea typeface="宋体" panose="02010600030101010101" pitchFamily="2" charset="-122"/>
            </a:endParaRPr>
          </a:p>
          <a:p>
            <a:pPr marL="342900" marR="0" lvl="0" indent="-342900" algn="l" defTabSz="914400" rtl="0" eaLnBrk="1" fontAlgn="ctr" latinLnBrk="0" hangingPunct="1">
              <a:lnSpc>
                <a:spcPts val="2400"/>
              </a:lnSpc>
              <a:spcBef>
                <a:spcPct val="40000"/>
              </a:spcBef>
              <a:spcAft>
                <a:spcPct val="0"/>
              </a:spcAft>
              <a:buClr>
                <a:srgbClr val="E46B1F"/>
              </a:buClr>
              <a:buSzPct val="80000"/>
              <a:buFont typeface="Wingdings" panose="05000000000000000000" pitchFamily="2" charset="2"/>
              <a:buChar char="n"/>
              <a:defRPr/>
            </a:pPr>
            <a:r>
              <a:rPr kumimoji="0" lang="zh-CN" altLang="en-US" sz="2400" b="0" kern="0" noProof="0" dirty="0">
                <a:solidFill>
                  <a:schemeClr val="tx1"/>
                </a:solidFill>
                <a:latin typeface="Arial" panose="020B0604020202020204"/>
                <a:ea typeface="宋体" panose="02010600030101010101" pitchFamily="2" charset="-122"/>
              </a:rPr>
              <a:t>机器学习</a:t>
            </a:r>
            <a:endParaRPr kumimoji="0" lang="en-US" altLang="zh-CN" sz="24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a:p>
            <a:pPr marR="0" lvl="1" indent="-342900" defTabSz="914400" eaLnBrk="1" latinLnBrk="0" hangingPunct="1">
              <a:lnSpc>
                <a:spcPts val="2400"/>
              </a:lnSpc>
              <a:spcBef>
                <a:spcPct val="40000"/>
              </a:spcBef>
              <a:buFont typeface="Wingdings" panose="05000000000000000000" pitchFamily="2" charset="2"/>
              <a:buChar char="Ø"/>
              <a:defRPr/>
            </a:pPr>
            <a:r>
              <a:rPr kumimoji="0" lang="zh-CN" altLang="en-US" sz="2000" b="0" kern="0" dirty="0">
                <a:solidFill>
                  <a:schemeClr val="tx1"/>
                </a:solidFill>
                <a:latin typeface="Arial" panose="020B0604020202020204"/>
                <a:ea typeface="宋体" panose="02010600030101010101" pitchFamily="2" charset="-122"/>
              </a:rPr>
              <a:t>监督学习：回归分析、决策树、支持向量机、集成学习</a:t>
            </a:r>
            <a:endParaRPr kumimoji="0" lang="en-US" altLang="zh-CN" sz="2000" b="0" kern="0" dirty="0">
              <a:solidFill>
                <a:schemeClr val="tx1"/>
              </a:solidFill>
              <a:latin typeface="Arial" panose="020B0604020202020204"/>
              <a:ea typeface="宋体" panose="02010600030101010101" pitchFamily="2" charset="-122"/>
            </a:endParaRPr>
          </a:p>
          <a:p>
            <a:pPr marR="0" lvl="1" indent="-342900" defTabSz="914400" eaLnBrk="1" latinLnBrk="0" hangingPunct="1">
              <a:lnSpc>
                <a:spcPts val="2400"/>
              </a:lnSpc>
              <a:spcBef>
                <a:spcPct val="40000"/>
              </a:spcBef>
              <a:buFont typeface="Wingdings" panose="05000000000000000000" pitchFamily="2" charset="2"/>
              <a:buChar char="Ø"/>
              <a:defRPr/>
            </a:pPr>
            <a:r>
              <a:rPr kumimoji="0" lang="zh-CN" altLang="en-US" sz="2000" b="0" kern="0" dirty="0">
                <a:solidFill>
                  <a:schemeClr val="tx1"/>
                </a:solidFill>
                <a:latin typeface="Arial" panose="020B0604020202020204"/>
                <a:ea typeface="宋体" panose="02010600030101010101" pitchFamily="2" charset="-122"/>
              </a:rPr>
              <a:t>无监督学习：聚类算法、降维算法</a:t>
            </a:r>
            <a:endParaRPr kumimoji="0" lang="en-US" altLang="zh-CN" sz="2000" b="0" kern="0" dirty="0">
              <a:solidFill>
                <a:schemeClr val="tx1"/>
              </a:solidFill>
              <a:latin typeface="Arial" panose="020B0604020202020204"/>
              <a:ea typeface="宋体" panose="02010600030101010101" pitchFamily="2" charset="-122"/>
            </a:endParaRPr>
          </a:p>
          <a:p>
            <a:pPr marL="342900" marR="0" lvl="0" indent="-342900" algn="l" defTabSz="914400" rtl="0" eaLnBrk="1" fontAlgn="ctr" latinLnBrk="0" hangingPunct="1">
              <a:lnSpc>
                <a:spcPts val="2400"/>
              </a:lnSpc>
              <a:spcBef>
                <a:spcPct val="40000"/>
              </a:spcBef>
              <a:spcAft>
                <a:spcPct val="0"/>
              </a:spcAft>
              <a:buClr>
                <a:srgbClr val="E46B1F"/>
              </a:buClr>
              <a:buSzPct val="8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深度学习</a:t>
            </a:r>
            <a:endParaRPr kumimoji="0" lang="en-US" altLang="zh-CN" sz="2400"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a:p>
            <a:pPr marR="0" lvl="1" indent="-342900" defTabSz="914400" eaLnBrk="1" latinLnBrk="0" hangingPunct="1">
              <a:lnSpc>
                <a:spcPts val="2400"/>
              </a:lnSpc>
              <a:spcBef>
                <a:spcPct val="40000"/>
              </a:spcBef>
              <a:buFont typeface="Wingdings" panose="05000000000000000000" pitchFamily="2" charset="2"/>
              <a:buChar char="Ø"/>
              <a:defRPr/>
            </a:pPr>
            <a:r>
              <a:rPr kumimoji="0" lang="zh-CN" altLang="en-US" sz="2000" b="0" kern="0" dirty="0">
                <a:solidFill>
                  <a:schemeClr val="tx1"/>
                </a:solidFill>
                <a:latin typeface="Arial" panose="020B0604020202020204"/>
                <a:ea typeface="宋体" panose="02010600030101010101" pitchFamily="2" charset="-122"/>
              </a:rPr>
              <a:t>卷积神经网络、循环神经网络、生成对抗网络</a:t>
            </a:r>
            <a:endParaRPr kumimoji="0" lang="en-US" altLang="zh-CN" sz="2000" b="0" kern="0" dirty="0">
              <a:solidFill>
                <a:schemeClr val="tx1"/>
              </a:solidFill>
              <a:latin typeface="Arial" panose="020B0604020202020204"/>
              <a:ea typeface="宋体" panose="02010600030101010101" pitchFamily="2" charset="-122"/>
            </a:endParaRPr>
          </a:p>
          <a:p>
            <a:pPr marL="342900" marR="0" lvl="0" indent="-342900" algn="l" defTabSz="914400" rtl="0" eaLnBrk="1" fontAlgn="ctr" latinLnBrk="0" hangingPunct="1">
              <a:lnSpc>
                <a:spcPts val="2400"/>
              </a:lnSpc>
              <a:spcBef>
                <a:spcPct val="40000"/>
              </a:spcBef>
              <a:spcAft>
                <a:spcPct val="0"/>
              </a:spcAft>
              <a:buClr>
                <a:srgbClr val="E46B1F"/>
              </a:buClr>
              <a:buSzPct val="80000"/>
              <a:buFont typeface="Wingdings" panose="05000000000000000000" pitchFamily="2" charset="2"/>
              <a:buChar char="n"/>
              <a:defRPr/>
            </a:pPr>
            <a:r>
              <a:rPr kumimoji="0" lang="zh-CN" altLang="en-US" sz="2400" b="0" kern="0" dirty="0">
                <a:solidFill>
                  <a:schemeClr val="tx1"/>
                </a:solidFill>
                <a:latin typeface="Arial" panose="020B0604020202020204"/>
                <a:ea typeface="宋体" panose="02010600030101010101" pitchFamily="2" charset="-122"/>
              </a:rPr>
              <a:t>逻辑推理</a:t>
            </a:r>
            <a:endParaRPr kumimoji="0" lang="en-US" altLang="zh-CN" sz="2000" b="0" kern="0" dirty="0">
              <a:solidFill>
                <a:schemeClr val="tx1"/>
              </a:solidFill>
              <a:latin typeface="Arial" panose="020B0604020202020204"/>
              <a:ea typeface="宋体" panose="02010600030101010101" pitchFamily="2" charset="-122"/>
            </a:endParaRPr>
          </a:p>
          <a:p>
            <a:pPr lvl="1" indent="-342900" eaLnBrk="1" hangingPunct="1">
              <a:lnSpc>
                <a:spcPts val="2400"/>
              </a:lnSpc>
              <a:spcBef>
                <a:spcPct val="40000"/>
              </a:spcBef>
              <a:buFont typeface="Wingdings" panose="05000000000000000000" pitchFamily="2" charset="2"/>
              <a:buChar char="Ø"/>
              <a:defRPr/>
            </a:pPr>
            <a:r>
              <a:rPr kumimoji="0" lang="zh-CN" altLang="en-US" sz="2000" b="0" kern="0" dirty="0">
                <a:solidFill>
                  <a:schemeClr val="tx1"/>
                </a:solidFill>
                <a:latin typeface="Arial" panose="020B0604020202020204"/>
                <a:ea typeface="宋体" panose="02010600030101010101" pitchFamily="2" charset="-122"/>
              </a:rPr>
              <a:t>命题逻辑、谓词逻辑、知识图谱推理、因果推理</a:t>
            </a:r>
            <a:endParaRPr kumimoji="0" lang="zh-CN" altLang="en-US" b="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animEffect transition="in" filter="fade">
                                      <p:cBhvr>
                                        <p:cTn id="27" dur="500"/>
                                        <p:tgtEl>
                                          <p:spTgt spid="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
                                            <p:txEl>
                                              <p:pRg st="5" end="5"/>
                                            </p:txEl>
                                          </p:spTgt>
                                        </p:tgtEl>
                                        <p:attrNameLst>
                                          <p:attrName>style.visibility</p:attrName>
                                        </p:attrNameLst>
                                      </p:cBhvr>
                                      <p:to>
                                        <p:strVal val="visible"/>
                                      </p:to>
                                    </p:set>
                                    <p:animEffect transition="in" filter="fade">
                                      <p:cBhvr>
                                        <p:cTn id="32" dur="500"/>
                                        <p:tgtEl>
                                          <p:spTgt spid="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
                                            <p:txEl>
                                              <p:pRg st="6" end="6"/>
                                            </p:txEl>
                                          </p:spTgt>
                                        </p:tgtEl>
                                        <p:attrNameLst>
                                          <p:attrName>style.visibility</p:attrName>
                                        </p:attrNameLst>
                                      </p:cBhvr>
                                      <p:to>
                                        <p:strVal val="visible"/>
                                      </p:to>
                                    </p:set>
                                    <p:animEffect transition="in" filter="fade">
                                      <p:cBhvr>
                                        <p:cTn id="37" dur="500"/>
                                        <p:tgtEl>
                                          <p:spTgt spid="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
                                            <p:txEl>
                                              <p:pRg st="7" end="7"/>
                                            </p:txEl>
                                          </p:spTgt>
                                        </p:tgtEl>
                                        <p:attrNameLst>
                                          <p:attrName>style.visibility</p:attrName>
                                        </p:attrNameLst>
                                      </p:cBhvr>
                                      <p:to>
                                        <p:strVal val="visible"/>
                                      </p:to>
                                    </p:set>
                                    <p:animEffect transition="in" filter="fade">
                                      <p:cBhvr>
                                        <p:cTn id="42" dur="500"/>
                                        <p:tgtEl>
                                          <p:spTgt spid="7">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
                                            <p:txEl>
                                              <p:pRg st="8" end="8"/>
                                            </p:txEl>
                                          </p:spTgt>
                                        </p:tgtEl>
                                        <p:attrNameLst>
                                          <p:attrName>style.visibility</p:attrName>
                                        </p:attrNameLst>
                                      </p:cBhvr>
                                      <p:to>
                                        <p:strVal val="visible"/>
                                      </p:to>
                                    </p:set>
                                    <p:animEffect transition="in" filter="fade">
                                      <p:cBhvr>
                                        <p:cTn id="47"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22325" y="758825"/>
            <a:ext cx="7543800" cy="3565525"/>
          </a:xfrm>
        </p:spPr>
        <p:txBody>
          <a:bodyPr/>
          <a:lstStyle/>
          <a:p>
            <a:pPr algn="ctr" eaLnBrk="1" fontAlgn="auto" hangingPunct="1">
              <a:lnSpc>
                <a:spcPct val="125000"/>
              </a:lnSpc>
              <a:spcAft>
                <a:spcPts val="0"/>
              </a:spcAft>
              <a:defRPr/>
            </a:pP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第一章 </a:t>
            </a:r>
            <a:b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br>
            <a:r>
              <a:rPr lang="zh-CN" altLang="en-US" sz="6000" b="1" dirty="0">
                <a:solidFill>
                  <a:srgbClr val="C00000"/>
                </a:solidFill>
                <a:effectLst>
                  <a:outerShdw blurRad="38100" dist="38100" dir="2700000" algn="tl">
                    <a:srgbClr val="C0C0C0"/>
                  </a:outerShdw>
                </a:effectLst>
                <a:latin typeface="黑体" panose="02010609060101010101" pitchFamily="2" charset="-122"/>
                <a:ea typeface="黑体" panose="02010609060101010101" pitchFamily="2" charset="-122"/>
              </a:rPr>
              <a:t>人工智能概述</a:t>
            </a:r>
            <a:endParaRPr lang="zh-CN" altLang="en-US" dirty="0">
              <a:solidFill>
                <a:srgbClr val="C00000"/>
              </a:solidFill>
            </a:endParaRPr>
          </a:p>
        </p:txBody>
      </p:sp>
      <p:sp>
        <p:nvSpPr>
          <p:cNvPr id="3" name="副标题 2"/>
          <p:cNvSpPr>
            <a:spLocks noGrp="1"/>
          </p:cNvSpPr>
          <p:nvPr>
            <p:ph type="subTitle" idx="1"/>
          </p:nvPr>
        </p:nvSpPr>
        <p:spPr>
          <a:xfrm>
            <a:off x="825500" y="4456113"/>
            <a:ext cx="7543800" cy="1143000"/>
          </a:xfrm>
        </p:spPr>
        <p:txBody>
          <a:bodyPr rtlCol="0"/>
          <a:lstStyle/>
          <a:p>
            <a:pPr algn="ctr" eaLnBrk="1" fontAlgn="auto" hangingPunct="1">
              <a:defRPr/>
            </a:pPr>
            <a:r>
              <a:rPr lang="en-US" altLang="zh-CN" b="1" dirty="0">
                <a:latin typeface="Tahoma" panose="020B0604030504040204" pitchFamily="34" charset="0"/>
                <a:ea typeface="Tahoma" panose="020B0604030504040204" pitchFamily="34" charset="0"/>
                <a:cs typeface="Tahoma" panose="020B0604030504040204" pitchFamily="34" charset="0"/>
              </a:rPr>
              <a:t>Introduction</a:t>
            </a:r>
            <a:endParaRPr lang="zh-CN" altLang="en-US" dirty="0">
              <a:latin typeface="Tahoma" panose="020B0604030504040204" pitchFamily="34" charset="0"/>
              <a:cs typeface="Tahoma" panose="020B0604030504040204" pitchFamily="34" charset="0"/>
            </a:endParaRPr>
          </a:p>
        </p:txBody>
      </p:sp>
      <p:sp>
        <p:nvSpPr>
          <p:cNvPr id="4" name="灯片编号占位符 3"/>
          <p:cNvSpPr>
            <a:spLocks noGrp="1"/>
          </p:cNvSpPr>
          <p:nvPr>
            <p:ph type="sldNum" sz="quarter" idx="4294967295"/>
          </p:nvPr>
        </p:nvSpPr>
        <p:spPr/>
        <p:txBody>
          <a:bodyPr/>
          <a:lstStyle/>
          <a:p>
            <a:pPr>
              <a:defRPr/>
            </a:pPr>
            <a:fld id="{5C607526-F0CC-4C74-8DBA-9971CBCEA052}" type="slidenum">
              <a:rPr lang="en-US" altLang="zh-CN"/>
            </a:fld>
            <a:endParaRPr lang="en-US" alt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课程考核（博士）</a:t>
            </a:r>
            <a:endParaRPr lang="zh-CN" altLang="en-US"/>
          </a:p>
        </p:txBody>
      </p:sp>
      <p:sp>
        <p:nvSpPr>
          <p:cNvPr id="3" name="内容占位符 2"/>
          <p:cNvSpPr>
            <a:spLocks noGrp="1"/>
          </p:cNvSpPr>
          <p:nvPr>
            <p:ph idx="1"/>
          </p:nvPr>
        </p:nvSpPr>
        <p:spPr/>
        <p:txBody>
          <a:bodyPr/>
          <a:p>
            <a:pPr>
              <a:buFont typeface="Wingdings" panose="05000000000000000000" charset="0"/>
              <a:buChar char="l"/>
            </a:pPr>
            <a:r>
              <a:rPr lang="en-US" altLang="zh-CN"/>
              <a:t>9</a:t>
            </a:r>
            <a:r>
              <a:rPr lang="zh-CN" altLang="en-US"/>
              <a:t>个人，分成</a:t>
            </a:r>
            <a:r>
              <a:rPr lang="en-US" altLang="zh-CN"/>
              <a:t>3</a:t>
            </a:r>
            <a:r>
              <a:rPr lang="zh-CN" altLang="en-US"/>
              <a:t>组。研究方向相近的，尽量分在一组</a:t>
            </a:r>
            <a:endParaRPr lang="zh-CN" altLang="en-US"/>
          </a:p>
          <a:p>
            <a:pPr>
              <a:buFont typeface="Wingdings" panose="05000000000000000000" charset="0"/>
              <a:buChar char="l"/>
            </a:pPr>
            <a:r>
              <a:rPr lang="zh-CN" altLang="en-US" b="1"/>
              <a:t>课堂测试</a:t>
            </a:r>
            <a:r>
              <a:rPr lang="zh-CN" altLang="en-US"/>
              <a:t>：</a:t>
            </a:r>
            <a:r>
              <a:rPr lang="en-US" altLang="zh-CN" b="1">
                <a:solidFill>
                  <a:schemeClr val="tx1"/>
                </a:solidFill>
              </a:rPr>
              <a:t>30%</a:t>
            </a:r>
            <a:r>
              <a:rPr lang="zh-CN" altLang="en-US"/>
              <a:t>。随时在学在西电发布课程相关问题，随堂作业，回答问题时间有限，随堂关闭问题提交渠道。</a:t>
            </a:r>
            <a:endParaRPr lang="zh-CN" altLang="en-US"/>
          </a:p>
          <a:p>
            <a:pPr>
              <a:buFont typeface="Wingdings" panose="05000000000000000000" charset="0"/>
              <a:buChar char="l"/>
            </a:pPr>
            <a:r>
              <a:rPr lang="zh-CN" altLang="en-US" b="1">
                <a:solidFill>
                  <a:schemeClr val="tx1"/>
                </a:solidFill>
              </a:rPr>
              <a:t>课程前沿汇报（小组作业）：</a:t>
            </a:r>
            <a:r>
              <a:rPr lang="en-US" altLang="zh-CN" b="1">
                <a:solidFill>
                  <a:schemeClr val="tx1"/>
                </a:solidFill>
              </a:rPr>
              <a:t>40%</a:t>
            </a:r>
            <a:r>
              <a:rPr lang="zh-CN" altLang="en-US"/>
              <a:t>：根据课程所学前沿算法，汇报跟自己</a:t>
            </a:r>
            <a:r>
              <a:rPr lang="en-US" altLang="zh-CN"/>
              <a:t>/</a:t>
            </a:r>
            <a:r>
              <a:rPr lang="zh-CN" altLang="en-US"/>
              <a:t>小组研究最相近的前沿方法应用，尽量复现，应用教师自己开发的</a:t>
            </a:r>
            <a:r>
              <a:rPr lang="en-US" altLang="zh-CN"/>
              <a:t>“</a:t>
            </a:r>
            <a:r>
              <a:rPr lang="zh-CN" altLang="en-US"/>
              <a:t>动态角色适配与效能评价</a:t>
            </a:r>
            <a:r>
              <a:rPr lang="en-US" altLang="zh-CN"/>
              <a:t>”</a:t>
            </a:r>
            <a:r>
              <a:rPr lang="zh-CN" altLang="en-US"/>
              <a:t>系统进行随机角色分配（提问者角色及回答人角色）。</a:t>
            </a:r>
            <a:endParaRPr lang="zh-CN" altLang="en-US"/>
          </a:p>
          <a:p>
            <a:pPr>
              <a:buFont typeface="Wingdings" panose="05000000000000000000" charset="0"/>
              <a:buChar char="l"/>
            </a:pPr>
            <a:r>
              <a:rPr lang="zh-CN" altLang="en-US" b="1"/>
              <a:t>大作业（个人作业）：</a:t>
            </a:r>
            <a:r>
              <a:rPr lang="en-US" altLang="zh-CN" b="1"/>
              <a:t>30%</a:t>
            </a:r>
            <a:r>
              <a:rPr lang="zh-CN" altLang="en-US"/>
              <a:t>：选择所学的一种或几种算法组合，以论文的形式，</a:t>
            </a:r>
            <a:r>
              <a:rPr lang="zh-CN" altLang="en-US" b="1">
                <a:solidFill>
                  <a:srgbClr val="C00000"/>
                </a:solidFill>
              </a:rPr>
              <a:t>实现</a:t>
            </a:r>
            <a:r>
              <a:rPr lang="zh-CN" altLang="en-US"/>
              <a:t>自己的研究想法。</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课程考核（研究生）</a:t>
            </a:r>
            <a:endParaRPr lang="zh-CN" altLang="en-US"/>
          </a:p>
        </p:txBody>
      </p:sp>
      <p:sp>
        <p:nvSpPr>
          <p:cNvPr id="3" name="内容占位符 2"/>
          <p:cNvSpPr>
            <a:spLocks noGrp="1"/>
          </p:cNvSpPr>
          <p:nvPr>
            <p:ph idx="1"/>
          </p:nvPr>
        </p:nvSpPr>
        <p:spPr/>
        <p:txBody>
          <a:bodyPr/>
          <a:p>
            <a:pPr>
              <a:buFont typeface="Wingdings" panose="05000000000000000000" charset="0"/>
              <a:buChar char="l"/>
            </a:pPr>
            <a:r>
              <a:rPr lang="en-US" altLang="zh-CN"/>
              <a:t>17</a:t>
            </a:r>
            <a:r>
              <a:rPr lang="zh-CN" altLang="en-US"/>
              <a:t>个人，分成</a:t>
            </a:r>
            <a:r>
              <a:rPr lang="en-US" altLang="zh-CN"/>
              <a:t>5</a:t>
            </a:r>
            <a:r>
              <a:rPr lang="zh-CN" altLang="en-US"/>
              <a:t>组，其中三组每组</a:t>
            </a:r>
            <a:r>
              <a:rPr lang="en-US" altLang="zh-CN"/>
              <a:t>3</a:t>
            </a:r>
            <a:r>
              <a:rPr lang="zh-CN" altLang="en-US"/>
              <a:t>个人，两组每组</a:t>
            </a:r>
            <a:r>
              <a:rPr lang="en-US" altLang="zh-CN"/>
              <a:t>4</a:t>
            </a:r>
            <a:r>
              <a:rPr lang="zh-CN" altLang="en-US"/>
              <a:t>个人，</a:t>
            </a:r>
            <a:r>
              <a:rPr lang="en-US"/>
              <a:t>3-4</a:t>
            </a:r>
            <a:r>
              <a:rPr lang="zh-CN" altLang="en-US"/>
              <a:t>人一组。研究方向相近的，尽量分在一组</a:t>
            </a:r>
            <a:endParaRPr lang="zh-CN" altLang="en-US"/>
          </a:p>
          <a:p>
            <a:pPr>
              <a:buFont typeface="Wingdings" panose="05000000000000000000" charset="0"/>
              <a:buChar char="l"/>
            </a:pPr>
            <a:r>
              <a:rPr lang="zh-CN" altLang="en-US" b="1">
                <a:solidFill>
                  <a:schemeClr val="tx1"/>
                </a:solidFill>
              </a:rPr>
              <a:t>课程作业（个人作业）：</a:t>
            </a:r>
            <a:r>
              <a:rPr lang="en-US" altLang="zh-CN" b="1">
                <a:solidFill>
                  <a:schemeClr val="tx1"/>
                </a:solidFill>
              </a:rPr>
              <a:t>4</a:t>
            </a:r>
            <a:r>
              <a:rPr lang="en-US" altLang="zh-CN" b="1">
                <a:solidFill>
                  <a:schemeClr val="tx1"/>
                </a:solidFill>
              </a:rPr>
              <a:t>0%</a:t>
            </a:r>
            <a:r>
              <a:rPr lang="zh-CN" altLang="en-US"/>
              <a:t>：教师出题，共三次小作业，无监督一次，有监督一次，深度学习一次</a:t>
            </a:r>
            <a:endParaRPr lang="zh-CN" altLang="en-US"/>
          </a:p>
          <a:p>
            <a:pPr>
              <a:buFont typeface="Wingdings" panose="05000000000000000000" charset="0"/>
              <a:buChar char="l"/>
            </a:pPr>
            <a:r>
              <a:rPr lang="zh-CN" altLang="en-US" b="1"/>
              <a:t>课程汇报（小组作业）：</a:t>
            </a:r>
            <a:r>
              <a:rPr lang="en-US" altLang="zh-CN" b="1"/>
              <a:t>60%</a:t>
            </a:r>
            <a:r>
              <a:rPr lang="zh-CN" altLang="en-US"/>
              <a:t>：两种选择：</a:t>
            </a:r>
            <a:r>
              <a:rPr lang="zh-CN" altLang="en-US" b="1"/>
              <a:t>①</a:t>
            </a:r>
            <a:r>
              <a:rPr lang="zh-CN" altLang="en-US">
                <a:sym typeface="+mn-ea"/>
              </a:rPr>
              <a:t>根据课程所学前沿算法，汇报跟自己</a:t>
            </a:r>
            <a:r>
              <a:rPr lang="en-US" altLang="zh-CN">
                <a:sym typeface="+mn-ea"/>
              </a:rPr>
              <a:t>/</a:t>
            </a:r>
            <a:r>
              <a:rPr lang="zh-CN" altLang="en-US">
                <a:sym typeface="+mn-ea"/>
              </a:rPr>
              <a:t>小组研究最相近的前沿方法应用，要求复现；</a:t>
            </a:r>
            <a:r>
              <a:rPr lang="zh-CN" altLang="en-US" b="1">
                <a:sym typeface="+mn-ea"/>
              </a:rPr>
              <a:t>②</a:t>
            </a:r>
            <a:r>
              <a:rPr lang="zh-CN" altLang="en-US">
                <a:sym typeface="+mn-ea"/>
              </a:rPr>
              <a:t>从授课教师给出的题目中进行选择，并实现。大作业以论文形式呈现，最后，应用教师自己开发的</a:t>
            </a:r>
            <a:r>
              <a:rPr lang="en-US" altLang="zh-CN">
                <a:sym typeface="+mn-ea"/>
              </a:rPr>
              <a:t>“</a:t>
            </a:r>
            <a:r>
              <a:rPr lang="zh-CN" altLang="en-US">
                <a:sym typeface="+mn-ea"/>
              </a:rPr>
              <a:t>动态角色适配与效能评价</a:t>
            </a:r>
            <a:r>
              <a:rPr lang="en-US" altLang="zh-CN">
                <a:sym typeface="+mn-ea"/>
              </a:rPr>
              <a:t>”</a:t>
            </a:r>
            <a:r>
              <a:rPr lang="zh-CN" altLang="en-US">
                <a:sym typeface="+mn-ea"/>
              </a:rPr>
              <a:t>系统进行随机角色分配（提问者角色及回答人角色）。</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i="0" u="none" strike="noStrike" kern="1200" cap="none" spc="0" normalizeH="0" baseline="0" noProof="0" dirty="0">
                <a:ln>
                  <a:noFill/>
                </a:ln>
                <a:solidFill>
                  <a:srgbClr val="C00000"/>
                </a:solidFill>
                <a:effectLst/>
                <a:uLnTx/>
                <a:uFillTx/>
                <a:latin typeface="Arial" panose="020B0604020202020204"/>
                <a:ea typeface="宋体" panose="02010600030101010101" pitchFamily="2" charset="-122"/>
              </a:rPr>
              <a:t>人工智能</a:t>
            </a:r>
            <a:r>
              <a:rPr kumimoji="0" lang="zh-CN" altLang="en-US" dirty="0">
                <a:solidFill>
                  <a:srgbClr val="C00000"/>
                </a:solidFill>
                <a:latin typeface="Arial" panose="020B0604020202020204"/>
                <a:ea typeface="宋体" panose="02010600030101010101" pitchFamily="2" charset="-122"/>
              </a:rPr>
              <a:t>的概念</a:t>
            </a:r>
            <a:endParaRPr kumimoji="0" lang="en-US" altLang="zh-CN" i="0" u="none" strike="noStrike" kern="1200" cap="none" spc="0" normalizeH="0" baseline="0" noProof="0" dirty="0">
              <a:ln>
                <a:noFill/>
              </a:ln>
              <a:solidFill>
                <a:srgbClr val="C00000"/>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人工智能的发展简史</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rPr>
              <a:t>人工智能基本</a:t>
            </a:r>
            <a:r>
              <a:rPr kumimoji="0" lang="zh-CN" altLang="en-US" dirty="0">
                <a:latin typeface="Arial" panose="020B0604020202020204"/>
                <a:ea typeface="宋体" panose="02010600030101010101" pitchFamily="2" charset="-122"/>
              </a:rPr>
              <a:t>研究</a:t>
            </a:r>
            <a:r>
              <a:rPr kumimoji="0" lang="zh-CN" altLang="en-US"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rPr>
              <a:t>内容</a:t>
            </a: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人工智能的发展</a:t>
            </a: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spc="-100" dirty="0">
                <a:solidFill>
                  <a:srgbClr val="D2533C"/>
                </a:solidFill>
                <a:latin typeface="Arial" panose="020B0604020202020204"/>
                <a:ea typeface="华文新魏" panose="02010800040101010101" pitchFamily="2" charset="-122"/>
              </a:rPr>
              <a:t>智能的概念</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p>
            <a:pPr marL="0" algn="l">
              <a:lnSpc>
                <a:spcPct val="85000"/>
              </a:lnSpc>
              <a:buClrTx/>
              <a:buSzTx/>
              <a:buFontTx/>
              <a:buNone/>
            </a:pPr>
            <a:r>
              <a:rPr lang="zh-CN" altLang="en-US" sz="2400" spc="-100" dirty="0">
                <a:solidFill>
                  <a:schemeClr val="tx1"/>
                </a:solidFill>
                <a:latin typeface="+mj-ea"/>
                <a:ea typeface="+mj-ea"/>
                <a:cs typeface="+mj-cs"/>
              </a:rPr>
              <a:t>自然界的</a:t>
            </a:r>
            <a:r>
              <a:rPr lang="zh-CN" altLang="en-US" sz="2400" b="1" spc="-100" dirty="0">
                <a:solidFill>
                  <a:srgbClr val="0070C0"/>
                </a:solidFill>
                <a:latin typeface="+mj-ea"/>
                <a:ea typeface="+mj-ea"/>
                <a:cs typeface="+mj-cs"/>
              </a:rPr>
              <a:t>四大奥秘</a:t>
            </a:r>
            <a:r>
              <a:rPr lang="zh-CN" altLang="en-US" sz="2400" spc="-100" dirty="0">
                <a:solidFill>
                  <a:schemeClr val="tx1"/>
                </a:solidFill>
                <a:latin typeface="+mj-ea"/>
                <a:ea typeface="+mj-ea"/>
                <a:cs typeface="+mj-cs"/>
              </a:rPr>
              <a:t>：</a:t>
            </a:r>
            <a:endParaRPr lang="zh-CN" altLang="en-US" sz="2400" spc="-100" dirty="0">
              <a:solidFill>
                <a:schemeClr val="tx1"/>
              </a:solidFill>
              <a:latin typeface="+mj-ea"/>
              <a:ea typeface="+mj-ea"/>
              <a:cs typeface="+mj-cs"/>
            </a:endParaRPr>
          </a:p>
          <a:p>
            <a:pPr marL="252095" indent="-342900" algn="l">
              <a:lnSpc>
                <a:spcPct val="85000"/>
              </a:lnSpc>
              <a:buClrTx/>
              <a:buSzTx/>
              <a:buFont typeface="Arial" panose="020B0604020202020204" pitchFamily="34" charset="0"/>
              <a:buChar char="•"/>
            </a:pPr>
            <a:r>
              <a:rPr lang="zh-CN" altLang="en-US" sz="2400" spc="-100" dirty="0">
                <a:solidFill>
                  <a:schemeClr val="tx1"/>
                </a:solidFill>
                <a:latin typeface="+mj-ea"/>
                <a:ea typeface="+mj-ea"/>
                <a:cs typeface="+mj-cs"/>
              </a:rPr>
              <a:t>物质的本质</a:t>
            </a:r>
            <a:endParaRPr lang="zh-CN" altLang="en-US" sz="2400" spc="-100" dirty="0">
              <a:solidFill>
                <a:schemeClr val="tx1"/>
              </a:solidFill>
              <a:latin typeface="+mj-ea"/>
              <a:ea typeface="+mj-ea"/>
              <a:cs typeface="+mj-cs"/>
            </a:endParaRPr>
          </a:p>
          <a:p>
            <a:pPr marL="252095" indent="-342900" algn="l">
              <a:lnSpc>
                <a:spcPct val="85000"/>
              </a:lnSpc>
              <a:buClrTx/>
              <a:buSzTx/>
              <a:buFont typeface="Arial" panose="020B0604020202020204" pitchFamily="34" charset="0"/>
              <a:buChar char="•"/>
            </a:pPr>
            <a:r>
              <a:rPr lang="zh-CN" altLang="en-US" sz="2400" spc="-100" dirty="0">
                <a:solidFill>
                  <a:schemeClr val="tx1"/>
                </a:solidFill>
                <a:latin typeface="+mj-ea"/>
                <a:ea typeface="+mj-ea"/>
                <a:cs typeface="+mj-cs"/>
              </a:rPr>
              <a:t>宇宙的起源</a:t>
            </a:r>
            <a:endParaRPr lang="zh-CN" altLang="en-US" sz="2400" spc="-100" dirty="0">
              <a:solidFill>
                <a:schemeClr val="tx1"/>
              </a:solidFill>
              <a:latin typeface="+mj-ea"/>
              <a:ea typeface="+mj-ea"/>
              <a:cs typeface="+mj-cs"/>
            </a:endParaRPr>
          </a:p>
          <a:p>
            <a:pPr marL="252095" indent="-342900" algn="l">
              <a:lnSpc>
                <a:spcPct val="85000"/>
              </a:lnSpc>
              <a:buClrTx/>
              <a:buSzTx/>
              <a:buFont typeface="Arial" panose="020B0604020202020204" pitchFamily="34" charset="0"/>
              <a:buChar char="•"/>
            </a:pPr>
            <a:r>
              <a:rPr lang="zh-CN" altLang="en-US" sz="2400" spc="-100" dirty="0">
                <a:solidFill>
                  <a:schemeClr val="tx1"/>
                </a:solidFill>
                <a:latin typeface="+mj-ea"/>
                <a:ea typeface="+mj-ea"/>
                <a:cs typeface="+mj-cs"/>
              </a:rPr>
              <a:t>生命的本质</a:t>
            </a:r>
            <a:endParaRPr lang="zh-CN" altLang="en-US" sz="2400" spc="-100" dirty="0">
              <a:solidFill>
                <a:schemeClr val="tx1"/>
              </a:solidFill>
              <a:latin typeface="+mj-ea"/>
              <a:ea typeface="+mj-ea"/>
              <a:cs typeface="+mj-cs"/>
            </a:endParaRPr>
          </a:p>
          <a:p>
            <a:pPr marL="252095" indent="-342900" algn="l">
              <a:lnSpc>
                <a:spcPct val="85000"/>
              </a:lnSpc>
              <a:buClrTx/>
              <a:buSzTx/>
              <a:buFont typeface="Arial" panose="020B0604020202020204" pitchFamily="34" charset="0"/>
              <a:buChar char="•"/>
            </a:pPr>
            <a:r>
              <a:rPr lang="zh-CN" altLang="en-US" sz="2400" spc="-100" dirty="0">
                <a:solidFill>
                  <a:schemeClr val="tx1"/>
                </a:solidFill>
                <a:latin typeface="+mj-ea"/>
                <a:ea typeface="+mj-ea"/>
                <a:cs typeface="+mj-cs"/>
              </a:rPr>
              <a:t>智能的发生</a:t>
            </a:r>
            <a:endParaRPr lang="zh-CN" altLang="en-US" sz="2400" spc="-100" dirty="0">
              <a:solidFill>
                <a:schemeClr val="tx1"/>
              </a:solidFill>
              <a:latin typeface="+mj-ea"/>
              <a:ea typeface="+mj-ea"/>
              <a:cs typeface="+mj-cs"/>
            </a:endParaRPr>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智能的概念</a:t>
            </a:r>
            <a:endParaRPr lang="en-US" altLang="zh-CN" spc="-100" dirty="0">
              <a:solidFill>
                <a:srgbClr val="D2533C"/>
              </a:solidFill>
              <a:latin typeface="Arial" panose="020B0604020202020204"/>
              <a:ea typeface="华文新魏" panose="02010800040101010101" pitchFamily="2" charset="-122"/>
              <a:sym typeface="+mn-ea"/>
            </a:endParaRPr>
          </a:p>
        </p:txBody>
      </p:sp>
      <p:sp>
        <p:nvSpPr>
          <p:cNvPr id="3" name="内容占位符 2"/>
          <p:cNvSpPr>
            <a:spLocks noGrp="1"/>
          </p:cNvSpPr>
          <p:nvPr>
            <p:ph idx="1"/>
          </p:nvPr>
        </p:nvSpPr>
        <p:spPr/>
        <p:txBody>
          <a:bodyPr/>
          <a:p>
            <a:r>
              <a:rPr lang="en-US" altLang="zh-CN"/>
              <a:t>  </a:t>
            </a:r>
            <a:r>
              <a:rPr lang="zh-CN" altLang="en-US"/>
              <a:t>对智能还没有确切的定义，主要流派有；</a:t>
            </a:r>
            <a:endParaRPr lang="zh-CN" altLang="en-US"/>
          </a:p>
          <a:p>
            <a:pPr>
              <a:buFont typeface="Wingdings" panose="05000000000000000000" charset="0"/>
              <a:buChar char="l"/>
            </a:pPr>
            <a:r>
              <a:rPr lang="zh-CN" altLang="en-US" b="1">
                <a:solidFill>
                  <a:srgbClr val="FF0000"/>
                </a:solidFill>
              </a:rPr>
              <a:t>思维理论</a:t>
            </a:r>
            <a:r>
              <a:rPr lang="zh-CN" altLang="en-US"/>
              <a:t>：智能的核心是思维</a:t>
            </a:r>
            <a:endParaRPr lang="zh-CN" altLang="en-US"/>
          </a:p>
          <a:p>
            <a:pPr>
              <a:buFont typeface="Wingdings" panose="05000000000000000000" charset="0"/>
              <a:buChar char="l"/>
            </a:pPr>
            <a:r>
              <a:rPr lang="zh-CN" altLang="en-US" b="1">
                <a:solidFill>
                  <a:srgbClr val="FF0000"/>
                </a:solidFill>
              </a:rPr>
              <a:t>知识阈值理论</a:t>
            </a:r>
            <a:r>
              <a:rPr lang="zh-CN" altLang="en-US"/>
              <a:t>：智能取决于知识的数量及一般化程度</a:t>
            </a:r>
            <a:endParaRPr lang="zh-CN" altLang="en-US"/>
          </a:p>
          <a:p>
            <a:pPr>
              <a:buFont typeface="Wingdings" panose="05000000000000000000" charset="0"/>
              <a:buChar char="l"/>
            </a:pPr>
            <a:r>
              <a:rPr lang="zh-CN" altLang="en-US" b="1">
                <a:solidFill>
                  <a:srgbClr val="FF0000"/>
                </a:solidFill>
              </a:rPr>
              <a:t>进化理论</a:t>
            </a:r>
            <a:r>
              <a:rPr lang="zh-CN" altLang="en-US"/>
              <a:t>：用控制取代知识的表示</a:t>
            </a:r>
            <a:endParaRPr lang="zh-CN" altLang="en-US"/>
          </a:p>
          <a:p>
            <a:pPr>
              <a:buFont typeface="Wingdings" panose="05000000000000000000" charset="0"/>
              <a:buChar char="l"/>
            </a:pPr>
            <a:r>
              <a:rPr lang="en-US" altLang="zh-CN"/>
              <a:t>......</a:t>
            </a:r>
            <a:endParaRPr lang="en-US" altLang="zh-CN"/>
          </a:p>
          <a:p>
            <a:pPr>
              <a:buFont typeface="Wingdings" panose="05000000000000000000" charset="0"/>
              <a:buChar char="l"/>
            </a:pPr>
            <a:endParaRPr lang="en-US" altLang="zh-CN"/>
          </a:p>
          <a:p>
            <a:pPr marL="0" indent="0">
              <a:buFont typeface="Wingdings" panose="05000000000000000000" charset="0"/>
              <a:buNone/>
            </a:pPr>
            <a:r>
              <a:rPr lang="en-US" altLang="zh-CN" b="1"/>
              <a:t>  </a:t>
            </a:r>
            <a:r>
              <a:rPr lang="zh-CN" altLang="en-US" b="1"/>
              <a:t>计算机、人工智能领域给智能的定义：</a:t>
            </a:r>
            <a:endParaRPr lang="zh-CN" altLang="en-US" b="1"/>
          </a:p>
          <a:p>
            <a:pPr marL="0" indent="0">
              <a:buFont typeface="Wingdings" panose="05000000000000000000" charset="0"/>
              <a:buChar char="l"/>
            </a:pPr>
            <a:r>
              <a:rPr lang="zh-CN" altLang="en-US" sz="2400"/>
              <a:t>智能是</a:t>
            </a:r>
            <a:r>
              <a:rPr lang="zh-CN" altLang="en-US" sz="2400" b="1">
                <a:solidFill>
                  <a:srgbClr val="FF0000"/>
                </a:solidFill>
              </a:rPr>
              <a:t>知识</a:t>
            </a:r>
            <a:r>
              <a:rPr lang="zh-CN" altLang="en-US" sz="2400"/>
              <a:t>与</a:t>
            </a:r>
            <a:r>
              <a:rPr lang="zh-CN" altLang="en-US" sz="2400" b="1">
                <a:solidFill>
                  <a:srgbClr val="0070C0"/>
                </a:solidFill>
              </a:rPr>
              <a:t>智力</a:t>
            </a:r>
            <a:r>
              <a:rPr lang="zh-CN" altLang="en-US" sz="2400"/>
              <a:t>的总和。</a:t>
            </a:r>
            <a:endParaRPr lang="zh-CN" altLang="en-US" sz="2400"/>
          </a:p>
          <a:p>
            <a:pPr marL="0" indent="0">
              <a:buFont typeface="Wingdings" panose="05000000000000000000" charset="0"/>
              <a:buNone/>
            </a:pPr>
            <a:endParaRPr lang="zh-CN" altLang="en-US" sz="2400"/>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5" name="圆角矩形 4"/>
          <p:cNvSpPr/>
          <p:nvPr/>
        </p:nvSpPr>
        <p:spPr>
          <a:xfrm>
            <a:off x="828675" y="5373370"/>
            <a:ext cx="2231390" cy="720090"/>
          </a:xfrm>
          <a:prstGeom prst="roundRect">
            <a:avLst/>
          </a:prstGeom>
          <a:solidFill>
            <a:schemeClr val="accent1">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rgbClr val="FF0000"/>
                </a:solidFill>
              </a:rPr>
              <a:t>知识是一切智能行为的基础</a:t>
            </a:r>
            <a:endParaRPr lang="zh-CN" altLang="en-US" b="1">
              <a:solidFill>
                <a:srgbClr val="FF0000"/>
              </a:solidFill>
            </a:endParaRPr>
          </a:p>
        </p:txBody>
      </p:sp>
      <p:cxnSp>
        <p:nvCxnSpPr>
          <p:cNvPr id="6" name="直接箭头连接符 5"/>
          <p:cNvCxnSpPr>
            <a:stCxn id="5" idx="0"/>
          </p:cNvCxnSpPr>
          <p:nvPr/>
        </p:nvCxnSpPr>
        <p:spPr>
          <a:xfrm flipV="1">
            <a:off x="1944370" y="5013325"/>
            <a:ext cx="251460" cy="3600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7" name="圆角矩形 6"/>
          <p:cNvSpPr/>
          <p:nvPr/>
        </p:nvSpPr>
        <p:spPr>
          <a:xfrm>
            <a:off x="3563620" y="5372735"/>
            <a:ext cx="2847975" cy="720090"/>
          </a:xfrm>
          <a:prstGeom prst="roundRect">
            <a:avLst/>
          </a:prstGeom>
          <a:solidFill>
            <a:schemeClr val="accent1">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a:solidFill>
                  <a:srgbClr val="0070C0"/>
                </a:solidFill>
                <a:sym typeface="+mn-ea"/>
              </a:rPr>
              <a:t>获取知识并应用知识求解问题的能力</a:t>
            </a:r>
            <a:endParaRPr lang="zh-CN" altLang="en-US" b="1">
              <a:solidFill>
                <a:srgbClr val="0070C0"/>
              </a:solidFill>
              <a:sym typeface="+mn-ea"/>
            </a:endParaRPr>
          </a:p>
        </p:txBody>
      </p:sp>
      <p:cxnSp>
        <p:nvCxnSpPr>
          <p:cNvPr id="9" name="直接箭头连接符 8"/>
          <p:cNvCxnSpPr/>
          <p:nvPr/>
        </p:nvCxnSpPr>
        <p:spPr>
          <a:xfrm flipH="1" flipV="1">
            <a:off x="3275965" y="5013325"/>
            <a:ext cx="1727835" cy="3600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
        <p:nvSpPr>
          <p:cNvPr id="5" name="五角星 4"/>
          <p:cNvSpPr/>
          <p:nvPr>
            <p:custDataLst>
              <p:tags r:id="rId1"/>
            </p:custDataLst>
          </p:nvPr>
        </p:nvSpPr>
        <p:spPr>
          <a:xfrm>
            <a:off x="3203575" y="2060575"/>
            <a:ext cx="2973705" cy="2785110"/>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spc="-100" dirty="0">
                <a:solidFill>
                  <a:srgbClr val="FFFF00"/>
                </a:solidFill>
                <a:latin typeface="Arial" panose="020B0604020202020204"/>
                <a:ea typeface="华文新魏" panose="02010800040101010101" pitchFamily="2" charset="-122"/>
                <a:sym typeface="+mn-ea"/>
              </a:rPr>
              <a:t>智能的特征</a:t>
            </a:r>
            <a:endParaRPr lang="zh-CN" altLang="en-US" b="1" spc="-100" dirty="0">
              <a:solidFill>
                <a:srgbClr val="FFFF00"/>
              </a:solidFill>
              <a:latin typeface="Arial" panose="020B0604020202020204"/>
              <a:ea typeface="华文新魏" panose="02010800040101010101" pitchFamily="2" charset="-122"/>
              <a:sym typeface="+mn-ea"/>
            </a:endParaRPr>
          </a:p>
        </p:txBody>
      </p:sp>
      <p:sp>
        <p:nvSpPr>
          <p:cNvPr id="7" name="文本框 6"/>
          <p:cNvSpPr txBox="1"/>
          <p:nvPr>
            <p:custDataLst>
              <p:tags r:id="rId2"/>
            </p:custDataLst>
          </p:nvPr>
        </p:nvSpPr>
        <p:spPr>
          <a:xfrm>
            <a:off x="100330" y="2274570"/>
            <a:ext cx="2750185" cy="1881505"/>
          </a:xfrm>
          <a:prstGeom prst="rect">
            <a:avLst/>
          </a:prstGeom>
          <a:ln w="19050">
            <a:solidFill>
              <a:srgbClr val="E48312"/>
            </a:solidFill>
            <a:prstDash val="dash"/>
          </a:ln>
        </p:spPr>
        <p:txBody>
          <a:bodyPr wrap="square" lIns="36195" rIns="36195">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charset="-122"/>
              </a:rPr>
              <a:t>           1.</a:t>
            </a:r>
            <a:r>
              <a:rPr lang="zh-CN" altLang="en-US" sz="1800">
                <a:latin typeface="Arial" panose="020B0604020202020204" pitchFamily="34" charset="0"/>
                <a:ea typeface="微软雅黑" panose="020B0503020204020204" charset="-122"/>
              </a:rPr>
              <a:t>感知能力</a:t>
            </a:r>
            <a:endParaRPr lang="zh-CN" altLang="en-US" sz="1800">
              <a:latin typeface="Arial" panose="020B0604020202020204" pitchFamily="34" charset="0"/>
              <a:ea typeface="微软雅黑" panose="020B0503020204020204" charset="-122"/>
            </a:endParaRPr>
          </a:p>
          <a:p>
            <a:pPr algn="l"/>
            <a:endParaRPr lang="zh-CN" altLang="en-US" sz="1800">
              <a:latin typeface="Arial" panose="020B0604020202020204" pitchFamily="34" charset="0"/>
              <a:ea typeface="微软雅黑" panose="020B0503020204020204" charset="-122"/>
            </a:endParaRPr>
          </a:p>
          <a:p>
            <a:pPr algn="l"/>
            <a:r>
              <a:rPr lang="zh-CN" altLang="en-US" sz="1600">
                <a:latin typeface="Arial" panose="020B0604020202020204" pitchFamily="34" charset="0"/>
                <a:ea typeface="微软雅黑" panose="020B0503020204020204" charset="-122"/>
              </a:rPr>
              <a:t>通过</a:t>
            </a:r>
            <a:r>
              <a:rPr lang="zh-CN" altLang="en-US" sz="1600" b="1">
                <a:solidFill>
                  <a:schemeClr val="accent2"/>
                </a:solidFill>
                <a:latin typeface="Arial" panose="020B0604020202020204" pitchFamily="34" charset="0"/>
                <a:ea typeface="微软雅黑" panose="020B0503020204020204" charset="-122"/>
              </a:rPr>
              <a:t>视觉</a:t>
            </a:r>
            <a:r>
              <a:rPr lang="zh-CN" altLang="en-US" sz="1600">
                <a:latin typeface="Arial" panose="020B0604020202020204" pitchFamily="34" charset="0"/>
                <a:ea typeface="微软雅黑" panose="020B0503020204020204" charset="-122"/>
              </a:rPr>
              <a:t>、</a:t>
            </a:r>
            <a:r>
              <a:rPr lang="zh-CN" altLang="en-US" sz="1600" b="1">
                <a:solidFill>
                  <a:srgbClr val="00B0F0"/>
                </a:solidFill>
                <a:latin typeface="Arial" panose="020B0604020202020204" pitchFamily="34" charset="0"/>
                <a:ea typeface="微软雅黑" panose="020B0503020204020204" charset="-122"/>
              </a:rPr>
              <a:t>听觉</a:t>
            </a:r>
            <a:r>
              <a:rPr lang="zh-CN" altLang="en-US" sz="1600">
                <a:latin typeface="Arial" panose="020B0604020202020204" pitchFamily="34" charset="0"/>
                <a:ea typeface="微软雅黑" panose="020B0503020204020204" charset="-122"/>
              </a:rPr>
              <a:t>、</a:t>
            </a:r>
            <a:r>
              <a:rPr lang="zh-CN" altLang="en-US" sz="1600" b="1">
                <a:solidFill>
                  <a:srgbClr val="7030A0"/>
                </a:solidFill>
                <a:latin typeface="Arial" panose="020B0604020202020204" pitchFamily="34" charset="0"/>
                <a:ea typeface="微软雅黑" panose="020B0503020204020204" charset="-122"/>
              </a:rPr>
              <a:t>触觉</a:t>
            </a:r>
            <a:r>
              <a:rPr lang="zh-CN" altLang="en-US" sz="1600">
                <a:latin typeface="Arial" panose="020B0604020202020204" pitchFamily="34" charset="0"/>
                <a:ea typeface="微软雅黑" panose="020B0503020204020204" charset="-122"/>
              </a:rPr>
              <a:t>、</a:t>
            </a:r>
            <a:r>
              <a:rPr lang="zh-CN" altLang="en-US" sz="1600" b="1">
                <a:solidFill>
                  <a:srgbClr val="00B050"/>
                </a:solidFill>
                <a:latin typeface="Arial" panose="020B0604020202020204" pitchFamily="34" charset="0"/>
                <a:ea typeface="微软雅黑" panose="020B0503020204020204" charset="-122"/>
              </a:rPr>
              <a:t>嗅觉</a:t>
            </a:r>
            <a:r>
              <a:rPr lang="zh-CN" altLang="en-US" sz="1600">
                <a:latin typeface="Arial" panose="020B0604020202020204" pitchFamily="34" charset="0"/>
                <a:ea typeface="微软雅黑" panose="020B0503020204020204" charset="-122"/>
              </a:rPr>
              <a:t>等感觉器官感知外部世界的能力</a:t>
            </a:r>
            <a:endParaRPr lang="zh-CN" altLang="en-US" sz="1600">
              <a:latin typeface="Arial" panose="020B0604020202020204" pitchFamily="34" charset="0"/>
              <a:ea typeface="微软雅黑" panose="020B0503020204020204" charset="-122"/>
            </a:endParaRPr>
          </a:p>
          <a:p>
            <a:pPr algn="l"/>
            <a:r>
              <a:rPr lang="en-US" altLang="zh-CN" sz="1600">
                <a:latin typeface="Arial" panose="020B0604020202020204" pitchFamily="34" charset="0"/>
                <a:ea typeface="微软雅黑" panose="020B0503020204020204" charset="-122"/>
                <a:sym typeface="+mn-ea"/>
              </a:rPr>
              <a:t>80%</a:t>
            </a:r>
            <a:r>
              <a:rPr lang="zh-CN" altLang="en-US" sz="1600">
                <a:latin typeface="Arial" panose="020B0604020202020204" pitchFamily="34" charset="0"/>
                <a:ea typeface="微软雅黑" panose="020B0503020204020204" charset="-122"/>
                <a:sym typeface="+mn-ea"/>
              </a:rPr>
              <a:t>以上信息通过</a:t>
            </a:r>
            <a:r>
              <a:rPr lang="zh-CN" altLang="en-US" sz="1600" b="1">
                <a:solidFill>
                  <a:srgbClr val="C00000"/>
                </a:solidFill>
                <a:latin typeface="Arial" panose="020B0604020202020204" pitchFamily="34" charset="0"/>
                <a:ea typeface="微软雅黑" panose="020B0503020204020204" charset="-122"/>
                <a:sym typeface="+mn-ea"/>
              </a:rPr>
              <a:t>视觉</a:t>
            </a:r>
            <a:r>
              <a:rPr lang="zh-CN" altLang="en-US" sz="1600">
                <a:latin typeface="Arial" panose="020B0604020202020204" pitchFamily="34" charset="0"/>
                <a:ea typeface="微软雅黑" panose="020B0503020204020204" charset="-122"/>
                <a:sym typeface="+mn-ea"/>
              </a:rPr>
              <a:t>得到，</a:t>
            </a:r>
            <a:r>
              <a:rPr lang="en-US" altLang="zh-CN" sz="1600">
                <a:latin typeface="Arial" panose="020B0604020202020204" pitchFamily="34" charset="0"/>
                <a:ea typeface="微软雅黑" panose="020B0503020204020204" charset="-122"/>
                <a:sym typeface="+mn-ea"/>
              </a:rPr>
              <a:t>10%</a:t>
            </a:r>
            <a:r>
              <a:rPr lang="zh-CN" altLang="en-US" sz="1600">
                <a:latin typeface="Arial" panose="020B0604020202020204" pitchFamily="34" charset="0"/>
                <a:ea typeface="微软雅黑" panose="020B0503020204020204" charset="-122"/>
                <a:sym typeface="+mn-ea"/>
              </a:rPr>
              <a:t>信息通过</a:t>
            </a:r>
            <a:r>
              <a:rPr lang="zh-CN" altLang="en-US" sz="1600" b="1">
                <a:solidFill>
                  <a:srgbClr val="00B0F0"/>
                </a:solidFill>
                <a:latin typeface="Arial" panose="020B0604020202020204" pitchFamily="34" charset="0"/>
                <a:ea typeface="微软雅黑" panose="020B0503020204020204" charset="-122"/>
                <a:sym typeface="+mn-ea"/>
              </a:rPr>
              <a:t>听觉</a:t>
            </a:r>
            <a:r>
              <a:rPr lang="zh-CN" altLang="en-US" sz="1600">
                <a:latin typeface="Arial" panose="020B0604020202020204" pitchFamily="34" charset="0"/>
                <a:ea typeface="微软雅黑" panose="020B0503020204020204" charset="-122"/>
                <a:sym typeface="+mn-ea"/>
              </a:rPr>
              <a:t>得到。</a:t>
            </a:r>
            <a:endParaRPr lang="zh-CN" altLang="en-US" sz="1600">
              <a:latin typeface="Arial" panose="020B0604020202020204" pitchFamily="34" charset="0"/>
              <a:ea typeface="微软雅黑" panose="020B0503020204020204" charset="-122"/>
            </a:endParaRPr>
          </a:p>
          <a:p>
            <a:pPr algn="l"/>
            <a:endParaRPr lang="zh-CN" altLang="en-US" sz="1600">
              <a:latin typeface="Arial" panose="020B0604020202020204" pitchFamily="34" charset="0"/>
              <a:ea typeface="微软雅黑" panose="020B0503020204020204" charset="-122"/>
            </a:endParaRPr>
          </a:p>
        </p:txBody>
      </p:sp>
      <p:cxnSp>
        <p:nvCxnSpPr>
          <p:cNvPr id="8" name="直接连接符 7"/>
          <p:cNvCxnSpPr/>
          <p:nvPr>
            <p:custDataLst>
              <p:tags r:id="rId3"/>
            </p:custDataLst>
          </p:nvPr>
        </p:nvCxnSpPr>
        <p:spPr>
          <a:xfrm>
            <a:off x="108585" y="2684145"/>
            <a:ext cx="2736215" cy="0"/>
          </a:xfrm>
          <a:prstGeom prst="line">
            <a:avLst/>
          </a:prstGeom>
        </p:spPr>
        <p:style>
          <a:lnRef idx="2">
            <a:schemeClr val="accent1"/>
          </a:lnRef>
          <a:fillRef idx="0">
            <a:srgbClr val="FFFFFF"/>
          </a:fillRef>
          <a:effectRef idx="0">
            <a:srgbClr val="FFFFFF"/>
          </a:effectRef>
          <a:fontRef idx="minor">
            <a:schemeClr val="tx1"/>
          </a:fontRef>
        </p:style>
      </p:cxnSp>
      <p:sp>
        <p:nvSpPr>
          <p:cNvPr id="9" name="文本框 8"/>
          <p:cNvSpPr txBox="1"/>
          <p:nvPr>
            <p:custDataLst>
              <p:tags r:id="rId4"/>
            </p:custDataLst>
          </p:nvPr>
        </p:nvSpPr>
        <p:spPr>
          <a:xfrm>
            <a:off x="3061335" y="157480"/>
            <a:ext cx="3141345" cy="1881505"/>
          </a:xfrm>
          <a:prstGeom prst="rect">
            <a:avLst/>
          </a:prstGeom>
          <a:ln w="19050">
            <a:solidFill>
              <a:srgbClr val="E48312"/>
            </a:solidFill>
            <a:prstDash val="dash"/>
          </a:ln>
        </p:spPr>
        <p:txBody>
          <a:bodyPr wrap="square" lIns="36195" rIns="36195">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charset="-122"/>
              </a:rPr>
              <a:t>          2.</a:t>
            </a:r>
            <a:r>
              <a:rPr lang="zh-CN" altLang="en-US" sz="1800">
                <a:latin typeface="Arial" panose="020B0604020202020204" pitchFamily="34" charset="0"/>
                <a:ea typeface="微软雅黑" panose="020B0503020204020204" charset="-122"/>
              </a:rPr>
              <a:t>记忆与思维能力</a:t>
            </a:r>
            <a:endParaRPr lang="zh-CN" altLang="en-US" sz="1800">
              <a:latin typeface="Arial" panose="020B0604020202020204" pitchFamily="34" charset="0"/>
              <a:ea typeface="微软雅黑" panose="020B0503020204020204" charset="-122"/>
            </a:endParaRPr>
          </a:p>
          <a:p>
            <a:pPr algn="l"/>
            <a:r>
              <a:rPr lang="zh-CN" altLang="en-US" sz="1600" b="1">
                <a:solidFill>
                  <a:schemeClr val="accent2"/>
                </a:solidFill>
                <a:latin typeface="Arial" panose="020B0604020202020204" pitchFamily="34" charset="0"/>
                <a:ea typeface="微软雅黑" panose="020B0503020204020204" charset="-122"/>
              </a:rPr>
              <a:t>记忆</a:t>
            </a:r>
            <a:r>
              <a:rPr lang="zh-CN" altLang="en-US" sz="1600">
                <a:latin typeface="Arial" panose="020B0604020202020204" pitchFamily="34" charset="0"/>
                <a:ea typeface="微软雅黑" panose="020B0503020204020204" charset="-122"/>
              </a:rPr>
              <a:t>：存储由感知器官感知到的外部信息以及由思维所产生的知识</a:t>
            </a:r>
            <a:endParaRPr lang="zh-CN" altLang="en-US" sz="1600">
              <a:latin typeface="Arial" panose="020B0604020202020204" pitchFamily="34" charset="0"/>
              <a:ea typeface="微软雅黑" panose="020B0503020204020204" charset="-122"/>
            </a:endParaRPr>
          </a:p>
          <a:p>
            <a:pPr algn="l"/>
            <a:endParaRPr lang="zh-CN" altLang="en-US" sz="1600">
              <a:latin typeface="Arial" panose="020B0604020202020204" pitchFamily="34" charset="0"/>
              <a:ea typeface="微软雅黑" panose="020B0503020204020204" charset="-122"/>
            </a:endParaRPr>
          </a:p>
          <a:p>
            <a:pPr algn="l"/>
            <a:r>
              <a:rPr lang="zh-CN" altLang="en-US" sz="1600" b="1">
                <a:solidFill>
                  <a:schemeClr val="accent2"/>
                </a:solidFill>
                <a:latin typeface="Arial" panose="020B0604020202020204" pitchFamily="34" charset="0"/>
                <a:ea typeface="微软雅黑" panose="020B0503020204020204" charset="-122"/>
              </a:rPr>
              <a:t>思维</a:t>
            </a:r>
            <a:r>
              <a:rPr lang="zh-CN" altLang="en-US" sz="1600">
                <a:latin typeface="Arial" panose="020B0604020202020204" pitchFamily="34" charset="0"/>
                <a:ea typeface="微软雅黑" panose="020B0503020204020204" charset="-122"/>
              </a:rPr>
              <a:t>：对记忆的信息进行处理。</a:t>
            </a:r>
            <a:r>
              <a:rPr lang="zh-CN" altLang="en-US" sz="1600">
                <a:latin typeface="Arial" panose="020B0604020202020204" pitchFamily="34" charset="0"/>
                <a:ea typeface="微软雅黑" panose="020B0503020204020204" charset="-122"/>
                <a:sym typeface="+mn-ea"/>
              </a:rPr>
              <a:t>逻辑思维、形象思维、顿悟思维</a:t>
            </a:r>
            <a:r>
              <a:rPr lang="en-US" altLang="zh-CN" sz="1600">
                <a:latin typeface="Arial" panose="020B0604020202020204" pitchFamily="34" charset="0"/>
                <a:ea typeface="微软雅黑" panose="020B0503020204020204" charset="-122"/>
                <a:sym typeface="+mn-ea"/>
              </a:rPr>
              <a:t>(</a:t>
            </a:r>
            <a:r>
              <a:rPr lang="zh-CN" altLang="en-US" sz="1600">
                <a:latin typeface="Arial" panose="020B0604020202020204" pitchFamily="34" charset="0"/>
                <a:ea typeface="微软雅黑" panose="020B0503020204020204" charset="-122"/>
                <a:sym typeface="+mn-ea"/>
              </a:rPr>
              <a:t>阿基米德</a:t>
            </a:r>
            <a:r>
              <a:rPr lang="en-US" altLang="zh-CN" sz="1600">
                <a:latin typeface="Arial" panose="020B0604020202020204" pitchFamily="34" charset="0"/>
                <a:ea typeface="微软雅黑" panose="020B0503020204020204" charset="-122"/>
                <a:sym typeface="+mn-ea"/>
              </a:rPr>
              <a:t>)</a:t>
            </a:r>
            <a:endParaRPr lang="zh-CN" altLang="en-US" sz="1600">
              <a:latin typeface="Arial" panose="020B0604020202020204" pitchFamily="34" charset="0"/>
              <a:ea typeface="微软雅黑" panose="020B0503020204020204" charset="-122"/>
            </a:endParaRPr>
          </a:p>
          <a:p>
            <a:pPr algn="l"/>
            <a:endParaRPr lang="zh-CN" altLang="en-US" sz="1600">
              <a:latin typeface="Arial" panose="020B0604020202020204" pitchFamily="34" charset="0"/>
              <a:ea typeface="微软雅黑" panose="020B0503020204020204" charset="-122"/>
            </a:endParaRPr>
          </a:p>
        </p:txBody>
      </p:sp>
      <p:cxnSp>
        <p:nvCxnSpPr>
          <p:cNvPr id="10" name="直接连接符 9"/>
          <p:cNvCxnSpPr/>
          <p:nvPr>
            <p:custDataLst>
              <p:tags r:id="rId5"/>
            </p:custDataLst>
          </p:nvPr>
        </p:nvCxnSpPr>
        <p:spPr>
          <a:xfrm>
            <a:off x="3033395" y="476885"/>
            <a:ext cx="3058795" cy="0"/>
          </a:xfrm>
          <a:prstGeom prst="line">
            <a:avLst/>
          </a:prstGeom>
        </p:spPr>
        <p:style>
          <a:lnRef idx="2">
            <a:schemeClr val="accent1"/>
          </a:lnRef>
          <a:fillRef idx="0">
            <a:srgbClr val="FFFFFF"/>
          </a:fillRef>
          <a:effectRef idx="0">
            <a:srgbClr val="FFFFFF"/>
          </a:effectRef>
          <a:fontRef idx="minor">
            <a:schemeClr val="tx1"/>
          </a:fontRef>
        </p:style>
      </p:cxnSp>
      <p:sp>
        <p:nvSpPr>
          <p:cNvPr id="11" name="文本框 10"/>
          <p:cNvSpPr txBox="1"/>
          <p:nvPr>
            <p:custDataLst>
              <p:tags r:id="rId6"/>
            </p:custDataLst>
          </p:nvPr>
        </p:nvSpPr>
        <p:spPr>
          <a:xfrm>
            <a:off x="6256020" y="2275840"/>
            <a:ext cx="2887980" cy="1695450"/>
          </a:xfrm>
          <a:prstGeom prst="rect">
            <a:avLst/>
          </a:prstGeom>
          <a:ln w="19050">
            <a:solidFill>
              <a:srgbClr val="E48312"/>
            </a:solidFill>
            <a:prstDash val="dash"/>
          </a:ln>
        </p:spPr>
        <p:txBody>
          <a:bodyPr wrap="square" lIns="36195" rIns="36195">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charset="-122"/>
              </a:rPr>
              <a:t>              3.</a:t>
            </a:r>
            <a:r>
              <a:rPr lang="zh-CN" altLang="en-US" sz="1800">
                <a:latin typeface="Arial" panose="020B0604020202020204" pitchFamily="34" charset="0"/>
                <a:ea typeface="微软雅黑" panose="020B0503020204020204" charset="-122"/>
              </a:rPr>
              <a:t>学习能力</a:t>
            </a:r>
            <a:endParaRPr lang="zh-CN" altLang="en-US" sz="1800">
              <a:latin typeface="Arial" panose="020B0604020202020204" pitchFamily="34" charset="0"/>
              <a:ea typeface="微软雅黑" panose="020B0503020204020204" charset="-122"/>
            </a:endParaRPr>
          </a:p>
          <a:p>
            <a:pPr algn="l"/>
            <a:endParaRPr lang="zh-CN" altLang="en-US" sz="1800">
              <a:latin typeface="Arial" panose="020B0604020202020204" pitchFamily="34" charset="0"/>
              <a:ea typeface="微软雅黑" panose="020B0503020204020204" charset="-122"/>
            </a:endParaRPr>
          </a:p>
          <a:p>
            <a:pPr algn="l"/>
            <a:r>
              <a:rPr lang="zh-CN" altLang="en-US" sz="1600">
                <a:latin typeface="Arial" panose="020B0604020202020204" pitchFamily="34" charset="0"/>
                <a:ea typeface="微软雅黑" panose="020B0503020204020204" charset="-122"/>
              </a:rPr>
              <a:t>学习既可能是自觉的、有意识的，也可能是不自觉的、无意识的；既可以是有教师指导的，也可以是通过自己实践的。</a:t>
            </a:r>
            <a:endParaRPr lang="zh-CN" altLang="en-US" sz="1600">
              <a:latin typeface="Arial" panose="020B0604020202020204" pitchFamily="34" charset="0"/>
              <a:ea typeface="微软雅黑" panose="020B0503020204020204" charset="-122"/>
            </a:endParaRPr>
          </a:p>
        </p:txBody>
      </p:sp>
      <p:cxnSp>
        <p:nvCxnSpPr>
          <p:cNvPr id="12" name="直接连接符 11"/>
          <p:cNvCxnSpPr/>
          <p:nvPr>
            <p:custDataLst>
              <p:tags r:id="rId7"/>
            </p:custDataLst>
          </p:nvPr>
        </p:nvCxnSpPr>
        <p:spPr>
          <a:xfrm>
            <a:off x="6264275" y="2685415"/>
            <a:ext cx="2887345" cy="0"/>
          </a:xfrm>
          <a:prstGeom prst="line">
            <a:avLst/>
          </a:prstGeom>
        </p:spPr>
        <p:style>
          <a:lnRef idx="2">
            <a:schemeClr val="accent1"/>
          </a:lnRef>
          <a:fillRef idx="0">
            <a:srgbClr val="FFFFFF"/>
          </a:fillRef>
          <a:effectRef idx="0">
            <a:srgbClr val="FFFFFF"/>
          </a:effectRef>
          <a:fontRef idx="minor">
            <a:schemeClr val="tx1"/>
          </a:fontRef>
        </p:style>
      </p:cxnSp>
      <p:sp>
        <p:nvSpPr>
          <p:cNvPr id="13" name="文本框 12"/>
          <p:cNvSpPr txBox="1"/>
          <p:nvPr>
            <p:custDataLst>
              <p:tags r:id="rId8"/>
            </p:custDataLst>
          </p:nvPr>
        </p:nvSpPr>
        <p:spPr>
          <a:xfrm>
            <a:off x="3132455" y="4845685"/>
            <a:ext cx="2959735" cy="1296670"/>
          </a:xfrm>
          <a:prstGeom prst="rect">
            <a:avLst/>
          </a:prstGeom>
          <a:ln w="19050">
            <a:solidFill>
              <a:srgbClr val="E48312"/>
            </a:solidFill>
            <a:prstDash val="dash"/>
          </a:ln>
        </p:spPr>
        <p:txBody>
          <a:bodyPr wrap="square" lIns="36195" rIns="36195">
            <a:noAutofit/>
            <a:extLst>
              <a:ext uri="{4A0BC546-FE56-4ADE-93B0-CB8AF2F6F144}">
                <wpsdc:textFrameExt xmlns:wpsdc="http://www.wps.cn/officeDocument/2022/drawingmlCustomData" type="text"/>
              </a:ext>
            </a:extLst>
          </a:bodyPr>
          <a:p>
            <a:pPr algn="l"/>
            <a:r>
              <a:rPr lang="en-US" altLang="zh-CN" sz="1800">
                <a:latin typeface="Arial" panose="020B0604020202020204" pitchFamily="34" charset="0"/>
                <a:ea typeface="微软雅黑" panose="020B0503020204020204" charset="-122"/>
              </a:rPr>
              <a:t>             4.</a:t>
            </a:r>
            <a:r>
              <a:rPr lang="zh-CN" altLang="en-US" sz="1800">
                <a:latin typeface="Arial" panose="020B0604020202020204" pitchFamily="34" charset="0"/>
                <a:ea typeface="微软雅黑" panose="020B0503020204020204" charset="-122"/>
              </a:rPr>
              <a:t>行为能力</a:t>
            </a:r>
            <a:endParaRPr lang="zh-CN" altLang="en-US" sz="1800">
              <a:latin typeface="Arial" panose="020B0604020202020204" pitchFamily="34" charset="0"/>
              <a:ea typeface="微软雅黑" panose="020B0503020204020204" charset="-122"/>
            </a:endParaRPr>
          </a:p>
          <a:p>
            <a:pPr algn="l"/>
            <a:endParaRPr lang="zh-CN" altLang="en-US" sz="1800">
              <a:latin typeface="Arial" panose="020B0604020202020204" pitchFamily="34" charset="0"/>
              <a:ea typeface="微软雅黑" panose="020B0503020204020204" charset="-122"/>
            </a:endParaRPr>
          </a:p>
          <a:p>
            <a:pPr algn="l"/>
            <a:r>
              <a:rPr lang="zh-CN" altLang="en-US" sz="1600">
                <a:latin typeface="Arial" panose="020B0604020202020204" pitchFamily="34" charset="0"/>
                <a:ea typeface="微软雅黑" panose="020B0503020204020204" charset="-122"/>
              </a:rPr>
              <a:t>表达能力，即信息的输出能力。</a:t>
            </a:r>
            <a:endParaRPr lang="zh-CN" altLang="en-US" sz="1600">
              <a:latin typeface="Arial" panose="020B0604020202020204" pitchFamily="34" charset="0"/>
              <a:ea typeface="微软雅黑" panose="020B0503020204020204" charset="-122"/>
            </a:endParaRPr>
          </a:p>
        </p:txBody>
      </p:sp>
      <p:cxnSp>
        <p:nvCxnSpPr>
          <p:cNvPr id="14" name="直接连接符 13"/>
          <p:cNvCxnSpPr/>
          <p:nvPr>
            <p:custDataLst>
              <p:tags r:id="rId9"/>
            </p:custDataLst>
          </p:nvPr>
        </p:nvCxnSpPr>
        <p:spPr>
          <a:xfrm>
            <a:off x="3140710" y="5255260"/>
            <a:ext cx="2887345" cy="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人类</a:t>
            </a:r>
            <a:r>
              <a:rPr lang="en-US" altLang="zh-CN" spc="-100" dirty="0">
                <a:solidFill>
                  <a:srgbClr val="D2533C"/>
                </a:solidFill>
                <a:latin typeface="Arial" panose="020B0604020202020204"/>
                <a:ea typeface="华文新魏" panose="02010800040101010101" pitchFamily="2" charset="-122"/>
              </a:rPr>
              <a:t>/</a:t>
            </a:r>
            <a:r>
              <a:rPr lang="zh-CN" altLang="en-US" spc="-100" dirty="0">
                <a:solidFill>
                  <a:srgbClr val="D2533C"/>
                </a:solidFill>
                <a:latin typeface="Arial" panose="020B0604020202020204"/>
                <a:ea typeface="华文新魏" panose="02010800040101010101" pitchFamily="2" charset="-122"/>
              </a:rPr>
              <a:t>生物智能</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1343133"/>
            <a:ext cx="7543801" cy="4384310"/>
          </a:xfrm>
        </p:spPr>
        <p:txBody>
          <a:bodyPr/>
          <a:lstStyle/>
          <a:p>
            <a:r>
              <a:rPr lang="zh-CN" altLang="en-US" sz="2400" dirty="0">
                <a:latin typeface="黑体" panose="02010609060101010101" pitchFamily="2" charset="-122"/>
                <a:ea typeface="黑体" panose="02010609060101010101" pitchFamily="2" charset="-122"/>
              </a:rPr>
              <a:t>人类智能的载体是？</a:t>
            </a:r>
            <a:endParaRPr lang="en-US" altLang="zh-CN" sz="240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endParaRPr lang="en-US" altLang="zh-CN" sz="1800" b="0" i="0" u="none" strike="noStrike" baseline="0" dirty="0">
              <a:latin typeface="黑体" panose="02010609060101010101" pitchFamily="2" charset="-122"/>
              <a:ea typeface="黑体" panose="02010609060101010101" pitchFamily="2" charset="-122"/>
            </a:endParaRPr>
          </a:p>
          <a:p>
            <a:pPr>
              <a:buFont typeface="Wingdings" panose="05000000000000000000" pitchFamily="2" charset="2"/>
              <a:buChar char="u"/>
            </a:pPr>
            <a:r>
              <a:rPr lang="en-US" altLang="zh-CN" sz="1800" dirty="0">
                <a:latin typeface="黑体" panose="02010609060101010101" pitchFamily="2" charset="-122"/>
                <a:ea typeface="黑体" panose="02010609060101010101" pitchFamily="2" charset="-122"/>
              </a:rPr>
              <a:t> </a:t>
            </a:r>
            <a:r>
              <a:rPr lang="zh-CN" altLang="en-US" sz="1800" b="0" i="0" u="none" strike="noStrike" baseline="0" dirty="0">
                <a:latin typeface="黑体" panose="02010609060101010101" pitchFamily="2" charset="-122"/>
                <a:ea typeface="黑体" panose="02010609060101010101" pitchFamily="2" charset="-122"/>
              </a:rPr>
              <a:t>脑容量越来越大，能力越来越强，对应的智能行为也越来越复杂。</a:t>
            </a:r>
            <a:endParaRPr lang="zh-CN" altLang="en-US" sz="1800" b="0" i="0" u="none" strike="noStrike" baseline="0" dirty="0">
              <a:latin typeface="黑体" panose="02010609060101010101" pitchFamily="2" charset="-122"/>
              <a:ea typeface="黑体" panose="02010609060101010101" pitchFamily="2" charset="-122"/>
            </a:endParaRPr>
          </a:p>
          <a:p>
            <a:endParaRPr lang="zh-CN" altLang="en-US" sz="2800"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822960" y="1917065"/>
            <a:ext cx="7917180" cy="32931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spc="-100" dirty="0">
                <a:solidFill>
                  <a:srgbClr val="D2533C"/>
                </a:solidFill>
                <a:latin typeface="Arial" panose="020B0604020202020204"/>
                <a:ea typeface="华文新魏" panose="02010800040101010101" pitchFamily="2" charset="-122"/>
              </a:rPr>
              <a:t>人工智能的概念</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p>
            <a:r>
              <a:rPr lang="zh-CN" altLang="en-US" b="1" dirty="0">
                <a:solidFill>
                  <a:schemeClr val="accent2"/>
                </a:solidFill>
                <a:latin typeface="黑体" panose="02010609060101010101" pitchFamily="2" charset="-122"/>
                <a:ea typeface="黑体" panose="02010609060101010101" pitchFamily="2" charset="-122"/>
                <a:sym typeface="+mn-ea"/>
              </a:rPr>
              <a:t>人工智能</a:t>
            </a:r>
            <a:r>
              <a:rPr lang="zh-CN" altLang="en-US" dirty="0">
                <a:latin typeface="黑体" panose="02010609060101010101" pitchFamily="2" charset="-122"/>
                <a:ea typeface="黑体" panose="02010609060101010101" pitchFamily="2" charset="-122"/>
                <a:sym typeface="+mn-ea"/>
              </a:rPr>
              <a:t>：</a:t>
            </a:r>
            <a:endParaRPr lang="zh-CN" altLang="en-US" dirty="0">
              <a:latin typeface="黑体" panose="02010609060101010101" pitchFamily="2" charset="-122"/>
              <a:ea typeface="黑体" panose="02010609060101010101" pitchFamily="2" charset="-122"/>
              <a:sym typeface="+mn-ea"/>
            </a:endParaRPr>
          </a:p>
          <a:p>
            <a:pPr>
              <a:buFont typeface="Wingdings" panose="05000000000000000000" charset="0"/>
              <a:buChar char="u"/>
            </a:pPr>
            <a:r>
              <a:rPr lang="zh-CN" altLang="en-US" dirty="0">
                <a:latin typeface="黑体" panose="02010609060101010101" pitchFamily="2" charset="-122"/>
                <a:ea typeface="黑体" panose="02010609060101010101" pitchFamily="2" charset="-122"/>
                <a:sym typeface="+mn-ea"/>
              </a:rPr>
              <a:t>用人工的方法在机器（计算机）上实现的智能；</a:t>
            </a:r>
            <a:endParaRPr lang="zh-CN" altLang="en-US" dirty="0">
              <a:latin typeface="黑体" panose="02010609060101010101" pitchFamily="2" charset="-122"/>
              <a:ea typeface="黑体" panose="02010609060101010101" pitchFamily="2" charset="-122"/>
              <a:sym typeface="+mn-ea"/>
            </a:endParaRPr>
          </a:p>
          <a:p>
            <a:pPr>
              <a:buFont typeface="Wingdings" panose="05000000000000000000" charset="0"/>
              <a:buChar char="u"/>
            </a:pPr>
            <a:r>
              <a:rPr lang="zh-CN" altLang="en-US" dirty="0">
                <a:latin typeface="黑体" panose="02010609060101010101" pitchFamily="2" charset="-122"/>
                <a:ea typeface="黑体" panose="02010609060101010101" pitchFamily="2" charset="-122"/>
                <a:sym typeface="+mn-ea"/>
              </a:rPr>
              <a:t>人们使机器具有类似于人的智能</a:t>
            </a:r>
            <a:endParaRPr lang="zh-CN" altLang="en-US" dirty="0">
              <a:latin typeface="黑体" panose="02010609060101010101" pitchFamily="2" charset="-122"/>
              <a:ea typeface="黑体" panose="02010609060101010101" pitchFamily="2" charset="-122"/>
              <a:sym typeface="+mn-ea"/>
            </a:endParaRPr>
          </a:p>
          <a:p>
            <a:pPr>
              <a:buFont typeface="Wingdings" panose="05000000000000000000" charset="0"/>
              <a:buChar char="u"/>
            </a:pPr>
            <a:r>
              <a:rPr lang="zh-CN" altLang="en-US" dirty="0">
                <a:latin typeface="黑体" panose="02010609060101010101" pitchFamily="2" charset="-122"/>
                <a:ea typeface="黑体" panose="02010609060101010101" pitchFamily="2" charset="-122"/>
                <a:sym typeface="+mn-ea"/>
              </a:rPr>
              <a:t>以机器为载体实现的人类智能 </a:t>
            </a:r>
            <a:endParaRPr lang="en-US" altLang="zh-CN" b="0" i="0" u="none" strike="noStrike" baseline="0" dirty="0">
              <a:latin typeface="黑体" panose="02010609060101010101" pitchFamily="2" charset="-122"/>
              <a:ea typeface="黑体" panose="02010609060101010101" pitchFamily="2" charset="-122"/>
              <a:sym typeface="+mn-ea"/>
            </a:endParaRPr>
          </a:p>
          <a:p>
            <a:pPr marL="0" indent="0">
              <a:buFont typeface="Wingdings" panose="05000000000000000000" charset="0"/>
              <a:buNone/>
            </a:pPr>
            <a:endParaRPr lang="zh-CN" altLang="en-US" b="1" dirty="0">
              <a:solidFill>
                <a:schemeClr val="accent2"/>
              </a:solidFill>
              <a:latin typeface="黑体" panose="02010609060101010101" pitchFamily="2" charset="-122"/>
              <a:ea typeface="黑体" panose="02010609060101010101" pitchFamily="2" charset="-122"/>
            </a:endParaRPr>
          </a:p>
          <a:p>
            <a:pPr marL="0" indent="0">
              <a:buFont typeface="Wingdings" panose="05000000000000000000" charset="0"/>
              <a:buNone/>
            </a:pPr>
            <a:r>
              <a:rPr lang="zh-CN" altLang="en-US" b="1" dirty="0">
                <a:solidFill>
                  <a:schemeClr val="accent2"/>
                </a:solidFill>
                <a:latin typeface="黑体" panose="02010609060101010101" pitchFamily="2" charset="-122"/>
                <a:ea typeface="黑体" panose="02010609060101010101" pitchFamily="2" charset="-122"/>
              </a:rPr>
              <a:t>人工智能学科：</a:t>
            </a:r>
            <a:r>
              <a:rPr lang="zh-CN" altLang="en-US" dirty="0">
                <a:latin typeface="黑体" panose="02010609060101010101" pitchFamily="2" charset="-122"/>
                <a:ea typeface="黑体" panose="02010609060101010101" pitchFamily="2" charset="-122"/>
              </a:rPr>
              <a:t>一门研究如何构造</a:t>
            </a:r>
            <a:r>
              <a:rPr lang="zh-CN" altLang="en-US" b="1" dirty="0">
                <a:solidFill>
                  <a:srgbClr val="C00000"/>
                </a:solidFill>
                <a:latin typeface="黑体" panose="02010609060101010101" pitchFamily="2" charset="-122"/>
                <a:ea typeface="黑体" panose="02010609060101010101" pitchFamily="2" charset="-122"/>
              </a:rPr>
              <a:t>智能机器</a:t>
            </a:r>
            <a:r>
              <a:rPr lang="zh-CN" altLang="en-US" dirty="0">
                <a:latin typeface="黑体" panose="02010609060101010101" pitchFamily="2" charset="-122"/>
                <a:ea typeface="黑体" panose="02010609060101010101" pitchFamily="2" charset="-122"/>
              </a:rPr>
              <a:t>（智能计算机）或</a:t>
            </a:r>
            <a:r>
              <a:rPr lang="zh-CN" altLang="en-US" b="1" dirty="0">
                <a:solidFill>
                  <a:srgbClr val="C00000"/>
                </a:solidFill>
                <a:latin typeface="黑体" panose="02010609060101010101" pitchFamily="2" charset="-122"/>
                <a:ea typeface="黑体" panose="02010609060101010101" pitchFamily="2" charset="-122"/>
              </a:rPr>
              <a:t>智能系统</a:t>
            </a:r>
            <a:r>
              <a:rPr lang="zh-CN" altLang="en-US" dirty="0">
                <a:latin typeface="黑体" panose="02010609060101010101" pitchFamily="2" charset="-122"/>
                <a:ea typeface="黑体" panose="02010609060101010101" pitchFamily="2" charset="-122"/>
              </a:rPr>
              <a:t>，使它能模拟、延伸、扩展人类智能的学科。</a:t>
            </a:r>
            <a:endParaRPr lang="zh-CN" altLang="en-US" dirty="0">
              <a:latin typeface="黑体" panose="02010609060101010101" pitchFamily="2" charset="-122"/>
              <a:ea typeface="黑体" panose="02010609060101010101" pitchFamily="2" charset="-122"/>
            </a:endParaRPr>
          </a:p>
          <a:p>
            <a:pPr marL="0" indent="0">
              <a:buFont typeface="Wingdings" panose="05000000000000000000" charset="0"/>
              <a:buNone/>
            </a:pPr>
            <a:endParaRPr lang="zh-CN" altLang="en-US" b="1" dirty="0">
              <a:solidFill>
                <a:schemeClr val="accent2"/>
              </a:solidFill>
              <a:latin typeface="黑体" panose="02010609060101010101" pitchFamily="2" charset="-122"/>
              <a:ea typeface="黑体" panose="02010609060101010101" pitchFamily="2" charset="-122"/>
            </a:endParaRPr>
          </a:p>
          <a:p>
            <a:pPr marL="0" indent="0">
              <a:buFont typeface="Wingdings" panose="05000000000000000000" charset="0"/>
              <a:buNone/>
            </a:pPr>
            <a:r>
              <a:rPr lang="zh-CN" altLang="en-US" b="1" dirty="0">
                <a:solidFill>
                  <a:schemeClr val="accent2"/>
                </a:solidFill>
                <a:latin typeface="黑体" panose="02010609060101010101" pitchFamily="2" charset="-122"/>
                <a:ea typeface="黑体" panose="02010609060101010101" pitchFamily="2" charset="-122"/>
              </a:rPr>
              <a:t>图灵测试</a:t>
            </a:r>
            <a:r>
              <a:rPr lang="zh-CN" altLang="en-US" dirty="0">
                <a:latin typeface="黑体" panose="02010609060101010101" pitchFamily="2" charset="-122"/>
                <a:ea typeface="黑体" panose="02010609060101010101" pitchFamily="2" charset="-122"/>
              </a:rPr>
              <a:t>：</a:t>
            </a:r>
            <a:r>
              <a:rPr lang="en-US" altLang="zh-CN" dirty="0">
                <a:latin typeface="黑体" panose="02010609060101010101" pitchFamily="2" charset="-122"/>
                <a:ea typeface="黑体" panose="02010609060101010101" pitchFamily="2" charset="-122"/>
              </a:rPr>
              <a:t>1950</a:t>
            </a:r>
            <a:r>
              <a:rPr lang="zh-CN" altLang="en-US" dirty="0">
                <a:latin typeface="黑体" panose="02010609060101010101" pitchFamily="2" charset="-122"/>
                <a:ea typeface="黑体" panose="02010609060101010101" pitchFamily="2" charset="-122"/>
              </a:rPr>
              <a:t>年图灵发表的《计算机与智能》中设计了一个测试，用以说明人工智能的概念。</a:t>
            </a:r>
            <a:endParaRPr lang="zh-CN" altLang="en-US" b="1" dirty="0">
              <a:solidFill>
                <a:schemeClr val="accent2"/>
              </a:solidFill>
              <a:latin typeface="黑体" panose="02010609060101010101" pitchFamily="2" charset="-122"/>
              <a:ea typeface="黑体" panose="02010609060101010101" pitchFamily="2" charset="-122"/>
            </a:endParaRPr>
          </a:p>
          <a:p>
            <a:pPr marL="0" indent="0">
              <a:buFont typeface="Wingdings" panose="05000000000000000000" charset="0"/>
              <a:buNone/>
            </a:pPr>
            <a:endParaRPr lang="zh-CN" altLang="en-US" b="1" dirty="0">
              <a:solidFill>
                <a:schemeClr val="accent2"/>
              </a:solidFill>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i="0" u="none" strike="noStrike" kern="1200" cap="none" spc="0" normalizeH="0" baseline="0" noProof="0" dirty="0">
                <a:ln>
                  <a:noFill/>
                </a:ln>
                <a:effectLst/>
                <a:uLnTx/>
                <a:uFillTx/>
                <a:latin typeface="Arial" panose="020B0604020202020204"/>
                <a:ea typeface="宋体" panose="02010600030101010101" pitchFamily="2" charset="-122"/>
              </a:rPr>
              <a:t>人工智能</a:t>
            </a:r>
            <a:r>
              <a:rPr kumimoji="0" lang="zh-CN" altLang="en-US" dirty="0">
                <a:latin typeface="Arial" panose="020B0604020202020204"/>
                <a:ea typeface="宋体" panose="02010600030101010101" pitchFamily="2" charset="-122"/>
              </a:rPr>
              <a:t>的概念</a:t>
            </a:r>
            <a:endParaRPr kumimoji="0" lang="en-US" altLang="zh-CN" i="0" u="none" strike="noStrike" kern="1200" cap="none" spc="0" normalizeH="0" baseline="0" noProof="0" dirty="0">
              <a:ln>
                <a:noFill/>
              </a:ln>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solidFill>
                  <a:srgbClr val="C00000"/>
                </a:solidFill>
                <a:latin typeface="Arial" panose="020B0604020202020204"/>
                <a:ea typeface="宋体" panose="02010600030101010101" pitchFamily="2" charset="-122"/>
              </a:rPr>
              <a:t>人工智能的发展简史</a:t>
            </a:r>
            <a:endParaRPr kumimoji="0" lang="en-US" altLang="zh-CN" dirty="0">
              <a:solidFill>
                <a:srgbClr val="C00000"/>
              </a:solidFill>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rPr>
              <a:t>人工智能基本</a:t>
            </a:r>
            <a:r>
              <a:rPr kumimoji="0" lang="zh-CN" altLang="en-US" dirty="0">
                <a:latin typeface="Arial" panose="020B0604020202020204"/>
                <a:ea typeface="宋体" panose="02010600030101010101" pitchFamily="2" charset="-122"/>
              </a:rPr>
              <a:t>研究</a:t>
            </a:r>
            <a:r>
              <a:rPr kumimoji="0" lang="zh-CN" altLang="en-US"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rPr>
              <a:t>内容</a:t>
            </a: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人工智能的发展</a:t>
            </a: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spc="-100" dirty="0">
                <a:solidFill>
                  <a:srgbClr val="D2533C"/>
                </a:solidFill>
                <a:latin typeface="Arial" panose="020B0604020202020204"/>
                <a:ea typeface="华文新魏" panose="02010800040101010101" pitchFamily="2" charset="-122"/>
              </a:rPr>
              <a:t>孕育（</a:t>
            </a:r>
            <a:r>
              <a:rPr lang="en-US" altLang="zh-CN" spc="-100" dirty="0">
                <a:solidFill>
                  <a:srgbClr val="D2533C"/>
                </a:solidFill>
                <a:latin typeface="Arial" panose="020B0604020202020204"/>
                <a:ea typeface="华文新魏" panose="02010800040101010101" pitchFamily="2" charset="-122"/>
              </a:rPr>
              <a:t>1956</a:t>
            </a:r>
            <a:r>
              <a:rPr lang="zh-CN" altLang="en-US" spc="-100" dirty="0">
                <a:solidFill>
                  <a:srgbClr val="D2533C"/>
                </a:solidFill>
                <a:latin typeface="Arial" panose="020B0604020202020204"/>
                <a:ea typeface="华文新魏" panose="02010800040101010101" pitchFamily="2" charset="-122"/>
              </a:rPr>
              <a:t>年之前）</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452755" y="1362075"/>
            <a:ext cx="8388985" cy="4506595"/>
          </a:xfrm>
        </p:spPr>
        <p:txBody>
          <a:bodyPr/>
          <a:p>
            <a:pPr latinLnBrk="0">
              <a:spcAft>
                <a:spcPts val="800"/>
              </a:spcAft>
              <a:buFont typeface="Wingdings" panose="05000000000000000000" charset="0"/>
              <a:buChar char="u"/>
            </a:pPr>
            <a:r>
              <a:rPr lang="zh-CN" altLang="en-US"/>
              <a:t>公元前，亚里斯多德（</a:t>
            </a:r>
            <a:r>
              <a:rPr lang="en-US" altLang="zh-CN"/>
              <a:t>Aristotle</a:t>
            </a:r>
            <a:r>
              <a:rPr lang="zh-CN" altLang="en-US"/>
              <a:t>）：三段论</a:t>
            </a:r>
            <a:endParaRPr lang="zh-CN" altLang="en-US"/>
          </a:p>
          <a:p>
            <a:pPr latinLnBrk="0">
              <a:spcAft>
                <a:spcPts val="800"/>
              </a:spcAft>
              <a:buFont typeface="Wingdings" panose="05000000000000000000" charset="0"/>
              <a:buChar char="u"/>
            </a:pPr>
            <a:r>
              <a:rPr lang="zh-CN" altLang="en-US"/>
              <a:t>培根（</a:t>
            </a:r>
            <a:r>
              <a:rPr lang="en-US" altLang="zh-CN"/>
              <a:t>F.Bacon</a:t>
            </a:r>
            <a:r>
              <a:rPr lang="zh-CN" altLang="en-US"/>
              <a:t>）：归纳法</a:t>
            </a:r>
            <a:endParaRPr lang="zh-CN" altLang="en-US"/>
          </a:p>
          <a:p>
            <a:pPr latinLnBrk="0">
              <a:spcAft>
                <a:spcPts val="800"/>
              </a:spcAft>
              <a:buFont typeface="Wingdings" panose="05000000000000000000" charset="0"/>
              <a:buChar char="u"/>
            </a:pPr>
            <a:r>
              <a:rPr lang="zh-CN" altLang="en-US"/>
              <a:t>莱布尼茨（</a:t>
            </a:r>
            <a:r>
              <a:rPr lang="en-US" altLang="zh-CN"/>
              <a:t>G.W.Leibnitz</a:t>
            </a:r>
            <a:r>
              <a:rPr lang="zh-CN" altLang="en-US"/>
              <a:t>）：万能符号、推理计算</a:t>
            </a:r>
            <a:endParaRPr lang="zh-CN" altLang="en-US"/>
          </a:p>
          <a:p>
            <a:pPr latinLnBrk="0">
              <a:spcAft>
                <a:spcPts val="800"/>
              </a:spcAft>
              <a:buFont typeface="Wingdings" panose="05000000000000000000" charset="0"/>
              <a:buChar char="u"/>
            </a:pPr>
            <a:r>
              <a:rPr lang="zh-CN" altLang="en-US"/>
              <a:t>布尔（</a:t>
            </a:r>
            <a:r>
              <a:rPr lang="en-US" altLang="zh-CN"/>
              <a:t>G.Boole</a:t>
            </a:r>
            <a:r>
              <a:rPr lang="zh-CN" altLang="en-US"/>
              <a:t>）：用符号语言描述思维活动的基本推理法则</a:t>
            </a:r>
            <a:endParaRPr lang="zh-CN" altLang="en-US"/>
          </a:p>
          <a:p>
            <a:pPr latinLnBrk="0">
              <a:spcAft>
                <a:spcPts val="800"/>
              </a:spcAft>
              <a:buFont typeface="Wingdings" panose="05000000000000000000" charset="0"/>
              <a:buChar char="u"/>
            </a:pPr>
            <a:r>
              <a:rPr lang="en-US" altLang="zh-CN"/>
              <a:t>1936</a:t>
            </a:r>
            <a:r>
              <a:rPr lang="zh-CN" altLang="en-US"/>
              <a:t>年，图灵，图灵机</a:t>
            </a:r>
            <a:endParaRPr lang="zh-CN" altLang="en-US"/>
          </a:p>
          <a:p>
            <a:pPr latinLnBrk="0">
              <a:spcAft>
                <a:spcPts val="800"/>
              </a:spcAft>
              <a:buFont typeface="Wingdings" panose="05000000000000000000" charset="0"/>
              <a:buChar char="u"/>
            </a:pPr>
            <a:r>
              <a:rPr lang="en-US" altLang="zh-CN"/>
              <a:t>1943</a:t>
            </a:r>
            <a:r>
              <a:rPr lang="zh-CN" altLang="en-US"/>
              <a:t>年，麦克洛奇（</a:t>
            </a:r>
            <a:r>
              <a:rPr lang="en-US" altLang="zh-CN"/>
              <a:t>W.McCulloch</a:t>
            </a:r>
            <a:r>
              <a:rPr lang="zh-CN" altLang="en-US"/>
              <a:t>）、匹兹（</a:t>
            </a:r>
            <a:r>
              <a:rPr lang="en-US" altLang="zh-CN"/>
              <a:t>W.Pitts</a:t>
            </a:r>
            <a:r>
              <a:rPr lang="zh-CN" altLang="en-US"/>
              <a:t>）：</a:t>
            </a:r>
            <a:r>
              <a:rPr lang="en-US" altLang="zh-CN"/>
              <a:t>m-p</a:t>
            </a:r>
            <a:r>
              <a:rPr lang="zh-CN" altLang="en-US"/>
              <a:t>模型，首个神经元数学模型</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51460" y="286604"/>
            <a:ext cx="7543800" cy="892239"/>
          </a:xfrm>
        </p:spPr>
        <p:txBody>
          <a:bodyPr/>
          <a:lstStyle/>
          <a:p>
            <a:r>
              <a:rPr lang="zh-CN" altLang="en-US" spc="-100" dirty="0">
                <a:solidFill>
                  <a:srgbClr val="D2533C"/>
                </a:solidFill>
                <a:latin typeface="Arial" panose="020B0604020202020204"/>
                <a:ea typeface="华文新魏" panose="02010800040101010101" pitchFamily="2" charset="-122"/>
              </a:rPr>
              <a:t>诞生（</a:t>
            </a:r>
            <a:r>
              <a:rPr lang="en-US" altLang="zh-CN" spc="-100" dirty="0">
                <a:solidFill>
                  <a:srgbClr val="D2533C"/>
                </a:solidFill>
                <a:latin typeface="Arial" panose="020B0604020202020204"/>
                <a:ea typeface="华文新魏" panose="02010800040101010101" pitchFamily="2" charset="-122"/>
              </a:rPr>
              <a:t>1956</a:t>
            </a:r>
            <a:r>
              <a:rPr lang="zh-CN" altLang="en-US" spc="-100" dirty="0">
                <a:solidFill>
                  <a:srgbClr val="D2533C"/>
                </a:solidFill>
                <a:latin typeface="Arial" panose="020B0604020202020204"/>
                <a:ea typeface="华文新魏" panose="02010800040101010101" pitchFamily="2" charset="-122"/>
              </a:rPr>
              <a:t>年）</a:t>
            </a:r>
            <a:endParaRPr lang="zh-CN" altLang="en-US" dirty="0"/>
          </a:p>
        </p:txBody>
      </p:sp>
      <p:sp>
        <p:nvSpPr>
          <p:cNvPr id="3" name="内容占位符 2"/>
          <p:cNvSpPr>
            <a:spLocks noGrp="1"/>
          </p:cNvSpPr>
          <p:nvPr>
            <p:ph idx="1"/>
          </p:nvPr>
        </p:nvSpPr>
        <p:spPr>
          <a:xfrm>
            <a:off x="107315" y="1236980"/>
            <a:ext cx="5406390" cy="4384040"/>
          </a:xfrm>
        </p:spPr>
        <p:txBody>
          <a:bodyPr/>
          <a:lstStyle/>
          <a:p>
            <a:pPr>
              <a:buFont typeface="Wingdings" panose="05000000000000000000" pitchFamily="2" charset="2"/>
              <a:buChar char="u"/>
            </a:pPr>
            <a:r>
              <a:rPr lang="zh-CN" altLang="en-US" dirty="0"/>
              <a:t> </a:t>
            </a:r>
            <a:r>
              <a:rPr lang="en-US" altLang="zh-CN" dirty="0">
                <a:sym typeface="+mn-ea"/>
              </a:rPr>
              <a:t>1956</a:t>
            </a:r>
            <a:r>
              <a:rPr lang="zh-CN" altLang="en-US" dirty="0">
                <a:sym typeface="+mn-ea"/>
              </a:rPr>
              <a:t>年夏，</a:t>
            </a:r>
            <a:r>
              <a:rPr lang="zh-CN" altLang="en-US" dirty="0"/>
              <a:t>四位学者邀请莫尔、塞缪尔、塞尔夫里奇等</a:t>
            </a:r>
            <a:r>
              <a:rPr lang="en-US" altLang="zh-CN" dirty="0"/>
              <a:t>10</a:t>
            </a:r>
            <a:r>
              <a:rPr lang="zh-CN" altLang="en-US" dirty="0"/>
              <a:t>名年轻学者在</a:t>
            </a:r>
            <a:r>
              <a:rPr lang="zh-CN" altLang="en-US" b="1" dirty="0">
                <a:solidFill>
                  <a:schemeClr val="accent2"/>
                </a:solidFill>
              </a:rPr>
              <a:t>达特莫斯</a:t>
            </a:r>
            <a:r>
              <a:rPr lang="zh-CN" altLang="en-US" dirty="0"/>
              <a:t>大学召开了两个月的学术研讨会，讨论机器智能问题，提出了人工智能这一术语及研究范畴</a:t>
            </a:r>
            <a:endParaRPr lang="en-US" altLang="zh-CN" dirty="0"/>
          </a:p>
          <a:p>
            <a:pPr>
              <a:buFont typeface="Wingdings" panose="05000000000000000000" pitchFamily="2" charset="2"/>
              <a:buChar char="Ø"/>
            </a:pPr>
            <a:r>
              <a:rPr lang="en-US" altLang="zh-CN" dirty="0"/>
              <a:t>John McCarthy </a:t>
            </a:r>
            <a:r>
              <a:rPr lang="zh-CN" altLang="en-US" b="1" dirty="0">
                <a:solidFill>
                  <a:schemeClr val="accent2"/>
                </a:solidFill>
              </a:rPr>
              <a:t>（麦卡锡）</a:t>
            </a:r>
            <a:r>
              <a:rPr lang="en-US" altLang="zh-CN" dirty="0"/>
              <a:t>1971</a:t>
            </a:r>
            <a:r>
              <a:rPr lang="zh-CN" altLang="en-US" dirty="0"/>
              <a:t>图灵奖获得者</a:t>
            </a:r>
            <a:endParaRPr lang="en-US" altLang="zh-CN" dirty="0"/>
          </a:p>
          <a:p>
            <a:pPr>
              <a:buFont typeface="Wingdings" panose="05000000000000000000" pitchFamily="2" charset="2"/>
              <a:buChar char="Ø"/>
            </a:pPr>
            <a:r>
              <a:rPr lang="en-US" altLang="zh-CN" dirty="0"/>
              <a:t>Marvin Lee Minsky </a:t>
            </a:r>
            <a:r>
              <a:rPr lang="zh-CN" altLang="en-US" b="1" dirty="0">
                <a:solidFill>
                  <a:schemeClr val="accent2"/>
                </a:solidFill>
              </a:rPr>
              <a:t>（明斯基）</a:t>
            </a:r>
            <a:r>
              <a:rPr lang="en-US" altLang="zh-CN" dirty="0"/>
              <a:t>1969</a:t>
            </a:r>
            <a:r>
              <a:rPr lang="zh-CN" altLang="en-US" dirty="0"/>
              <a:t>图灵奖获得者</a:t>
            </a:r>
            <a:endParaRPr lang="en-US" altLang="zh-CN" dirty="0"/>
          </a:p>
          <a:p>
            <a:pPr>
              <a:buFont typeface="Wingdings" panose="05000000000000000000" pitchFamily="2" charset="2"/>
              <a:buChar char="Ø"/>
            </a:pPr>
            <a:r>
              <a:rPr lang="en-US" altLang="zh-CN" dirty="0"/>
              <a:t>Claude Shannon </a:t>
            </a:r>
            <a:r>
              <a:rPr lang="zh-CN" altLang="en-US" b="1" dirty="0">
                <a:solidFill>
                  <a:schemeClr val="accent2"/>
                </a:solidFill>
              </a:rPr>
              <a:t>（香农）</a:t>
            </a:r>
            <a:r>
              <a:rPr lang="zh-CN" altLang="en-US" dirty="0"/>
              <a:t>信息理论之父</a:t>
            </a:r>
            <a:endParaRPr lang="en-US" altLang="zh-CN" dirty="0"/>
          </a:p>
          <a:p>
            <a:pPr>
              <a:buFont typeface="Wingdings" panose="05000000000000000000" pitchFamily="2" charset="2"/>
              <a:buChar char="Ø"/>
            </a:pPr>
            <a:r>
              <a:rPr lang="en-US" altLang="zh-CN" dirty="0"/>
              <a:t>Nathaniel Rochester</a:t>
            </a:r>
            <a:r>
              <a:rPr lang="zh-CN" altLang="en-US" b="1" dirty="0">
                <a:solidFill>
                  <a:schemeClr val="accent2"/>
                </a:solidFill>
              </a:rPr>
              <a:t>（洛切斯特） </a:t>
            </a:r>
            <a:r>
              <a:rPr lang="zh-CN" altLang="en-US" dirty="0"/>
              <a:t>第一代通用计算机</a:t>
            </a:r>
            <a:r>
              <a:rPr lang="en-US" altLang="zh-CN" dirty="0"/>
              <a:t>701</a:t>
            </a:r>
            <a:r>
              <a:rPr lang="zh-CN" altLang="en-US" dirty="0"/>
              <a:t>主设计师</a:t>
            </a:r>
            <a:endParaRPr lang="en-US" altLang="zh-CN" dirty="0"/>
          </a:p>
          <a:p>
            <a:pPr>
              <a:buFont typeface="Wingdings" panose="05000000000000000000" pitchFamily="2" charset="2"/>
              <a:buChar char="u"/>
            </a:pPr>
            <a:r>
              <a:rPr lang="en-US" altLang="zh-CN" dirty="0"/>
              <a:t> </a:t>
            </a:r>
            <a:r>
              <a:rPr lang="zh-CN" altLang="en-US" dirty="0"/>
              <a:t>让机器能像人那样认知、思考和学习，即用计算机模拟人的智能。</a:t>
            </a:r>
            <a:endParaRPr lang="zh-CN" altLang="en-US" dirty="0"/>
          </a:p>
          <a:p>
            <a:pPr>
              <a:buFont typeface="Wingdings" panose="05000000000000000000" pitchFamily="2" charset="2"/>
              <a:buChar char="u"/>
            </a:pPr>
            <a:r>
              <a:rPr lang="en-US" altLang="zh-CN" dirty="0"/>
              <a:t>20</a:t>
            </a:r>
            <a:r>
              <a:rPr lang="zh-CN" altLang="en-US" dirty="0"/>
              <a:t>世纪三大科学技术成就：空间技术、原子能技术、人工智能</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5507851" y="764473"/>
            <a:ext cx="3533815" cy="55839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611560" y="132181"/>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sym typeface="+mn-ea"/>
              </a:rPr>
              <a:t>诞生（</a:t>
            </a:r>
            <a:r>
              <a:rPr lang="en-US" altLang="zh-CN" spc="-100" dirty="0">
                <a:solidFill>
                  <a:srgbClr val="D2533C"/>
                </a:solidFill>
                <a:latin typeface="Arial" panose="020B0604020202020204"/>
                <a:ea typeface="华文新魏" panose="02010800040101010101" pitchFamily="2" charset="-122"/>
                <a:sym typeface="+mn-ea"/>
              </a:rPr>
              <a:t>1956</a:t>
            </a:r>
            <a:r>
              <a:rPr lang="zh-CN" altLang="en-US" spc="-100" dirty="0">
                <a:solidFill>
                  <a:srgbClr val="D2533C"/>
                </a:solidFill>
                <a:latin typeface="Arial" panose="020B0604020202020204"/>
                <a:ea typeface="华文新魏" panose="02010800040101010101" pitchFamily="2" charset="-122"/>
                <a:sym typeface="+mn-ea"/>
              </a:rPr>
              <a:t>年）</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423517" y="1024356"/>
            <a:ext cx="8352928"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ctr" hangingPunct="0">
              <a:spcBef>
                <a:spcPct val="20000"/>
              </a:spcBef>
              <a:spcAft>
                <a:spcPct val="0"/>
              </a:spcAft>
              <a:buClr>
                <a:srgbClr val="E46B1F"/>
              </a:buClr>
              <a:buSzPct val="80000"/>
              <a:buFont typeface="Wingdings" panose="05000000000000000000" pitchFamily="2" charset="2"/>
              <a:buChar char="n"/>
              <a:defRPr sz="2800" b="1">
                <a:solidFill>
                  <a:srgbClr val="000080"/>
                </a:solidFill>
                <a:latin typeface="+mn-lt"/>
                <a:ea typeface="+mn-ea"/>
                <a:cs typeface="+mn-cs"/>
              </a:defRPr>
            </a:lvl1pPr>
            <a:lvl2pPr marL="742950" indent="-285750" algn="l" rtl="0" eaLnBrk="0" fontAlgn="ctr" hangingPunct="0">
              <a:spcBef>
                <a:spcPct val="20000"/>
              </a:spcBef>
              <a:spcAft>
                <a:spcPct val="0"/>
              </a:spcAft>
              <a:buClr>
                <a:srgbClr val="E46B1F"/>
              </a:buClr>
              <a:buSzPct val="80000"/>
              <a:buFont typeface="Arial" panose="020B0604020202020204" pitchFamily="34" charset="0"/>
              <a:buChar char="—"/>
              <a:defRPr sz="2400" b="1">
                <a:solidFill>
                  <a:srgbClr val="000080"/>
                </a:solidFill>
                <a:latin typeface="+mn-lt"/>
                <a:ea typeface="+mn-ea"/>
              </a:defRPr>
            </a:lvl2pPr>
            <a:lvl3pPr marL="1143000" indent="-228600" algn="l" rtl="0" eaLnBrk="0" fontAlgn="ctr" hangingPunct="0">
              <a:spcBef>
                <a:spcPct val="20000"/>
              </a:spcBef>
              <a:spcAft>
                <a:spcPct val="0"/>
              </a:spcAft>
              <a:buClr>
                <a:srgbClr val="E46B1F"/>
              </a:buClr>
              <a:buSzPct val="80000"/>
              <a:buFont typeface="Wingdings" panose="05000000000000000000" pitchFamily="2" charset="2"/>
              <a:buChar char="u"/>
              <a:defRPr sz="2000" b="1">
                <a:solidFill>
                  <a:srgbClr val="000080"/>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ctr" latinLnBrk="0" hangingPunct="1">
              <a:spcBef>
                <a:spcPct val="20000"/>
              </a:spcBef>
              <a:spcAft>
                <a:spcPts val="600"/>
              </a:spcAft>
              <a:buClr>
                <a:srgbClr val="E46B1F"/>
              </a:buClr>
              <a:buSzPct val="80000"/>
              <a:buFont typeface="Wingdings" panose="05000000000000000000" pitchFamily="2" charset="2"/>
              <a:buChar char="n"/>
              <a:defRPr/>
            </a:pPr>
            <a:r>
              <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AI</a:t>
            </a:r>
            <a:r>
              <a:rPr kumimoji="0" lang="zh-CN" altLang="en-US"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值得关注的七个问题：</a:t>
            </a:r>
            <a:endPar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342900" marR="0" lvl="0" indent="-342900" algn="l" defTabSz="914400" rtl="0" eaLnBrk="1" fontAlgn="ctr" latinLnBrk="0" hangingPunct="1">
              <a:spcBef>
                <a:spcPct val="20000"/>
              </a:spcBef>
              <a:spcAft>
                <a:spcPts val="600"/>
              </a:spcAft>
              <a:buClr>
                <a:srgbClr val="E46B1F"/>
              </a:buClr>
              <a:buSzPct val="80000"/>
              <a:buFont typeface="Wingdings" panose="05000000000000000000" pitchFamily="2" charset="2"/>
              <a:buChar char="n"/>
              <a:defRPr/>
            </a:pP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 name="图片 2"/>
          <p:cNvPicPr>
            <a:picLocks noChangeAspect="1"/>
          </p:cNvPicPr>
          <p:nvPr/>
        </p:nvPicPr>
        <p:blipFill>
          <a:blip r:embed="rId1"/>
          <a:stretch>
            <a:fillRect/>
          </a:stretch>
        </p:blipFill>
        <p:spPr>
          <a:xfrm>
            <a:off x="5508104" y="1844824"/>
            <a:ext cx="3140571" cy="4434907"/>
          </a:xfrm>
          <a:prstGeom prst="rect">
            <a:avLst/>
          </a:prstGeom>
        </p:spPr>
      </p:pic>
      <p:sp>
        <p:nvSpPr>
          <p:cNvPr id="11" name="文本框 10"/>
          <p:cNvSpPr txBox="1"/>
          <p:nvPr/>
        </p:nvSpPr>
        <p:spPr>
          <a:xfrm>
            <a:off x="395679" y="1700500"/>
            <a:ext cx="4796755" cy="3951851"/>
          </a:xfrm>
          <a:prstGeom prst="rect">
            <a:avLst/>
          </a:prstGeom>
          <a:noFill/>
        </p:spPr>
        <p:txBody>
          <a:bodyPr wrap="square">
            <a:spAutoFit/>
          </a:bodyPr>
          <a:lstStyle/>
          <a:p>
            <a:pPr marL="0" marR="0" lvl="0" indent="0" algn="l" defTabSz="914400" rtl="0" eaLnBrk="1" fontAlgn="ctr" latinLnBrk="0" hangingPunct="1">
              <a:spcBef>
                <a:spcPct val="20000"/>
              </a:spcBef>
              <a:spcAft>
                <a:spcPts val="600"/>
              </a:spcAft>
              <a:buClr>
                <a:srgbClr val="E46B1F"/>
              </a:buClr>
              <a:buSzPct val="80000"/>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Automatic</a:t>
            </a:r>
            <a:r>
              <a:rPr kumimoji="0" lang="en-US" altLang="zh-CN" sz="2400" b="0" i="0" u="none" strike="noStrike" kern="0" cap="none" spc="0" normalizeH="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rPr>
              <a:t> Computers </a:t>
            </a:r>
            <a:endParaRPr kumimoji="0" lang="en-US" altLang="zh-CN" sz="2400" b="0" i="0" u="none" strike="noStrike" kern="0" cap="none" spc="0" normalizeH="0" noProof="0" dirty="0">
              <a:ln>
                <a:noFill/>
              </a:ln>
              <a:solidFill>
                <a:schemeClr val="tx1"/>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ctr" latinLnBrk="0" hangingPunct="1">
              <a:spcBef>
                <a:spcPct val="20000"/>
              </a:spcBef>
              <a:spcAft>
                <a:spcPts val="600"/>
              </a:spcAft>
              <a:buClr>
                <a:srgbClr val="E46B1F"/>
              </a:buClr>
              <a:buSzPct val="80000"/>
              <a:buNone/>
              <a:defRPr/>
            </a:pPr>
            <a:r>
              <a:rPr kumimoji="0" lang="en-US" altLang="zh-CN" sz="2400" b="0" kern="0" baseline="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How can a</a:t>
            </a:r>
            <a:r>
              <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computer be programmed to use a language</a:t>
            </a:r>
            <a:endPar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ctr" latinLnBrk="0" hangingPunct="1">
              <a:spcBef>
                <a:spcPct val="20000"/>
              </a:spcBef>
              <a:spcAft>
                <a:spcPts val="600"/>
              </a:spcAft>
              <a:buClr>
                <a:srgbClr val="E46B1F"/>
              </a:buClr>
              <a:buSzPct val="80000"/>
              <a:buNone/>
              <a:defRPr/>
            </a:pPr>
            <a:r>
              <a:rPr kumimoji="0" lang="en-US" altLang="zh-CN" kern="0" dirty="0">
                <a:latin typeface="Times New Roman" panose="02020603050405020304" pitchFamily="18" charset="0"/>
                <a:ea typeface="宋体" panose="02010600030101010101" pitchFamily="2" charset="-122"/>
                <a:cs typeface="Times New Roman" panose="02020603050405020304" pitchFamily="18" charset="0"/>
              </a:rPr>
              <a:t>Neuron Nets</a:t>
            </a:r>
            <a:endParaRPr kumimoji="0"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ctr" latinLnBrk="0" hangingPunct="1">
              <a:spcBef>
                <a:spcPct val="20000"/>
              </a:spcBef>
              <a:spcAft>
                <a:spcPts val="600"/>
              </a:spcAft>
              <a:buClr>
                <a:srgbClr val="E46B1F"/>
              </a:buClr>
              <a:buSzPct val="80000"/>
              <a:buNone/>
              <a:defRPr/>
            </a:pPr>
            <a:r>
              <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Theory of the Size of a Calculation</a:t>
            </a:r>
            <a:endPar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ctr" latinLnBrk="0" hangingPunct="1">
              <a:spcBef>
                <a:spcPct val="20000"/>
              </a:spcBef>
              <a:spcAft>
                <a:spcPts val="600"/>
              </a:spcAft>
              <a:buClr>
                <a:srgbClr val="E46B1F"/>
              </a:buClr>
              <a:buSzPct val="80000"/>
              <a:buNone/>
              <a:defRPr/>
            </a:pPr>
            <a:r>
              <a:rPr kumimoji="0" lang="en-US" altLang="zh-CN" kern="0" dirty="0">
                <a:latin typeface="Times New Roman" panose="02020603050405020304" pitchFamily="18" charset="0"/>
                <a:ea typeface="宋体" panose="02010600030101010101" pitchFamily="2" charset="-122"/>
                <a:cs typeface="Times New Roman" panose="02020603050405020304" pitchFamily="18" charset="0"/>
              </a:rPr>
              <a:t>Self-improvement </a:t>
            </a:r>
            <a:r>
              <a:rPr kumimoji="0" lang="zh-CN" altLang="en-US" kern="0" dirty="0">
                <a:latin typeface="Times New Roman" panose="02020603050405020304" pitchFamily="18" charset="0"/>
                <a:ea typeface="宋体" panose="02010600030101010101" pitchFamily="2" charset="-122"/>
                <a:cs typeface="Times New Roman" panose="02020603050405020304" pitchFamily="18" charset="0"/>
              </a:rPr>
              <a:t>自我学习与提高</a:t>
            </a:r>
            <a:endParaRPr kumimoji="0" lang="en-US" altLang="zh-CN" kern="0" dirty="0">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ctr" latinLnBrk="0" hangingPunct="1">
              <a:spcBef>
                <a:spcPct val="20000"/>
              </a:spcBef>
              <a:spcAft>
                <a:spcPts val="600"/>
              </a:spcAft>
              <a:buClr>
                <a:srgbClr val="E46B1F"/>
              </a:buClr>
              <a:buSzPct val="80000"/>
              <a:buNone/>
              <a:defRPr/>
            </a:pPr>
            <a:r>
              <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Abstractions </a:t>
            </a:r>
            <a:r>
              <a:rPr kumimoji="0" lang="zh-CN" altLang="en-US"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归纳与演绎</a:t>
            </a:r>
            <a:endPar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ctr" latinLnBrk="0" hangingPunct="1">
              <a:spcBef>
                <a:spcPct val="20000"/>
              </a:spcBef>
              <a:spcAft>
                <a:spcPts val="600"/>
              </a:spcAft>
              <a:buClr>
                <a:srgbClr val="E46B1F"/>
              </a:buClr>
              <a:buSzPct val="80000"/>
              <a:buNone/>
              <a:defRPr/>
            </a:pPr>
            <a:r>
              <a:rPr kumimoji="0" lang="en-US" altLang="zh-CN" kern="0" dirty="0">
                <a:latin typeface="Times New Roman" panose="02020603050405020304" pitchFamily="18" charset="0"/>
                <a:ea typeface="宋体" panose="02010600030101010101" pitchFamily="2" charset="-122"/>
                <a:cs typeface="Times New Roman" panose="02020603050405020304" pitchFamily="18" charset="0"/>
              </a:rPr>
              <a:t>Randomness and Creativity</a:t>
            </a:r>
            <a:endParaRPr kumimoji="0" lang="en-US" altLang="zh-CN" sz="2400" b="0" kern="0"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l">
              <a:buClrTx/>
              <a:buSzTx/>
              <a:buFontTx/>
            </a:pPr>
            <a:r>
              <a:rPr lang="zh-CN" altLang="en-US" spc="-100" dirty="0">
                <a:solidFill>
                  <a:srgbClr val="D2533C"/>
                </a:solidFill>
                <a:latin typeface="Arial" panose="020B0604020202020204"/>
                <a:ea typeface="华文新魏" panose="02010800040101010101" pitchFamily="2" charset="-122"/>
              </a:rPr>
              <a:t>组织成立</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p>
            <a:pPr>
              <a:buFont typeface="Wingdings" panose="05000000000000000000" charset="0"/>
              <a:buChar char="u"/>
            </a:pPr>
            <a:r>
              <a:rPr lang="en-US" altLang="zh-CN"/>
              <a:t>1969</a:t>
            </a:r>
            <a:r>
              <a:rPr lang="zh-CN" altLang="en-US"/>
              <a:t>年，成立了国际人工智能联合会议（</a:t>
            </a:r>
            <a:r>
              <a:rPr lang="en-US" altLang="zh-CN"/>
              <a:t>International Joint Conferences on Artificial Intelligence,IJCAI</a:t>
            </a:r>
            <a:r>
              <a:rPr lang="zh-CN" altLang="en-US"/>
              <a:t>）</a:t>
            </a:r>
            <a:endParaRPr lang="zh-CN" altLang="en-US"/>
          </a:p>
          <a:p>
            <a:pPr>
              <a:buFont typeface="Wingdings" panose="05000000000000000000" charset="0"/>
              <a:buChar char="u"/>
            </a:pPr>
            <a:r>
              <a:rPr lang="en-US" altLang="zh-CN"/>
              <a:t>1970</a:t>
            </a:r>
            <a:r>
              <a:rPr lang="zh-CN" altLang="en-US"/>
              <a:t>年，创刊了国际性的人工智能杂志（</a:t>
            </a:r>
            <a:r>
              <a:rPr lang="en-US" altLang="zh-CN"/>
              <a:t>Artificial Intelligence</a:t>
            </a:r>
            <a:r>
              <a:rPr lang="zh-CN" altLang="en-US"/>
              <a:t>）</a:t>
            </a:r>
            <a:endParaRPr lang="zh-CN" altLang="en-US"/>
          </a:p>
          <a:p>
            <a:pPr>
              <a:buFont typeface="Wingdings" panose="05000000000000000000" charset="0"/>
              <a:buChar char="u"/>
            </a:pPr>
            <a:endParaRPr lang="zh-CN" altLang="en-US"/>
          </a:p>
          <a:p>
            <a:pPr marL="0" indent="0" algn="ctr">
              <a:buFont typeface="Wingdings" panose="05000000000000000000" charset="0"/>
              <a:buNone/>
            </a:pPr>
            <a:r>
              <a:rPr lang="zh-CN" altLang="en-US" sz="2800" b="1">
                <a:solidFill>
                  <a:schemeClr val="accent2"/>
                </a:solidFill>
              </a:rPr>
              <a:t>任何事物的发展并不是一帆风顺的！</a:t>
            </a:r>
            <a:endParaRPr lang="zh-CN" altLang="en-US" sz="2800" b="1">
              <a:solidFill>
                <a:schemeClr val="accent2"/>
              </a:solidFill>
            </a:endParaRPr>
          </a:p>
          <a:p>
            <a:endParaRPr lang="zh-CN" altLang="en-US" sz="2800" b="1">
              <a:solidFill>
                <a:schemeClr val="accent2"/>
              </a:solidFill>
            </a:endParaRPr>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pc="-100" dirty="0">
                <a:solidFill>
                  <a:srgbClr val="D2533C"/>
                </a:solidFill>
                <a:latin typeface="Arial" panose="020B0604020202020204"/>
                <a:ea typeface="华文新魏" panose="02010800040101010101" pitchFamily="2" charset="-122"/>
              </a:rPr>
              <a:t>人工智能螺旋式发展之路</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en-US" altLang="zh-CN" sz="2400" dirty="0"/>
              <a:t> </a:t>
            </a:r>
            <a:r>
              <a:rPr lang="zh-CN" altLang="en-US" sz="2400" dirty="0"/>
              <a:t>第一次低谷：</a:t>
            </a:r>
            <a:r>
              <a:rPr lang="en-US" altLang="zh-CN" sz="2400" dirty="0"/>
              <a:t>1973</a:t>
            </a:r>
            <a:r>
              <a:rPr lang="zh-CN" altLang="en-US" sz="2400" dirty="0"/>
              <a:t>年英国发表</a:t>
            </a:r>
            <a:r>
              <a:rPr lang="en-US" altLang="zh-CN" sz="2400" dirty="0"/>
              <a:t>James </a:t>
            </a:r>
            <a:r>
              <a:rPr lang="en-US" altLang="zh-CN" sz="2400" dirty="0" err="1"/>
              <a:t>Lighthill</a:t>
            </a:r>
            <a:r>
              <a:rPr lang="zh-CN" altLang="en-US" sz="2400" dirty="0"/>
              <a:t>报告</a:t>
            </a:r>
            <a:endParaRPr lang="en-US" altLang="zh-CN" sz="2400" dirty="0"/>
          </a:p>
          <a:p>
            <a:pPr marL="577850" lvl="1" indent="-285750">
              <a:buFont typeface="Wingdings" panose="05000000000000000000" pitchFamily="2" charset="2"/>
              <a:buChar char="n"/>
            </a:pPr>
            <a:r>
              <a:rPr lang="zh-CN" altLang="en-US" sz="2000" dirty="0"/>
              <a:t>该报告主要评判</a:t>
            </a:r>
            <a:r>
              <a:rPr lang="en-US" altLang="zh-CN" sz="2000" dirty="0"/>
              <a:t>AI</a:t>
            </a:r>
            <a:r>
              <a:rPr lang="zh-CN" altLang="en-US" sz="2000" dirty="0"/>
              <a:t>基础研究中</a:t>
            </a:r>
            <a:r>
              <a:rPr lang="en-US" altLang="zh-CN" sz="2000" dirty="0"/>
              <a:t>A</a:t>
            </a:r>
            <a:r>
              <a:rPr lang="zh-CN" altLang="en-US" sz="2000" dirty="0"/>
              <a:t>自动机、</a:t>
            </a:r>
            <a:r>
              <a:rPr lang="en-US" altLang="zh-CN" sz="2000" dirty="0"/>
              <a:t>B</a:t>
            </a:r>
            <a:r>
              <a:rPr lang="zh-CN" altLang="en-US" sz="2000" dirty="0"/>
              <a:t>机器人和</a:t>
            </a:r>
            <a:r>
              <a:rPr lang="en-US" altLang="zh-CN" sz="2000" dirty="0"/>
              <a:t>C</a:t>
            </a:r>
            <a:r>
              <a:rPr lang="zh-CN" altLang="en-US" sz="2000" dirty="0"/>
              <a:t>中央神经系统</a:t>
            </a:r>
            <a:endParaRPr lang="en-US" altLang="zh-CN" sz="2000" dirty="0"/>
          </a:p>
          <a:p>
            <a:pPr marL="577850" lvl="1" indent="-285750">
              <a:buFont typeface="Wingdings" panose="05000000000000000000" pitchFamily="2" charset="2"/>
              <a:buChar char="n"/>
            </a:pPr>
            <a:r>
              <a:rPr lang="zh-CN" altLang="en-US" sz="2000" dirty="0"/>
              <a:t>报告结论：</a:t>
            </a:r>
            <a:r>
              <a:rPr lang="en-US" altLang="zh-CN" sz="2000" dirty="0"/>
              <a:t>A</a:t>
            </a:r>
            <a:r>
              <a:rPr lang="zh-CN" altLang="en-US" sz="2000" dirty="0"/>
              <a:t>和</a:t>
            </a:r>
            <a:r>
              <a:rPr lang="en-US" altLang="zh-CN" sz="2000" dirty="0"/>
              <a:t>C</a:t>
            </a:r>
            <a:r>
              <a:rPr lang="zh-CN" altLang="en-US" sz="2000" dirty="0"/>
              <a:t>的研究有价值，但进展令人失望。</a:t>
            </a:r>
            <a:r>
              <a:rPr lang="en-US" altLang="zh-CN" sz="2000" dirty="0"/>
              <a:t>B</a:t>
            </a:r>
            <a:r>
              <a:rPr lang="zh-CN" altLang="en-US" sz="2000" dirty="0"/>
              <a:t>的研究没有价值，进展非常令人失望。建议取消</a:t>
            </a:r>
            <a:r>
              <a:rPr lang="en-US" altLang="zh-CN" sz="2000" dirty="0"/>
              <a:t>B</a:t>
            </a:r>
            <a:r>
              <a:rPr lang="zh-CN" altLang="en-US" sz="2000" dirty="0"/>
              <a:t>的研究。</a:t>
            </a:r>
            <a:endParaRPr lang="en-US" altLang="zh-CN" sz="2000" dirty="0"/>
          </a:p>
          <a:p>
            <a:pPr marL="577850" lvl="1" indent="-285750">
              <a:buFont typeface="Wingdings" panose="05000000000000000000" pitchFamily="2" charset="2"/>
              <a:buChar char="n"/>
            </a:pPr>
            <a:r>
              <a:rPr lang="zh-CN" altLang="en-US" sz="2000" dirty="0"/>
              <a:t>批评后，</a:t>
            </a:r>
            <a:r>
              <a:rPr lang="en-US" altLang="zh-CN" sz="2000" dirty="0"/>
              <a:t>AI</a:t>
            </a:r>
            <a:r>
              <a:rPr lang="zh-CN" altLang="en-US" sz="2000" dirty="0"/>
              <a:t>开始了严冬</a:t>
            </a:r>
            <a:endParaRPr lang="en-US" altLang="zh-CN" sz="2000" dirty="0"/>
          </a:p>
          <a:p>
            <a:r>
              <a:rPr lang="en-US" altLang="zh-CN" sz="1800" b="0" i="0" u="none" strike="noStrike" baseline="0" dirty="0">
                <a:latin typeface="Times New Roman" panose="02020603050405020304" pitchFamily="18" charset="0"/>
              </a:rPr>
              <a:t>(Sir James </a:t>
            </a:r>
            <a:r>
              <a:rPr lang="en-US" altLang="zh-CN" sz="1800" b="0" i="0" u="none" strike="noStrike" baseline="0" dirty="0" err="1">
                <a:latin typeface="Times New Roman" panose="02020603050405020304" pitchFamily="18" charset="0"/>
              </a:rPr>
              <a:t>Lighthill</a:t>
            </a:r>
            <a:r>
              <a:rPr lang="en-US" altLang="zh-CN" sz="1800" b="0" i="0" u="none" strike="noStrike" baseline="0" dirty="0">
                <a:latin typeface="Times New Roman" panose="02020603050405020304" pitchFamily="18" charset="0"/>
              </a:rPr>
              <a:t>, </a:t>
            </a:r>
            <a:r>
              <a:rPr lang="en-US" altLang="zh-CN" sz="1800" b="0" i="1" u="none" strike="noStrike" baseline="0" dirty="0">
                <a:latin typeface="Times New Roman" panose="02020603050405020304" pitchFamily="18" charset="0"/>
              </a:rPr>
              <a:t>Artificial Intelligence: A General Survey</a:t>
            </a:r>
            <a:r>
              <a:rPr lang="en-US" altLang="zh-CN" sz="1800" b="0" i="0" u="none" strike="noStrike" baseline="0" dirty="0">
                <a:latin typeface="Times New Roman" panose="02020603050405020304" pitchFamily="18" charset="0"/>
              </a:rPr>
              <a:t>, Science Research Council,1973) </a:t>
            </a:r>
            <a:endParaRPr lang="en-US" altLang="zh-CN" sz="1800" b="0" i="0" u="none" strike="noStrike" baseline="0" dirty="0">
              <a:latin typeface="Times New Roman" panose="02020603050405020304" pitchFamily="18" charset="0"/>
            </a:endParaRPr>
          </a:p>
          <a:p>
            <a:endParaRPr lang="en-US" altLang="zh-CN" sz="1800" dirty="0">
              <a:latin typeface="Times New Roman" panose="02020603050405020304" pitchFamily="18" charset="0"/>
            </a:endParaRPr>
          </a:p>
          <a:p>
            <a:r>
              <a:rPr lang="zh-CN" altLang="en-US" sz="2400" b="0" i="0" u="none" strike="noStrike" baseline="0" dirty="0">
                <a:latin typeface="黑体" panose="02010609060101010101" pitchFamily="2" charset="-122"/>
                <a:ea typeface="黑体" panose="02010609060101010101" pitchFamily="2" charset="-122"/>
              </a:rPr>
              <a:t>教训：</a:t>
            </a:r>
            <a:r>
              <a:rPr lang="en-US" altLang="zh-CN" sz="2400" b="0" i="0" u="none" strike="noStrike" baseline="0" dirty="0">
                <a:latin typeface="Times New Roman" panose="02020603050405020304" pitchFamily="18" charset="0"/>
                <a:ea typeface="黑体" panose="02010609060101010101" pitchFamily="2" charset="-122"/>
              </a:rPr>
              <a:t>AI</a:t>
            </a:r>
            <a:r>
              <a:rPr lang="zh-CN" altLang="en-US" sz="2400" b="0" i="0" u="none" strike="noStrike" baseline="0" dirty="0">
                <a:latin typeface="黑体" panose="02010609060101010101" pitchFamily="2" charset="-122"/>
                <a:ea typeface="黑体" panose="02010609060101010101" pitchFamily="2" charset="-122"/>
              </a:rPr>
              <a:t>尚属婴儿期，难以测算准确 </a:t>
            </a:r>
            <a:endParaRPr lang="zh-CN" altLang="en-US" sz="2400"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pc="-100" dirty="0">
                <a:solidFill>
                  <a:srgbClr val="D2533C"/>
                </a:solidFill>
                <a:latin typeface="Arial" panose="020B0604020202020204"/>
                <a:ea typeface="华文新魏" panose="02010800040101010101" pitchFamily="2" charset="-122"/>
              </a:rPr>
              <a:t>人工智能螺旋式发展之路</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400" dirty="0"/>
              <a:t>第二次低谷：日本智能（第五代）计算机研制失败</a:t>
            </a:r>
            <a:endParaRPr lang="en-US" altLang="zh-CN" sz="2400" dirty="0"/>
          </a:p>
          <a:p>
            <a:pPr marL="577850" lvl="1" indent="-285750">
              <a:buFont typeface="Wingdings" panose="05000000000000000000" pitchFamily="2" charset="2"/>
              <a:buChar char="n"/>
            </a:pPr>
            <a:r>
              <a:rPr lang="en-US" altLang="zh-CN" sz="2000" dirty="0"/>
              <a:t>1982</a:t>
            </a:r>
            <a:r>
              <a:rPr lang="zh-CN" altLang="en-US" sz="2000" dirty="0"/>
              <a:t>年开始，日本通产省主持第五代计算机。</a:t>
            </a:r>
            <a:endParaRPr lang="en-US" altLang="zh-CN" sz="2000" dirty="0"/>
          </a:p>
          <a:p>
            <a:pPr marL="577850" lvl="1" indent="-285750">
              <a:buFont typeface="Wingdings" panose="05000000000000000000" pitchFamily="2" charset="2"/>
              <a:buChar char="n"/>
            </a:pPr>
            <a:r>
              <a:rPr lang="zh-CN" altLang="en-US" sz="2000" dirty="0"/>
              <a:t>动机：计算机从计算与存储数据向能直接推理与知识处理的新型结构过渡。</a:t>
            </a:r>
            <a:endParaRPr lang="en-US" altLang="zh-CN" sz="2000" dirty="0"/>
          </a:p>
          <a:p>
            <a:pPr marL="577850" lvl="1" indent="-285750">
              <a:buFont typeface="Wingdings" panose="05000000000000000000" pitchFamily="2" charset="2"/>
              <a:buChar char="n"/>
            </a:pPr>
            <a:r>
              <a:rPr lang="zh-CN" altLang="en-US" sz="2000" dirty="0"/>
              <a:t>目标：构成一个具有</a:t>
            </a:r>
            <a:r>
              <a:rPr lang="en-US" altLang="zh-CN" sz="2000" dirty="0"/>
              <a:t>1000</a:t>
            </a:r>
            <a:r>
              <a:rPr lang="zh-CN" altLang="en-US" sz="2000" dirty="0"/>
              <a:t>个处理单元的并行推理机，推理速度比常规高</a:t>
            </a:r>
            <a:r>
              <a:rPr lang="en-US" altLang="zh-CN" sz="2000" dirty="0"/>
              <a:t>1000</a:t>
            </a:r>
            <a:r>
              <a:rPr lang="zh-CN" altLang="en-US" sz="2000" dirty="0"/>
              <a:t>倍。连接</a:t>
            </a:r>
            <a:r>
              <a:rPr lang="en-US" altLang="zh-CN" sz="2000" dirty="0"/>
              <a:t>10</a:t>
            </a:r>
            <a:r>
              <a:rPr lang="zh-CN" altLang="en-US" sz="2000" dirty="0"/>
              <a:t>亿信息组的数据库和知识库，具备听说能力。</a:t>
            </a:r>
            <a:endParaRPr lang="en-US" altLang="zh-CN" sz="2000" dirty="0"/>
          </a:p>
          <a:p>
            <a:pPr marL="577850" lvl="1" indent="-285750">
              <a:buFont typeface="Wingdings" panose="05000000000000000000" pitchFamily="2" charset="2"/>
              <a:buChar char="n"/>
            </a:pPr>
            <a:r>
              <a:rPr lang="en-US" altLang="zh-CN" sz="1800" b="0" i="0" u="none" strike="noStrike" baseline="0" dirty="0">
                <a:latin typeface="Times New Roman" panose="02020603050405020304" pitchFamily="18" charset="0"/>
              </a:rPr>
              <a:t>1992</a:t>
            </a:r>
            <a:r>
              <a:rPr lang="zh-CN" altLang="en-US" sz="1800" b="0" i="0" u="none" strike="noStrike" baseline="0" dirty="0">
                <a:latin typeface="Times New Roman" panose="02020603050405020304" pitchFamily="18" charset="0"/>
              </a:rPr>
              <a:t>年因失败而告终（开支</a:t>
            </a:r>
            <a:r>
              <a:rPr lang="en-US" altLang="zh-CN" sz="1800" b="0" i="0" u="none" strike="noStrike" baseline="0" dirty="0">
                <a:latin typeface="Times New Roman" panose="02020603050405020304" pitchFamily="18" charset="0"/>
              </a:rPr>
              <a:t>US $850 million</a:t>
            </a:r>
            <a:r>
              <a:rPr lang="zh-CN" altLang="en-US" sz="1800" b="0" i="0" u="none" strike="noStrike" baseline="0" dirty="0">
                <a:latin typeface="Times New Roman" panose="02020603050405020304" pitchFamily="18" charset="0"/>
              </a:rPr>
              <a:t>）</a:t>
            </a:r>
            <a:endParaRPr lang="en-US" altLang="zh-CN" sz="1800" dirty="0">
              <a:latin typeface="Times New Roman" panose="02020603050405020304" pitchFamily="18" charset="0"/>
            </a:endParaRPr>
          </a:p>
          <a:p>
            <a:endParaRPr lang="en-US" altLang="zh-CN" sz="2400" b="0" i="0" u="none" strike="noStrike" baseline="0" dirty="0">
              <a:latin typeface="黑体" panose="02010609060101010101" pitchFamily="2" charset="-122"/>
              <a:ea typeface="黑体" panose="02010609060101010101" pitchFamily="2" charset="-122"/>
            </a:endParaRPr>
          </a:p>
          <a:p>
            <a:r>
              <a:rPr lang="zh-CN" altLang="en-US" sz="2400" b="0" i="0" u="none" strike="noStrike" baseline="0" dirty="0">
                <a:latin typeface="黑体" panose="02010609060101010101" pitchFamily="2" charset="-122"/>
                <a:ea typeface="黑体" panose="02010609060101010101" pitchFamily="2" charset="-122"/>
              </a:rPr>
              <a:t>教训：驱动</a:t>
            </a:r>
            <a:r>
              <a:rPr lang="en-US" altLang="zh-CN" sz="2400" b="0" i="0" u="none" strike="noStrike" baseline="0" dirty="0">
                <a:latin typeface="黑体" panose="02010609060101010101" pitchFamily="2" charset="-122"/>
                <a:ea typeface="黑体" panose="02010609060101010101" pitchFamily="2" charset="-122"/>
              </a:rPr>
              <a:t>AI</a:t>
            </a:r>
            <a:r>
              <a:rPr lang="zh-CN" altLang="en-US" sz="2400" b="0" i="0" u="none" strike="noStrike" baseline="0" dirty="0">
                <a:latin typeface="黑体" panose="02010609060101010101" pitchFamily="2" charset="-122"/>
                <a:ea typeface="黑体" panose="02010609060101010101" pitchFamily="2" charset="-122"/>
              </a:rPr>
              <a:t>的发展要靠软件、数据和知识，而非硬件</a:t>
            </a:r>
            <a:endParaRPr lang="zh-CN" altLang="en-US" sz="2400"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pc="-100" dirty="0">
                <a:solidFill>
                  <a:srgbClr val="D2533C"/>
                </a:solidFill>
                <a:latin typeface="Arial" panose="020B0604020202020204"/>
                <a:ea typeface="华文新魏" panose="02010800040101010101" pitchFamily="2" charset="-122"/>
              </a:rPr>
              <a:t>人工智能螺旋式发展之路</a:t>
            </a:r>
            <a:endParaRPr lang="zh-CN" altLang="en-US" dirty="0"/>
          </a:p>
        </p:txBody>
      </p:sp>
      <p:sp>
        <p:nvSpPr>
          <p:cNvPr id="3" name="内容占位符 2"/>
          <p:cNvSpPr>
            <a:spLocks noGrp="1"/>
          </p:cNvSpPr>
          <p:nvPr>
            <p:ph idx="1"/>
          </p:nvPr>
        </p:nvSpPr>
        <p:spPr/>
        <p:txBody>
          <a:bodyPr/>
          <a:lstStyle/>
          <a:p>
            <a:pPr>
              <a:buFont typeface="Wingdings" panose="05000000000000000000" pitchFamily="2" charset="2"/>
              <a:buChar char="p"/>
            </a:pPr>
            <a:r>
              <a:rPr lang="zh-CN" altLang="en-US" sz="2400" dirty="0"/>
              <a:t>第三次低谷：知识词典日趋势微、网络百科兴起</a:t>
            </a:r>
            <a:endParaRPr lang="en-US" altLang="zh-CN" sz="2400" dirty="0"/>
          </a:p>
          <a:p>
            <a:pPr marL="0" indent="0">
              <a:buNone/>
            </a:pPr>
            <a:endParaRPr lang="en-US" altLang="zh-CN" sz="2000" dirty="0"/>
          </a:p>
          <a:p>
            <a:pPr marL="577850" lvl="1" indent="-285750">
              <a:buFont typeface="Wingdings" panose="05000000000000000000" pitchFamily="2" charset="2"/>
              <a:buChar char="n"/>
            </a:pPr>
            <a:r>
              <a:rPr lang="zh-CN" altLang="en-US" sz="2000" dirty="0"/>
              <a:t>斯坦福</a:t>
            </a:r>
            <a:r>
              <a:rPr lang="en-US" altLang="zh-CN" sz="2000" dirty="0"/>
              <a:t>1984</a:t>
            </a:r>
            <a:r>
              <a:rPr lang="zh-CN" altLang="en-US" sz="2000" dirty="0"/>
              <a:t>年通过专家来建设知识百科全书</a:t>
            </a:r>
            <a:r>
              <a:rPr lang="en-US" altLang="zh-CN" sz="2000" dirty="0"/>
              <a:t>Cyc</a:t>
            </a:r>
            <a:r>
              <a:rPr lang="zh-CN" altLang="en-US" sz="2000" dirty="0"/>
              <a:t>。截止</a:t>
            </a:r>
            <a:r>
              <a:rPr lang="en-US" altLang="zh-CN" sz="2000" dirty="0"/>
              <a:t>2015</a:t>
            </a:r>
            <a:r>
              <a:rPr lang="zh-CN" altLang="en-US" sz="2000" dirty="0"/>
              <a:t>年</a:t>
            </a:r>
            <a:r>
              <a:rPr lang="en-US" altLang="zh-CN" sz="2000" dirty="0"/>
              <a:t>11</a:t>
            </a:r>
            <a:r>
              <a:rPr lang="zh-CN" altLang="en-US" sz="2000" dirty="0"/>
              <a:t>月（其建设也时断时续），包括</a:t>
            </a:r>
            <a:r>
              <a:rPr lang="en-US" altLang="zh-CN" sz="2000" dirty="0"/>
              <a:t>23</a:t>
            </a:r>
            <a:r>
              <a:rPr lang="zh-CN" altLang="en-US" sz="2000" dirty="0"/>
              <a:t>万多个概念、实体和</a:t>
            </a:r>
            <a:r>
              <a:rPr lang="en-US" altLang="zh-CN" sz="2000" dirty="0"/>
              <a:t>200</a:t>
            </a:r>
            <a:r>
              <a:rPr lang="zh-CN" altLang="en-US" sz="2000" dirty="0"/>
              <a:t>多万个三元组，如：</a:t>
            </a:r>
            <a:endParaRPr lang="en-US" altLang="zh-CN" sz="2000" dirty="0"/>
          </a:p>
          <a:p>
            <a:pPr marL="200025" lvl="1" indent="0">
              <a:buNone/>
            </a:pPr>
            <a:r>
              <a:rPr lang="en-US" altLang="zh-CN" sz="2000" b="0" i="0" u="none" strike="noStrike" baseline="0" dirty="0">
                <a:latin typeface="微软雅黑" panose="020B0503020204020204" charset="-122"/>
                <a:ea typeface="微软雅黑" panose="020B0503020204020204" charset="-122"/>
              </a:rPr>
              <a:t>—</a:t>
            </a:r>
            <a:r>
              <a:rPr lang="en-US" altLang="zh-CN" sz="2000" b="0" i="0" u="none" strike="noStrike" baseline="0" dirty="0">
                <a:latin typeface="Times New Roman" panose="02020603050405020304" pitchFamily="18" charset="0"/>
                <a:ea typeface="微软雅黑" panose="020B0503020204020204" charset="-122"/>
              </a:rPr>
              <a:t>place: ~19,000 organization: ~26,000 business related thing: ~28,000 </a:t>
            </a:r>
            <a:endParaRPr lang="en-US" altLang="zh-CN" sz="2000" b="0" i="0" u="none" strike="noStrike" baseline="0" dirty="0">
              <a:latin typeface="微软雅黑" panose="020B0503020204020204" charset="-122"/>
              <a:ea typeface="微软雅黑" panose="020B0503020204020204" charset="-122"/>
            </a:endParaRPr>
          </a:p>
          <a:p>
            <a:pPr marL="292100" lvl="1" indent="0">
              <a:buNone/>
            </a:pPr>
            <a:endParaRPr lang="en-US" altLang="zh-CN" sz="2000" dirty="0"/>
          </a:p>
          <a:p>
            <a:pPr marL="577850" lvl="1" indent="-285750">
              <a:buFont typeface="Wingdings" panose="05000000000000000000" pitchFamily="2" charset="2"/>
              <a:buChar char="n"/>
            </a:pPr>
            <a:r>
              <a:rPr lang="en-US" altLang="zh-CN" sz="2000" dirty="0"/>
              <a:t>Cyc</a:t>
            </a:r>
            <a:r>
              <a:rPr lang="zh-CN" altLang="en-US" sz="2000" dirty="0"/>
              <a:t>也开始链接外部知识库：</a:t>
            </a:r>
            <a:r>
              <a:rPr lang="en-US" altLang="zh-CN" sz="2000" dirty="0" err="1"/>
              <a:t>Dbpedia</a:t>
            </a:r>
            <a:r>
              <a:rPr lang="en-US" altLang="zh-CN" sz="2000" dirty="0"/>
              <a:t>, UMBEL, CIA World Factbook</a:t>
            </a:r>
            <a:r>
              <a:rPr lang="zh-CN" altLang="en-US" sz="2000" dirty="0"/>
              <a:t>等等</a:t>
            </a:r>
            <a:endParaRPr lang="en-US" altLang="zh-CN" sz="2400" b="0" i="0" u="none" strike="noStrike" baseline="0" dirty="0">
              <a:latin typeface="黑体" panose="02010609060101010101" pitchFamily="2" charset="-122"/>
              <a:ea typeface="黑体" panose="02010609060101010101" pitchFamily="2" charset="-122"/>
            </a:endParaRPr>
          </a:p>
          <a:p>
            <a:endParaRPr lang="en-US" altLang="zh-CN" sz="2400" dirty="0">
              <a:latin typeface="黑体" panose="02010609060101010101" pitchFamily="2" charset="-122"/>
              <a:ea typeface="黑体" panose="02010609060101010101" pitchFamily="2" charset="-122"/>
            </a:endParaRPr>
          </a:p>
          <a:p>
            <a:r>
              <a:rPr lang="zh-CN" altLang="en-US" sz="2400" b="0" i="0" u="none" strike="noStrike" baseline="0" dirty="0">
                <a:latin typeface="黑体" panose="02010609060101010101" pitchFamily="2" charset="-122"/>
                <a:ea typeface="黑体" panose="02010609060101010101" pitchFamily="2" charset="-122"/>
              </a:rPr>
              <a:t>教训：知识不能靠专家表达，要自动学习</a:t>
            </a:r>
            <a:endParaRPr lang="zh-CN" altLang="en-US" sz="2400"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fontScale="90000"/>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从智能角度对人工智能的分类</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539552" y="1448780"/>
            <a:ext cx="3024336"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ctr" hangingPunct="0">
              <a:spcBef>
                <a:spcPct val="20000"/>
              </a:spcBef>
              <a:spcAft>
                <a:spcPct val="0"/>
              </a:spcAft>
              <a:buClr>
                <a:srgbClr val="E46B1F"/>
              </a:buClr>
              <a:buSzPct val="80000"/>
              <a:buFont typeface="Wingdings" panose="05000000000000000000" pitchFamily="2" charset="2"/>
              <a:buChar char="n"/>
              <a:defRPr sz="2800" b="1">
                <a:solidFill>
                  <a:srgbClr val="000080"/>
                </a:solidFill>
                <a:latin typeface="+mn-lt"/>
                <a:ea typeface="+mn-ea"/>
                <a:cs typeface="+mn-cs"/>
              </a:defRPr>
            </a:lvl1pPr>
            <a:lvl2pPr marL="742950" indent="-285750" algn="l" rtl="0" eaLnBrk="0" fontAlgn="ctr" hangingPunct="0">
              <a:spcBef>
                <a:spcPct val="20000"/>
              </a:spcBef>
              <a:spcAft>
                <a:spcPct val="0"/>
              </a:spcAft>
              <a:buClr>
                <a:srgbClr val="E46B1F"/>
              </a:buClr>
              <a:buSzPct val="80000"/>
              <a:buFont typeface="Arial" panose="020B0604020202020204" pitchFamily="34" charset="0"/>
              <a:buChar char="—"/>
              <a:defRPr sz="2400" b="1">
                <a:solidFill>
                  <a:srgbClr val="000080"/>
                </a:solidFill>
                <a:latin typeface="+mn-lt"/>
                <a:ea typeface="+mn-ea"/>
              </a:defRPr>
            </a:lvl2pPr>
            <a:lvl3pPr marL="1143000" indent="-228600" algn="l" rtl="0" eaLnBrk="0" fontAlgn="ctr" hangingPunct="0">
              <a:spcBef>
                <a:spcPct val="20000"/>
              </a:spcBef>
              <a:spcAft>
                <a:spcPct val="0"/>
              </a:spcAft>
              <a:buClr>
                <a:srgbClr val="E46B1F"/>
              </a:buClr>
              <a:buSzPct val="80000"/>
              <a:buFont typeface="Wingdings" panose="05000000000000000000" pitchFamily="2" charset="2"/>
              <a:buChar char="u"/>
              <a:defRPr sz="2000" b="1">
                <a:solidFill>
                  <a:srgbClr val="000080"/>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ctr" latinLnBrk="0" hangingPunct="1">
              <a:spcBef>
                <a:spcPct val="20000"/>
              </a:spcBef>
              <a:spcAft>
                <a:spcPts val="600"/>
              </a:spcAft>
              <a:buClr>
                <a:srgbClr val="E46B1F"/>
              </a:buClr>
              <a:buSzPct val="80000"/>
              <a:buFont typeface="Wingdings" panose="05000000000000000000" pitchFamily="2" charset="2"/>
              <a:buChar char="n"/>
              <a:defRPr/>
            </a:pPr>
            <a:r>
              <a:rPr kumimoji="0" lang="zh-CN" altLang="en-US" sz="2400" i="0" u="none" strike="noStrike" kern="0" cap="none" spc="0" normalizeH="0" baseline="0" noProof="0" dirty="0">
                <a:ln>
                  <a:noFill/>
                </a:ln>
                <a:solidFill>
                  <a:srgbClr val="C00000"/>
                </a:solidFill>
                <a:effectLst/>
                <a:uLnTx/>
                <a:uFillTx/>
                <a:latin typeface="Arial" panose="020B0604020202020204"/>
                <a:ea typeface="宋体" panose="02010600030101010101" pitchFamily="2" charset="-122"/>
              </a:rPr>
              <a:t>领域人工智能</a:t>
            </a:r>
            <a:endParaRPr kumimoji="0" lang="en-US" altLang="zh-CN" sz="2400" i="0" u="none" strike="noStrike" kern="0" cap="none" spc="0" normalizeH="0" baseline="0" noProof="0" dirty="0">
              <a:ln>
                <a:noFill/>
              </a:ln>
              <a:solidFill>
                <a:srgbClr val="C00000"/>
              </a:solidFill>
              <a:effectLst/>
              <a:uLnTx/>
              <a:uFillTx/>
              <a:latin typeface="Arial" panose="020B0604020202020204"/>
              <a:ea typeface="宋体" panose="02010600030101010101" pitchFamily="2" charset="-122"/>
            </a:endParaRPr>
          </a:p>
          <a:p>
            <a:pPr marR="0" lvl="0" algn="l" defTabSz="914400" rtl="0" eaLnBrk="1" fontAlgn="ctr" latinLnBrk="0" hangingPunct="1">
              <a:spcBef>
                <a:spcPct val="20000"/>
              </a:spcBef>
              <a:spcAft>
                <a:spcPts val="600"/>
              </a:spcAft>
              <a:buClr>
                <a:srgbClr val="E46B1F"/>
              </a:buClr>
              <a:buSzPct val="80000"/>
              <a:buFont typeface="Wingdings" panose="05000000000000000000" pitchFamily="2" charset="2"/>
              <a:buChar char="ü"/>
              <a:defRPr/>
            </a:pPr>
            <a:r>
              <a:rPr kumimoji="0" lang="zh-CN" altLang="en-US" sz="2400" b="0" kern="0" dirty="0">
                <a:solidFill>
                  <a:schemeClr val="tx1"/>
                </a:solidFill>
                <a:latin typeface="Arial" panose="020B0604020202020204"/>
                <a:ea typeface="宋体" panose="02010600030101010101" pitchFamily="2" charset="-122"/>
              </a:rPr>
              <a:t>依葫芦画瓢、任务导向，如</a:t>
            </a:r>
            <a:r>
              <a:rPr kumimoji="0" lang="en-US" altLang="zh-CN" sz="2400" b="0" kern="0" dirty="0">
                <a:solidFill>
                  <a:schemeClr val="tx1"/>
                </a:solidFill>
                <a:latin typeface="Arial" panose="020B0604020202020204"/>
                <a:ea typeface="宋体" panose="02010600030101010101" pitchFamily="2" charset="-122"/>
              </a:rPr>
              <a:t>Deep Blue</a:t>
            </a:r>
            <a:r>
              <a:rPr kumimoji="0" lang="zh-CN" altLang="en-US" sz="2400" b="0" kern="0" dirty="0">
                <a:solidFill>
                  <a:schemeClr val="tx1"/>
                </a:solidFill>
                <a:latin typeface="Arial" panose="020B0604020202020204"/>
                <a:ea typeface="宋体" panose="02010600030101010101" pitchFamily="2" charset="-122"/>
              </a:rPr>
              <a:t>和</a:t>
            </a:r>
            <a:r>
              <a:rPr kumimoji="0" lang="en-US" altLang="zh-CN" sz="2400" b="0" kern="0" dirty="0">
                <a:solidFill>
                  <a:schemeClr val="tx1"/>
                </a:solidFill>
                <a:latin typeface="Arial" panose="020B0604020202020204"/>
                <a:ea typeface="宋体" panose="02010600030101010101" pitchFamily="2" charset="-122"/>
              </a:rPr>
              <a:t>AlphaGo</a:t>
            </a:r>
            <a:endParaRPr kumimoji="0" lang="en-US" altLang="zh-CN" sz="2400" b="0" kern="0" dirty="0">
              <a:solidFill>
                <a:schemeClr val="tx1"/>
              </a:solidFill>
              <a:latin typeface="Arial" panose="020B0604020202020204"/>
              <a:ea typeface="宋体" panose="02010600030101010101" pitchFamily="2" charset="-122"/>
            </a:endParaRPr>
          </a:p>
          <a:p>
            <a:pPr eaLnBrk="1" hangingPunct="1">
              <a:spcAft>
                <a:spcPts val="600"/>
              </a:spcAft>
              <a:defRPr/>
            </a:pPr>
            <a:r>
              <a:rPr kumimoji="0" lang="zh-CN" altLang="en-US" sz="2400" kern="0" dirty="0">
                <a:solidFill>
                  <a:srgbClr val="C00000"/>
                </a:solidFill>
                <a:latin typeface="Arial" panose="020B0604020202020204"/>
                <a:ea typeface="宋体" panose="02010600030101010101" pitchFamily="2" charset="-122"/>
              </a:rPr>
              <a:t>通用人工智能或跨领域人工智能</a:t>
            </a:r>
            <a:endParaRPr kumimoji="0" lang="en-US" altLang="zh-CN" sz="2400" kern="0" dirty="0">
              <a:solidFill>
                <a:srgbClr val="C00000"/>
              </a:solidFill>
              <a:latin typeface="Arial" panose="020B0604020202020204"/>
              <a:ea typeface="宋体" panose="02010600030101010101" pitchFamily="2" charset="-122"/>
            </a:endParaRPr>
          </a:p>
          <a:p>
            <a:pPr eaLnBrk="1" hangingPunct="1">
              <a:spcAft>
                <a:spcPts val="600"/>
              </a:spcAft>
              <a:buFont typeface="Wingdings" panose="05000000000000000000" pitchFamily="2" charset="2"/>
              <a:buChar char="ü"/>
              <a:defRPr/>
            </a:pPr>
            <a:r>
              <a:rPr kumimoji="0" lang="zh-CN" altLang="en-US" sz="2400" b="0" kern="0" dirty="0">
                <a:solidFill>
                  <a:schemeClr val="tx1"/>
                </a:solidFill>
                <a:latin typeface="Arial" panose="020B0604020202020204"/>
                <a:ea typeface="宋体" panose="02010600030101010101" pitchFamily="2" charset="-122"/>
              </a:rPr>
              <a:t>举一反三、从经验中学习，如“人类”智能</a:t>
            </a:r>
            <a:endParaRPr kumimoji="0" lang="zh-CN" altLang="en-US" sz="2400" b="0" kern="0" dirty="0">
              <a:solidFill>
                <a:schemeClr val="tx1"/>
              </a:solidFill>
              <a:latin typeface="Arial" panose="020B0604020202020204"/>
              <a:ea typeface="宋体" panose="02010600030101010101" pitchFamily="2" charset="-122"/>
            </a:endParaRPr>
          </a:p>
        </p:txBody>
      </p:sp>
      <p:pic>
        <p:nvPicPr>
          <p:cNvPr id="3" name="图片 2"/>
          <p:cNvPicPr>
            <a:picLocks noChangeAspect="1"/>
          </p:cNvPicPr>
          <p:nvPr/>
        </p:nvPicPr>
        <p:blipFill>
          <a:blip r:embed="rId1"/>
          <a:stretch>
            <a:fillRect/>
          </a:stretch>
        </p:blipFill>
        <p:spPr>
          <a:xfrm>
            <a:off x="3707904" y="1255601"/>
            <a:ext cx="4968552" cy="50440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fontScale="90000"/>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从智能角度对人工智能的分类</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539552" y="1262314"/>
            <a:ext cx="7869436"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ctr" hangingPunct="0">
              <a:spcBef>
                <a:spcPct val="20000"/>
              </a:spcBef>
              <a:spcAft>
                <a:spcPct val="0"/>
              </a:spcAft>
              <a:buClr>
                <a:srgbClr val="E46B1F"/>
              </a:buClr>
              <a:buSzPct val="80000"/>
              <a:buFont typeface="Wingdings" panose="05000000000000000000" pitchFamily="2" charset="2"/>
              <a:buChar char="n"/>
              <a:defRPr sz="2800" b="1">
                <a:solidFill>
                  <a:srgbClr val="000080"/>
                </a:solidFill>
                <a:latin typeface="+mn-lt"/>
                <a:ea typeface="+mn-ea"/>
                <a:cs typeface="+mn-cs"/>
              </a:defRPr>
            </a:lvl1pPr>
            <a:lvl2pPr marL="742950" indent="-285750" algn="l" rtl="0" eaLnBrk="0" fontAlgn="ctr" hangingPunct="0">
              <a:spcBef>
                <a:spcPct val="20000"/>
              </a:spcBef>
              <a:spcAft>
                <a:spcPct val="0"/>
              </a:spcAft>
              <a:buClr>
                <a:srgbClr val="E46B1F"/>
              </a:buClr>
              <a:buSzPct val="80000"/>
              <a:buFont typeface="Arial" panose="020B0604020202020204" pitchFamily="34" charset="0"/>
              <a:buChar char="—"/>
              <a:defRPr sz="2400" b="1">
                <a:solidFill>
                  <a:srgbClr val="000080"/>
                </a:solidFill>
                <a:latin typeface="+mn-lt"/>
                <a:ea typeface="+mn-ea"/>
              </a:defRPr>
            </a:lvl2pPr>
            <a:lvl3pPr marL="1143000" indent="-228600" algn="l" rtl="0" eaLnBrk="0" fontAlgn="ctr" hangingPunct="0">
              <a:spcBef>
                <a:spcPct val="20000"/>
              </a:spcBef>
              <a:spcAft>
                <a:spcPct val="0"/>
              </a:spcAft>
              <a:buClr>
                <a:srgbClr val="E46B1F"/>
              </a:buClr>
              <a:buSzPct val="80000"/>
              <a:buFont typeface="Wingdings" panose="05000000000000000000" pitchFamily="2" charset="2"/>
              <a:buChar char="u"/>
              <a:defRPr sz="2000" b="1">
                <a:solidFill>
                  <a:srgbClr val="000080"/>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ctr" latinLnBrk="0" hangingPunct="1">
              <a:spcBef>
                <a:spcPct val="20000"/>
              </a:spcBef>
              <a:spcAft>
                <a:spcPts val="600"/>
              </a:spcAft>
              <a:buClr>
                <a:srgbClr val="E46B1F"/>
              </a:buClr>
              <a:buSzPct val="80000"/>
              <a:buFont typeface="Wingdings" panose="05000000000000000000" pitchFamily="2" charset="2"/>
              <a:buChar char="n"/>
              <a:defRPr/>
            </a:pPr>
            <a:r>
              <a:rPr kumimoji="0" lang="zh-CN" altLang="en-US" sz="2400" i="0" u="none" strike="noStrike" kern="0" cap="none" spc="0" normalizeH="0" baseline="0" noProof="0" dirty="0">
                <a:ln>
                  <a:noFill/>
                </a:ln>
                <a:solidFill>
                  <a:srgbClr val="C00000"/>
                </a:solidFill>
                <a:effectLst/>
                <a:uLnTx/>
                <a:uFillTx/>
                <a:latin typeface="Arial" panose="020B0604020202020204"/>
                <a:ea typeface="宋体" panose="02010600030101010101" pitchFamily="2" charset="-122"/>
              </a:rPr>
              <a:t>混合增强人工智能：</a:t>
            </a:r>
            <a:r>
              <a:rPr kumimoji="0" lang="zh-CN" altLang="en-US" sz="2400" i="0" u="none" strike="noStrike" kern="0" cap="none" spc="0" normalizeH="0" baseline="0" noProof="0" dirty="0">
                <a:ln>
                  <a:noFill/>
                </a:ln>
                <a:solidFill>
                  <a:schemeClr val="tx1"/>
                </a:solidFill>
                <a:effectLst/>
                <a:uLnTx/>
                <a:uFillTx/>
                <a:latin typeface="Arial" panose="020B0604020202020204"/>
                <a:ea typeface="宋体" panose="02010600030101010101" pitchFamily="2" charset="-122"/>
              </a:rPr>
              <a:t>多种智能体的混合形式</a:t>
            </a:r>
            <a:endParaRPr kumimoji="0" lang="en-US" altLang="zh-CN" sz="2400" i="0" u="none" strike="noStrike" kern="0" cap="none" spc="0" normalizeH="0" baseline="0" noProof="0" dirty="0">
              <a:ln>
                <a:noFill/>
              </a:ln>
              <a:solidFill>
                <a:srgbClr val="C00000"/>
              </a:solidFill>
              <a:effectLst/>
              <a:uLnTx/>
              <a:uFillTx/>
              <a:latin typeface="Arial" panose="020B0604020202020204"/>
              <a:ea typeface="宋体" panose="02010600030101010101" pitchFamily="2" charset="-122"/>
            </a:endParaRPr>
          </a:p>
          <a:p>
            <a:pPr marR="0" lvl="0" algn="l" defTabSz="914400" rtl="0" eaLnBrk="1" fontAlgn="ctr" latinLnBrk="0" hangingPunct="1">
              <a:spcBef>
                <a:spcPct val="20000"/>
              </a:spcBef>
              <a:spcAft>
                <a:spcPts val="600"/>
              </a:spcAft>
              <a:buClr>
                <a:srgbClr val="E46B1F"/>
              </a:buClr>
              <a:buSzPct val="80000"/>
              <a:buFont typeface="Wingdings" panose="05000000000000000000" pitchFamily="2" charset="2"/>
              <a:buChar char="ü"/>
              <a:defRPr/>
            </a:pPr>
            <a:r>
              <a:rPr kumimoji="0" lang="zh-CN" altLang="en-US" sz="2400" b="0" kern="0" dirty="0">
                <a:solidFill>
                  <a:schemeClr val="tx1"/>
                </a:solidFill>
                <a:latin typeface="Arial" panose="020B0604020202020204"/>
                <a:ea typeface="宋体" panose="02010600030101010101" pitchFamily="2" charset="-122"/>
              </a:rPr>
              <a:t>外骨骼机器人</a:t>
            </a:r>
            <a:endParaRPr kumimoji="0" lang="en-US" altLang="zh-CN" sz="2400" b="0" kern="0" dirty="0">
              <a:solidFill>
                <a:schemeClr val="tx1"/>
              </a:solidFill>
              <a:latin typeface="Arial" panose="020B0604020202020204"/>
              <a:ea typeface="宋体" panose="02010600030101010101" pitchFamily="2" charset="-122"/>
            </a:endParaRPr>
          </a:p>
          <a:p>
            <a:pPr marR="0" lvl="0" algn="l" defTabSz="914400" rtl="0" eaLnBrk="1" fontAlgn="ctr" latinLnBrk="0" hangingPunct="1">
              <a:spcBef>
                <a:spcPct val="20000"/>
              </a:spcBef>
              <a:spcAft>
                <a:spcPts val="600"/>
              </a:spcAft>
              <a:buClr>
                <a:srgbClr val="E46B1F"/>
              </a:buClr>
              <a:buSzPct val="80000"/>
              <a:buFont typeface="Wingdings" panose="05000000000000000000" pitchFamily="2" charset="2"/>
              <a:buChar char="ü"/>
              <a:defRPr/>
            </a:pPr>
            <a:r>
              <a:rPr kumimoji="0" lang="zh-CN" altLang="en-US" sz="2400" b="0" kern="0" dirty="0">
                <a:solidFill>
                  <a:schemeClr val="tx1"/>
                </a:solidFill>
                <a:latin typeface="Arial" panose="020B0604020202020204"/>
                <a:ea typeface="宋体" panose="02010600030101010101" pitchFamily="2" charset="-122"/>
              </a:rPr>
              <a:t>人类智能</a:t>
            </a:r>
            <a:r>
              <a:rPr kumimoji="0" lang="en-US" altLang="zh-CN" sz="2400" b="0" kern="0" dirty="0">
                <a:solidFill>
                  <a:schemeClr val="tx1"/>
                </a:solidFill>
                <a:latin typeface="Arial" panose="020B0604020202020204"/>
                <a:ea typeface="宋体" panose="02010600030101010101" pitchFamily="2" charset="-122"/>
              </a:rPr>
              <a:t>+</a:t>
            </a:r>
            <a:r>
              <a:rPr kumimoji="0" lang="zh-CN" altLang="en-US" sz="2400" b="0" kern="0" dirty="0">
                <a:solidFill>
                  <a:schemeClr val="tx1"/>
                </a:solidFill>
                <a:latin typeface="Arial" panose="020B0604020202020204"/>
                <a:ea typeface="宋体" panose="02010600030101010101" pitchFamily="2" charset="-122"/>
              </a:rPr>
              <a:t>机器智能：如达芬奇外科手术机器人</a:t>
            </a:r>
            <a:endParaRPr kumimoji="0" lang="en-US" altLang="zh-CN" sz="2400" b="0" kern="0" dirty="0">
              <a:solidFill>
                <a:schemeClr val="tx1"/>
              </a:solidFill>
              <a:latin typeface="Arial" panose="020B0604020202020204"/>
              <a:ea typeface="宋体" panose="02010600030101010101" pitchFamily="2" charset="-122"/>
            </a:endParaRPr>
          </a:p>
          <a:p>
            <a:pPr marR="0" lvl="0" algn="l" defTabSz="914400" rtl="0" eaLnBrk="1" fontAlgn="ctr" latinLnBrk="0" hangingPunct="1">
              <a:spcBef>
                <a:spcPct val="20000"/>
              </a:spcBef>
              <a:spcAft>
                <a:spcPts val="600"/>
              </a:spcAft>
              <a:buClr>
                <a:srgbClr val="E46B1F"/>
              </a:buClr>
              <a:buSzPct val="80000"/>
              <a:buFont typeface="Wingdings" panose="05000000000000000000" pitchFamily="2" charset="2"/>
              <a:buChar char="ü"/>
              <a:defRPr/>
            </a:pPr>
            <a:r>
              <a:rPr kumimoji="0" lang="zh-CN" altLang="en-US" sz="2400" b="0" kern="0" dirty="0">
                <a:solidFill>
                  <a:schemeClr val="tx1"/>
                </a:solidFill>
                <a:latin typeface="Arial" panose="020B0604020202020204"/>
                <a:ea typeface="宋体" panose="02010600030101010101" pitchFamily="2" charset="-122"/>
              </a:rPr>
              <a:t>人、机、物、网互联：如智慧城市系统</a:t>
            </a:r>
            <a:endParaRPr kumimoji="0" lang="en-US" altLang="zh-CN" sz="2400" b="0" kern="0" dirty="0">
              <a:solidFill>
                <a:schemeClr val="tx1"/>
              </a:solidFill>
              <a:latin typeface="Arial" panose="020B0604020202020204"/>
              <a:ea typeface="宋体" panose="02010600030101010101" pitchFamily="2" charset="-122"/>
            </a:endParaRPr>
          </a:p>
          <a:p>
            <a:pPr marR="0" lvl="0" algn="l" defTabSz="914400" rtl="0" eaLnBrk="1" fontAlgn="ctr" latinLnBrk="0" hangingPunct="1">
              <a:spcBef>
                <a:spcPct val="20000"/>
              </a:spcBef>
              <a:spcAft>
                <a:spcPts val="600"/>
              </a:spcAft>
              <a:buClr>
                <a:srgbClr val="E46B1F"/>
              </a:buClr>
              <a:buSzPct val="80000"/>
              <a:buFont typeface="Wingdings" panose="05000000000000000000" pitchFamily="2" charset="2"/>
              <a:buChar char="ü"/>
              <a:defRPr/>
            </a:pPr>
            <a:endParaRPr kumimoji="0" lang="zh-CN" altLang="en-US" sz="2400" b="0" kern="0" dirty="0">
              <a:solidFill>
                <a:schemeClr val="tx1"/>
              </a:solidFill>
              <a:latin typeface="Arial" panose="020B0604020202020204"/>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505722" y="3257859"/>
            <a:ext cx="3130174" cy="3001016"/>
          </a:xfrm>
          <a:prstGeom prst="rect">
            <a:avLst/>
          </a:prstGeom>
        </p:spPr>
      </p:pic>
      <p:pic>
        <p:nvPicPr>
          <p:cNvPr id="9" name="图片 8"/>
          <p:cNvPicPr>
            <a:picLocks noChangeAspect="1"/>
          </p:cNvPicPr>
          <p:nvPr/>
        </p:nvPicPr>
        <p:blipFill>
          <a:blip r:embed="rId2"/>
          <a:stretch>
            <a:fillRect/>
          </a:stretch>
        </p:blipFill>
        <p:spPr>
          <a:xfrm>
            <a:off x="3635896" y="3356992"/>
            <a:ext cx="5362510" cy="26812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7925504" cy="892239"/>
          </a:xfrm>
        </p:spPr>
        <p:txBody>
          <a:bodyPr>
            <a:normAutofit fontScale="90000"/>
          </a:bodyPr>
          <a:lstStyle/>
          <a:p>
            <a:r>
              <a:rPr lang="zh-CN" altLang="en-US" spc="-100" dirty="0">
                <a:solidFill>
                  <a:srgbClr val="D2533C"/>
                </a:solidFill>
                <a:latin typeface="Arial" panose="020B0604020202020204"/>
                <a:ea typeface="华文新魏" panose="02010800040101010101" pitchFamily="2" charset="-122"/>
              </a:rPr>
              <a:t>从典型任务</a:t>
            </a:r>
            <a:r>
              <a:rPr lang="en-US" altLang="zh-CN" spc="-100" dirty="0">
                <a:solidFill>
                  <a:srgbClr val="D2533C"/>
                </a:solidFill>
                <a:latin typeface="Arial" panose="020B0604020202020204"/>
                <a:ea typeface="华文新魏" panose="02010800040101010101" pitchFamily="2" charset="-122"/>
              </a:rPr>
              <a:t>/</a:t>
            </a:r>
            <a:r>
              <a:rPr lang="zh-CN" altLang="en-US" spc="-100" dirty="0">
                <a:solidFill>
                  <a:srgbClr val="D2533C"/>
                </a:solidFill>
                <a:latin typeface="Arial" panose="020B0604020202020204"/>
                <a:ea typeface="华文新魏" panose="02010800040101010101" pitchFamily="2" charset="-122"/>
              </a:rPr>
              <a:t>应用对人工智能分类</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pPr>
              <a:buFont typeface="Wingdings" panose="05000000000000000000" pitchFamily="2" charset="2"/>
              <a:buChar char="u"/>
            </a:pPr>
            <a:r>
              <a:rPr lang="zh-CN" altLang="en-US" dirty="0"/>
              <a:t>机器定理证明（逻辑和推理），仿解题者</a:t>
            </a:r>
            <a:endParaRPr lang="en-US" altLang="zh-CN" dirty="0"/>
          </a:p>
          <a:p>
            <a:pPr>
              <a:buFont typeface="Wingdings" panose="05000000000000000000" pitchFamily="2" charset="2"/>
              <a:buChar char="u"/>
            </a:pPr>
            <a:r>
              <a:rPr lang="zh-CN" altLang="en-US" dirty="0"/>
              <a:t>机器翻译（自然语言理解），仿译者</a:t>
            </a:r>
            <a:endParaRPr lang="en-US" altLang="zh-CN" dirty="0"/>
          </a:p>
          <a:p>
            <a:pPr>
              <a:buFont typeface="Wingdings" panose="05000000000000000000" pitchFamily="2" charset="2"/>
              <a:buChar char="u"/>
            </a:pPr>
            <a:r>
              <a:rPr lang="zh-CN" altLang="en-US" dirty="0"/>
              <a:t>专家系统（问题求解和知识表达），仿专家如医生</a:t>
            </a:r>
            <a:endParaRPr lang="en-US" altLang="zh-CN" dirty="0"/>
          </a:p>
          <a:p>
            <a:pPr>
              <a:buFont typeface="Wingdings" panose="05000000000000000000" pitchFamily="2" charset="2"/>
              <a:buChar char="u"/>
            </a:pPr>
            <a:r>
              <a:rPr lang="zh-CN" altLang="en-US" dirty="0"/>
              <a:t>博弈（树搜索），仿弈者</a:t>
            </a:r>
            <a:endParaRPr lang="en-US" altLang="zh-CN" dirty="0"/>
          </a:p>
          <a:p>
            <a:pPr>
              <a:buFont typeface="Wingdings" panose="05000000000000000000" pitchFamily="2" charset="2"/>
              <a:buChar char="u"/>
            </a:pPr>
            <a:r>
              <a:rPr lang="zh-CN" altLang="en-US" dirty="0"/>
              <a:t>模式识别（多媒体认知），仿认知者</a:t>
            </a:r>
            <a:endParaRPr lang="en-US" altLang="zh-CN" dirty="0"/>
          </a:p>
          <a:p>
            <a:pPr>
              <a:buFont typeface="Wingdings" panose="05000000000000000000" pitchFamily="2" charset="2"/>
              <a:buChar char="u"/>
            </a:pPr>
            <a:r>
              <a:rPr lang="zh-CN" altLang="en-US" dirty="0"/>
              <a:t>学习（神经网络），仿初学者</a:t>
            </a:r>
            <a:endParaRPr lang="en-US" altLang="zh-CN" dirty="0"/>
          </a:p>
          <a:p>
            <a:pPr>
              <a:buFont typeface="Wingdings" panose="05000000000000000000" pitchFamily="2" charset="2"/>
              <a:buChar char="u"/>
            </a:pPr>
            <a:r>
              <a:rPr lang="zh-CN" altLang="en-US" dirty="0"/>
              <a:t>机器人和智能控制（感知和控制），仿生物者</a:t>
            </a:r>
            <a:endParaRPr lang="en-US" altLang="zh-CN" dirty="0"/>
          </a:p>
          <a:p>
            <a:pPr marL="0" indent="0">
              <a:buNone/>
            </a:pPr>
            <a:endParaRPr lang="en-US" altLang="zh-CN" sz="2400" b="1" dirty="0">
              <a:solidFill>
                <a:srgbClr val="0070C0"/>
              </a:solidFill>
            </a:endParaRPr>
          </a:p>
          <a:p>
            <a:pPr marL="0" indent="0">
              <a:buNone/>
            </a:pPr>
            <a:r>
              <a:rPr lang="zh-CN" altLang="en-US" sz="2400" b="1" dirty="0">
                <a:solidFill>
                  <a:srgbClr val="0070C0"/>
                </a:solidFill>
              </a:rPr>
              <a:t>形成了符号学派、连接学派、行为学派</a:t>
            </a:r>
            <a:endParaRPr lang="zh-CN" altLang="en-US" sz="2400" b="1" dirty="0">
              <a:solidFill>
                <a:srgbClr val="0070C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黑体" panose="02010609060101010101" pitchFamily="2" charset="-122"/>
                <a:ea typeface="黑体" panose="02010609060101010101" pitchFamily="2" charset="-122"/>
              </a:rPr>
            </a:br>
            <a:r>
              <a:rPr lang="zh-CN" altLang="en-US" sz="4300" spc="-100" dirty="0">
                <a:solidFill>
                  <a:srgbClr val="D2533C"/>
                </a:solidFill>
                <a:latin typeface="Arial" panose="020B0604020202020204"/>
                <a:ea typeface="华文新魏" panose="02010800040101010101" pitchFamily="2" charset="-122"/>
              </a:rPr>
              <a:t>人工智能发展中的主流方法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1236845"/>
            <a:ext cx="7543801" cy="4384310"/>
          </a:xfrm>
        </p:spPr>
        <p:txBody>
          <a:bodyPr/>
          <a:lstStyle/>
          <a:p>
            <a:pPr>
              <a:buFont typeface="Wingdings" panose="05000000000000000000" pitchFamily="2" charset="2"/>
              <a:buChar char="p"/>
            </a:pPr>
            <a:r>
              <a:rPr lang="zh-CN" altLang="en-US" b="0" i="0" u="none" strike="noStrike" baseline="0" dirty="0">
                <a:latin typeface="黑体" panose="02010609060101010101" pitchFamily="2" charset="-122"/>
                <a:ea typeface="黑体" panose="02010609060101010101" pitchFamily="2" charset="-122"/>
              </a:rPr>
              <a:t> 符号主义人工智能</a:t>
            </a:r>
            <a:r>
              <a:rPr lang="en-US" altLang="zh-CN" b="1" i="0" u="none" strike="noStrike" baseline="0" dirty="0">
                <a:latin typeface="Times New Roman" panose="02020603050405020304" pitchFamily="18" charset="0"/>
                <a:ea typeface="黑体" panose="02010609060101010101" pitchFamily="2" charset="-122"/>
              </a:rPr>
              <a:t>(</a:t>
            </a:r>
            <a:r>
              <a:rPr lang="en-GB" altLang="zh-CN" b="1" i="0" u="none" strike="noStrike" baseline="0" dirty="0">
                <a:latin typeface="Times New Roman" panose="02020603050405020304" pitchFamily="18" charset="0"/>
                <a:ea typeface="黑体" panose="02010609060101010101" pitchFamily="2" charset="-122"/>
              </a:rPr>
              <a:t>Symbolic AI)</a:t>
            </a:r>
            <a:r>
              <a:rPr lang="zh-CN" altLang="en-US" b="0" i="0" u="none" strike="noStrike" baseline="0" dirty="0">
                <a:latin typeface="黑体" panose="02010609060101010101" pitchFamily="2" charset="-122"/>
                <a:ea typeface="黑体" panose="02010609060101010101" pitchFamily="2" charset="-122"/>
              </a:rPr>
              <a:t>为核心的逻辑推理 </a:t>
            </a:r>
            <a:endParaRPr lang="zh-CN" altLang="en-US"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8" name="图片 7"/>
          <p:cNvPicPr>
            <a:picLocks noChangeAspect="1"/>
          </p:cNvPicPr>
          <p:nvPr/>
        </p:nvPicPr>
        <p:blipFill>
          <a:blip r:embed="rId1"/>
          <a:stretch>
            <a:fillRect/>
          </a:stretch>
        </p:blipFill>
        <p:spPr>
          <a:xfrm>
            <a:off x="0" y="1559901"/>
            <a:ext cx="9144000" cy="4979963"/>
          </a:xfrm>
          <a:prstGeom prst="rect">
            <a:avLst/>
          </a:prstGeom>
        </p:spPr>
      </p:pic>
      <p:sp>
        <p:nvSpPr>
          <p:cNvPr id="7" name="文本框 6"/>
          <p:cNvSpPr txBox="1"/>
          <p:nvPr/>
        </p:nvSpPr>
        <p:spPr>
          <a:xfrm>
            <a:off x="4558654" y="5014116"/>
            <a:ext cx="4045794" cy="707886"/>
          </a:xfrm>
          <a:prstGeom prst="rect">
            <a:avLst/>
          </a:prstGeom>
          <a:noFill/>
        </p:spPr>
        <p:txBody>
          <a:bodyPr wrap="square">
            <a:spAutoFit/>
          </a:bodyPr>
          <a:lstStyle/>
          <a:p>
            <a:pPr marL="0" marR="0" lvl="0" indent="0" algn="l" defTabSz="762000" rtl="0" eaLnBrk="0" fontAlgn="base" latinLnBrk="0" hangingPunct="0">
              <a:lnSpc>
                <a:spcPct val="100000"/>
              </a:lnSpc>
              <a:spcBef>
                <a:spcPct val="30000"/>
              </a:spcBef>
              <a:spcAft>
                <a:spcPct val="0"/>
              </a:spcAft>
              <a:buClrTx/>
              <a:buSzTx/>
              <a:buFontTx/>
              <a:buNone/>
              <a:defRPr/>
            </a:pPr>
            <a:r>
              <a:rPr lang="zh-CN" altLang="en-US" sz="2000" dirty="0"/>
              <a:t>所有的实体概念关系和属性都必须符号化，用知识图谱的形式表示</a:t>
            </a:r>
            <a:endParaRPr lang="zh-CN"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黑体" panose="02010609060101010101" pitchFamily="2" charset="-122"/>
                <a:ea typeface="黑体" panose="02010609060101010101" pitchFamily="2" charset="-122"/>
              </a:rPr>
            </a:br>
            <a:r>
              <a:rPr lang="zh-CN" altLang="en-US" sz="4300" spc="-100" dirty="0">
                <a:solidFill>
                  <a:srgbClr val="D2533C"/>
                </a:solidFill>
                <a:latin typeface="Arial" panose="020B0604020202020204"/>
                <a:ea typeface="华文新魏" panose="02010800040101010101" pitchFamily="2" charset="-122"/>
              </a:rPr>
              <a:t>人工智能发展中的主流方法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1236845"/>
            <a:ext cx="7543801" cy="4384310"/>
          </a:xfrm>
        </p:spPr>
        <p:txBody>
          <a:bodyPr/>
          <a:lstStyle/>
          <a:p>
            <a:pPr>
              <a:buFont typeface="Wingdings" panose="05000000000000000000" pitchFamily="2" charset="2"/>
              <a:buChar char="p"/>
            </a:pPr>
            <a:r>
              <a:rPr lang="zh-CN" altLang="en-US" b="0" i="0" u="none" strike="noStrike" baseline="0" dirty="0">
                <a:latin typeface="黑体" panose="02010609060101010101" pitchFamily="2" charset="-122"/>
                <a:ea typeface="黑体" panose="02010609060101010101" pitchFamily="2" charset="-122"/>
              </a:rPr>
              <a:t> 符号主义人工智能</a:t>
            </a:r>
            <a:r>
              <a:rPr lang="en-US" altLang="zh-CN" b="1" i="0" u="none" strike="noStrike" baseline="0" dirty="0">
                <a:latin typeface="Times New Roman" panose="02020603050405020304" pitchFamily="18" charset="0"/>
                <a:ea typeface="黑体" panose="02010609060101010101" pitchFamily="2" charset="-122"/>
              </a:rPr>
              <a:t>(</a:t>
            </a:r>
            <a:r>
              <a:rPr lang="en-GB" altLang="zh-CN" b="1" i="0" u="none" strike="noStrike" baseline="0" dirty="0">
                <a:latin typeface="Times New Roman" panose="02020603050405020304" pitchFamily="18" charset="0"/>
                <a:ea typeface="黑体" panose="02010609060101010101" pitchFamily="2" charset="-122"/>
              </a:rPr>
              <a:t>Symbolic AI)</a:t>
            </a:r>
            <a:r>
              <a:rPr lang="zh-CN" altLang="en-US" b="0" i="0" u="none" strike="noStrike" baseline="0" dirty="0">
                <a:latin typeface="黑体" panose="02010609060101010101" pitchFamily="2" charset="-122"/>
                <a:ea typeface="黑体" panose="02010609060101010101" pitchFamily="2" charset="-122"/>
              </a:rPr>
              <a:t>为核心的逻辑推理</a:t>
            </a:r>
            <a:endParaRPr lang="en-US" altLang="zh-CN" b="0" i="0" u="none" strike="noStrike" baseline="0" dirty="0">
              <a:latin typeface="黑体" panose="02010609060101010101" pitchFamily="2" charset="-122"/>
              <a:ea typeface="黑体" panose="02010609060101010101" pitchFamily="2" charset="-122"/>
            </a:endParaRPr>
          </a:p>
          <a:p>
            <a:r>
              <a:rPr lang="en-US" altLang="zh-CN" sz="1800" b="0" i="0" u="none" strike="noStrike" baseline="0" dirty="0">
                <a:latin typeface="Times New Roman" panose="02020603050405020304" pitchFamily="18" charset="0"/>
              </a:rPr>
              <a:t>1997</a:t>
            </a:r>
            <a:r>
              <a:rPr lang="zh-CN" altLang="en-US" sz="1800" b="0" i="0" u="none" strike="noStrike" baseline="0" dirty="0">
                <a:latin typeface="黑体" panose="02010609060101010101" pitchFamily="2" charset="-122"/>
                <a:ea typeface="黑体" panose="02010609060101010101" pitchFamily="2" charset="-122"/>
              </a:rPr>
              <a:t>年</a:t>
            </a:r>
            <a:r>
              <a:rPr lang="en-US" altLang="zh-CN" sz="1800" b="0" i="0" u="none" strike="noStrike" baseline="0" dirty="0">
                <a:latin typeface="Times New Roman" panose="02020603050405020304" pitchFamily="18" charset="0"/>
                <a:ea typeface="黑体" panose="02010609060101010101" pitchFamily="2" charset="-122"/>
              </a:rPr>
              <a:t>IBM</a:t>
            </a:r>
            <a:r>
              <a:rPr lang="zh-CN" altLang="en-US" sz="1800" b="0" i="0" u="none" strike="noStrike" baseline="0" dirty="0">
                <a:latin typeface="黑体" panose="02010609060101010101" pitchFamily="2" charset="-122"/>
                <a:ea typeface="黑体" panose="02010609060101010101" pitchFamily="2" charset="-122"/>
              </a:rPr>
              <a:t>“深蓝”和</a:t>
            </a:r>
            <a:r>
              <a:rPr lang="en-US" altLang="zh-CN" sz="1800" b="0" i="0" u="none" strike="noStrike" baseline="0" dirty="0">
                <a:latin typeface="Times New Roman" panose="02020603050405020304" pitchFamily="18" charset="0"/>
                <a:ea typeface="黑体" panose="02010609060101010101" pitchFamily="2" charset="-122"/>
              </a:rPr>
              <a:t>2011</a:t>
            </a:r>
            <a:r>
              <a:rPr lang="zh-CN" altLang="en-US" sz="1800" b="0" i="0" u="none" strike="noStrike" baseline="0" dirty="0">
                <a:latin typeface="黑体" panose="02010609060101010101" pitchFamily="2" charset="-122"/>
                <a:ea typeface="黑体" panose="02010609060101010101" pitchFamily="2" charset="-122"/>
              </a:rPr>
              <a:t>年</a:t>
            </a:r>
            <a:r>
              <a:rPr lang="en-US" altLang="zh-CN" sz="1800" b="0" i="0" u="none" strike="noStrike" baseline="0" dirty="0">
                <a:latin typeface="Times New Roman" panose="02020603050405020304" pitchFamily="18" charset="0"/>
                <a:ea typeface="黑体" panose="02010609060101010101" pitchFamily="2" charset="-122"/>
              </a:rPr>
              <a:t>IBM</a:t>
            </a:r>
            <a:r>
              <a:rPr lang="zh-CN" altLang="en-US" sz="1800" b="0" i="0" u="none" strike="noStrike" baseline="0" dirty="0">
                <a:latin typeface="黑体" panose="02010609060101010101" pitchFamily="2" charset="-122"/>
                <a:ea typeface="黑体" panose="02010609060101010101" pitchFamily="2" charset="-122"/>
              </a:rPr>
              <a:t>“沃森”是以推理为核心的人工智能的代表。 </a:t>
            </a:r>
            <a:r>
              <a:rPr lang="zh-CN" altLang="en-US" b="0" i="0" u="none" strike="noStrike" baseline="0" dirty="0">
                <a:latin typeface="黑体" panose="02010609060101010101" pitchFamily="2" charset="-122"/>
                <a:ea typeface="黑体" panose="02010609060101010101" pitchFamily="2" charset="-122"/>
              </a:rPr>
              <a:t> </a:t>
            </a:r>
            <a:endParaRPr lang="zh-CN" altLang="en-US"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101185" y="2420888"/>
            <a:ext cx="8941628" cy="3480555"/>
          </a:xfrm>
          <a:prstGeom prst="rect">
            <a:avLst/>
          </a:prstGeom>
        </p:spPr>
      </p:pic>
      <p:sp>
        <p:nvSpPr>
          <p:cNvPr id="8" name="文本框 7"/>
          <p:cNvSpPr txBox="1"/>
          <p:nvPr/>
        </p:nvSpPr>
        <p:spPr>
          <a:xfrm>
            <a:off x="4211960" y="5436489"/>
            <a:ext cx="1119217" cy="369332"/>
          </a:xfrm>
          <a:prstGeom prst="rect">
            <a:avLst/>
          </a:prstGeom>
          <a:noFill/>
        </p:spPr>
        <p:txBody>
          <a:bodyPr wrap="none" rtlCol="0">
            <a:spAutoFit/>
          </a:bodyPr>
          <a:lstStyle/>
          <a:p>
            <a:r>
              <a:rPr lang="en-US" altLang="zh-CN" sz="1800" dirty="0"/>
              <a:t>IBM </a:t>
            </a:r>
            <a:r>
              <a:rPr lang="zh-CN" altLang="en-US" sz="1800" dirty="0"/>
              <a:t>沃森</a:t>
            </a:r>
            <a:endParaRPr lang="zh-CN" alt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黑体" panose="02010609060101010101" pitchFamily="2" charset="-122"/>
                <a:ea typeface="黑体" panose="02010609060101010101" pitchFamily="2" charset="-122"/>
              </a:rPr>
            </a:br>
            <a:r>
              <a:rPr lang="zh-CN" altLang="en-US" sz="4300" spc="-100" dirty="0">
                <a:solidFill>
                  <a:srgbClr val="D2533C"/>
                </a:solidFill>
                <a:latin typeface="Arial" panose="020B0604020202020204"/>
                <a:ea typeface="华文新魏" panose="02010800040101010101" pitchFamily="2" charset="-122"/>
              </a:rPr>
              <a:t>人工智能发展中的主流方法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1236845"/>
            <a:ext cx="7543801" cy="4384310"/>
          </a:xfrm>
        </p:spPr>
        <p:txBody>
          <a:bodyPr/>
          <a:lstStyle/>
          <a:p>
            <a:pPr>
              <a:buFont typeface="Wingdings" panose="05000000000000000000" pitchFamily="2" charset="2"/>
              <a:buChar char="p"/>
            </a:pPr>
            <a:r>
              <a:rPr lang="zh-CN" altLang="en-US" b="0" i="0" u="none" strike="noStrike" baseline="0" dirty="0">
                <a:latin typeface="黑体" panose="02010609060101010101" pitchFamily="2" charset="-122"/>
                <a:ea typeface="黑体" panose="02010609060101010101" pitchFamily="2" charset="-122"/>
              </a:rPr>
              <a:t> 符号主义人工智能</a:t>
            </a:r>
            <a:r>
              <a:rPr lang="en-US" altLang="zh-CN" b="1" i="0" u="none" strike="noStrike" baseline="0" dirty="0">
                <a:latin typeface="Times New Roman" panose="02020603050405020304" pitchFamily="18" charset="0"/>
                <a:ea typeface="黑体" panose="02010609060101010101" pitchFamily="2" charset="-122"/>
              </a:rPr>
              <a:t>(</a:t>
            </a:r>
            <a:r>
              <a:rPr lang="en-GB" altLang="zh-CN" b="1" i="0" u="none" strike="noStrike" baseline="0" dirty="0">
                <a:latin typeface="Times New Roman" panose="02020603050405020304" pitchFamily="18" charset="0"/>
                <a:ea typeface="黑体" panose="02010609060101010101" pitchFamily="2" charset="-122"/>
              </a:rPr>
              <a:t>Symbolic AI)</a:t>
            </a:r>
            <a:r>
              <a:rPr lang="zh-CN" altLang="en-US" b="0" i="0" u="none" strike="noStrike" baseline="0" dirty="0">
                <a:latin typeface="黑体" panose="02010609060101010101" pitchFamily="2" charset="-122"/>
                <a:ea typeface="黑体" panose="02010609060101010101" pitchFamily="2" charset="-122"/>
              </a:rPr>
              <a:t>为核心的逻辑推理</a:t>
            </a:r>
            <a:endParaRPr lang="en-US" altLang="zh-CN" b="0" i="0" u="none" strike="noStrike" baseline="0" dirty="0">
              <a:latin typeface="黑体" panose="02010609060101010101" pitchFamily="2" charset="-122"/>
              <a:ea typeface="黑体" panose="02010609060101010101" pitchFamily="2" charset="-122"/>
            </a:endParaRPr>
          </a:p>
          <a:p>
            <a:r>
              <a:rPr lang="en-US" altLang="zh-CN" sz="1800" b="0" i="0" u="none" strike="noStrike" baseline="0" dirty="0">
                <a:latin typeface="Times New Roman" panose="02020603050405020304" pitchFamily="18" charset="0"/>
                <a:ea typeface="黑体" panose="02010609060101010101" pitchFamily="2" charset="-122"/>
              </a:rPr>
              <a:t>IBM</a:t>
            </a:r>
            <a:r>
              <a:rPr lang="zh-CN" altLang="en-US" sz="1800" b="0" i="0" u="none" strike="noStrike" baseline="0" dirty="0">
                <a:latin typeface="黑体" panose="02010609060101010101" pitchFamily="2" charset="-122"/>
                <a:ea typeface="黑体" panose="02010609060101010101" pitchFamily="2" charset="-122"/>
              </a:rPr>
              <a:t>“沃森”的推理</a:t>
            </a:r>
            <a:endParaRPr lang="en-US" altLang="zh-CN" sz="1800" b="0" i="0" u="none" strike="noStrike" baseline="0" dirty="0">
              <a:latin typeface="黑体" panose="02010609060101010101" pitchFamily="2" charset="-122"/>
              <a:ea typeface="黑体" panose="02010609060101010101" pitchFamily="2" charset="-122"/>
            </a:endParaRPr>
          </a:p>
          <a:p>
            <a:r>
              <a:rPr lang="zh-CN" altLang="en-US" sz="1800" dirty="0">
                <a:latin typeface="黑体" panose="02010609060101010101" pitchFamily="2" charset="-122"/>
                <a:ea typeface="黑体" panose="02010609060101010101" pitchFamily="2" charset="-122"/>
              </a:rPr>
              <a:t>主持人给出一个描述性语句，沃森给出与这个句子最相关的问题</a:t>
            </a:r>
            <a:endParaRPr lang="en-US" altLang="zh-CN" sz="1800" dirty="0">
              <a:latin typeface="黑体" panose="02010609060101010101" pitchFamily="2" charset="-122"/>
              <a:ea typeface="黑体" panose="02010609060101010101" pitchFamily="2" charset="-122"/>
            </a:endParaRPr>
          </a:p>
          <a:p>
            <a:pPr marL="0" indent="0">
              <a:buNone/>
            </a:pPr>
            <a:endParaRPr lang="zh-CN" altLang="en-US"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844151" y="2667901"/>
            <a:ext cx="4469120" cy="2762105"/>
          </a:xfrm>
          <a:prstGeom prst="rect">
            <a:avLst/>
          </a:prstGeom>
        </p:spPr>
      </p:pic>
      <p:pic>
        <p:nvPicPr>
          <p:cNvPr id="10" name="图片 9"/>
          <p:cNvPicPr>
            <a:picLocks noChangeAspect="1"/>
          </p:cNvPicPr>
          <p:nvPr/>
        </p:nvPicPr>
        <p:blipFill>
          <a:blip r:embed="rId2"/>
          <a:stretch>
            <a:fillRect/>
          </a:stretch>
        </p:blipFill>
        <p:spPr>
          <a:xfrm>
            <a:off x="5258055" y="2609899"/>
            <a:ext cx="2631200" cy="1098176"/>
          </a:xfrm>
          <a:prstGeom prst="rect">
            <a:avLst/>
          </a:prstGeom>
        </p:spPr>
      </p:pic>
      <p:pic>
        <p:nvPicPr>
          <p:cNvPr id="12" name="图片 11"/>
          <p:cNvPicPr>
            <a:picLocks noChangeAspect="1"/>
          </p:cNvPicPr>
          <p:nvPr/>
        </p:nvPicPr>
        <p:blipFill>
          <a:blip r:embed="rId3"/>
          <a:stretch>
            <a:fillRect/>
          </a:stretch>
        </p:blipFill>
        <p:spPr>
          <a:xfrm>
            <a:off x="5258055" y="3789040"/>
            <a:ext cx="3629025" cy="2428875"/>
          </a:xfrm>
          <a:prstGeom prst="rect">
            <a:avLst/>
          </a:prstGeom>
        </p:spPr>
      </p:pic>
      <p:pic>
        <p:nvPicPr>
          <p:cNvPr id="14" name="图片 13"/>
          <p:cNvPicPr>
            <a:picLocks noChangeAspect="1"/>
          </p:cNvPicPr>
          <p:nvPr/>
        </p:nvPicPr>
        <p:blipFill>
          <a:blip r:embed="rId4"/>
          <a:stretch>
            <a:fillRect/>
          </a:stretch>
        </p:blipFill>
        <p:spPr>
          <a:xfrm>
            <a:off x="821288" y="5488008"/>
            <a:ext cx="4347965" cy="5211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黑体" panose="02010609060101010101" pitchFamily="2" charset="-122"/>
                <a:ea typeface="黑体" panose="02010609060101010101" pitchFamily="2" charset="-122"/>
              </a:rPr>
            </a:br>
            <a:r>
              <a:rPr lang="zh-CN" altLang="en-US" sz="4300" spc="-100" dirty="0">
                <a:solidFill>
                  <a:srgbClr val="D2533C"/>
                </a:solidFill>
                <a:latin typeface="Arial" panose="020B0604020202020204"/>
                <a:ea typeface="华文新魏" panose="02010800040101010101" pitchFamily="2" charset="-122"/>
              </a:rPr>
              <a:t>人工智能发展中的主流方法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1236845"/>
            <a:ext cx="7543801" cy="4384310"/>
          </a:xfrm>
        </p:spPr>
        <p:txBody>
          <a:bodyPr/>
          <a:lstStyle/>
          <a:p>
            <a:pPr>
              <a:buFont typeface="Wingdings" panose="05000000000000000000" pitchFamily="2" charset="2"/>
              <a:buChar char="p"/>
            </a:pPr>
            <a:r>
              <a:rPr lang="zh-CN" altLang="en-US" b="0" i="0" u="none" strike="noStrike" baseline="0" dirty="0">
                <a:latin typeface="黑体" panose="02010609060101010101" pitchFamily="2" charset="-122"/>
                <a:ea typeface="黑体" panose="02010609060101010101" pitchFamily="2" charset="-122"/>
              </a:rPr>
              <a:t> 连接主义：数据驱动</a:t>
            </a:r>
            <a:r>
              <a:rPr lang="en-US" altLang="zh-CN" b="1" i="0" u="none" strike="noStrike" baseline="0" dirty="0">
                <a:latin typeface="Times New Roman" panose="02020603050405020304" pitchFamily="18" charset="0"/>
                <a:ea typeface="黑体" panose="02010609060101010101" pitchFamily="2" charset="-122"/>
              </a:rPr>
              <a:t>(data-driven</a:t>
            </a:r>
            <a:r>
              <a:rPr lang="en-GB" altLang="zh-CN" b="1" i="0" u="none" strike="noStrike" baseline="0" dirty="0">
                <a:latin typeface="Times New Roman" panose="02020603050405020304" pitchFamily="18" charset="0"/>
                <a:ea typeface="黑体" panose="02010609060101010101" pitchFamily="2" charset="-122"/>
              </a:rPr>
              <a:t>)</a:t>
            </a:r>
            <a:r>
              <a:rPr lang="zh-CN" altLang="en-US" b="0" i="0" u="none" strike="noStrike" baseline="0" dirty="0">
                <a:latin typeface="黑体" panose="02010609060101010101" pitchFamily="2" charset="-122"/>
                <a:ea typeface="黑体" panose="02010609060101010101" pitchFamily="2" charset="-122"/>
              </a:rPr>
              <a:t>为核心的</a:t>
            </a:r>
            <a:r>
              <a:rPr lang="zh-CN" altLang="en-US" dirty="0">
                <a:latin typeface="黑体" panose="02010609060101010101" pitchFamily="2" charset="-122"/>
                <a:ea typeface="黑体" panose="02010609060101010101" pitchFamily="2" charset="-122"/>
              </a:rPr>
              <a:t>机器学习</a:t>
            </a:r>
            <a:endParaRPr lang="en-US" altLang="zh-CN"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22860" y="1772816"/>
            <a:ext cx="9144000" cy="436170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82983" y="1357392"/>
            <a:ext cx="3744416" cy="3272791"/>
          </a:xfrm>
          <a:prstGeom prst="rect">
            <a:avLst/>
          </a:prstGeom>
        </p:spPr>
      </p:pic>
      <p:pic>
        <p:nvPicPr>
          <p:cNvPr id="9" name="图片 8"/>
          <p:cNvPicPr>
            <a:picLocks noChangeAspect="1"/>
          </p:cNvPicPr>
          <p:nvPr/>
        </p:nvPicPr>
        <p:blipFill>
          <a:blip r:embed="rId2"/>
          <a:stretch>
            <a:fillRect/>
          </a:stretch>
        </p:blipFill>
        <p:spPr>
          <a:xfrm>
            <a:off x="3282231" y="1330856"/>
            <a:ext cx="5812749" cy="2999408"/>
          </a:xfrm>
          <a:prstGeom prst="rect">
            <a:avLst/>
          </a:prstGeom>
        </p:spPr>
      </p:pic>
      <p:sp>
        <p:nvSpPr>
          <p:cNvPr id="2" name="标题 1"/>
          <p:cNvSpPr>
            <a:spLocks noGrp="1"/>
          </p:cNvSpPr>
          <p:nvPr>
            <p:ph type="title"/>
          </p:nvPr>
        </p:nvSpPr>
        <p:spPr/>
        <p:txBody>
          <a:bodyPr/>
          <a:lstStyle/>
          <a:p>
            <a:br>
              <a:rPr lang="zh-CN" altLang="en-US" sz="1800" b="0" i="0" u="none" strike="noStrike" baseline="0" dirty="0">
                <a:solidFill>
                  <a:srgbClr val="000000"/>
                </a:solidFill>
                <a:latin typeface="黑体" panose="02010609060101010101" pitchFamily="2" charset="-122"/>
                <a:ea typeface="黑体" panose="02010609060101010101" pitchFamily="2" charset="-122"/>
              </a:rPr>
            </a:br>
            <a:r>
              <a:rPr lang="zh-CN" altLang="en-US" sz="4300" spc="-100" dirty="0">
                <a:solidFill>
                  <a:srgbClr val="D2533C"/>
                </a:solidFill>
                <a:latin typeface="Arial" panose="020B0604020202020204"/>
                <a:ea typeface="华文新魏" panose="02010800040101010101" pitchFamily="2" charset="-122"/>
              </a:rPr>
              <a:t>人工智能发展中的主流方法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1236845"/>
            <a:ext cx="7543801" cy="4384310"/>
          </a:xfrm>
        </p:spPr>
        <p:txBody>
          <a:bodyPr/>
          <a:lstStyle/>
          <a:p>
            <a:pPr>
              <a:buFont typeface="Wingdings" panose="05000000000000000000" pitchFamily="2" charset="2"/>
              <a:buChar char="p"/>
            </a:pPr>
            <a:r>
              <a:rPr lang="zh-CN" altLang="en-US" b="0" i="0" u="none" strike="noStrike" baseline="0" dirty="0">
                <a:latin typeface="黑体" panose="02010609060101010101" pitchFamily="2" charset="-122"/>
                <a:ea typeface="黑体" panose="02010609060101010101" pitchFamily="2" charset="-122"/>
              </a:rPr>
              <a:t> 连接主义数据驱动</a:t>
            </a:r>
            <a:r>
              <a:rPr lang="en-US" altLang="zh-CN" b="1" i="0" u="none" strike="noStrike" baseline="0" dirty="0">
                <a:latin typeface="Times New Roman" panose="02020603050405020304" pitchFamily="18" charset="0"/>
                <a:ea typeface="黑体" panose="02010609060101010101" pitchFamily="2" charset="-122"/>
              </a:rPr>
              <a:t>(data-driven</a:t>
            </a:r>
            <a:r>
              <a:rPr lang="en-GB" altLang="zh-CN" b="1" i="0" u="none" strike="noStrike" baseline="0" dirty="0">
                <a:latin typeface="Times New Roman" panose="02020603050405020304" pitchFamily="18" charset="0"/>
                <a:ea typeface="黑体" panose="02010609060101010101" pitchFamily="2" charset="-122"/>
              </a:rPr>
              <a:t>)</a:t>
            </a:r>
            <a:r>
              <a:rPr lang="zh-CN" altLang="en-US" b="0" i="0" u="none" strike="noStrike" baseline="0" dirty="0">
                <a:latin typeface="黑体" panose="02010609060101010101" pitchFamily="2" charset="-122"/>
                <a:ea typeface="黑体" panose="02010609060101010101" pitchFamily="2" charset="-122"/>
              </a:rPr>
              <a:t>为核心的</a:t>
            </a:r>
            <a:r>
              <a:rPr lang="zh-CN" altLang="en-US" dirty="0">
                <a:latin typeface="黑体" panose="02010609060101010101" pitchFamily="2" charset="-122"/>
                <a:ea typeface="黑体" panose="02010609060101010101" pitchFamily="2" charset="-122"/>
              </a:rPr>
              <a:t>机器学习</a:t>
            </a:r>
            <a:endParaRPr lang="en-US" altLang="zh-CN"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11" name="图片 10"/>
          <p:cNvPicPr>
            <a:picLocks noChangeAspect="1"/>
          </p:cNvPicPr>
          <p:nvPr/>
        </p:nvPicPr>
        <p:blipFill>
          <a:blip r:embed="rId3"/>
          <a:stretch>
            <a:fillRect/>
          </a:stretch>
        </p:blipFill>
        <p:spPr>
          <a:xfrm>
            <a:off x="3814688" y="4292128"/>
            <a:ext cx="4717752" cy="21647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黑体" panose="02010609060101010101" pitchFamily="2" charset="-122"/>
                <a:ea typeface="黑体" panose="02010609060101010101" pitchFamily="2" charset="-122"/>
              </a:rPr>
            </a:br>
            <a:r>
              <a:rPr lang="zh-CN" altLang="en-US" sz="4300" spc="-100" dirty="0">
                <a:solidFill>
                  <a:srgbClr val="D2533C"/>
                </a:solidFill>
                <a:latin typeface="Arial" panose="020B0604020202020204"/>
                <a:ea typeface="华文新魏" panose="02010800040101010101" pitchFamily="2" charset="-122"/>
              </a:rPr>
              <a:t>人工智能发展中的主流方法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1236845"/>
            <a:ext cx="7543801" cy="4384310"/>
          </a:xfrm>
        </p:spPr>
        <p:txBody>
          <a:bodyPr/>
          <a:lstStyle/>
          <a:p>
            <a:pPr>
              <a:buFont typeface="Wingdings" panose="05000000000000000000" pitchFamily="2" charset="2"/>
              <a:buChar char="p"/>
            </a:pPr>
            <a:r>
              <a:rPr lang="zh-CN" altLang="en-US" b="0" i="0" u="none" strike="noStrike" baseline="0" dirty="0">
                <a:latin typeface="黑体" panose="02010609060101010101" pitchFamily="2" charset="-122"/>
                <a:ea typeface="黑体" panose="02010609060101010101" pitchFamily="2" charset="-122"/>
              </a:rPr>
              <a:t> 行为主义</a:t>
            </a:r>
            <a:endParaRPr lang="en-US" altLang="zh-CN" b="0" i="0" u="none" strike="noStrike" baseline="0" dirty="0">
              <a:latin typeface="黑体" panose="02010609060101010101" pitchFamily="2" charset="-122"/>
              <a:ea typeface="黑体" panose="02010609060101010101" pitchFamily="2" charset="-122"/>
            </a:endParaRPr>
          </a:p>
          <a:p>
            <a:r>
              <a:rPr lang="zh-CN" altLang="en-US" sz="1800" b="0" i="0" u="none" strike="noStrike" baseline="0" dirty="0">
                <a:latin typeface="微软雅黑" panose="020B0503020204020204" charset="-122"/>
                <a:ea typeface="微软雅黑" panose="020B0503020204020204" charset="-122"/>
              </a:rPr>
              <a:t>在“探索（未知空间）与利用（已有经验）（</a:t>
            </a:r>
            <a:r>
              <a:rPr lang="en-GB" altLang="zh-CN" sz="1800" b="0" i="0" u="none" strike="noStrike" baseline="0" dirty="0">
                <a:latin typeface="Times New Roman" panose="02020603050405020304" pitchFamily="18" charset="0"/>
                <a:ea typeface="微软雅黑" panose="020B0503020204020204" charset="-122"/>
              </a:rPr>
              <a:t>exploration vs. exploitation)</a:t>
            </a:r>
            <a:r>
              <a:rPr lang="en-GB" altLang="zh-CN" sz="1800" b="0" i="0" u="none" strike="noStrike" baseline="0" dirty="0">
                <a:latin typeface="黑体" panose="02010609060101010101" pitchFamily="2" charset="-122"/>
                <a:ea typeface="黑体" panose="02010609060101010101" pitchFamily="2" charset="-122"/>
              </a:rPr>
              <a:t>”</a:t>
            </a:r>
            <a:r>
              <a:rPr lang="zh-CN" altLang="en-US" sz="1800" b="0" i="0" u="none" strike="noStrike" baseline="0" dirty="0">
                <a:latin typeface="黑体" panose="02010609060101010101" pitchFamily="2" charset="-122"/>
                <a:ea typeface="黑体" panose="02010609060101010101" pitchFamily="2" charset="-122"/>
              </a:rPr>
              <a:t>之间取得平衡为核心的强化学习 </a:t>
            </a:r>
            <a:endParaRPr lang="en-US" altLang="zh-CN"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800098" y="2492896"/>
            <a:ext cx="7543802" cy="355970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黑体" panose="02010609060101010101" pitchFamily="2" charset="-122"/>
                <a:ea typeface="黑体" panose="02010609060101010101" pitchFamily="2" charset="-122"/>
              </a:rPr>
            </a:br>
            <a:r>
              <a:rPr lang="zh-CN" altLang="en-US" sz="4300" spc="-100" dirty="0">
                <a:solidFill>
                  <a:srgbClr val="D2533C"/>
                </a:solidFill>
                <a:latin typeface="Arial" panose="020B0604020202020204"/>
                <a:ea typeface="华文新魏" panose="02010800040101010101" pitchFamily="2" charset="-122"/>
              </a:rPr>
              <a:t>人工智能发展中的主流方法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1236845"/>
            <a:ext cx="7543801" cy="4384310"/>
          </a:xfrm>
        </p:spPr>
        <p:txBody>
          <a:bodyPr/>
          <a:lstStyle/>
          <a:p>
            <a:pPr>
              <a:buFont typeface="Wingdings" panose="05000000000000000000" pitchFamily="2" charset="2"/>
              <a:buChar char="p"/>
            </a:pPr>
            <a:r>
              <a:rPr lang="zh-CN" altLang="en-US" b="0" i="0" u="none" strike="noStrike" baseline="0" dirty="0">
                <a:latin typeface="黑体" panose="02010609060101010101" pitchFamily="2" charset="-122"/>
                <a:ea typeface="黑体" panose="02010609060101010101" pitchFamily="2" charset="-122"/>
              </a:rPr>
              <a:t> 行为主义</a:t>
            </a:r>
            <a:endParaRPr lang="en-US" altLang="zh-CN" b="0" i="0" u="none" strike="noStrike" baseline="0" dirty="0">
              <a:latin typeface="黑体" panose="02010609060101010101" pitchFamily="2" charset="-122"/>
              <a:ea typeface="黑体" panose="02010609060101010101" pitchFamily="2" charset="-122"/>
            </a:endParaRPr>
          </a:p>
          <a:p>
            <a:r>
              <a:rPr lang="zh-CN" altLang="en-US" sz="1800" b="0" i="0" u="none" strike="noStrike" baseline="0" dirty="0">
                <a:latin typeface="微软雅黑" panose="020B0503020204020204" charset="-122"/>
                <a:ea typeface="微软雅黑" panose="020B0503020204020204" charset="-122"/>
              </a:rPr>
              <a:t>在“探索（未知空间）与利用（已有经验）（</a:t>
            </a:r>
            <a:r>
              <a:rPr lang="en-GB" altLang="zh-CN" sz="1800" b="0" i="0" u="none" strike="noStrike" baseline="0" dirty="0">
                <a:latin typeface="Times New Roman" panose="02020603050405020304" pitchFamily="18" charset="0"/>
                <a:ea typeface="微软雅黑" panose="020B0503020204020204" charset="-122"/>
              </a:rPr>
              <a:t>exploration vs. exploitation)</a:t>
            </a:r>
            <a:r>
              <a:rPr lang="en-GB" altLang="zh-CN" sz="1800" b="0" i="0" u="none" strike="noStrike" baseline="0" dirty="0">
                <a:latin typeface="黑体" panose="02010609060101010101" pitchFamily="2" charset="-122"/>
                <a:ea typeface="黑体" panose="02010609060101010101" pitchFamily="2" charset="-122"/>
              </a:rPr>
              <a:t>”</a:t>
            </a:r>
            <a:r>
              <a:rPr lang="zh-CN" altLang="en-US" sz="1800" b="0" i="0" u="none" strike="noStrike" baseline="0" dirty="0">
                <a:latin typeface="黑体" panose="02010609060101010101" pitchFamily="2" charset="-122"/>
                <a:ea typeface="黑体" panose="02010609060101010101" pitchFamily="2" charset="-122"/>
              </a:rPr>
              <a:t>之间取得平衡为核心的强化学习 </a:t>
            </a:r>
            <a:endParaRPr lang="en-US" altLang="zh-CN"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043608" y="2554957"/>
            <a:ext cx="3095625" cy="3124200"/>
          </a:xfrm>
          <a:prstGeom prst="rect">
            <a:avLst/>
          </a:prstGeom>
        </p:spPr>
      </p:pic>
      <p:pic>
        <p:nvPicPr>
          <p:cNvPr id="9" name="图片 8"/>
          <p:cNvPicPr>
            <a:picLocks noChangeAspect="1"/>
          </p:cNvPicPr>
          <p:nvPr/>
        </p:nvPicPr>
        <p:blipFill>
          <a:blip r:embed="rId2"/>
          <a:stretch>
            <a:fillRect/>
          </a:stretch>
        </p:blipFill>
        <p:spPr>
          <a:xfrm>
            <a:off x="4445371" y="2996952"/>
            <a:ext cx="4610100" cy="238125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300" spc="-100" dirty="0">
                <a:solidFill>
                  <a:srgbClr val="D2533C"/>
                </a:solidFill>
                <a:latin typeface="Arial" panose="020B0604020202020204"/>
                <a:ea typeface="华文新魏" panose="02010800040101010101" pitchFamily="2" charset="-122"/>
              </a:rPr>
              <a:t>人工智能三种主流方法区别</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00099" y="5195833"/>
            <a:ext cx="7543801" cy="616272"/>
          </a:xfrm>
        </p:spPr>
        <p:txBody>
          <a:bodyPr/>
          <a:lstStyle/>
          <a:p>
            <a:pPr marL="0" indent="0" algn="ctr">
              <a:buNone/>
            </a:pPr>
            <a:r>
              <a:rPr lang="zh-CN" altLang="en-US" sz="2400" b="0" i="0" u="none" strike="noStrike" baseline="0" dirty="0">
                <a:latin typeface="黑体" panose="02010609060101010101" pitchFamily="2" charset="-122"/>
                <a:ea typeface="黑体" panose="02010609060101010101" pitchFamily="2" charset="-122"/>
              </a:rPr>
              <a:t>从数据到知识与能力，能力增强是最终目标 </a:t>
            </a:r>
            <a:endParaRPr lang="en-US" altLang="zh-CN" sz="2400" b="0" i="0" u="none" strike="noStrike" baseline="0" dirty="0">
              <a:latin typeface="黑体" panose="02010609060101010101" pitchFamily="2" charset="-122"/>
              <a:ea typeface="黑体" panose="02010609060101010101" pitchFamily="2" charset="-122"/>
            </a:endParaRPr>
          </a:p>
          <a:p>
            <a:pPr marL="0" indent="0" algn="ctr">
              <a:buNone/>
            </a:pPr>
            <a:r>
              <a:rPr lang="zh-CN" altLang="en-US" sz="2400" b="0" i="0" u="none" strike="noStrike" baseline="0" dirty="0">
                <a:latin typeface="黑体" panose="02010609060101010101" pitchFamily="2" charset="-122"/>
                <a:ea typeface="黑体" panose="02010609060101010101" pitchFamily="2" charset="-122"/>
              </a:rPr>
              <a:t>三种学习方法的综合利用值得关注！ </a:t>
            </a:r>
            <a:endParaRPr lang="zh-CN" altLang="en-US" sz="2800"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504608" y="1484784"/>
            <a:ext cx="8027832" cy="34620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人类智能与机器智能区别 </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pPr marL="0" indent="0">
              <a:buNone/>
            </a:pPr>
            <a:r>
              <a:rPr lang="zh-CN" altLang="en-US" dirty="0">
                <a:latin typeface="黑体" panose="02010609060101010101" pitchFamily="2" charset="-122"/>
                <a:ea typeface="黑体" panose="02010609060101010101" pitchFamily="2" charset="-122"/>
              </a:rPr>
              <a:t>人类智能是</a:t>
            </a:r>
            <a:r>
              <a:rPr lang="zh-CN" altLang="en-US" b="0" i="0" u="none" strike="noStrike" baseline="0" dirty="0">
                <a:latin typeface="黑体" panose="02010609060101010101" pitchFamily="2" charset="-122"/>
                <a:ea typeface="黑体" panose="02010609060101010101" pitchFamily="2" charset="-122"/>
              </a:rPr>
              <a:t>小数据、大任务 </a:t>
            </a:r>
            <a:endParaRPr lang="en-US" altLang="zh-CN" b="0" i="0" u="none" strike="noStrike" baseline="0" dirty="0">
              <a:latin typeface="黑体" panose="02010609060101010101" pitchFamily="2" charset="-122"/>
              <a:ea typeface="黑体" panose="02010609060101010101" pitchFamily="2" charset="-122"/>
            </a:endParaRPr>
          </a:p>
          <a:p>
            <a:pPr marL="0" indent="0">
              <a:buNone/>
            </a:pPr>
            <a:r>
              <a:rPr lang="zh-CN" altLang="en-US" b="0" i="0" u="none" strike="noStrike" baseline="0" dirty="0">
                <a:latin typeface="黑体" panose="02010609060101010101" pitchFamily="2" charset="-122"/>
                <a:ea typeface="黑体" panose="02010609060101010101" pitchFamily="2" charset="-122"/>
              </a:rPr>
              <a:t>人工智能是大数据、小任务</a:t>
            </a:r>
            <a:endParaRPr lang="en-US" altLang="zh-CN" b="0" i="0" u="none" strike="noStrike" baseline="0" dirty="0">
              <a:latin typeface="黑体" panose="02010609060101010101" pitchFamily="2" charset="-122"/>
              <a:ea typeface="黑体" panose="02010609060101010101" pitchFamily="2" charset="-122"/>
            </a:endParaRPr>
          </a:p>
          <a:p>
            <a:pPr marL="0" indent="0">
              <a:buNone/>
            </a:pPr>
            <a:endParaRPr lang="en-US" altLang="zh-CN"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2051720" y="2481453"/>
            <a:ext cx="4867275" cy="3371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i="0" u="none" strike="noStrike" kern="1200" cap="none" spc="0" normalizeH="0" baseline="0" noProof="0" dirty="0">
                <a:ln>
                  <a:noFill/>
                </a:ln>
                <a:effectLst/>
                <a:uLnTx/>
                <a:uFillTx/>
                <a:latin typeface="Arial" panose="020B0604020202020204"/>
                <a:ea typeface="宋体" panose="02010600030101010101" pitchFamily="2" charset="-122"/>
              </a:rPr>
              <a:t>人工智能</a:t>
            </a:r>
            <a:r>
              <a:rPr kumimoji="0" lang="zh-CN" altLang="en-US" dirty="0">
                <a:latin typeface="Arial" panose="020B0604020202020204"/>
                <a:ea typeface="宋体" panose="02010600030101010101" pitchFamily="2" charset="-122"/>
              </a:rPr>
              <a:t>的概念</a:t>
            </a:r>
            <a:endParaRPr kumimoji="0" lang="en-US" altLang="zh-CN" i="0" u="none" strike="noStrike" kern="1200" cap="none" spc="0" normalizeH="0" baseline="0" noProof="0" dirty="0">
              <a:ln>
                <a:noFill/>
              </a:ln>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人工智能的发展简史</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i="0" u="none" strike="noStrike" kern="1200" cap="none" spc="0" normalizeH="0" baseline="0" noProof="0" dirty="0">
                <a:ln>
                  <a:noFill/>
                </a:ln>
                <a:solidFill>
                  <a:srgbClr val="C00000"/>
                </a:solidFill>
                <a:effectLst/>
                <a:uLnTx/>
                <a:uFillTx/>
                <a:latin typeface="Arial" panose="020B0604020202020204"/>
                <a:ea typeface="宋体" panose="02010600030101010101" pitchFamily="2" charset="-122"/>
              </a:rPr>
              <a:t>人工智能基本</a:t>
            </a:r>
            <a:r>
              <a:rPr kumimoji="0" lang="zh-CN" altLang="en-US" dirty="0">
                <a:solidFill>
                  <a:srgbClr val="C00000"/>
                </a:solidFill>
                <a:latin typeface="Arial" panose="020B0604020202020204"/>
                <a:ea typeface="宋体" panose="02010600030101010101" pitchFamily="2" charset="-122"/>
              </a:rPr>
              <a:t>研究</a:t>
            </a:r>
            <a:r>
              <a:rPr kumimoji="0" lang="zh-CN" altLang="en-US" i="0" u="none" strike="noStrike" kern="1200" cap="none" spc="0" normalizeH="0" baseline="0" noProof="0" dirty="0">
                <a:ln>
                  <a:noFill/>
                </a:ln>
                <a:solidFill>
                  <a:srgbClr val="C00000"/>
                </a:solidFill>
                <a:effectLst/>
                <a:uLnTx/>
                <a:uFillTx/>
                <a:latin typeface="Arial" panose="020B0604020202020204"/>
                <a:ea typeface="宋体" panose="02010600030101010101" pitchFamily="2" charset="-122"/>
              </a:rPr>
              <a:t>内容</a:t>
            </a:r>
            <a:endParaRPr kumimoji="0" lang="en-US" altLang="zh-CN" i="0" u="none" strike="noStrike" kern="1200" cap="none" spc="0" normalizeH="0" baseline="0" noProof="0" dirty="0">
              <a:ln>
                <a:noFill/>
              </a:ln>
              <a:solidFill>
                <a:srgbClr val="C00000"/>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人工智能的发展</a:t>
            </a: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6248208" y="188640"/>
            <a:ext cx="2716280" cy="1797339"/>
          </a:xfrm>
          <a:prstGeom prst="rect">
            <a:avLst/>
          </a:prstGeom>
        </p:spPr>
      </p:pic>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人工智能基本研究内容 </a:t>
            </a:r>
            <a:endParaRPr lang="zh-CN" altLang="en-US" sz="43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8" name="图片 7"/>
          <p:cNvPicPr>
            <a:picLocks noChangeAspect="1"/>
          </p:cNvPicPr>
          <p:nvPr/>
        </p:nvPicPr>
        <p:blipFill>
          <a:blip r:embed="rId2"/>
          <a:stretch>
            <a:fillRect/>
          </a:stretch>
        </p:blipFill>
        <p:spPr>
          <a:xfrm>
            <a:off x="971600" y="1988840"/>
            <a:ext cx="6819900" cy="42862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pc="-100" dirty="0">
                <a:solidFill>
                  <a:srgbClr val="D2533C"/>
                </a:solidFill>
                <a:latin typeface="Arial" panose="020B0604020202020204"/>
                <a:ea typeface="华文新魏" panose="02010800040101010101" pitchFamily="2" charset="-122"/>
                <a:sym typeface="+mn-ea"/>
              </a:rPr>
              <a:t>人工智能基本研究内容 </a:t>
            </a:r>
            <a:endParaRPr lang="zh-CN" altLang="en-US"/>
          </a:p>
        </p:txBody>
      </p:sp>
      <p:sp>
        <p:nvSpPr>
          <p:cNvPr id="3" name="内容占位符 2"/>
          <p:cNvSpPr>
            <a:spLocks noGrp="1"/>
          </p:cNvSpPr>
          <p:nvPr>
            <p:ph idx="1"/>
          </p:nvPr>
        </p:nvSpPr>
        <p:spPr>
          <a:xfrm>
            <a:off x="822960" y="1484630"/>
            <a:ext cx="8013065" cy="4384040"/>
          </a:xfrm>
        </p:spPr>
        <p:txBody>
          <a:bodyPr/>
          <a:p>
            <a:pPr>
              <a:buFont typeface="Wingdings" panose="05000000000000000000" charset="0"/>
              <a:buChar char="u"/>
            </a:pPr>
            <a:r>
              <a:rPr lang="zh-CN" altLang="en-US" b="1">
                <a:solidFill>
                  <a:schemeClr val="accent2"/>
                </a:solidFill>
              </a:rPr>
              <a:t>知识表示</a:t>
            </a:r>
            <a:r>
              <a:rPr lang="zh-CN" altLang="en-US"/>
              <a:t>：将人类知识形式化或者模型化。（符号表示法，连接</a:t>
            </a:r>
            <a:endParaRPr lang="zh-CN" altLang="en-US"/>
          </a:p>
          <a:p>
            <a:pPr marL="0" indent="0">
              <a:buFont typeface="Wingdings" panose="05000000000000000000" charset="0"/>
              <a:buNone/>
            </a:pPr>
            <a:r>
              <a:rPr lang="en-US" altLang="zh-CN"/>
              <a:t>                          </a:t>
            </a:r>
            <a:r>
              <a:rPr lang="zh-CN" altLang="en-US"/>
              <a:t>机制表示法）；</a:t>
            </a:r>
            <a:endParaRPr lang="zh-CN" altLang="en-US"/>
          </a:p>
          <a:p>
            <a:pPr marL="0" indent="0">
              <a:buFont typeface="Wingdings" panose="05000000000000000000" charset="0"/>
              <a:buChar char="u"/>
            </a:pPr>
            <a:r>
              <a:rPr lang="zh-CN" altLang="en-US" b="1">
                <a:solidFill>
                  <a:schemeClr val="accent2"/>
                </a:solidFill>
              </a:rPr>
              <a:t>机器感知</a:t>
            </a:r>
            <a:r>
              <a:rPr lang="zh-CN" altLang="en-US"/>
              <a:t>：是机器（计算机）具有类似于人的感知能力，以机器</a:t>
            </a:r>
            <a:endParaRPr lang="zh-CN" altLang="en-US"/>
          </a:p>
          <a:p>
            <a:pPr marL="0" indent="0">
              <a:buFont typeface="Wingdings" panose="05000000000000000000" charset="0"/>
              <a:buNone/>
            </a:pPr>
            <a:r>
              <a:rPr lang="en-US" altLang="zh-CN"/>
              <a:t>                          </a:t>
            </a:r>
            <a:r>
              <a:rPr lang="zh-CN" altLang="en-US"/>
              <a:t>视觉和机器听觉为主；</a:t>
            </a:r>
            <a:endParaRPr lang="zh-CN" altLang="en-US"/>
          </a:p>
          <a:p>
            <a:pPr marL="0" indent="0">
              <a:buFont typeface="Wingdings" panose="05000000000000000000" charset="0"/>
              <a:buChar char="u"/>
            </a:pPr>
            <a:r>
              <a:rPr lang="zh-CN" altLang="en-US" b="1">
                <a:solidFill>
                  <a:schemeClr val="accent2"/>
                </a:solidFill>
              </a:rPr>
              <a:t>机器思维</a:t>
            </a:r>
            <a:r>
              <a:rPr lang="zh-CN" altLang="en-US"/>
              <a:t>：对通过感知得来的外部信息及机器内部的各种工作信</a:t>
            </a:r>
            <a:endParaRPr lang="zh-CN" altLang="en-US"/>
          </a:p>
          <a:p>
            <a:pPr marL="0" indent="0">
              <a:buFont typeface="Wingdings" panose="05000000000000000000" charset="0"/>
              <a:buNone/>
            </a:pPr>
            <a:r>
              <a:rPr lang="en-US" altLang="zh-CN"/>
              <a:t>                          </a:t>
            </a:r>
            <a:r>
              <a:rPr lang="zh-CN" altLang="en-US"/>
              <a:t>息进行有目的的处理；</a:t>
            </a:r>
            <a:endParaRPr lang="zh-CN" altLang="en-US"/>
          </a:p>
          <a:p>
            <a:pPr marL="0" indent="0">
              <a:buFont typeface="Wingdings" panose="05000000000000000000" charset="0"/>
              <a:buChar char="u"/>
            </a:pPr>
            <a:r>
              <a:rPr lang="zh-CN" altLang="en-US" b="1">
                <a:solidFill>
                  <a:schemeClr val="accent2"/>
                </a:solidFill>
              </a:rPr>
              <a:t>机器学习</a:t>
            </a:r>
            <a:r>
              <a:rPr lang="zh-CN" altLang="en-US"/>
              <a:t>：研究如何使计算机具有类似于人的学习能力，使它能</a:t>
            </a:r>
            <a:endParaRPr lang="zh-CN" altLang="en-US"/>
          </a:p>
          <a:p>
            <a:pPr marL="0" indent="0">
              <a:buFont typeface="Wingdings" panose="05000000000000000000" charset="0"/>
              <a:buNone/>
            </a:pPr>
            <a:r>
              <a:rPr lang="en-US" altLang="zh-CN"/>
              <a:t>                          </a:t>
            </a:r>
            <a:r>
              <a:rPr lang="zh-CN" altLang="en-US"/>
              <a:t>通过学习自动地获取知识。（监督学习，强化学习，无监</a:t>
            </a:r>
            <a:endParaRPr lang="zh-CN" altLang="en-US"/>
          </a:p>
          <a:p>
            <a:pPr marL="0" indent="0">
              <a:buFont typeface="Wingdings" panose="05000000000000000000" charset="0"/>
              <a:buNone/>
            </a:pPr>
            <a:r>
              <a:rPr lang="zh-CN" altLang="en-US"/>
              <a:t> </a:t>
            </a:r>
            <a:r>
              <a:rPr lang="en-US" altLang="zh-CN"/>
              <a:t>                         </a:t>
            </a:r>
            <a:r>
              <a:rPr lang="zh-CN" altLang="en-US"/>
              <a:t>督学习）；</a:t>
            </a:r>
            <a:endParaRPr lang="zh-CN" altLang="en-US"/>
          </a:p>
          <a:p>
            <a:pPr marL="0" indent="0">
              <a:buFont typeface="Wingdings" panose="05000000000000000000" charset="0"/>
              <a:buChar char="u"/>
            </a:pPr>
            <a:r>
              <a:rPr lang="zh-CN" altLang="en-US" b="1">
                <a:solidFill>
                  <a:schemeClr val="accent2"/>
                </a:solidFill>
              </a:rPr>
              <a:t>机器行为</a:t>
            </a:r>
            <a:r>
              <a:rPr lang="zh-CN" altLang="en-US"/>
              <a:t>：计算机的表达能力，即</a:t>
            </a:r>
            <a:r>
              <a:rPr lang="en-US" altLang="zh-CN"/>
              <a:t>“</a:t>
            </a:r>
            <a:r>
              <a:rPr lang="zh-CN" altLang="en-US"/>
              <a:t>说</a:t>
            </a:r>
            <a:r>
              <a:rPr lang="en-US" altLang="zh-CN"/>
              <a:t>”</a:t>
            </a:r>
            <a:r>
              <a:rPr lang="zh-CN" altLang="en-US"/>
              <a:t>、</a:t>
            </a:r>
            <a:r>
              <a:rPr lang="en-US" altLang="zh-CN"/>
              <a:t>“</a:t>
            </a:r>
            <a:r>
              <a:rPr lang="zh-CN" altLang="en-US"/>
              <a:t>写</a:t>
            </a:r>
            <a:r>
              <a:rPr lang="en-US" altLang="zh-CN"/>
              <a:t>”</a:t>
            </a:r>
            <a:r>
              <a:rPr lang="zh-CN" altLang="en-US"/>
              <a:t>、</a:t>
            </a:r>
            <a:r>
              <a:rPr lang="en-US" altLang="zh-CN"/>
              <a:t>“</a:t>
            </a:r>
            <a:r>
              <a:rPr lang="zh-CN" altLang="en-US"/>
              <a:t>画</a:t>
            </a:r>
            <a:r>
              <a:rPr lang="en-US" altLang="zh-CN"/>
              <a:t>”</a:t>
            </a:r>
            <a:r>
              <a:rPr lang="zh-CN" altLang="en-US"/>
              <a:t>等能力。</a:t>
            </a:r>
            <a:endParaRPr lang="zh-CN" altLang="en-US"/>
          </a:p>
        </p:txBody>
      </p:sp>
      <p:sp>
        <p:nvSpPr>
          <p:cNvPr id="4" name="灯片编号占位符 3"/>
          <p:cNvSpPr>
            <a:spLocks noGrp="1"/>
          </p:cNvSpPr>
          <p:nvPr>
            <p:ph type="sldNum" sz="quarter" idx="10"/>
          </p:nvPr>
        </p:nvSpPr>
        <p:spPr/>
        <p:txBody>
          <a:bodyPr/>
          <a:p>
            <a:pPr>
              <a:defRPr/>
            </a:pPr>
            <a:fld id="{F6DA434B-3FE0-453D-8E32-922B8A93A0FC}" type="slidenum">
              <a:rPr lang="en-US" altLang="zh-CN"/>
            </a:fld>
            <a:endParaRPr lang="en-US" alt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人工智能基本研究内容 </a:t>
            </a:r>
            <a:endParaRPr lang="zh-CN" altLang="en-US" sz="43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3" name="文本框 2"/>
          <p:cNvSpPr txBox="1"/>
          <p:nvPr/>
        </p:nvSpPr>
        <p:spPr>
          <a:xfrm>
            <a:off x="539552" y="1412776"/>
            <a:ext cx="8208912" cy="1631216"/>
          </a:xfrm>
          <a:prstGeom prst="rect">
            <a:avLst/>
          </a:prstGeom>
          <a:noFill/>
        </p:spPr>
        <p:txBody>
          <a:bodyPr wrap="square" rtlCol="0">
            <a:spAutoFit/>
          </a:bodyPr>
          <a:lstStyle/>
          <a:p>
            <a:r>
              <a:rPr lang="zh-CN" altLang="en-US" sz="2000" b="0" i="0" u="none" strike="noStrike" baseline="0" dirty="0">
                <a:latin typeface="黑体" panose="02010609060101010101" pitchFamily="2" charset="-122"/>
                <a:ea typeface="黑体" panose="02010609060101010101" pitchFamily="2" charset="-122"/>
              </a:rPr>
              <a:t>人工智能：以机器为载体实现的人类智能或生物智能 </a:t>
            </a:r>
            <a:endParaRPr lang="en-US" altLang="zh-CN" sz="2000" b="0" i="0" u="none" strike="noStrike" baseline="0" dirty="0">
              <a:latin typeface="黑体" panose="02010609060101010101" pitchFamily="2" charset="-122"/>
              <a:ea typeface="黑体" panose="02010609060101010101" pitchFamily="2" charset="-122"/>
            </a:endParaRPr>
          </a:p>
          <a:p>
            <a:pPr algn="l"/>
            <a:endParaRPr lang="zh-CN" altLang="en-US" sz="2000" b="0" i="0" u="none" strike="noStrike" baseline="0" dirty="0">
              <a:solidFill>
                <a:srgbClr val="000000"/>
              </a:solidFill>
              <a:latin typeface="黑体" panose="02010609060101010101" pitchFamily="2" charset="-122"/>
              <a:ea typeface="黑体" panose="02010609060101010101" pitchFamily="2" charset="-122"/>
            </a:endParaRPr>
          </a:p>
          <a:p>
            <a:r>
              <a:rPr lang="zh-CN" altLang="en-US" sz="2000" b="0" i="0" u="none" strike="noStrike" baseline="0" dirty="0">
                <a:latin typeface="黑体" panose="02010609060101010101" pitchFamily="2" charset="-122"/>
                <a:ea typeface="黑体" panose="02010609060101010101" pitchFamily="2" charset="-122"/>
              </a:rPr>
              <a:t>从模拟人类智能角度而言，人工智能应具备如下能力： </a:t>
            </a:r>
            <a:endParaRPr lang="en-US" altLang="zh-CN" sz="2000" dirty="0">
              <a:latin typeface="黑体" panose="02010609060101010101" pitchFamily="2" charset="-122"/>
              <a:ea typeface="黑体" panose="02010609060101010101" pitchFamily="2" charset="-122"/>
            </a:endParaRPr>
          </a:p>
          <a:p>
            <a:endParaRPr lang="en-US" altLang="zh-CN" sz="2000" dirty="0">
              <a:latin typeface="黑体" panose="02010609060101010101" pitchFamily="2" charset="-122"/>
              <a:ea typeface="黑体" panose="02010609060101010101" pitchFamily="2" charset="-122"/>
            </a:endParaRPr>
          </a:p>
          <a:p>
            <a:endParaRPr lang="zh-CN" altLang="en-US" sz="2000" dirty="0"/>
          </a:p>
        </p:txBody>
      </p:sp>
      <p:pic>
        <p:nvPicPr>
          <p:cNvPr id="7" name="图片 6"/>
          <p:cNvPicPr>
            <a:picLocks noChangeAspect="1"/>
          </p:cNvPicPr>
          <p:nvPr/>
        </p:nvPicPr>
        <p:blipFill>
          <a:blip r:embed="rId1"/>
          <a:stretch>
            <a:fillRect/>
          </a:stretch>
        </p:blipFill>
        <p:spPr>
          <a:xfrm>
            <a:off x="427018" y="3043992"/>
            <a:ext cx="3048000" cy="2676525"/>
          </a:xfrm>
          <a:prstGeom prst="rect">
            <a:avLst/>
          </a:prstGeom>
        </p:spPr>
      </p:pic>
      <p:sp>
        <p:nvSpPr>
          <p:cNvPr id="10" name="文本框 9"/>
          <p:cNvSpPr txBox="1"/>
          <p:nvPr/>
        </p:nvSpPr>
        <p:spPr>
          <a:xfrm>
            <a:off x="3475018" y="1700808"/>
            <a:ext cx="5581504" cy="4636847"/>
          </a:xfrm>
          <a:prstGeom prst="rect">
            <a:avLst/>
          </a:prstGeom>
          <a:noFill/>
        </p:spPr>
        <p:txBody>
          <a:bodyPr wrap="square">
            <a:spAutoFit/>
          </a:bodyPr>
          <a:lstStyle/>
          <a:p>
            <a:pPr algn="l">
              <a:lnSpc>
                <a:spcPct val="150000"/>
              </a:lnSpc>
            </a:pPr>
            <a:endParaRPr lang="zh-CN" altLang="en-US" sz="2000" b="0" i="0" u="none" strike="noStrike" baseline="0" dirty="0">
              <a:solidFill>
                <a:srgbClr val="000000"/>
              </a:solidFill>
              <a:latin typeface="Wingdings" panose="05000000000000000000" pitchFamily="2" charset="2"/>
            </a:endParaRPr>
          </a:p>
          <a:p>
            <a:pPr>
              <a:lnSpc>
                <a:spcPct val="150000"/>
              </a:lnSpc>
            </a:pPr>
            <a:endParaRPr lang="zh-CN" altLang="en-US" sz="2000" b="0" i="0" u="none" strike="noStrike" baseline="0" dirty="0">
              <a:latin typeface="Wingdings" panose="05000000000000000000" pitchFamily="2" charset="2"/>
            </a:endParaRPr>
          </a:p>
          <a:p>
            <a:pPr>
              <a:lnSpc>
                <a:spcPct val="150000"/>
              </a:lnSpc>
            </a:pPr>
            <a:r>
              <a:rPr lang="zh-CN" altLang="en-US" sz="2000" b="0" i="0" u="none" strike="noStrike" baseline="0" dirty="0">
                <a:latin typeface="Wingdings" panose="05000000000000000000" pitchFamily="2" charset="2"/>
              </a:rPr>
              <a:t></a:t>
            </a:r>
            <a:r>
              <a:rPr lang="zh-CN" altLang="en-US" sz="2000" b="1" i="0" u="none" strike="noStrike" baseline="0" dirty="0">
                <a:solidFill>
                  <a:srgbClr val="C00000"/>
                </a:solidFill>
                <a:latin typeface="黑体" panose="02010609060101010101" pitchFamily="2" charset="-122"/>
                <a:ea typeface="黑体" panose="02010609060101010101" pitchFamily="2" charset="-122"/>
              </a:rPr>
              <a:t>具备视觉感知和语言交流的能力</a:t>
            </a:r>
            <a:r>
              <a:rPr lang="zh-CN" altLang="en-US" sz="2000" b="0" i="0" u="none" strike="noStrike" baseline="0" dirty="0">
                <a:latin typeface="黑体" panose="02010609060101010101" pitchFamily="2" charset="-122"/>
                <a:ea typeface="黑体" panose="02010609060101010101" pitchFamily="2" charset="-122"/>
              </a:rPr>
              <a:t>。即能够识别和理解外界信息（计算机视觉研究范畴）、能够与人通过语言交流（自然语言理解研究范畴）。 </a:t>
            </a:r>
            <a:endParaRPr lang="zh-CN" altLang="en-US" sz="2000" b="0" i="0" u="none" strike="noStrike" baseline="0" dirty="0">
              <a:latin typeface="黑体" panose="02010609060101010101" pitchFamily="2" charset="-122"/>
              <a:ea typeface="黑体" panose="02010609060101010101" pitchFamily="2" charset="-122"/>
            </a:endParaRPr>
          </a:p>
          <a:p>
            <a:pPr>
              <a:lnSpc>
                <a:spcPct val="150000"/>
              </a:lnSpc>
            </a:pPr>
            <a:r>
              <a:rPr lang="zh-CN" altLang="en-US" sz="2000" b="0" i="0" u="none" strike="noStrike" baseline="0" dirty="0">
                <a:latin typeface="Wingdings" panose="05000000000000000000" pitchFamily="2" charset="2"/>
                <a:ea typeface="黑体" panose="02010609060101010101" pitchFamily="2" charset="-122"/>
              </a:rPr>
              <a:t></a:t>
            </a:r>
            <a:r>
              <a:rPr lang="zh-CN" altLang="en-US" sz="2000" b="1" dirty="0">
                <a:solidFill>
                  <a:srgbClr val="C00000"/>
                </a:solidFill>
                <a:latin typeface="黑体" panose="02010609060101010101" pitchFamily="2" charset="-122"/>
                <a:ea typeface="黑体" panose="02010609060101010101" pitchFamily="2" charset="-122"/>
              </a:rPr>
              <a:t>具备推理与问题求解能力</a:t>
            </a:r>
            <a:r>
              <a:rPr lang="zh-CN" altLang="en-US" sz="2000" b="0" i="0" u="none" strike="noStrike" baseline="0" dirty="0">
                <a:latin typeface="黑体" panose="02010609060101010101" pitchFamily="2" charset="-122"/>
                <a:ea typeface="黑体" panose="02010609060101010101" pitchFamily="2" charset="-122"/>
              </a:rPr>
              <a:t>。即基于已有知识，对所见事物和现象进行演绎推理以解决问题。 </a:t>
            </a:r>
            <a:endParaRPr lang="zh-CN" altLang="en-US" sz="2000" b="0" i="0" u="none" strike="noStrike" baseline="0" dirty="0">
              <a:latin typeface="黑体" panose="02010609060101010101" pitchFamily="2" charset="-122"/>
              <a:ea typeface="黑体" panose="02010609060101010101" pitchFamily="2" charset="-122"/>
            </a:endParaRPr>
          </a:p>
          <a:p>
            <a:pPr>
              <a:lnSpc>
                <a:spcPct val="150000"/>
              </a:lnSpc>
            </a:pPr>
            <a:r>
              <a:rPr lang="zh-CN" altLang="en-US" sz="2000" b="0" i="0" u="none" strike="noStrike" baseline="0" dirty="0">
                <a:latin typeface="Wingdings" panose="05000000000000000000" pitchFamily="2" charset="2"/>
                <a:ea typeface="黑体" panose="02010609060101010101" pitchFamily="2" charset="-122"/>
              </a:rPr>
              <a:t></a:t>
            </a:r>
            <a:r>
              <a:rPr lang="zh-CN" altLang="en-US" sz="2000" b="1" dirty="0">
                <a:solidFill>
                  <a:srgbClr val="C00000"/>
                </a:solidFill>
                <a:latin typeface="黑体" panose="02010609060101010101" pitchFamily="2" charset="-122"/>
                <a:ea typeface="黑体" panose="02010609060101010101" pitchFamily="2" charset="-122"/>
              </a:rPr>
              <a:t>具备协同控制能力</a:t>
            </a:r>
            <a:r>
              <a:rPr lang="zh-CN" altLang="en-US" sz="2000" b="0" i="0" u="none" strike="noStrike" baseline="0" dirty="0">
                <a:latin typeface="黑体" panose="02010609060101010101" pitchFamily="2" charset="-122"/>
                <a:ea typeface="黑体" panose="02010609060101010101" pitchFamily="2" charset="-122"/>
              </a:rPr>
              <a:t>。即将视觉（看）、语言（说）、推理（悟）等能力统一协调，加以控制，这是常见的机器人研究领域内容。 </a:t>
            </a:r>
            <a:endParaRPr lang="zh-CN" altLang="en-US" sz="2000" b="0" i="0" u="none" strike="noStrike" baseline="0" dirty="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500"/>
                                        <p:tgtEl>
                                          <p:spTgt spid="1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animEffect transition="in" filter="fade">
                                      <p:cBhvr>
                                        <p:cTn id="17" dur="500"/>
                                        <p:tgtEl>
                                          <p:spTgt spid="1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人工智能基本研究内容 </a:t>
            </a:r>
            <a:endParaRPr lang="zh-CN" altLang="en-US" sz="43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3" name="文本框 2"/>
          <p:cNvSpPr txBox="1"/>
          <p:nvPr/>
        </p:nvSpPr>
        <p:spPr>
          <a:xfrm>
            <a:off x="490404" y="1180676"/>
            <a:ext cx="8208912" cy="1631216"/>
          </a:xfrm>
          <a:prstGeom prst="rect">
            <a:avLst/>
          </a:prstGeom>
          <a:noFill/>
        </p:spPr>
        <p:txBody>
          <a:bodyPr wrap="square" rtlCol="0">
            <a:spAutoFit/>
          </a:bodyPr>
          <a:lstStyle/>
          <a:p>
            <a:r>
              <a:rPr lang="zh-CN" altLang="en-US" sz="2000" b="0" i="0" u="none" strike="noStrike" baseline="0" dirty="0">
                <a:latin typeface="黑体" panose="02010609060101010101" pitchFamily="2" charset="-122"/>
                <a:ea typeface="黑体" panose="02010609060101010101" pitchFamily="2" charset="-122"/>
              </a:rPr>
              <a:t>人工智能：以机器为载体实现的人类智能或生物智能 </a:t>
            </a:r>
            <a:endParaRPr lang="en-US" altLang="zh-CN" sz="2000" b="0" i="0" u="none" strike="noStrike" baseline="0" dirty="0">
              <a:latin typeface="黑体" panose="02010609060101010101" pitchFamily="2" charset="-122"/>
              <a:ea typeface="黑体" panose="02010609060101010101" pitchFamily="2" charset="-122"/>
            </a:endParaRPr>
          </a:p>
          <a:p>
            <a:pPr algn="l"/>
            <a:endParaRPr lang="zh-CN" altLang="en-US" sz="2000" b="0" i="0" u="none" strike="noStrike" baseline="0" dirty="0">
              <a:solidFill>
                <a:srgbClr val="000000"/>
              </a:solidFill>
              <a:latin typeface="黑体" panose="02010609060101010101" pitchFamily="2" charset="-122"/>
              <a:ea typeface="黑体" panose="02010609060101010101" pitchFamily="2" charset="-122"/>
            </a:endParaRPr>
          </a:p>
          <a:p>
            <a:r>
              <a:rPr lang="zh-CN" altLang="en-US" sz="2000" b="0" i="0" u="none" strike="noStrike" baseline="0" dirty="0">
                <a:latin typeface="黑体" panose="02010609060101010101" pitchFamily="2" charset="-122"/>
                <a:ea typeface="黑体" panose="02010609060101010101" pitchFamily="2" charset="-122"/>
              </a:rPr>
              <a:t>从模拟人类智能角度而言，人工智能应具备如下能力： </a:t>
            </a:r>
            <a:endParaRPr lang="en-US" altLang="zh-CN" sz="2000" dirty="0">
              <a:latin typeface="黑体" panose="02010609060101010101" pitchFamily="2" charset="-122"/>
              <a:ea typeface="黑体" panose="02010609060101010101" pitchFamily="2" charset="-122"/>
            </a:endParaRPr>
          </a:p>
          <a:p>
            <a:endParaRPr lang="en-US" altLang="zh-CN" sz="2000" dirty="0">
              <a:latin typeface="黑体" panose="02010609060101010101" pitchFamily="2" charset="-122"/>
              <a:ea typeface="黑体" panose="02010609060101010101" pitchFamily="2" charset="-122"/>
            </a:endParaRPr>
          </a:p>
          <a:p>
            <a:endParaRPr lang="zh-CN" altLang="en-US" sz="2000" dirty="0"/>
          </a:p>
        </p:txBody>
      </p:sp>
      <p:pic>
        <p:nvPicPr>
          <p:cNvPr id="7" name="图片 6"/>
          <p:cNvPicPr>
            <a:picLocks noChangeAspect="1"/>
          </p:cNvPicPr>
          <p:nvPr/>
        </p:nvPicPr>
        <p:blipFill>
          <a:blip r:embed="rId1"/>
          <a:stretch>
            <a:fillRect/>
          </a:stretch>
        </p:blipFill>
        <p:spPr>
          <a:xfrm>
            <a:off x="427018" y="3043992"/>
            <a:ext cx="3048000" cy="2676525"/>
          </a:xfrm>
          <a:prstGeom prst="rect">
            <a:avLst/>
          </a:prstGeom>
        </p:spPr>
      </p:pic>
      <p:sp>
        <p:nvSpPr>
          <p:cNvPr id="10" name="文本框 9"/>
          <p:cNvSpPr txBox="1"/>
          <p:nvPr/>
        </p:nvSpPr>
        <p:spPr>
          <a:xfrm>
            <a:off x="3475018" y="1700808"/>
            <a:ext cx="5581504" cy="4729180"/>
          </a:xfrm>
          <a:prstGeom prst="rect">
            <a:avLst/>
          </a:prstGeom>
          <a:noFill/>
        </p:spPr>
        <p:txBody>
          <a:bodyPr wrap="square">
            <a:spAutoFit/>
          </a:bodyPr>
          <a:lstStyle/>
          <a:p>
            <a:pPr algn="l"/>
            <a:endParaRPr lang="zh-CN" altLang="en-US" sz="1800" b="0" i="0" u="none" strike="noStrike" baseline="0" dirty="0">
              <a:solidFill>
                <a:srgbClr val="000000"/>
              </a:solidFill>
              <a:latin typeface="Wingdings" panose="05000000000000000000" pitchFamily="2" charset="2"/>
            </a:endParaRPr>
          </a:p>
          <a:p>
            <a:endParaRPr lang="zh-CN" altLang="en-US" sz="1800" b="0" i="0" u="none" strike="noStrike" baseline="0" dirty="0">
              <a:latin typeface="Wingdings" panose="05000000000000000000" pitchFamily="2" charset="2"/>
            </a:endParaRPr>
          </a:p>
          <a:p>
            <a:pPr>
              <a:lnSpc>
                <a:spcPct val="150000"/>
              </a:lnSpc>
            </a:pPr>
            <a:r>
              <a:rPr lang="zh-CN" altLang="en-US" sz="2000" b="0" i="0" u="none" strike="noStrike" baseline="0" dirty="0">
                <a:latin typeface="Wingdings" panose="05000000000000000000" pitchFamily="2" charset="2"/>
              </a:rPr>
              <a:t></a:t>
            </a:r>
            <a:r>
              <a:rPr lang="zh-CN" altLang="en-US" sz="2000" b="1" i="0" u="none" strike="noStrike" baseline="0" dirty="0">
                <a:solidFill>
                  <a:srgbClr val="C00000"/>
                </a:solidFill>
                <a:latin typeface="黑体" panose="02010609060101010101" pitchFamily="2" charset="-122"/>
                <a:ea typeface="黑体" panose="02010609060101010101" pitchFamily="2" charset="-122"/>
              </a:rPr>
              <a:t>具备遵守伦理道德能力</a:t>
            </a:r>
            <a:r>
              <a:rPr lang="zh-CN" altLang="en-US" sz="2000" b="0" i="0" u="none" strike="noStrike" baseline="0" dirty="0">
                <a:latin typeface="黑体" panose="02010609060101010101" pitchFamily="2" charset="-122"/>
                <a:ea typeface="黑体" panose="02010609060101010101" pitchFamily="2" charset="-122"/>
              </a:rPr>
              <a:t>。即模拟人类智能的智能体在社会环境中要遵从一定的伦理道德。阿西莫夫在科幻小说中按照优先级定义了机器人需要遵从的三条伦理原则：不得伤人，或弃人于危难；需服从人；在不违反上述两条原则情况下，保护机器人自己。 </a:t>
            </a:r>
            <a:endParaRPr lang="zh-CN" altLang="en-US" sz="2000" b="0" i="0" u="none" strike="noStrike" baseline="0" dirty="0">
              <a:latin typeface="黑体" panose="02010609060101010101" pitchFamily="2" charset="-122"/>
              <a:ea typeface="黑体" panose="02010609060101010101" pitchFamily="2" charset="-122"/>
            </a:endParaRPr>
          </a:p>
          <a:p>
            <a:pPr>
              <a:lnSpc>
                <a:spcPct val="150000"/>
              </a:lnSpc>
            </a:pPr>
            <a:r>
              <a:rPr lang="zh-CN" altLang="en-US" sz="2000" b="0" i="0" u="none" strike="noStrike" baseline="0" dirty="0">
                <a:latin typeface="Wingdings" panose="05000000000000000000" pitchFamily="2" charset="2"/>
                <a:ea typeface="黑体" panose="02010609060101010101" pitchFamily="2" charset="-122"/>
              </a:rPr>
              <a:t></a:t>
            </a:r>
            <a:r>
              <a:rPr lang="zh-CN" altLang="en-US" sz="2000" b="1" dirty="0">
                <a:solidFill>
                  <a:srgbClr val="C00000"/>
                </a:solidFill>
                <a:latin typeface="黑体" panose="02010609060101010101" pitchFamily="2" charset="-122"/>
                <a:ea typeface="黑体" panose="02010609060101010101" pitchFamily="2" charset="-122"/>
              </a:rPr>
              <a:t>具备从数据中进行归纳总结的能力</a:t>
            </a:r>
            <a:r>
              <a:rPr lang="zh-CN" altLang="en-US" sz="2000" b="0" i="0" u="none" strike="noStrike" baseline="0" dirty="0">
                <a:latin typeface="黑体" panose="02010609060101010101" pitchFamily="2" charset="-122"/>
                <a:ea typeface="黑体" panose="02010609060101010101" pitchFamily="2" charset="-122"/>
              </a:rPr>
              <a:t>。即需要从数据中进行知识、规律和模式学习的模型和方法，这是机器学习研究范畴。 </a:t>
            </a:r>
            <a:endParaRPr lang="zh-CN" altLang="en-US" sz="2000" b="0" i="0" u="none" strike="noStrike" baseline="0" dirty="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xEl>
                                              <p:pRg st="3" end="3"/>
                                            </p:txEl>
                                          </p:spTgt>
                                        </p:tgtEl>
                                        <p:attrNameLst>
                                          <p:attrName>style.visibility</p:attrName>
                                        </p:attrNameLst>
                                      </p:cBhvr>
                                      <p:to>
                                        <p:strVal val="visible"/>
                                      </p:to>
                                    </p:set>
                                    <p:animEffect transition="in" filter="fade">
                                      <p:cBhvr>
                                        <p:cTn id="12"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人工智能学科交叉领域</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777240" y="1311677"/>
            <a:ext cx="8009525" cy="503341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pc="-100" dirty="0">
                <a:solidFill>
                  <a:srgbClr val="D2533C"/>
                </a:solidFill>
                <a:latin typeface="Arial" panose="020B0604020202020204"/>
                <a:ea typeface="华文新魏" panose="02010800040101010101" pitchFamily="2" charset="-122"/>
              </a:rPr>
              <a:t>人工智能课程群关系图</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659600" y="1178843"/>
            <a:ext cx="7824800" cy="4984482"/>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300" spc="-100" dirty="0">
                <a:solidFill>
                  <a:srgbClr val="D2533C"/>
                </a:solidFill>
                <a:latin typeface="Arial" panose="020B0604020202020204"/>
                <a:ea typeface="华文新魏" panose="02010800040101010101" pitchFamily="2" charset="-122"/>
              </a:rPr>
              <a:t>人工智能应用：人机博弈</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b="1" dirty="0"/>
              <a:t>第一代</a:t>
            </a:r>
            <a:r>
              <a:rPr lang="en-US" altLang="zh-CN" b="1" dirty="0"/>
              <a:t>AlphaGo</a:t>
            </a:r>
            <a:endParaRPr lang="zh-CN" altLang="en-US" b="1"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956434" y="2204864"/>
            <a:ext cx="5276850" cy="41243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300" spc="-100" dirty="0">
                <a:solidFill>
                  <a:srgbClr val="D2533C"/>
                </a:solidFill>
                <a:latin typeface="Arial" panose="020B0604020202020204"/>
                <a:ea typeface="华文新魏" panose="02010800040101010101" pitchFamily="2" charset="-122"/>
              </a:rPr>
              <a:t>人工智能应用：人机博弈</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b="1" dirty="0"/>
              <a:t>第二代</a:t>
            </a:r>
            <a:r>
              <a:rPr lang="en-US" altLang="zh-CN" b="1" dirty="0"/>
              <a:t>AlphaGo</a:t>
            </a:r>
            <a:r>
              <a:rPr lang="zh-CN" altLang="en-US" b="1" dirty="0"/>
              <a:t>： </a:t>
            </a:r>
            <a:r>
              <a:rPr lang="en-US" altLang="zh-CN" b="1" dirty="0"/>
              <a:t>AlphaGo Master</a:t>
            </a:r>
            <a:endParaRPr lang="en-US" altLang="zh-CN" b="1" dirty="0"/>
          </a:p>
          <a:p>
            <a:pPr algn="ctr"/>
            <a:r>
              <a:rPr lang="en-US" altLang="zh-CN" sz="1800" b="0" i="0" u="none" strike="noStrike" baseline="0" dirty="0">
                <a:latin typeface="Times New Roman" panose="02020603050405020304" pitchFamily="18" charset="0"/>
              </a:rPr>
              <a:t>AlphaGo vs AlphaGo: </a:t>
            </a:r>
            <a:r>
              <a:rPr lang="en-US" altLang="zh-CN" sz="1800" b="1" i="1" u="none" strike="noStrike" baseline="0" dirty="0">
                <a:latin typeface="Times New Roman" panose="02020603050405020304" pitchFamily="18" charset="0"/>
              </a:rPr>
              <a:t>self-play games </a:t>
            </a:r>
            <a:endParaRPr lang="zh-CN" altLang="en-US" b="1"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2699792" y="2640066"/>
            <a:ext cx="3971925" cy="352425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31640" y="2708920"/>
            <a:ext cx="6264696" cy="353368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title"/>
          </p:nvPr>
        </p:nvSpPr>
        <p:spPr/>
        <p:txBody>
          <a:bodyPr>
            <a:normAutofit/>
          </a:bodyPr>
          <a:lstStyle/>
          <a:p>
            <a:r>
              <a:rPr lang="zh-CN" altLang="en-US" sz="4300" spc="-100" dirty="0">
                <a:solidFill>
                  <a:srgbClr val="D2533C"/>
                </a:solidFill>
                <a:latin typeface="Arial" panose="020B0604020202020204"/>
                <a:ea typeface="华文新魏" panose="02010800040101010101" pitchFamily="2" charset="-122"/>
              </a:rPr>
              <a:t>人工智能应用：人机博弈</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b="1" dirty="0"/>
              <a:t>第三代</a:t>
            </a:r>
            <a:r>
              <a:rPr lang="en-US" altLang="zh-CN" b="1" dirty="0"/>
              <a:t>AlphaGo</a:t>
            </a:r>
            <a:r>
              <a:rPr lang="zh-CN" altLang="en-US" b="1" dirty="0"/>
              <a:t>： </a:t>
            </a:r>
            <a:r>
              <a:rPr lang="en-US" altLang="zh-CN" b="1" dirty="0"/>
              <a:t>AlphaGo Zero</a:t>
            </a:r>
            <a:endParaRPr lang="en-US" altLang="zh-CN" b="1" dirty="0"/>
          </a:p>
          <a:p>
            <a:pPr algn="ctr"/>
            <a:r>
              <a:rPr lang="en-US" altLang="zh-CN" b="0" i="1" u="none" strike="noStrike" baseline="0" dirty="0" err="1">
                <a:latin typeface="Times New Roman" panose="02020603050405020304" pitchFamily="18" charset="0"/>
              </a:rPr>
              <a:t>ALphaGo</a:t>
            </a:r>
            <a:r>
              <a:rPr lang="en-US" altLang="zh-CN" b="0" i="1" u="none" strike="noStrike" baseline="0" dirty="0">
                <a:latin typeface="Times New Roman" panose="02020603050405020304" pitchFamily="18" charset="0"/>
              </a:rPr>
              <a:t> Zero: starting tabula rasa (</a:t>
            </a:r>
            <a:r>
              <a:rPr lang="zh-CN" altLang="en-US" b="0" i="1" u="none" strike="noStrike" baseline="0" dirty="0">
                <a:latin typeface="Times New Roman" panose="02020603050405020304" pitchFamily="18" charset="0"/>
              </a:rPr>
              <a:t>一张白纸绘蓝图</a:t>
            </a:r>
            <a:r>
              <a:rPr lang="en-US" altLang="zh-CN" b="0" i="1" u="none" strike="noStrike" baseline="0" dirty="0">
                <a:latin typeface="Times New Roman" panose="02020603050405020304" pitchFamily="18" charset="0"/>
              </a:rPr>
              <a:t>)</a:t>
            </a:r>
            <a:endParaRPr lang="en-US" altLang="zh-CN" b="0" i="1" u="none" strike="noStrike" baseline="0" dirty="0">
              <a:latin typeface="Times New Roman" panose="02020603050405020304" pitchFamily="18" charset="0"/>
            </a:endParaRPr>
          </a:p>
          <a:p>
            <a:pPr algn="ctr"/>
            <a:r>
              <a:rPr lang="zh-CN" altLang="en-US" b="1" dirty="0">
                <a:latin typeface="Times New Roman" panose="02020603050405020304" pitchFamily="18" charset="0"/>
              </a:rPr>
              <a:t>自对弈强化学习，完全从随机落子开始，不用人类棋谱（</a:t>
            </a:r>
            <a:r>
              <a:rPr lang="en-US" altLang="zh-CN" b="1" dirty="0">
                <a:latin typeface="Times New Roman" panose="02020603050405020304" pitchFamily="18" charset="0"/>
              </a:rPr>
              <a:t>40</a:t>
            </a:r>
            <a:r>
              <a:rPr lang="zh-CN" altLang="en-US" b="1" dirty="0">
                <a:latin typeface="Times New Roman" panose="02020603050405020304" pitchFamily="18" charset="0"/>
              </a:rPr>
              <a:t>天走完了人类</a:t>
            </a:r>
            <a:r>
              <a:rPr lang="en-US" altLang="zh-CN" b="1" dirty="0">
                <a:latin typeface="Times New Roman" panose="02020603050405020304" pitchFamily="18" charset="0"/>
              </a:rPr>
              <a:t>4000</a:t>
            </a:r>
            <a:r>
              <a:rPr lang="zh-CN" altLang="en-US" b="1" dirty="0">
                <a:latin typeface="Times New Roman" panose="02020603050405020304" pitchFamily="18" charset="0"/>
              </a:rPr>
              <a:t>年时间）</a:t>
            </a:r>
            <a:endParaRPr lang="zh-CN" altLang="en-US" b="1"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4300" spc="-100" dirty="0">
                <a:solidFill>
                  <a:srgbClr val="D2533C"/>
                </a:solidFill>
                <a:latin typeface="Arial" panose="020B0604020202020204"/>
                <a:ea typeface="华文新魏" panose="02010800040101010101" pitchFamily="2" charset="-122"/>
              </a:rPr>
              <a:t>人工智能应用：大学课程助教</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sz="1800" b="0" i="0" u="none" strike="noStrike" baseline="0" dirty="0">
                <a:latin typeface="黑体" panose="02010609060101010101" pitchFamily="2" charset="-122"/>
                <a:ea typeface="黑体" panose="02010609060101010101" pitchFamily="2" charset="-122"/>
              </a:rPr>
              <a:t>美国佐治亚理工大学的人工智能助教：</a:t>
            </a:r>
            <a:r>
              <a:rPr lang="en-US" altLang="zh-CN" sz="1800" b="0" i="0" u="none" strike="noStrike" baseline="0" dirty="0">
                <a:latin typeface="Times New Roman" panose="02020603050405020304" pitchFamily="18" charset="0"/>
                <a:ea typeface="黑体" panose="02010609060101010101" pitchFamily="2" charset="-122"/>
              </a:rPr>
              <a:t>Jill Watson</a:t>
            </a:r>
            <a:r>
              <a:rPr lang="zh-CN" altLang="en-US" sz="1800" b="0" i="0" u="none" strike="noStrike" baseline="0" dirty="0">
                <a:latin typeface="黑体" panose="02010609060101010101" pitchFamily="2" charset="-122"/>
                <a:ea typeface="黑体" panose="02010609060101010101" pitchFamily="2" charset="-122"/>
              </a:rPr>
              <a:t>于</a:t>
            </a:r>
            <a:r>
              <a:rPr lang="en-US" altLang="zh-CN" sz="1800" b="0" i="0" u="none" strike="noStrike" baseline="0" dirty="0">
                <a:latin typeface="Times New Roman" panose="02020603050405020304" pitchFamily="18" charset="0"/>
                <a:ea typeface="黑体" panose="02010609060101010101" pitchFamily="2" charset="-122"/>
              </a:rPr>
              <a:t>2016</a:t>
            </a:r>
            <a:r>
              <a:rPr lang="zh-CN" altLang="en-US" sz="1800" b="0" i="0" u="none" strike="noStrike" baseline="0" dirty="0">
                <a:latin typeface="黑体" panose="02010609060101010101" pitchFamily="2" charset="-122"/>
                <a:ea typeface="黑体" panose="02010609060101010101" pitchFamily="2" charset="-122"/>
              </a:rPr>
              <a:t>年春季上岗，三个月下来，未被学生发现，被推荐为优秀助教 </a:t>
            </a:r>
            <a:endParaRPr lang="zh-CN" altLang="en-US" sz="1800" b="0" i="0" u="none" strike="noStrike" baseline="0" dirty="0">
              <a:latin typeface="黑体" panose="02010609060101010101" pitchFamily="2" charset="-122"/>
              <a:ea typeface="黑体" panose="0201060906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6496" y="2508873"/>
            <a:ext cx="9144000" cy="262063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42432" y="297323"/>
            <a:ext cx="8501568" cy="892239"/>
          </a:xfrm>
        </p:spPr>
        <p:txBody>
          <a:bodyPr>
            <a:normAutofit/>
          </a:bodyPr>
          <a:lstStyle/>
          <a:p>
            <a:r>
              <a:rPr lang="zh-CN" altLang="en-US" sz="4800" spc="-100" dirty="0">
                <a:solidFill>
                  <a:srgbClr val="D2533C"/>
                </a:solidFill>
                <a:latin typeface="Arial" panose="020B0604020202020204"/>
                <a:ea typeface="华文新魏" panose="02010800040101010101" pitchFamily="2" charset="-122"/>
              </a:rPr>
              <a:t>人工智能：聊天、作诗、绘画</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8889" y="1628800"/>
            <a:ext cx="3219450" cy="4095750"/>
          </a:xfrm>
          <a:prstGeom prst="rect">
            <a:avLst/>
          </a:prstGeom>
        </p:spPr>
      </p:pic>
      <p:pic>
        <p:nvPicPr>
          <p:cNvPr id="10" name="图片 9"/>
          <p:cNvPicPr>
            <a:picLocks noChangeAspect="1"/>
          </p:cNvPicPr>
          <p:nvPr/>
        </p:nvPicPr>
        <p:blipFill>
          <a:blip r:embed="rId2"/>
          <a:stretch>
            <a:fillRect/>
          </a:stretch>
        </p:blipFill>
        <p:spPr>
          <a:xfrm>
            <a:off x="5172236" y="1152549"/>
            <a:ext cx="3952875" cy="5048250"/>
          </a:xfrm>
          <a:prstGeom prst="rect">
            <a:avLst/>
          </a:prstGeom>
        </p:spPr>
      </p:pic>
      <p:pic>
        <p:nvPicPr>
          <p:cNvPr id="8" name="图片 7"/>
          <p:cNvPicPr>
            <a:picLocks noChangeAspect="1"/>
          </p:cNvPicPr>
          <p:nvPr/>
        </p:nvPicPr>
        <p:blipFill>
          <a:blip r:embed="rId3"/>
          <a:stretch>
            <a:fillRect/>
          </a:stretch>
        </p:blipFill>
        <p:spPr>
          <a:xfrm>
            <a:off x="3241620" y="1938361"/>
            <a:ext cx="3238500" cy="347662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z="4800" spc="-100" dirty="0">
                <a:solidFill>
                  <a:srgbClr val="D2533C"/>
                </a:solidFill>
                <a:latin typeface="Arial" panose="020B0604020202020204"/>
                <a:ea typeface="华文新魏" panose="02010800040101010101" pitchFamily="2" charset="-122"/>
              </a:rPr>
              <a:t>人工智能：电子商务智能助理</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0" y="1191252"/>
            <a:ext cx="4686300" cy="4819650"/>
          </a:xfrm>
          <a:prstGeom prst="rect">
            <a:avLst/>
          </a:prstGeom>
        </p:spPr>
      </p:pic>
      <p:pic>
        <p:nvPicPr>
          <p:cNvPr id="8" name="图片 7"/>
          <p:cNvPicPr>
            <a:picLocks noChangeAspect="1"/>
          </p:cNvPicPr>
          <p:nvPr/>
        </p:nvPicPr>
        <p:blipFill rotWithShape="1">
          <a:blip r:embed="rId2"/>
          <a:srcRect l="19706" r="6764"/>
          <a:stretch>
            <a:fillRect/>
          </a:stretch>
        </p:blipFill>
        <p:spPr>
          <a:xfrm>
            <a:off x="4860032" y="1988840"/>
            <a:ext cx="4062165" cy="393382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7781488" cy="892239"/>
          </a:xfrm>
        </p:spPr>
        <p:txBody>
          <a:bodyPr>
            <a:normAutofit fontScale="90000"/>
          </a:bodyPr>
          <a:lstStyle/>
          <a:p>
            <a:r>
              <a:rPr lang="zh-CN" altLang="en-US" sz="4800" spc="-100" dirty="0">
                <a:solidFill>
                  <a:srgbClr val="D2533C"/>
                </a:solidFill>
                <a:latin typeface="Arial" panose="020B0604020202020204"/>
                <a:ea typeface="华文新魏" panose="02010800040101010101" pitchFamily="2" charset="-122"/>
              </a:rPr>
              <a:t>人工智能：与人类生活息息相关</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797380" y="1425537"/>
            <a:ext cx="5832648" cy="450280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9552" y="297323"/>
            <a:ext cx="8321040" cy="892239"/>
          </a:xfrm>
        </p:spPr>
        <p:txBody>
          <a:bodyPr>
            <a:normAutofit fontScale="90000"/>
          </a:bodyPr>
          <a:lstStyle/>
          <a:p>
            <a:r>
              <a:rPr lang="zh-CN" altLang="en-US" sz="4800" spc="-100" dirty="0">
                <a:solidFill>
                  <a:srgbClr val="D2533C"/>
                </a:solidFill>
                <a:latin typeface="Arial" panose="020B0604020202020204"/>
                <a:ea typeface="华文新魏" panose="02010800040101010101" pitchFamily="2" charset="-122"/>
              </a:rPr>
              <a:t>人工智能：智能驾驶时代逐渐开启</a:t>
            </a:r>
            <a:endParaRPr lang="zh-CN" altLang="en-US" dirty="0"/>
          </a:p>
        </p:txBody>
      </p:sp>
      <p:sp>
        <p:nvSpPr>
          <p:cNvPr id="3" name="内容占位符 2"/>
          <p:cNvSpPr>
            <a:spLocks noGrp="1"/>
          </p:cNvSpPr>
          <p:nvPr>
            <p:ph idx="1"/>
          </p:nvPr>
        </p:nvSpPr>
        <p:spPr>
          <a:xfrm>
            <a:off x="865187" y="5607709"/>
            <a:ext cx="7543801" cy="567886"/>
          </a:xfrm>
        </p:spPr>
        <p:txBody>
          <a:bodyPr/>
          <a:lstStyle/>
          <a:p>
            <a:pPr algn="ctr"/>
            <a:r>
              <a:rPr lang="zh-CN" altLang="en-US" sz="1800" b="0" i="0" u="none" strike="noStrike" baseline="0" dirty="0">
                <a:latin typeface="黑体" panose="02010609060101010101" pitchFamily="2" charset="-122"/>
                <a:ea typeface="黑体" panose="02010609060101010101" pitchFamily="2" charset="-122"/>
              </a:rPr>
              <a:t>国际自动化工程师协会自动驾驶分级</a:t>
            </a:r>
            <a:endParaRPr lang="en-US" altLang="zh-CN" sz="1800" b="0" i="0" u="none" strike="noStrike" baseline="0" dirty="0">
              <a:latin typeface="黑体" panose="02010609060101010101" pitchFamily="2" charset="-122"/>
              <a:ea typeface="黑体" panose="02010609060101010101" pitchFamily="2" charset="-122"/>
            </a:endParaRPr>
          </a:p>
          <a:p>
            <a:pPr algn="ctr"/>
            <a:r>
              <a:rPr lang="zh-CN" altLang="en-US" sz="1800" b="0" i="0" u="none" strike="noStrike" baseline="0" dirty="0">
                <a:latin typeface="黑体" panose="02010609060101010101" pitchFamily="2" charset="-122"/>
                <a:ea typeface="黑体" panose="02010609060101010101" pitchFamily="2" charset="-122"/>
              </a:rPr>
              <a:t>（从左到右，驾驶员对车辆的控制程度越来越少） </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9107" y="1053652"/>
            <a:ext cx="7205786" cy="45540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5" name="标题 1"/>
          <p:cNvSpPr>
            <a:spLocks noGrp="1"/>
          </p:cNvSpPr>
          <p:nvPr>
            <p:ph type="title"/>
          </p:nvPr>
        </p:nvSpPr>
        <p:spPr>
          <a:xfrm>
            <a:off x="539552" y="363426"/>
            <a:ext cx="7543800" cy="892175"/>
          </a:xfrm>
        </p:spPr>
        <p:txBody>
          <a:bodyPr>
            <a:normAutofit/>
          </a:bodyPr>
          <a:lstStyle/>
          <a:p>
            <a:pPr eaLnBrk="1" fontAlgn="auto" hangingPunct="1">
              <a:lnSpc>
                <a:spcPct val="100000"/>
              </a:lnSpc>
              <a:spcAft>
                <a:spcPts val="0"/>
              </a:spcAft>
            </a:pPr>
            <a:r>
              <a:rPr lang="zh-CN" altLang="en-US" spc="-100" dirty="0">
                <a:solidFill>
                  <a:srgbClr val="D2533C"/>
                </a:solidFill>
                <a:latin typeface="Arial" panose="020B0604020202020204"/>
                <a:ea typeface="华文新魏" panose="02010800040101010101" pitchFamily="2" charset="-122"/>
              </a:rPr>
              <a:t>内容大纲</a:t>
            </a:r>
            <a:endParaRPr lang="zh-CN" altLang="en-US" spc="-100" dirty="0">
              <a:solidFill>
                <a:srgbClr val="D2533C"/>
              </a:solidFill>
              <a:latin typeface="Arial" panose="020B0604020202020204"/>
              <a:ea typeface="华文新魏" panose="02010800040101010101" pitchFamily="2" charset="-122"/>
            </a:endParaRPr>
          </a:p>
        </p:txBody>
      </p:sp>
      <p:sp>
        <p:nvSpPr>
          <p:cNvPr id="7" name="Rectangle 3"/>
          <p:cNvSpPr txBox="1">
            <a:spLocks noChangeArrowheads="1"/>
          </p:cNvSpPr>
          <p:nvPr/>
        </p:nvSpPr>
        <p:spPr bwMode="auto">
          <a:xfrm>
            <a:off x="395536" y="1484784"/>
            <a:ext cx="7416824" cy="406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marL="342900" indent="-342900" algn="l" rtl="0" fontAlgn="ctr">
              <a:spcBef>
                <a:spcPct val="20000"/>
              </a:spcBef>
              <a:spcAft>
                <a:spcPct val="0"/>
              </a:spcAft>
              <a:buClr>
                <a:srgbClr val="E46B1F"/>
              </a:buClr>
              <a:buSzPct val="80000"/>
              <a:buFont typeface="Wingdings" panose="05000000000000000000" pitchFamily="2" charset="2"/>
              <a:buChar char="n"/>
              <a:defRPr sz="2800" b="1" kern="1200">
                <a:solidFill>
                  <a:srgbClr val="000080"/>
                </a:solidFill>
                <a:latin typeface="+mn-lt"/>
                <a:ea typeface="+mn-ea"/>
                <a:cs typeface="+mn-cs"/>
              </a:defRPr>
            </a:lvl1pPr>
            <a:lvl2pPr marL="742950" indent="-285750" algn="l" rtl="0" fontAlgn="ctr">
              <a:spcBef>
                <a:spcPct val="20000"/>
              </a:spcBef>
              <a:spcAft>
                <a:spcPct val="0"/>
              </a:spcAft>
              <a:buClr>
                <a:srgbClr val="E46B1F"/>
              </a:buClr>
              <a:buSzPct val="80000"/>
              <a:buFont typeface="Arial" panose="020B0604020202020204" pitchFamily="34" charset="0"/>
              <a:buChar char="—"/>
              <a:defRPr sz="2400" b="1" kern="1200">
                <a:solidFill>
                  <a:srgbClr val="000080"/>
                </a:solidFill>
                <a:latin typeface="+mn-lt"/>
                <a:ea typeface="+mn-ea"/>
                <a:cs typeface="+mn-cs"/>
              </a:defRPr>
            </a:lvl2pPr>
            <a:lvl3pPr marL="1143000" indent="-228600" algn="l" rtl="0" fontAlgn="ctr">
              <a:spcBef>
                <a:spcPct val="20000"/>
              </a:spcBef>
              <a:spcAft>
                <a:spcPct val="0"/>
              </a:spcAft>
              <a:buClr>
                <a:srgbClr val="E46B1F"/>
              </a:buClr>
              <a:buSzPct val="80000"/>
              <a:buFont typeface="Wingdings" panose="05000000000000000000" pitchFamily="2" charset="2"/>
              <a:buChar char="u"/>
              <a:defRPr sz="2000" b="1" kern="1200">
                <a:solidFill>
                  <a:srgbClr val="000080"/>
                </a:solidFill>
                <a:latin typeface="+mn-lt"/>
                <a:ea typeface="+mn-ea"/>
                <a:cs typeface="+mn-cs"/>
              </a:defRPr>
            </a:lvl3pPr>
            <a:lvl4pPr marL="1600200" indent="-228600" algn="l" rtl="0" fontAlgn="base">
              <a:spcBef>
                <a:spcPct val="20000"/>
              </a:spcBef>
              <a:spcAft>
                <a:spcPct val="0"/>
              </a:spcAft>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i="0" u="none" strike="noStrike" kern="1200" cap="none" spc="0" normalizeH="0" baseline="0" noProof="0" dirty="0">
                <a:ln>
                  <a:noFill/>
                </a:ln>
                <a:effectLst/>
                <a:uLnTx/>
                <a:uFillTx/>
                <a:latin typeface="Arial" panose="020B0604020202020204"/>
                <a:ea typeface="宋体" panose="02010600030101010101" pitchFamily="2" charset="-122"/>
              </a:rPr>
              <a:t>人工智能</a:t>
            </a:r>
            <a:r>
              <a:rPr kumimoji="0" lang="zh-CN" altLang="en-US" dirty="0">
                <a:latin typeface="Arial" panose="020B0604020202020204"/>
                <a:ea typeface="宋体" panose="02010600030101010101" pitchFamily="2" charset="-122"/>
              </a:rPr>
              <a:t>的概念</a:t>
            </a:r>
            <a:endParaRPr kumimoji="0" lang="en-US" altLang="zh-CN" i="0" u="none" strike="noStrike" kern="1200" cap="none" spc="0" normalizeH="0" baseline="0" noProof="0" dirty="0">
              <a:ln>
                <a:noFill/>
              </a:ln>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latin typeface="Arial" panose="020B0604020202020204"/>
                <a:ea typeface="宋体" panose="02010600030101010101" pitchFamily="2" charset="-122"/>
              </a:rPr>
              <a:t>人工智能的发展简史</a:t>
            </a:r>
            <a:endParaRPr kumimoji="0" lang="en-US" altLang="zh-CN" dirty="0">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rPr>
              <a:t>人工智能基本</a:t>
            </a:r>
            <a:r>
              <a:rPr kumimoji="0" lang="zh-CN" altLang="en-US" dirty="0">
                <a:latin typeface="Arial" panose="020B0604020202020204"/>
                <a:ea typeface="宋体" panose="02010600030101010101" pitchFamily="2" charset="-122"/>
              </a:rPr>
              <a:t>研究</a:t>
            </a:r>
            <a:r>
              <a:rPr kumimoji="0" lang="zh-CN" altLang="en-US"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rPr>
              <a:t>内容</a:t>
            </a: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r>
              <a:rPr kumimoji="0" lang="zh-CN" altLang="en-US" dirty="0">
                <a:solidFill>
                  <a:srgbClr val="C00000"/>
                </a:solidFill>
                <a:latin typeface="Arial" panose="020B0604020202020204"/>
                <a:ea typeface="宋体" panose="02010600030101010101" pitchFamily="2" charset="-122"/>
              </a:rPr>
              <a:t>人工智能的发展</a:t>
            </a:r>
            <a:endParaRPr kumimoji="0" lang="en-US" altLang="zh-CN" i="0" u="none" strike="noStrike" kern="1200" cap="none" spc="0" normalizeH="0" baseline="0" noProof="0" dirty="0">
              <a:ln>
                <a:noFill/>
              </a:ln>
              <a:solidFill>
                <a:srgbClr val="C00000"/>
              </a:solidFill>
              <a:effectLst/>
              <a:uLnTx/>
              <a:uFillTx/>
              <a:latin typeface="Arial" panose="020B0604020202020204"/>
              <a:ea typeface="宋体" panose="02010600030101010101" pitchFamily="2" charset="-122"/>
            </a:endParaRPr>
          </a:p>
          <a:p>
            <a:pPr marL="342900" marR="0" lvl="0" indent="-342900" algn="l" defTabSz="914400" rtl="0" eaLnBrk="1" fontAlgn="ctr" latinLnBrk="0" hangingPunct="1">
              <a:lnSpc>
                <a:spcPct val="90000"/>
              </a:lnSpc>
              <a:spcBef>
                <a:spcPct val="40000"/>
              </a:spcBef>
              <a:spcAft>
                <a:spcPct val="0"/>
              </a:spcAft>
              <a:buClr>
                <a:srgbClr val="E46B1F"/>
              </a:buClr>
              <a:buSzPct val="80000"/>
              <a:buFont typeface="Wingdings" panose="05000000000000000000" pitchFamily="2" charset="2"/>
              <a:buChar char="n"/>
              <a:defRPr/>
            </a:pPr>
            <a:endParaRPr kumimoji="0" lang="en-US" altLang="zh-CN" i="0" u="none" strike="noStrike" kern="1200" cap="none" spc="0" normalizeH="0" baseline="0" noProof="0" dirty="0">
              <a:ln>
                <a:noFill/>
              </a:ln>
              <a:solidFill>
                <a:srgbClr val="000080"/>
              </a:solidFill>
              <a:effectLst/>
              <a:uLnTx/>
              <a:uFillTx/>
              <a:latin typeface="Arial" panose="020B0604020202020204"/>
              <a:ea typeface="宋体" panose="02010600030101010101"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300" spc="-100" dirty="0">
                <a:solidFill>
                  <a:srgbClr val="D2533C"/>
                </a:solidFill>
                <a:latin typeface="Arial" panose="020B0604020202020204"/>
                <a:ea typeface="华文新魏" panose="02010800040101010101" pitchFamily="2" charset="-122"/>
              </a:rPr>
              <a:t>人工智能的发展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pPr>
              <a:buFont typeface="Wingdings" panose="05000000000000000000" pitchFamily="2" charset="2"/>
              <a:buChar char="u"/>
            </a:pPr>
            <a:r>
              <a:rPr lang="en-US" altLang="zh-CN" sz="2800" dirty="0"/>
              <a:t> </a:t>
            </a:r>
            <a:r>
              <a:rPr lang="zh-CN" altLang="en-US" sz="2800" dirty="0">
                <a:solidFill>
                  <a:srgbClr val="C00000"/>
                </a:solidFill>
              </a:rPr>
              <a:t>记忆驱动的智能计算</a:t>
            </a:r>
            <a:endParaRPr lang="en-US" altLang="zh-CN" sz="2800" dirty="0">
              <a:solidFill>
                <a:srgbClr val="C00000"/>
              </a:solidFill>
            </a:endParaRPr>
          </a:p>
          <a:p>
            <a:pPr>
              <a:buFont typeface="Wingdings" panose="05000000000000000000" pitchFamily="2" charset="2"/>
              <a:buChar char="u"/>
            </a:pPr>
            <a:r>
              <a:rPr lang="zh-CN" altLang="en-US" sz="2800" dirty="0"/>
              <a:t> 可计算社会学</a:t>
            </a:r>
            <a:endParaRPr lang="en-US" altLang="zh-CN" sz="2800" dirty="0"/>
          </a:p>
          <a:p>
            <a:pPr>
              <a:buFont typeface="Wingdings" panose="05000000000000000000" pitchFamily="2" charset="2"/>
              <a:buChar char="u"/>
            </a:pPr>
            <a:r>
              <a:rPr lang="en-US" altLang="zh-CN" sz="2800" dirty="0"/>
              <a:t> </a:t>
            </a:r>
            <a:r>
              <a:rPr lang="zh-CN" altLang="en-US" sz="2800" dirty="0"/>
              <a:t>若干挑战</a:t>
            </a:r>
            <a:endParaRPr lang="zh-CN" altLang="en-US" sz="2800"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记忆是人类认知的基石 </a:t>
            </a:r>
            <a:endParaRPr lang="zh-CN" altLang="en-US" sz="43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251520" y="1902293"/>
            <a:ext cx="3851186" cy="3384376"/>
          </a:xfrm>
          <a:prstGeom prst="rect">
            <a:avLst/>
          </a:prstGeom>
        </p:spPr>
      </p:pic>
      <p:sp>
        <p:nvSpPr>
          <p:cNvPr id="8" name="文本框 7"/>
          <p:cNvSpPr txBox="1"/>
          <p:nvPr/>
        </p:nvSpPr>
        <p:spPr>
          <a:xfrm>
            <a:off x="768709" y="5704178"/>
            <a:ext cx="7586029" cy="584775"/>
          </a:xfrm>
          <a:prstGeom prst="rect">
            <a:avLst/>
          </a:prstGeom>
          <a:noFill/>
        </p:spPr>
        <p:txBody>
          <a:bodyPr wrap="square">
            <a:spAutoFit/>
          </a:bodyPr>
          <a:lstStyle/>
          <a:p>
            <a:r>
              <a:rPr lang="en-US" altLang="zh-CN" sz="1600" b="0" i="0" u="none" strike="noStrike" baseline="0" dirty="0">
                <a:latin typeface="Times New Roman" panose="02020603050405020304" pitchFamily="18" charset="0"/>
              </a:rPr>
              <a:t>Alan Baddeley, Working memory: looking back and looking forward, Nature Reviews Neuroscience 4, 829–839, 2003 </a:t>
            </a:r>
            <a:endParaRPr lang="zh-CN" altLang="en-US" sz="1600" dirty="0"/>
          </a:p>
        </p:txBody>
      </p:sp>
      <p:pic>
        <p:nvPicPr>
          <p:cNvPr id="10" name="图片 9"/>
          <p:cNvPicPr>
            <a:picLocks noChangeAspect="1"/>
          </p:cNvPicPr>
          <p:nvPr/>
        </p:nvPicPr>
        <p:blipFill>
          <a:blip r:embed="rId2"/>
          <a:stretch>
            <a:fillRect/>
          </a:stretch>
        </p:blipFill>
        <p:spPr>
          <a:xfrm>
            <a:off x="4355976" y="2365177"/>
            <a:ext cx="4188693" cy="262352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记忆是人类认知的基石 </a:t>
            </a:r>
            <a:endParaRPr lang="zh-CN" altLang="en-US" sz="43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8" name="文本框 7"/>
          <p:cNvSpPr txBox="1"/>
          <p:nvPr/>
        </p:nvSpPr>
        <p:spPr>
          <a:xfrm>
            <a:off x="768709" y="5704178"/>
            <a:ext cx="7586029" cy="338554"/>
          </a:xfrm>
          <a:prstGeom prst="rect">
            <a:avLst/>
          </a:prstGeom>
          <a:noFill/>
        </p:spPr>
        <p:txBody>
          <a:bodyPr wrap="square">
            <a:spAutoFit/>
          </a:bodyPr>
          <a:lstStyle/>
          <a:p>
            <a:r>
              <a:rPr lang="en-US" altLang="zh-CN" sz="1600" b="0" i="0" u="none" strike="noStrike" baseline="0" dirty="0">
                <a:latin typeface="Times New Roman" panose="02020603050405020304" pitchFamily="18" charset="0"/>
              </a:rPr>
              <a:t>Human-level control through deep reinforcement learning, Nature, 518:529–533, 2015</a:t>
            </a:r>
            <a:endParaRPr lang="zh-CN" altLang="en-US" sz="1600" dirty="0"/>
          </a:p>
        </p:txBody>
      </p:sp>
      <p:pic>
        <p:nvPicPr>
          <p:cNvPr id="5" name="图片 4"/>
          <p:cNvPicPr>
            <a:picLocks noChangeAspect="1"/>
          </p:cNvPicPr>
          <p:nvPr/>
        </p:nvPicPr>
        <p:blipFill>
          <a:blip r:embed="rId1"/>
          <a:stretch>
            <a:fillRect/>
          </a:stretch>
        </p:blipFill>
        <p:spPr>
          <a:xfrm>
            <a:off x="0" y="1693574"/>
            <a:ext cx="5664299" cy="3593798"/>
          </a:xfrm>
          <a:prstGeom prst="rect">
            <a:avLst/>
          </a:prstGeom>
        </p:spPr>
      </p:pic>
      <p:sp>
        <p:nvSpPr>
          <p:cNvPr id="11" name="文本框 10"/>
          <p:cNvSpPr txBox="1"/>
          <p:nvPr/>
        </p:nvSpPr>
        <p:spPr>
          <a:xfrm>
            <a:off x="5004048" y="2187974"/>
            <a:ext cx="3888432" cy="1631216"/>
          </a:xfrm>
          <a:prstGeom prst="rect">
            <a:avLst/>
          </a:prstGeom>
          <a:noFill/>
        </p:spPr>
        <p:txBody>
          <a:bodyPr wrap="square">
            <a:spAutoFit/>
          </a:bodyPr>
          <a:lstStyle/>
          <a:p>
            <a:pPr algn="l"/>
            <a:endParaRPr lang="zh-CN" altLang="en-US" sz="2000" b="0" i="0" u="none" strike="noStrike" baseline="0" dirty="0">
              <a:solidFill>
                <a:srgbClr val="000000"/>
              </a:solidFill>
              <a:latin typeface="Times New Roman" panose="02020603050405020304" pitchFamily="18" charset="0"/>
            </a:endParaRPr>
          </a:p>
          <a:p>
            <a:r>
              <a:rPr lang="en-US" altLang="zh-CN" sz="2000" b="0" i="0" u="none" strike="noStrike" baseline="0" dirty="0">
                <a:latin typeface="Times New Roman" panose="02020603050405020304" pitchFamily="18" charset="0"/>
              </a:rPr>
              <a:t>Your ability to remember something doesn’t just depend on the strength of the memory, it depends on the state that you’re in </a:t>
            </a:r>
            <a:endParaRPr lang="zh-CN" altLang="en-US" sz="2000" dirty="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仅有短期记忆的人生</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681255" y="1178843"/>
            <a:ext cx="7781489" cy="4384310"/>
          </a:xfrm>
        </p:spPr>
        <p:txBody>
          <a:bodyPr/>
          <a:lstStyle/>
          <a:p>
            <a:r>
              <a:rPr lang="zh-CN" altLang="en-US" sz="2400" b="0" i="0" u="none" strike="noStrike" baseline="0" dirty="0">
                <a:latin typeface="黑体" panose="02010609060101010101" pitchFamily="2" charset="-122"/>
                <a:ea typeface="黑体" panose="02010609060101010101" pitchFamily="2" charset="-122"/>
              </a:rPr>
              <a:t>英国指挥家</a:t>
            </a:r>
            <a:r>
              <a:rPr lang="en-GB" altLang="zh-CN" sz="2400" b="0" i="0" u="none" strike="noStrike" baseline="0" dirty="0">
                <a:latin typeface="Times New Roman" panose="02020603050405020304" pitchFamily="18" charset="0"/>
                <a:ea typeface="黑体" panose="02010609060101010101" pitchFamily="2" charset="-122"/>
              </a:rPr>
              <a:t>Clive Wearing</a:t>
            </a:r>
            <a:r>
              <a:rPr lang="zh-CN" altLang="en-GB" sz="2400" b="0" i="0" u="none" strike="noStrike" baseline="0" dirty="0">
                <a:latin typeface="黑体" panose="02010609060101010101" pitchFamily="2" charset="-122"/>
                <a:ea typeface="黑体" panose="02010609060101010101" pitchFamily="2" charset="-122"/>
              </a:rPr>
              <a:t>： </a:t>
            </a:r>
            <a:endParaRPr lang="zh-CN" altLang="en-GB" sz="2400" b="0" i="0" u="none" strike="noStrike" baseline="0" dirty="0">
              <a:latin typeface="黑体" panose="02010609060101010101" pitchFamily="2" charset="-122"/>
              <a:ea typeface="黑体" panose="02010609060101010101" pitchFamily="2" charset="-122"/>
            </a:endParaRPr>
          </a:p>
          <a:p>
            <a:r>
              <a:rPr lang="zh-CN" altLang="en-US" sz="2400" b="0" i="0" u="none" strike="noStrike" baseline="0" dirty="0">
                <a:latin typeface="Wingdings" panose="05000000000000000000" pitchFamily="2" charset="2"/>
                <a:ea typeface="黑体" panose="02010609060101010101" pitchFamily="2" charset="-122"/>
              </a:rPr>
              <a:t></a:t>
            </a:r>
            <a:r>
              <a:rPr lang="zh-CN" altLang="en-US" sz="2400" b="0" i="0" u="none" strike="noStrike" baseline="0" dirty="0">
                <a:latin typeface="黑体" panose="02010609060101010101" pitchFamily="2" charset="-122"/>
                <a:ea typeface="黑体" panose="02010609060101010101" pitchFamily="2" charset="-122"/>
              </a:rPr>
              <a:t>因单纯疱疹病毒侵蚀大脑海马体而患上顺行性遗忘症</a:t>
            </a:r>
            <a:endParaRPr lang="zh-CN" altLang="en-US" sz="2400" b="0" i="0" u="none" strike="noStrike" baseline="0" dirty="0">
              <a:latin typeface="黑体" panose="02010609060101010101" pitchFamily="2" charset="-122"/>
              <a:ea typeface="黑体" panose="02010609060101010101" pitchFamily="2" charset="-122"/>
            </a:endParaRPr>
          </a:p>
          <a:p>
            <a:r>
              <a:rPr lang="zh-CN" altLang="en-US" sz="2400" b="0" i="0" u="none" strike="noStrike" baseline="0" dirty="0">
                <a:latin typeface="Wingdings" panose="05000000000000000000" pitchFamily="2" charset="2"/>
                <a:ea typeface="黑体" panose="02010609060101010101" pitchFamily="2" charset="-122"/>
              </a:rPr>
              <a:t></a:t>
            </a:r>
            <a:r>
              <a:rPr lang="zh-CN" altLang="en-US" sz="2400" b="0" i="0" u="none" strike="noStrike" baseline="0" dirty="0">
                <a:latin typeface="黑体" panose="02010609060101010101" pitchFamily="2" charset="-122"/>
                <a:ea typeface="黑体" panose="02010609060101010101" pitchFamily="2" charset="-122"/>
              </a:rPr>
              <a:t>海马体是将短期记忆传递成长期记忆的重要器官 </a:t>
            </a:r>
            <a:endParaRPr lang="zh-CN" altLang="en-US" sz="2400" b="0" i="0" u="none" strike="noStrike" baseline="0" dirty="0">
              <a:latin typeface="黑体" panose="02010609060101010101" pitchFamily="2" charset="-122"/>
              <a:ea typeface="黑体" panose="02010609060101010101" pitchFamily="2" charset="-122"/>
            </a:endParaRPr>
          </a:p>
          <a:p>
            <a:endParaRPr lang="zh-CN" altLang="en-US" sz="2400"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115616" y="2996953"/>
            <a:ext cx="2228850" cy="2076450"/>
          </a:xfrm>
          <a:prstGeom prst="rect">
            <a:avLst/>
          </a:prstGeom>
        </p:spPr>
      </p:pic>
      <p:pic>
        <p:nvPicPr>
          <p:cNvPr id="8" name="图片 7"/>
          <p:cNvPicPr>
            <a:picLocks noChangeAspect="1"/>
          </p:cNvPicPr>
          <p:nvPr/>
        </p:nvPicPr>
        <p:blipFill>
          <a:blip r:embed="rId2"/>
          <a:stretch>
            <a:fillRect/>
          </a:stretch>
        </p:blipFill>
        <p:spPr>
          <a:xfrm>
            <a:off x="4192588" y="2996952"/>
            <a:ext cx="3885918" cy="2067189"/>
          </a:xfrm>
          <a:prstGeom prst="rect">
            <a:avLst/>
          </a:prstGeom>
        </p:spPr>
      </p:pic>
      <p:sp>
        <p:nvSpPr>
          <p:cNvPr id="10" name="文本框 9"/>
          <p:cNvSpPr txBox="1"/>
          <p:nvPr/>
        </p:nvSpPr>
        <p:spPr>
          <a:xfrm>
            <a:off x="899591" y="5176764"/>
            <a:ext cx="7781489" cy="1107996"/>
          </a:xfrm>
          <a:prstGeom prst="rect">
            <a:avLst/>
          </a:prstGeom>
          <a:noFill/>
        </p:spPr>
        <p:txBody>
          <a:bodyPr wrap="square">
            <a:spAutoFit/>
          </a:bodyPr>
          <a:lstStyle/>
          <a:p>
            <a:pPr algn="l"/>
            <a:endParaRPr lang="zh-CN" altLang="en-US" sz="1800" b="0" i="0" u="none" strike="noStrike" baseline="0" dirty="0">
              <a:solidFill>
                <a:srgbClr val="000000"/>
              </a:solidFill>
              <a:latin typeface="黑体" panose="02010609060101010101" pitchFamily="2" charset="-122"/>
              <a:ea typeface="黑体" panose="02010609060101010101" pitchFamily="2" charset="-122"/>
            </a:endParaRPr>
          </a:p>
          <a:p>
            <a:r>
              <a:rPr lang="zh-CN" altLang="en-US" sz="2400" b="0" i="0" u="none" strike="noStrike" baseline="0" dirty="0">
                <a:latin typeface="黑体" panose="02010609060101010101" pitchFamily="2" charset="-122"/>
                <a:ea typeface="黑体" panose="02010609060101010101" pitchFamily="2" charset="-122"/>
              </a:rPr>
              <a:t>他的记忆，和金鱼一样，只要“七秒”就会消失。他的生命是一段又一段的空白，没有过去，没有未来。 </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7853496" cy="892239"/>
          </a:xfrm>
        </p:spPr>
        <p:txBody>
          <a:bodyPr>
            <a:normAutofit fontScale="90000"/>
          </a:bodyPr>
          <a:lstStyle/>
          <a:p>
            <a:r>
              <a:rPr lang="zh-CN" altLang="en-US" spc="-100" dirty="0">
                <a:solidFill>
                  <a:srgbClr val="D2533C"/>
                </a:solidFill>
                <a:latin typeface="Arial" panose="020B0604020202020204"/>
                <a:ea typeface="华文新魏" panose="02010800040101010101" pitchFamily="2" charset="-122"/>
              </a:rPr>
              <a:t>神经科学作为新算法的灵感来源</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865187" y="5679157"/>
            <a:ext cx="7543801" cy="535094"/>
          </a:xfrm>
        </p:spPr>
        <p:txBody>
          <a:bodyPr/>
          <a:lstStyle/>
          <a:p>
            <a:r>
              <a:rPr lang="en-GB" altLang="zh-CN" sz="1800" b="0" i="0" u="none" strike="noStrike" baseline="0" dirty="0">
                <a:latin typeface="Times New Roman" panose="02020603050405020304" pitchFamily="18" charset="0"/>
              </a:rPr>
              <a:t>Neuroscience-Inspired Artificial Intelligence, Neuron, Volume 95, Issue 2, p245–258, 19 July 2017 </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200025" y="1524000"/>
            <a:ext cx="8743950" cy="38100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模型中的记忆</a:t>
            </a:r>
            <a:r>
              <a:rPr lang="en-US" altLang="zh-CN" sz="4300" spc="-100" dirty="0">
                <a:solidFill>
                  <a:srgbClr val="D2533C"/>
                </a:solidFill>
                <a:latin typeface="Arial" panose="020B0604020202020204"/>
                <a:ea typeface="华文新魏" panose="02010800040101010101" pitchFamily="2" charset="-122"/>
              </a:rPr>
              <a:t>(</a:t>
            </a:r>
            <a:r>
              <a:rPr lang="en-GB" altLang="zh-CN" sz="4300" spc="-100" dirty="0">
                <a:solidFill>
                  <a:srgbClr val="D2533C"/>
                </a:solidFill>
                <a:latin typeface="Arial" panose="020B0604020202020204"/>
                <a:ea typeface="华文新魏" panose="02010800040101010101" pitchFamily="2" charset="-122"/>
              </a:rPr>
              <a:t>internal memory) </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611560" y="4365104"/>
            <a:ext cx="8208911" cy="1792022"/>
          </a:xfrm>
        </p:spPr>
        <p:txBody>
          <a:bodyPr/>
          <a:lstStyle/>
          <a:p>
            <a:r>
              <a:rPr lang="zh-CN" altLang="en-US" sz="1800" b="0" i="0" u="none" strike="noStrike" baseline="0" dirty="0">
                <a:latin typeface="Wingdings" panose="05000000000000000000" pitchFamily="2" charset="2"/>
              </a:rPr>
              <a:t></a:t>
            </a:r>
            <a:r>
              <a:rPr lang="zh-CN" altLang="en-US" sz="1800" b="0" i="0" u="none" strike="noStrike" baseline="0" dirty="0">
                <a:latin typeface="黑体" panose="02010609060101010101" pitchFamily="2" charset="-122"/>
                <a:ea typeface="黑体" panose="02010609060101010101" pitchFamily="2" charset="-122"/>
              </a:rPr>
              <a:t>神经网络中的赫布理论（</a:t>
            </a:r>
            <a:r>
              <a:rPr lang="en-US" altLang="zh-CN" sz="1800" b="0" i="0" u="none" strike="noStrike" baseline="0" dirty="0">
                <a:latin typeface="Times New Roman" panose="02020603050405020304" pitchFamily="18" charset="0"/>
                <a:ea typeface="黑体" panose="02010609060101010101" pitchFamily="2" charset="-122"/>
              </a:rPr>
              <a:t>Hebbian theory</a:t>
            </a:r>
            <a:r>
              <a:rPr lang="zh-CN" altLang="en-US" sz="1800" b="0" i="0" u="none" strike="noStrike" baseline="0" dirty="0">
                <a:latin typeface="黑体" panose="02010609060101010101" pitchFamily="2" charset="-122"/>
                <a:ea typeface="黑体" panose="02010609060101010101" pitchFamily="2" charset="-122"/>
              </a:rPr>
              <a:t>）：突触可塑性原理，即突触前神经元向突触后神经元的持续重复的刺激可以导致突触传递效能的增加 </a:t>
            </a:r>
            <a:endParaRPr lang="zh-CN" altLang="en-US" sz="1800" b="0" i="0" u="none" strike="noStrike" baseline="0" dirty="0">
              <a:latin typeface="黑体" panose="02010609060101010101" pitchFamily="2" charset="-122"/>
              <a:ea typeface="黑体" panose="02010609060101010101" pitchFamily="2" charset="-122"/>
            </a:endParaRPr>
          </a:p>
          <a:p>
            <a:r>
              <a:rPr lang="zh-CN" altLang="en-US" sz="1800" b="0" i="0" u="none" strike="noStrike" baseline="0" dirty="0">
                <a:latin typeface="Wingdings" panose="05000000000000000000" pitchFamily="2" charset="2"/>
                <a:ea typeface="黑体" panose="02010609060101010101" pitchFamily="2" charset="-122"/>
              </a:rPr>
              <a:t></a:t>
            </a:r>
            <a:r>
              <a:rPr lang="zh-CN" altLang="en-US" sz="1800" b="0" i="0" u="none" strike="noStrike" baseline="0" dirty="0">
                <a:latin typeface="黑体" panose="02010609060101010101" pitchFamily="2" charset="-122"/>
                <a:ea typeface="黑体" panose="02010609060101010101" pitchFamily="2" charset="-122"/>
              </a:rPr>
              <a:t>神经元间权值信息既执行计算任务、又承载记忆功能。 </a:t>
            </a:r>
            <a:endParaRPr lang="zh-CN" altLang="en-US" sz="1800" b="0" i="0" u="none" strike="noStrike" baseline="0" dirty="0">
              <a:latin typeface="黑体" panose="02010609060101010101" pitchFamily="2" charset="-122"/>
              <a:ea typeface="黑体" panose="02010609060101010101" pitchFamily="2" charset="-122"/>
            </a:endParaRPr>
          </a:p>
          <a:p>
            <a:r>
              <a:rPr lang="zh-CN" altLang="en-US" sz="1800" b="0" i="0" u="none" strike="noStrike" baseline="0" dirty="0">
                <a:latin typeface="Wingdings" panose="05000000000000000000" pitchFamily="2" charset="2"/>
                <a:ea typeface="黑体" panose="02010609060101010101" pitchFamily="2" charset="-122"/>
              </a:rPr>
              <a:t></a:t>
            </a:r>
            <a:r>
              <a:rPr lang="zh-CN" altLang="en-US" sz="1800" b="0" i="0" u="none" strike="noStrike" baseline="0" dirty="0">
                <a:latin typeface="黑体" panose="02010609060101010101" pitchFamily="2" charset="-122"/>
                <a:ea typeface="黑体" panose="02010609060101010101" pitchFamily="2" charset="-122"/>
              </a:rPr>
              <a:t>记忆被新知识覆盖导致多任务难以实行、模型泛化能力不强、结果解释性弱 </a:t>
            </a:r>
            <a:endParaRPr lang="zh-CN" altLang="en-US" sz="1800" b="0" i="0" u="none" strike="noStrike" baseline="0" dirty="0">
              <a:latin typeface="黑体" panose="02010609060101010101" pitchFamily="2" charset="-122"/>
              <a:ea typeface="黑体" panose="02010609060101010101" pitchFamily="2" charset="-122"/>
            </a:endParaRPr>
          </a:p>
          <a:p>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594484" y="1209341"/>
            <a:ext cx="6000750" cy="2609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br>
              <a:rPr lang="zh-CN" altLang="en-US" sz="43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从分段学习到“端到端”学习</a:t>
            </a:r>
            <a:endParaRPr lang="zh-CN" altLang="en-US" sz="4300" dirty="0"/>
          </a:p>
        </p:txBody>
      </p:sp>
      <p:sp>
        <p:nvSpPr>
          <p:cNvPr id="3" name="内容占位符 2"/>
          <p:cNvSpPr>
            <a:spLocks noGrp="1"/>
          </p:cNvSpPr>
          <p:nvPr>
            <p:ph idx="1"/>
          </p:nvPr>
        </p:nvSpPr>
        <p:spPr>
          <a:xfrm>
            <a:off x="641924" y="1189415"/>
            <a:ext cx="7543801" cy="4384310"/>
          </a:xfrm>
        </p:spPr>
        <p:txBody>
          <a:bodyPr/>
          <a:lstStyle/>
          <a:p>
            <a:r>
              <a:rPr lang="zh-CN" altLang="en-US" sz="2000" b="1" i="0" u="none" strike="noStrike" baseline="0" dirty="0">
                <a:latin typeface="微软雅黑" panose="020B0503020204020204" charset="-122"/>
                <a:ea typeface="微软雅黑" panose="020B0503020204020204" charset="-122"/>
              </a:rPr>
              <a:t>以自然语言翻译为例</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495836" y="1552611"/>
            <a:ext cx="8180620" cy="2452453"/>
          </a:xfrm>
          <a:prstGeom prst="rect">
            <a:avLst/>
          </a:prstGeom>
        </p:spPr>
      </p:pic>
      <p:pic>
        <p:nvPicPr>
          <p:cNvPr id="8" name="图片 7"/>
          <p:cNvPicPr>
            <a:picLocks noChangeAspect="1"/>
          </p:cNvPicPr>
          <p:nvPr/>
        </p:nvPicPr>
        <p:blipFill>
          <a:blip r:embed="rId2"/>
          <a:stretch>
            <a:fillRect/>
          </a:stretch>
        </p:blipFill>
        <p:spPr>
          <a:xfrm>
            <a:off x="36512" y="3991244"/>
            <a:ext cx="9144000" cy="209058"/>
          </a:xfrm>
          <a:prstGeom prst="rect">
            <a:avLst/>
          </a:prstGeom>
        </p:spPr>
      </p:pic>
      <p:pic>
        <p:nvPicPr>
          <p:cNvPr id="10" name="图片 9"/>
          <p:cNvPicPr>
            <a:picLocks noChangeAspect="1"/>
          </p:cNvPicPr>
          <p:nvPr/>
        </p:nvPicPr>
        <p:blipFill>
          <a:blip r:embed="rId3"/>
          <a:stretch>
            <a:fillRect/>
          </a:stretch>
        </p:blipFill>
        <p:spPr>
          <a:xfrm>
            <a:off x="822959" y="4210874"/>
            <a:ext cx="7181733" cy="196416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br>
              <a:rPr lang="zh-CN" altLang="en-US" sz="43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从分段学习到“端到端”学习</a:t>
            </a:r>
            <a:endParaRPr lang="zh-CN" altLang="en-US" sz="4300" dirty="0"/>
          </a:p>
        </p:txBody>
      </p:sp>
      <p:sp>
        <p:nvSpPr>
          <p:cNvPr id="3" name="内容占位符 2"/>
          <p:cNvSpPr>
            <a:spLocks noGrp="1"/>
          </p:cNvSpPr>
          <p:nvPr>
            <p:ph idx="1"/>
          </p:nvPr>
        </p:nvSpPr>
        <p:spPr>
          <a:xfrm>
            <a:off x="641924" y="1189415"/>
            <a:ext cx="7543801" cy="4384310"/>
          </a:xfrm>
        </p:spPr>
        <p:txBody>
          <a:bodyPr/>
          <a:lstStyle/>
          <a:p>
            <a:r>
              <a:rPr lang="zh-CN" altLang="en-US" sz="2000" b="1" i="0" u="none" strike="noStrike" baseline="0" dirty="0">
                <a:latin typeface="微软雅黑" panose="020B0503020204020204" charset="-122"/>
                <a:ea typeface="微软雅黑" panose="020B0503020204020204" charset="-122"/>
              </a:rPr>
              <a:t>以视觉分类和理解为例</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8" name="图片 7"/>
          <p:cNvPicPr>
            <a:picLocks noChangeAspect="1"/>
          </p:cNvPicPr>
          <p:nvPr/>
        </p:nvPicPr>
        <p:blipFill>
          <a:blip r:embed="rId1"/>
          <a:stretch>
            <a:fillRect/>
          </a:stretch>
        </p:blipFill>
        <p:spPr>
          <a:xfrm>
            <a:off x="36512" y="3991244"/>
            <a:ext cx="9144000" cy="209058"/>
          </a:xfrm>
          <a:prstGeom prst="rect">
            <a:avLst/>
          </a:prstGeom>
        </p:spPr>
      </p:pic>
      <p:pic>
        <p:nvPicPr>
          <p:cNvPr id="7" name="图片 6"/>
          <p:cNvPicPr>
            <a:picLocks noChangeAspect="1"/>
          </p:cNvPicPr>
          <p:nvPr/>
        </p:nvPicPr>
        <p:blipFill>
          <a:blip r:embed="rId2"/>
          <a:stretch>
            <a:fillRect/>
          </a:stretch>
        </p:blipFill>
        <p:spPr>
          <a:xfrm>
            <a:off x="2267744" y="1543050"/>
            <a:ext cx="4000500" cy="1885950"/>
          </a:xfrm>
          <a:prstGeom prst="rect">
            <a:avLst/>
          </a:prstGeom>
        </p:spPr>
      </p:pic>
      <p:pic>
        <p:nvPicPr>
          <p:cNvPr id="11" name="图片 10"/>
          <p:cNvPicPr>
            <a:picLocks noChangeAspect="1"/>
          </p:cNvPicPr>
          <p:nvPr/>
        </p:nvPicPr>
        <p:blipFill>
          <a:blip r:embed="rId3"/>
          <a:stretch>
            <a:fillRect/>
          </a:stretch>
        </p:blipFill>
        <p:spPr>
          <a:xfrm>
            <a:off x="476250" y="3514994"/>
            <a:ext cx="8191500" cy="476250"/>
          </a:xfrm>
          <a:prstGeom prst="rect">
            <a:avLst/>
          </a:prstGeom>
        </p:spPr>
      </p:pic>
      <p:pic>
        <p:nvPicPr>
          <p:cNvPr id="13" name="图片 12"/>
          <p:cNvPicPr>
            <a:picLocks noChangeAspect="1"/>
          </p:cNvPicPr>
          <p:nvPr/>
        </p:nvPicPr>
        <p:blipFill>
          <a:blip r:embed="rId4"/>
          <a:stretch>
            <a:fillRect/>
          </a:stretch>
        </p:blipFill>
        <p:spPr>
          <a:xfrm>
            <a:off x="128587" y="4210874"/>
            <a:ext cx="8886825" cy="19526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Autofit/>
          </a:bodyPr>
          <a:lstStyle/>
          <a:p>
            <a:br>
              <a:rPr lang="zh-CN" altLang="en-US" sz="43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从分段学习到“端到端”学习</a:t>
            </a:r>
            <a:endParaRPr lang="zh-CN" altLang="en-US" sz="4300"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9" name="图片 8"/>
          <p:cNvPicPr>
            <a:picLocks noChangeAspect="1"/>
          </p:cNvPicPr>
          <p:nvPr/>
        </p:nvPicPr>
        <p:blipFill>
          <a:blip r:embed="rId1"/>
          <a:stretch>
            <a:fillRect/>
          </a:stretch>
        </p:blipFill>
        <p:spPr>
          <a:xfrm>
            <a:off x="367506" y="2022956"/>
            <a:ext cx="8408988" cy="945010"/>
          </a:xfrm>
          <a:prstGeom prst="rect">
            <a:avLst/>
          </a:prstGeom>
        </p:spPr>
      </p:pic>
      <p:pic>
        <p:nvPicPr>
          <p:cNvPr id="12" name="图片 11"/>
          <p:cNvPicPr>
            <a:picLocks noChangeAspect="1"/>
          </p:cNvPicPr>
          <p:nvPr/>
        </p:nvPicPr>
        <p:blipFill>
          <a:blip r:embed="rId2"/>
          <a:stretch>
            <a:fillRect/>
          </a:stretch>
        </p:blipFill>
        <p:spPr>
          <a:xfrm>
            <a:off x="395906" y="3890035"/>
            <a:ext cx="8380588" cy="899341"/>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7543800" cy="892239"/>
          </a:xfrm>
        </p:spPr>
        <p:txBody>
          <a:bodyPr>
            <a:noAutofit/>
          </a:bodyPr>
          <a:lstStyle/>
          <a:p>
            <a:r>
              <a:rPr lang="zh-CN" altLang="en-US" sz="4000" spc="-100" dirty="0">
                <a:solidFill>
                  <a:srgbClr val="D2533C"/>
                </a:solidFill>
                <a:latin typeface="Arial" panose="020B0604020202020204"/>
                <a:ea typeface="华文新魏" panose="02010800040101010101" pitchFamily="2" charset="-122"/>
              </a:rPr>
              <a:t>当前数据、已有知识和未知交互</a:t>
            </a:r>
            <a:endParaRPr lang="zh-CN" altLang="en-US" sz="40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305780" y="1251817"/>
            <a:ext cx="8532440" cy="4354365"/>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7941444" cy="892239"/>
          </a:xfrm>
        </p:spPr>
        <p:txBody>
          <a:bodyPr>
            <a:noAutofit/>
          </a:bodyPr>
          <a:lstStyle/>
          <a:p>
            <a:r>
              <a:rPr lang="zh-CN" altLang="en-US" sz="3600" spc="-100" dirty="0">
                <a:solidFill>
                  <a:srgbClr val="D2533C"/>
                </a:solidFill>
                <a:latin typeface="Arial" panose="020B0604020202020204"/>
                <a:ea typeface="华文新魏" panose="02010800040101010101" pitchFamily="2" charset="-122"/>
              </a:rPr>
              <a:t>当前数据、已有知识和未知交互的挑战</a:t>
            </a:r>
            <a:endParaRPr lang="zh-CN" altLang="en-US" sz="36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106363" y="1080880"/>
            <a:ext cx="7129933" cy="1104270"/>
          </a:xfrm>
          <a:prstGeom prst="rect">
            <a:avLst/>
          </a:prstGeom>
        </p:spPr>
      </p:pic>
      <p:pic>
        <p:nvPicPr>
          <p:cNvPr id="8" name="图片 7"/>
          <p:cNvPicPr>
            <a:picLocks noChangeAspect="1"/>
          </p:cNvPicPr>
          <p:nvPr/>
        </p:nvPicPr>
        <p:blipFill>
          <a:blip r:embed="rId2"/>
          <a:stretch>
            <a:fillRect/>
          </a:stretch>
        </p:blipFill>
        <p:spPr>
          <a:xfrm>
            <a:off x="72267" y="2460963"/>
            <a:ext cx="7129934" cy="1077883"/>
          </a:xfrm>
          <a:prstGeom prst="rect">
            <a:avLst/>
          </a:prstGeom>
        </p:spPr>
      </p:pic>
      <p:pic>
        <p:nvPicPr>
          <p:cNvPr id="10" name="图片 9"/>
          <p:cNvPicPr>
            <a:picLocks noChangeAspect="1"/>
          </p:cNvPicPr>
          <p:nvPr/>
        </p:nvPicPr>
        <p:blipFill>
          <a:blip r:embed="rId3"/>
          <a:stretch>
            <a:fillRect/>
          </a:stretch>
        </p:blipFill>
        <p:spPr>
          <a:xfrm>
            <a:off x="179512" y="3814743"/>
            <a:ext cx="7022689" cy="1147098"/>
          </a:xfrm>
          <a:prstGeom prst="rect">
            <a:avLst/>
          </a:prstGeom>
        </p:spPr>
      </p:pic>
      <p:pic>
        <p:nvPicPr>
          <p:cNvPr id="12" name="图片 11"/>
          <p:cNvPicPr>
            <a:picLocks noChangeAspect="1"/>
          </p:cNvPicPr>
          <p:nvPr/>
        </p:nvPicPr>
        <p:blipFill>
          <a:blip r:embed="rId4"/>
          <a:stretch>
            <a:fillRect/>
          </a:stretch>
        </p:blipFill>
        <p:spPr>
          <a:xfrm>
            <a:off x="7252458" y="1087385"/>
            <a:ext cx="1819275" cy="3952875"/>
          </a:xfrm>
          <a:prstGeom prst="rect">
            <a:avLst/>
          </a:prstGeom>
        </p:spPr>
      </p:pic>
      <p:sp>
        <p:nvSpPr>
          <p:cNvPr id="14" name="文本框 13"/>
          <p:cNvSpPr txBox="1"/>
          <p:nvPr/>
        </p:nvSpPr>
        <p:spPr>
          <a:xfrm>
            <a:off x="369330" y="4985784"/>
            <a:ext cx="7803070" cy="1200329"/>
          </a:xfrm>
          <a:prstGeom prst="rect">
            <a:avLst/>
          </a:prstGeom>
          <a:noFill/>
        </p:spPr>
        <p:txBody>
          <a:bodyPr wrap="square">
            <a:spAutoFit/>
          </a:bodyPr>
          <a:lstStyle/>
          <a:p>
            <a:pPr algn="l"/>
            <a:endParaRPr lang="zh-CN" altLang="en-US" sz="1600" b="0" i="0" u="none" strike="noStrike" baseline="0" dirty="0">
              <a:solidFill>
                <a:srgbClr val="000000"/>
              </a:solidFill>
              <a:latin typeface="黑体" panose="02010609060101010101" pitchFamily="2" charset="-122"/>
              <a:ea typeface="黑体" panose="02010609060101010101" pitchFamily="2" charset="-122"/>
            </a:endParaRPr>
          </a:p>
          <a:p>
            <a:r>
              <a:rPr lang="zh-CN" altLang="en-US" sz="2400" b="0" i="0" u="none" strike="noStrike" baseline="0" dirty="0">
                <a:latin typeface="黑体" panose="02010609060101010101" pitchFamily="2" charset="-122"/>
                <a:ea typeface="黑体" panose="02010609060101010101" pitchFamily="2" charset="-122"/>
              </a:rPr>
              <a:t>对推理过程逐渐松绑，使推理逐步走向对思维广泛模拟：</a:t>
            </a:r>
            <a:r>
              <a:rPr lang="zh-CN" altLang="en-US" sz="3200" b="0" i="0" u="none" strike="noStrike" baseline="0" dirty="0">
                <a:solidFill>
                  <a:srgbClr val="C00000"/>
                </a:solidFill>
                <a:latin typeface="黑体" panose="02010609060101010101" pitchFamily="2" charset="-122"/>
                <a:ea typeface="黑体" panose="02010609060101010101" pitchFamily="2" charset="-122"/>
              </a:rPr>
              <a:t>跨媒体综合推理 </a:t>
            </a:r>
            <a:endParaRPr lang="zh-CN" altLang="en-US"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pc="-100" dirty="0">
                <a:solidFill>
                  <a:srgbClr val="D2533C"/>
                </a:solidFill>
                <a:latin typeface="Arial" panose="020B0604020202020204"/>
                <a:ea typeface="华文新魏" panose="02010800040101010101" pitchFamily="2" charset="-122"/>
              </a:rPr>
              <a:t>跨媒体综合推理</a:t>
            </a:r>
            <a:endParaRPr lang="zh-CN" altLang="en-US" sz="44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a:xfrm>
            <a:off x="781144" y="1260834"/>
            <a:ext cx="7543801" cy="4384310"/>
          </a:xfrm>
        </p:spPr>
        <p:txBody>
          <a:bodyPr/>
          <a:lstStyle/>
          <a:p>
            <a:r>
              <a:rPr lang="zh-CN" altLang="en-US" dirty="0"/>
              <a:t>知识推导、数据驱动和交互反馈等学习方法缺乏像人类一样能接受多通道输入、综合利用多种推理模式进行协同推理的计算框架。为此，跨媒体综合推理思想被提出。</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628650" y="4981284"/>
            <a:ext cx="3943350" cy="1266825"/>
          </a:xfrm>
          <a:prstGeom prst="rect">
            <a:avLst/>
          </a:prstGeom>
        </p:spPr>
      </p:pic>
      <p:pic>
        <p:nvPicPr>
          <p:cNvPr id="8" name="图片 7"/>
          <p:cNvPicPr>
            <a:picLocks noChangeAspect="1"/>
          </p:cNvPicPr>
          <p:nvPr/>
        </p:nvPicPr>
        <p:blipFill>
          <a:blip r:embed="rId2"/>
          <a:stretch>
            <a:fillRect/>
          </a:stretch>
        </p:blipFill>
        <p:spPr>
          <a:xfrm>
            <a:off x="4705350" y="5062598"/>
            <a:ext cx="4438650" cy="1219200"/>
          </a:xfrm>
          <a:prstGeom prst="rect">
            <a:avLst/>
          </a:prstGeom>
        </p:spPr>
      </p:pic>
      <p:pic>
        <p:nvPicPr>
          <p:cNvPr id="10" name="图片 9"/>
          <p:cNvPicPr>
            <a:picLocks noChangeAspect="1"/>
          </p:cNvPicPr>
          <p:nvPr/>
        </p:nvPicPr>
        <p:blipFill>
          <a:blip r:embed="rId3"/>
          <a:stretch>
            <a:fillRect/>
          </a:stretch>
        </p:blipFill>
        <p:spPr>
          <a:xfrm>
            <a:off x="547687" y="3429000"/>
            <a:ext cx="4105275" cy="1352550"/>
          </a:xfrm>
          <a:prstGeom prst="rect">
            <a:avLst/>
          </a:prstGeom>
        </p:spPr>
      </p:pic>
      <p:pic>
        <p:nvPicPr>
          <p:cNvPr id="12" name="图片 11"/>
          <p:cNvPicPr>
            <a:picLocks noChangeAspect="1"/>
          </p:cNvPicPr>
          <p:nvPr/>
        </p:nvPicPr>
        <p:blipFill>
          <a:blip r:embed="rId4"/>
          <a:stretch>
            <a:fillRect/>
          </a:stretch>
        </p:blipFill>
        <p:spPr>
          <a:xfrm>
            <a:off x="4705350" y="3596276"/>
            <a:ext cx="4448175" cy="1219200"/>
          </a:xfrm>
          <a:prstGeom prst="rect">
            <a:avLst/>
          </a:prstGeom>
        </p:spPr>
      </p:pic>
      <p:pic>
        <p:nvPicPr>
          <p:cNvPr id="14" name="图片 13"/>
          <p:cNvPicPr>
            <a:picLocks noChangeAspect="1"/>
          </p:cNvPicPr>
          <p:nvPr/>
        </p:nvPicPr>
        <p:blipFill>
          <a:blip r:embed="rId5"/>
          <a:stretch>
            <a:fillRect/>
          </a:stretch>
        </p:blipFill>
        <p:spPr>
          <a:xfrm>
            <a:off x="625902" y="2252729"/>
            <a:ext cx="3776054" cy="1195243"/>
          </a:xfrm>
          <a:prstGeom prst="rect">
            <a:avLst/>
          </a:prstGeom>
        </p:spPr>
      </p:pic>
      <p:pic>
        <p:nvPicPr>
          <p:cNvPr id="16" name="图片 15"/>
          <p:cNvPicPr>
            <a:picLocks noChangeAspect="1"/>
          </p:cNvPicPr>
          <p:nvPr/>
        </p:nvPicPr>
        <p:blipFill>
          <a:blip r:embed="rId6"/>
          <a:stretch>
            <a:fillRect/>
          </a:stretch>
        </p:blipFill>
        <p:spPr>
          <a:xfrm>
            <a:off x="4705350" y="2288455"/>
            <a:ext cx="4533900" cy="12668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800" spc="-100" dirty="0">
                <a:solidFill>
                  <a:srgbClr val="D2533C"/>
                </a:solidFill>
                <a:latin typeface="Arial" panose="020B0604020202020204"/>
                <a:ea typeface="华文新魏" panose="02010800040101010101" pitchFamily="2" charset="-122"/>
              </a:rPr>
              <a:t>跨媒体综合推理</a:t>
            </a:r>
            <a:endParaRPr lang="zh-CN" altLang="en-US" dirty="0"/>
          </a:p>
        </p:txBody>
      </p:sp>
      <p:sp>
        <p:nvSpPr>
          <p:cNvPr id="3" name="内容占位符 2"/>
          <p:cNvSpPr>
            <a:spLocks noGrp="1"/>
          </p:cNvSpPr>
          <p:nvPr>
            <p:ph idx="1"/>
          </p:nvPr>
        </p:nvSpPr>
        <p:spPr>
          <a:xfrm>
            <a:off x="865187" y="4967998"/>
            <a:ext cx="7543801" cy="1071942"/>
          </a:xfrm>
        </p:spPr>
        <p:txBody>
          <a:bodyPr/>
          <a:lstStyle/>
          <a:p>
            <a:pPr algn="l"/>
            <a:endParaRPr lang="zh-CN" altLang="en-US" sz="1800" b="0" i="0" u="none" strike="noStrike" baseline="0" dirty="0">
              <a:solidFill>
                <a:srgbClr val="000000"/>
              </a:solidFill>
              <a:latin typeface="黑体" panose="02010609060101010101" pitchFamily="2" charset="-122"/>
              <a:ea typeface="黑体" panose="02010609060101010101" pitchFamily="2" charset="-122"/>
            </a:endParaRPr>
          </a:p>
          <a:p>
            <a:r>
              <a:rPr lang="zh-CN" altLang="en-US" sz="1800" b="0" i="0" u="none" strike="noStrike" baseline="0" dirty="0">
                <a:latin typeface="黑体" panose="02010609060101010101" pitchFamily="2" charset="-122"/>
                <a:ea typeface="黑体" panose="02010609060101010101" pitchFamily="2" charset="-122"/>
              </a:rPr>
              <a:t>有机协调“知识指导下的演绎”、“数据驱动中的归纳”和“行为强化内的规划”等理论模型和方法手段，建立知识、数据和反馈于一体的人工智能理论和模型 </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204912" y="1191319"/>
            <a:ext cx="6734175" cy="39909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300" spc="-100" dirty="0">
                <a:solidFill>
                  <a:srgbClr val="D2533C"/>
                </a:solidFill>
                <a:latin typeface="Arial" panose="020B0604020202020204"/>
                <a:ea typeface="华文新魏" panose="02010800040101010101" pitchFamily="2" charset="-122"/>
              </a:rPr>
              <a:t>人工智能的发展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pPr>
              <a:buFont typeface="Wingdings" panose="05000000000000000000" pitchFamily="2" charset="2"/>
              <a:buChar char="u"/>
            </a:pPr>
            <a:r>
              <a:rPr lang="en-US" altLang="zh-CN" sz="2800" dirty="0"/>
              <a:t> </a:t>
            </a:r>
            <a:r>
              <a:rPr lang="zh-CN" altLang="en-US" sz="2800" dirty="0">
                <a:solidFill>
                  <a:schemeClr val="tx1"/>
                </a:solidFill>
              </a:rPr>
              <a:t>记忆驱动的智能计算</a:t>
            </a:r>
            <a:endParaRPr lang="en-US" altLang="zh-CN" sz="2800" dirty="0">
              <a:solidFill>
                <a:schemeClr val="tx1"/>
              </a:solidFill>
            </a:endParaRPr>
          </a:p>
          <a:p>
            <a:pPr>
              <a:buFont typeface="Wingdings" panose="05000000000000000000" pitchFamily="2" charset="2"/>
              <a:buChar char="u"/>
            </a:pPr>
            <a:r>
              <a:rPr lang="zh-CN" altLang="en-US" sz="2800" dirty="0">
                <a:solidFill>
                  <a:srgbClr val="C00000"/>
                </a:solidFill>
              </a:rPr>
              <a:t> 可计算社会学</a:t>
            </a:r>
            <a:endParaRPr lang="en-US" altLang="zh-CN" sz="2800" dirty="0">
              <a:solidFill>
                <a:srgbClr val="C00000"/>
              </a:solidFill>
            </a:endParaRPr>
          </a:p>
          <a:p>
            <a:pPr>
              <a:buFont typeface="Wingdings" panose="05000000000000000000" pitchFamily="2" charset="2"/>
              <a:buChar char="u"/>
            </a:pPr>
            <a:r>
              <a:rPr lang="en-US" altLang="zh-CN" sz="2800" dirty="0"/>
              <a:t> </a:t>
            </a:r>
            <a:r>
              <a:rPr lang="zh-CN" altLang="en-US" sz="2800" dirty="0"/>
              <a:t>若干挑战</a:t>
            </a:r>
            <a:endParaRPr lang="zh-CN" altLang="en-US" sz="2800"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300" spc="-100" dirty="0">
                <a:solidFill>
                  <a:srgbClr val="D2533C"/>
                </a:solidFill>
                <a:latin typeface="Arial" panose="020B0604020202020204"/>
                <a:ea typeface="华文新魏" panose="02010800040101010101" pitchFamily="2" charset="-122"/>
              </a:rPr>
              <a:t>三元空间融合时代</a:t>
            </a:r>
            <a:r>
              <a:rPr lang="en-US" altLang="zh-CN" sz="4300" spc="-100" dirty="0">
                <a:solidFill>
                  <a:srgbClr val="D2533C"/>
                </a:solidFill>
                <a:latin typeface="Arial" panose="020B0604020202020204"/>
                <a:ea typeface="华文新魏" panose="02010800040101010101" pitchFamily="2" charset="-122"/>
              </a:rPr>
              <a:t>CPS</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sz="1800" b="1" i="0" u="none" strike="noStrike" baseline="0" dirty="0">
                <a:latin typeface="微软雅黑" panose="020B0503020204020204" charset="-122"/>
                <a:ea typeface="微软雅黑" panose="020B0503020204020204" charset="-122"/>
              </a:rPr>
              <a:t>信息空间</a:t>
            </a:r>
            <a:r>
              <a:rPr lang="en-US" altLang="zh-CN" sz="1800" b="1" i="0" u="none" strike="noStrike" baseline="0" dirty="0">
                <a:latin typeface="Times New Roman" panose="02020603050405020304" pitchFamily="18" charset="0"/>
                <a:ea typeface="微软雅黑" panose="020B0503020204020204" charset="-122"/>
              </a:rPr>
              <a:t>(</a:t>
            </a:r>
            <a:r>
              <a:rPr lang="en-GB" altLang="zh-CN" sz="1800" b="1" i="0" u="none" strike="noStrike" baseline="0" dirty="0">
                <a:latin typeface="Times New Roman" panose="02020603050405020304" pitchFamily="18" charset="0"/>
                <a:ea typeface="微软雅黑" panose="020B0503020204020204" charset="-122"/>
              </a:rPr>
              <a:t>Cyberspace)</a:t>
            </a:r>
            <a:r>
              <a:rPr lang="zh-CN" altLang="en-GB" sz="1800" b="1" i="0" u="none" strike="noStrike" baseline="0" dirty="0">
                <a:latin typeface="微软雅黑" panose="020B0503020204020204" charset="-122"/>
                <a:ea typeface="微软雅黑" panose="020B0503020204020204" charset="-122"/>
              </a:rPr>
              <a:t>、</a:t>
            </a:r>
            <a:r>
              <a:rPr lang="zh-CN" altLang="en-US" sz="1800" b="1" i="0" u="none" strike="noStrike" baseline="0" dirty="0">
                <a:latin typeface="微软雅黑" panose="020B0503020204020204" charset="-122"/>
                <a:ea typeface="微软雅黑" panose="020B0503020204020204" charset="-122"/>
              </a:rPr>
              <a:t>物理世界 </a:t>
            </a:r>
            <a:r>
              <a:rPr lang="en-US" altLang="zh-CN" sz="1800" b="1" i="0" u="none" strike="noStrike" baseline="0" dirty="0">
                <a:latin typeface="Times New Roman" panose="02020603050405020304" pitchFamily="18" charset="0"/>
                <a:ea typeface="微软雅黑" panose="020B0503020204020204" charset="-122"/>
              </a:rPr>
              <a:t>(</a:t>
            </a:r>
            <a:r>
              <a:rPr lang="en-GB" altLang="zh-CN" sz="1800" b="1" i="0" u="none" strike="noStrike" baseline="0" dirty="0">
                <a:latin typeface="Times New Roman" panose="02020603050405020304" pitchFamily="18" charset="0"/>
                <a:ea typeface="微软雅黑" panose="020B0503020204020204" charset="-122"/>
              </a:rPr>
              <a:t>Physical)</a:t>
            </a:r>
            <a:r>
              <a:rPr lang="zh-CN" altLang="en-US" sz="1800" b="1" i="0" u="none" strike="noStrike" baseline="0" dirty="0">
                <a:latin typeface="微软雅黑" panose="020B0503020204020204" charset="-122"/>
                <a:ea typeface="微软雅黑" panose="020B0503020204020204" charset="-122"/>
              </a:rPr>
              <a:t>和人类社会</a:t>
            </a:r>
            <a:r>
              <a:rPr lang="en-US" altLang="zh-CN" sz="1800" b="1" i="0" u="none" strike="noStrike" baseline="0" dirty="0">
                <a:latin typeface="Times New Roman" panose="02020603050405020304" pitchFamily="18" charset="0"/>
                <a:ea typeface="微软雅黑" panose="020B0503020204020204" charset="-122"/>
              </a:rPr>
              <a:t>(</a:t>
            </a:r>
            <a:r>
              <a:rPr lang="en-GB" altLang="zh-CN" sz="1800" b="1" i="0" u="none" strike="noStrike" baseline="0" dirty="0">
                <a:latin typeface="Times New Roman" panose="02020603050405020304" pitchFamily="18" charset="0"/>
                <a:ea typeface="微软雅黑" panose="020B0503020204020204" charset="-122"/>
              </a:rPr>
              <a:t>Society)</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0" y="1797504"/>
            <a:ext cx="9144000" cy="4498048"/>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300" spc="-100" dirty="0">
                <a:solidFill>
                  <a:srgbClr val="D2533C"/>
                </a:solidFill>
                <a:latin typeface="Arial" panose="020B0604020202020204"/>
                <a:ea typeface="华文新魏" panose="02010800040101010101" pitchFamily="2" charset="-122"/>
              </a:rPr>
              <a:t>社会学研究：观察与实验</a:t>
            </a:r>
            <a:endParaRPr lang="zh-CN" altLang="en-US" sz="43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425507" y="1443992"/>
            <a:ext cx="3674509" cy="1822154"/>
          </a:xfrm>
          <a:prstGeom prst="rect">
            <a:avLst/>
          </a:prstGeom>
        </p:spPr>
      </p:pic>
      <p:pic>
        <p:nvPicPr>
          <p:cNvPr id="8" name="图片 7"/>
          <p:cNvPicPr>
            <a:picLocks noChangeAspect="1"/>
          </p:cNvPicPr>
          <p:nvPr/>
        </p:nvPicPr>
        <p:blipFill>
          <a:blip r:embed="rId2"/>
          <a:stretch>
            <a:fillRect/>
          </a:stretch>
        </p:blipFill>
        <p:spPr>
          <a:xfrm>
            <a:off x="224514" y="3735664"/>
            <a:ext cx="3878950" cy="2197734"/>
          </a:xfrm>
          <a:prstGeom prst="rect">
            <a:avLst/>
          </a:prstGeom>
        </p:spPr>
      </p:pic>
      <p:pic>
        <p:nvPicPr>
          <p:cNvPr id="10" name="图片 9"/>
          <p:cNvPicPr>
            <a:picLocks noChangeAspect="1"/>
          </p:cNvPicPr>
          <p:nvPr/>
        </p:nvPicPr>
        <p:blipFill>
          <a:blip r:embed="rId3"/>
          <a:stretch>
            <a:fillRect/>
          </a:stretch>
        </p:blipFill>
        <p:spPr>
          <a:xfrm>
            <a:off x="4355976" y="1145805"/>
            <a:ext cx="3794760" cy="2418527"/>
          </a:xfrm>
          <a:prstGeom prst="rect">
            <a:avLst/>
          </a:prstGeom>
        </p:spPr>
      </p:pic>
      <p:pic>
        <p:nvPicPr>
          <p:cNvPr id="12" name="图片 11"/>
          <p:cNvPicPr>
            <a:picLocks noChangeAspect="1"/>
          </p:cNvPicPr>
          <p:nvPr/>
        </p:nvPicPr>
        <p:blipFill>
          <a:blip r:embed="rId4"/>
          <a:stretch>
            <a:fillRect/>
          </a:stretch>
        </p:blipFill>
        <p:spPr>
          <a:xfrm>
            <a:off x="4127053" y="3789040"/>
            <a:ext cx="4760676" cy="20034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计算社会的数据基础 </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sz="1800" b="1" i="0" u="none" strike="noStrike" baseline="0" dirty="0">
                <a:latin typeface="微软雅黑" panose="020B0503020204020204" charset="-122"/>
                <a:ea typeface="微软雅黑" panose="020B0503020204020204" charset="-122"/>
              </a:rPr>
              <a:t>罗伯特</a:t>
            </a:r>
            <a:r>
              <a:rPr lang="en-US" altLang="zh-CN" sz="1800" b="1" i="0" u="none" strike="noStrike" baseline="0" dirty="0">
                <a:latin typeface="微软雅黑" panose="020B0503020204020204" charset="-122"/>
                <a:ea typeface="微软雅黑" panose="020B0503020204020204" charset="-122"/>
              </a:rPr>
              <a:t>·</a:t>
            </a:r>
            <a:r>
              <a:rPr lang="zh-CN" altLang="en-US" sz="1800" b="1" i="0" u="none" strike="noStrike" baseline="0" dirty="0">
                <a:latin typeface="微软雅黑" panose="020B0503020204020204" charset="-122"/>
                <a:ea typeface="微软雅黑" panose="020B0503020204020204" charset="-122"/>
              </a:rPr>
              <a:t>默顿（</a:t>
            </a:r>
            <a:r>
              <a:rPr lang="en-US" altLang="zh-CN" sz="1800" b="1" i="0" u="none" strike="noStrike" baseline="0" dirty="0">
                <a:latin typeface="微软雅黑" panose="020B0503020204020204" charset="-122"/>
                <a:ea typeface="微软雅黑" panose="020B0503020204020204" charset="-122"/>
              </a:rPr>
              <a:t>1997</a:t>
            </a:r>
            <a:r>
              <a:rPr lang="zh-CN" altLang="en-US" sz="1800" b="1" i="0" u="none" strike="noStrike" baseline="0" dirty="0">
                <a:latin typeface="微软雅黑" panose="020B0503020204020204" charset="-122"/>
                <a:ea typeface="微软雅黑" panose="020B0503020204020204" charset="-122"/>
              </a:rPr>
              <a:t>年诺贝尔经济学奖得主）的名言：“</a:t>
            </a:r>
            <a:r>
              <a:rPr lang="zh-CN" altLang="en-US" sz="1800" b="1" i="0" u="none" strike="noStrike" baseline="0" dirty="0">
                <a:solidFill>
                  <a:srgbClr val="C00000"/>
                </a:solidFill>
                <a:latin typeface="微软雅黑" panose="020B0503020204020204" charset="-122"/>
                <a:ea typeface="微软雅黑" panose="020B0503020204020204" charset="-122"/>
              </a:rPr>
              <a:t>也许社会学还没有为爱因斯坦做好准备，因为它还没有找到它的开普勒</a:t>
            </a:r>
            <a:r>
              <a:rPr lang="en-US" altLang="zh-CN" sz="1800" b="1" i="0" u="none" strike="noStrike" baseline="0" dirty="0">
                <a:latin typeface="微软雅黑" panose="020B0503020204020204" charset="-122"/>
                <a:ea typeface="微软雅黑" panose="020B0503020204020204" charset="-122"/>
              </a:rPr>
              <a:t>……”</a:t>
            </a:r>
            <a:endParaRPr lang="en-US" altLang="zh-CN" sz="1800" b="1" i="0" u="none" strike="noStrike" baseline="0" dirty="0">
              <a:latin typeface="微软雅黑" panose="020B0503020204020204" charset="-122"/>
              <a:ea typeface="微软雅黑" panose="020B0503020204020204" charset="-122"/>
            </a:endParaRPr>
          </a:p>
          <a:p>
            <a:r>
              <a:rPr lang="zh-CN" altLang="en-US" sz="1800" b="1" i="0" u="none" strike="noStrike" baseline="0" dirty="0">
                <a:latin typeface="微软雅黑" panose="020B0503020204020204" charset="-122"/>
                <a:ea typeface="微软雅黑" panose="020B0503020204020204" charset="-122"/>
              </a:rPr>
              <a:t>社会学还没有建立伟大理论的经验基础。</a:t>
            </a:r>
            <a:endParaRPr lang="en-US" altLang="zh-CN" sz="1800" b="1" i="0" u="none" strike="noStrike" baseline="0" dirty="0">
              <a:latin typeface="微软雅黑" panose="020B0503020204020204" charset="-122"/>
              <a:ea typeface="微软雅黑" panose="020B0503020204020204" charset="-122"/>
            </a:endParaRPr>
          </a:p>
          <a:p>
            <a:endParaRPr lang="en-US" altLang="zh-CN" sz="1800" b="1" dirty="0">
              <a:latin typeface="微软雅黑" panose="020B0503020204020204" charset="-122"/>
              <a:ea typeface="微软雅黑" panose="020B0503020204020204" charset="-122"/>
            </a:endParaRPr>
          </a:p>
          <a:p>
            <a:r>
              <a:rPr lang="zh-CN" altLang="en-US" sz="1800" b="1" i="0" u="none" strike="noStrike" baseline="0" dirty="0">
                <a:latin typeface="微软雅黑" panose="020B0503020204020204" charset="-122"/>
                <a:ea typeface="微软雅黑" panose="020B0503020204020204" charset="-122"/>
              </a:rPr>
              <a:t>邓肯</a:t>
            </a:r>
            <a:r>
              <a:rPr lang="en-US" altLang="zh-CN" sz="1800" b="1" i="0" u="none" strike="noStrike" baseline="0" dirty="0">
                <a:latin typeface="微软雅黑" panose="020B0503020204020204" charset="-122"/>
                <a:ea typeface="微软雅黑" panose="020B0503020204020204" charset="-122"/>
              </a:rPr>
              <a:t>·</a:t>
            </a:r>
            <a:r>
              <a:rPr lang="zh-CN" altLang="en-US" sz="1800" b="1" i="0" u="none" strike="noStrike" baseline="0" dirty="0">
                <a:latin typeface="微软雅黑" panose="020B0503020204020204" charset="-122"/>
                <a:ea typeface="微软雅黑" panose="020B0503020204020204" charset="-122"/>
              </a:rPr>
              <a:t>瓦茨（计算社会科学家）在</a:t>
            </a:r>
            <a:r>
              <a:rPr lang="en-US" altLang="zh-CN" sz="1800" b="1" i="0" u="none" strike="noStrike" baseline="0" dirty="0">
                <a:latin typeface="微软雅黑" panose="020B0503020204020204" charset="-122"/>
                <a:ea typeface="微软雅黑" panose="020B0503020204020204" charset="-122"/>
              </a:rPr>
              <a:t>62</a:t>
            </a:r>
            <a:r>
              <a:rPr lang="zh-CN" altLang="en-US" sz="1800" b="1" i="0" u="none" strike="noStrike" baseline="0" dirty="0">
                <a:latin typeface="微软雅黑" panose="020B0503020204020204" charset="-122"/>
                <a:ea typeface="微软雅黑" panose="020B0503020204020204" charset="-122"/>
              </a:rPr>
              <a:t>年后回应道：“</a:t>
            </a:r>
            <a:r>
              <a:rPr lang="en-US" altLang="zh-CN" sz="1800" b="1" i="0" u="none" strike="noStrike" baseline="0" dirty="0">
                <a:latin typeface="微软雅黑" panose="020B0503020204020204" charset="-122"/>
                <a:ea typeface="微软雅黑" panose="020B0503020204020204" charset="-122"/>
              </a:rPr>
              <a:t>……</a:t>
            </a:r>
            <a:r>
              <a:rPr lang="zh-CN" altLang="en-US" sz="1800" b="1" i="0" u="none" strike="noStrike" baseline="0" dirty="0">
                <a:solidFill>
                  <a:srgbClr val="C00000"/>
                </a:solidFill>
                <a:latin typeface="微软雅黑" panose="020B0503020204020204" charset="-122"/>
                <a:ea typeface="微软雅黑" panose="020B0503020204020204" charset="-122"/>
              </a:rPr>
              <a:t>通过将不可测量的变量变得可测量，移动、网络和互联网通信领域的技术革命有可能彻底改变我们对自己和我们与世界如何互动的理解</a:t>
            </a:r>
            <a:r>
              <a:rPr lang="zh-CN" altLang="en-US" sz="1800" b="1" i="0" u="none" strike="noStrike" baseline="0" dirty="0">
                <a:latin typeface="微软雅黑" panose="020B0503020204020204" charset="-122"/>
                <a:ea typeface="微软雅黑" panose="020B0503020204020204" charset="-122"/>
              </a:rPr>
              <a:t>。</a:t>
            </a:r>
            <a:endParaRPr lang="zh-CN" altLang="en-US" sz="1800" b="1" i="0" u="none" strike="noStrike" baseline="0" dirty="0">
              <a:latin typeface="微软雅黑" panose="020B0503020204020204" charset="-122"/>
              <a:ea typeface="微软雅黑" panose="020B0503020204020204" charset="-122"/>
            </a:endParaRPr>
          </a:p>
          <a:p>
            <a:endParaRPr lang="en-US" altLang="zh-CN" sz="1800" b="1" i="0" u="none" strike="noStrike" baseline="0" dirty="0">
              <a:latin typeface="微软雅黑" panose="020B0503020204020204" charset="-122"/>
              <a:ea typeface="微软雅黑" panose="020B0503020204020204" charset="-122"/>
            </a:endParaRPr>
          </a:p>
          <a:p>
            <a:endParaRPr lang="en-US" altLang="zh-CN" sz="1800" b="1" dirty="0">
              <a:latin typeface="微软雅黑" panose="020B0503020204020204" charset="-122"/>
              <a:ea typeface="微软雅黑" panose="020B0503020204020204" charset="-122"/>
            </a:endParaRPr>
          </a:p>
          <a:p>
            <a:r>
              <a:rPr lang="zh-CN" altLang="en-US" sz="1800" b="1" i="0" u="none" strike="noStrike" baseline="0" dirty="0">
                <a:latin typeface="微软雅黑" panose="020B0503020204020204" charset="-122"/>
                <a:ea typeface="微软雅黑" panose="020B0503020204020204" charset="-122"/>
              </a:rPr>
              <a:t>三元空间大数据相互映照、彼此补充</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5230143" y="4304214"/>
            <a:ext cx="2420690" cy="187082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计算社会的数据基础 </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sz="1800" b="1" i="0" u="none" strike="noStrike" baseline="0" dirty="0">
                <a:latin typeface="微软雅黑" panose="020B0503020204020204" charset="-122"/>
                <a:ea typeface="微软雅黑" panose="020B0503020204020204" charset="-122"/>
              </a:rPr>
              <a:t>三元空间大数据相互映照、彼此补充</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6422811" y="187863"/>
            <a:ext cx="2072968" cy="1602085"/>
          </a:xfrm>
          <a:prstGeom prst="rect">
            <a:avLst/>
          </a:prstGeom>
        </p:spPr>
      </p:pic>
      <p:pic>
        <p:nvPicPr>
          <p:cNvPr id="8" name="图片 7"/>
          <p:cNvPicPr>
            <a:picLocks noChangeAspect="1"/>
          </p:cNvPicPr>
          <p:nvPr/>
        </p:nvPicPr>
        <p:blipFill>
          <a:blip r:embed="rId2"/>
          <a:stretch>
            <a:fillRect/>
          </a:stretch>
        </p:blipFill>
        <p:spPr>
          <a:xfrm>
            <a:off x="1018803" y="1769287"/>
            <a:ext cx="6001469" cy="3986441"/>
          </a:xfrm>
          <a:prstGeom prst="rect">
            <a:avLst/>
          </a:prstGeom>
        </p:spPr>
      </p:pic>
      <p:sp>
        <p:nvSpPr>
          <p:cNvPr id="10" name="文本框 9"/>
          <p:cNvSpPr txBox="1"/>
          <p:nvPr/>
        </p:nvSpPr>
        <p:spPr>
          <a:xfrm>
            <a:off x="1763688" y="5982132"/>
            <a:ext cx="7686600" cy="338554"/>
          </a:xfrm>
          <a:prstGeom prst="rect">
            <a:avLst/>
          </a:prstGeom>
          <a:noFill/>
        </p:spPr>
        <p:txBody>
          <a:bodyPr wrap="square">
            <a:spAutoFit/>
          </a:bodyPr>
          <a:lstStyle/>
          <a:p>
            <a:r>
              <a:rPr lang="en-US" altLang="zh-CN" sz="1600" dirty="0"/>
              <a:t>Meaningful measures of human society in the twenty-first century. Nature.2021</a:t>
            </a:r>
            <a:endParaRPr lang="zh-CN" altLang="en-US" sz="16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300" spc="-100" dirty="0">
                <a:solidFill>
                  <a:srgbClr val="D2533C"/>
                </a:solidFill>
                <a:latin typeface="Arial" panose="020B0604020202020204"/>
                <a:ea typeface="华文新魏" panose="02010800040101010101" pitchFamily="2" charset="-122"/>
              </a:rPr>
              <a:t>计算社会学</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pPr marL="0" indent="0">
              <a:buNone/>
            </a:pPr>
            <a:r>
              <a:rPr lang="zh-CN" altLang="en-US" b="1" i="0" u="none" strike="noStrike" baseline="0" dirty="0">
                <a:latin typeface="微软雅黑" panose="020B0503020204020204" charset="-122"/>
                <a:ea typeface="微软雅黑" panose="020B0503020204020204" charset="-122"/>
              </a:rPr>
              <a:t>计算思维成为可计算社会学研究的思维方式 </a:t>
            </a:r>
            <a:endParaRPr lang="en-US" altLang="zh-CN" b="1" i="0" u="none" strike="noStrike" baseline="0" dirty="0">
              <a:latin typeface="微软雅黑" panose="020B0503020204020204" charset="-122"/>
              <a:ea typeface="微软雅黑" panose="020B0503020204020204" charset="-122"/>
            </a:endParaRPr>
          </a:p>
          <a:p>
            <a:pPr marL="0" indent="0">
              <a:buNone/>
            </a:pPr>
            <a:r>
              <a:rPr lang="zh-CN" altLang="en-US" b="0" i="0" u="none" strike="noStrike" baseline="0" dirty="0">
                <a:solidFill>
                  <a:srgbClr val="C00000"/>
                </a:solidFill>
                <a:latin typeface="黑体" panose="02010609060101010101" pitchFamily="2" charset="-122"/>
                <a:ea typeface="黑体" panose="02010609060101010101" pitchFamily="2" charset="-122"/>
              </a:rPr>
              <a:t>计算思维</a:t>
            </a:r>
            <a:r>
              <a:rPr lang="zh-CN" altLang="en-US" b="0" i="0" u="none" strike="noStrike" baseline="0" dirty="0">
                <a:latin typeface="黑体" panose="02010609060101010101" pitchFamily="2" charset="-122"/>
                <a:ea typeface="黑体" panose="02010609060101010101" pitchFamily="2" charset="-122"/>
              </a:rPr>
              <a:t>是运用计算机科学的基础概念进行问题求解、系统设计、以及人类行为理解等涵盖计算机科学之广度的一系列思维活动 </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217579" y="2852936"/>
            <a:ext cx="6185055" cy="314775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73063" y="202318"/>
            <a:ext cx="7543800" cy="892239"/>
          </a:xfrm>
        </p:spPr>
        <p:txBody>
          <a:bodyPr/>
          <a:lstStyle/>
          <a:p>
            <a:br>
              <a:rPr lang="zh-CN" altLang="en-US" sz="1800" b="0" i="0" u="none" strike="noStrike" baseline="0" dirty="0">
                <a:solidFill>
                  <a:srgbClr val="000000"/>
                </a:solidFill>
                <a:latin typeface="微软雅黑" panose="020B0503020204020204" charset="-122"/>
                <a:ea typeface="微软雅黑" panose="020B0503020204020204" charset="-122"/>
              </a:rPr>
            </a:br>
            <a:r>
              <a:rPr lang="zh-CN" altLang="en-US" sz="4300" spc="-100" dirty="0">
                <a:solidFill>
                  <a:srgbClr val="D2533C"/>
                </a:solidFill>
                <a:latin typeface="Arial" panose="020B0604020202020204"/>
                <a:ea typeface="华文新魏" panose="02010800040101010101" pitchFamily="2" charset="-122"/>
              </a:rPr>
              <a:t>“数据之学科鸿沟” </a:t>
            </a:r>
            <a:endParaRPr lang="zh-CN" altLang="en-US" sz="4300"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107504" y="1739001"/>
            <a:ext cx="3473112" cy="4122365"/>
          </a:xfrm>
          <a:prstGeom prst="rect">
            <a:avLst/>
          </a:prstGeom>
        </p:spPr>
      </p:pic>
      <p:pic>
        <p:nvPicPr>
          <p:cNvPr id="8" name="图片 7"/>
          <p:cNvPicPr>
            <a:picLocks noChangeAspect="1"/>
          </p:cNvPicPr>
          <p:nvPr/>
        </p:nvPicPr>
        <p:blipFill>
          <a:blip r:embed="rId2"/>
          <a:stretch>
            <a:fillRect/>
          </a:stretch>
        </p:blipFill>
        <p:spPr>
          <a:xfrm>
            <a:off x="4594860" y="1628800"/>
            <a:ext cx="4426033" cy="4298894"/>
          </a:xfrm>
          <a:prstGeom prst="rect">
            <a:avLst/>
          </a:prstGeom>
        </p:spPr>
      </p:pic>
      <p:pic>
        <p:nvPicPr>
          <p:cNvPr id="10" name="图片 9"/>
          <p:cNvPicPr>
            <a:picLocks noChangeAspect="1"/>
          </p:cNvPicPr>
          <p:nvPr/>
        </p:nvPicPr>
        <p:blipFill>
          <a:blip r:embed="rId3"/>
          <a:stretch>
            <a:fillRect/>
          </a:stretch>
        </p:blipFill>
        <p:spPr>
          <a:xfrm>
            <a:off x="3851920" y="5252120"/>
            <a:ext cx="1123950" cy="5048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未来发展与趋势</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pPr>
              <a:buFont typeface="Wingdings" panose="05000000000000000000" pitchFamily="2" charset="2"/>
              <a:buChar char="u"/>
            </a:pPr>
            <a:r>
              <a:rPr lang="zh-CN" altLang="en-US" sz="2800" dirty="0"/>
              <a:t>类脑计算</a:t>
            </a:r>
            <a:endParaRPr lang="en-US" altLang="zh-CN" sz="2800" dirty="0"/>
          </a:p>
          <a:p>
            <a:pPr>
              <a:buFont typeface="Wingdings" panose="05000000000000000000" pitchFamily="2" charset="2"/>
              <a:buChar char="u"/>
            </a:pPr>
            <a:r>
              <a:rPr lang="zh-CN" altLang="en-US" sz="2800" dirty="0"/>
              <a:t>自动化机器学习</a:t>
            </a:r>
            <a:endParaRPr lang="en-US" altLang="zh-CN" sz="2800" dirty="0"/>
          </a:p>
          <a:p>
            <a:pPr>
              <a:buFont typeface="Wingdings" panose="05000000000000000000" pitchFamily="2" charset="2"/>
              <a:buChar char="u"/>
            </a:pPr>
            <a:r>
              <a:rPr lang="zh-CN" altLang="en-US" sz="2800" dirty="0"/>
              <a:t>神经网络模型压缩</a:t>
            </a:r>
            <a:endParaRPr lang="en-US" altLang="zh-CN" sz="2800" dirty="0"/>
          </a:p>
          <a:p>
            <a:pPr>
              <a:buFont typeface="Wingdings" panose="05000000000000000000" pitchFamily="2" charset="2"/>
              <a:buChar char="u"/>
            </a:pPr>
            <a:r>
              <a:rPr lang="zh-CN" altLang="en-US" sz="2800" dirty="0"/>
              <a:t>人工智能芯片</a:t>
            </a:r>
            <a:endParaRPr lang="en-US" altLang="zh-CN" sz="2800" dirty="0"/>
          </a:p>
          <a:p>
            <a:pPr>
              <a:buFont typeface="Wingdings" panose="05000000000000000000" pitchFamily="2" charset="2"/>
              <a:buChar char="u"/>
            </a:pPr>
            <a:r>
              <a:rPr lang="zh-CN" altLang="en-US" sz="2800" dirty="0"/>
              <a:t>量子机器学习</a:t>
            </a:r>
            <a:endParaRPr lang="en-US" altLang="zh-CN" sz="2800" dirty="0"/>
          </a:p>
          <a:p>
            <a:pPr>
              <a:buFont typeface="Wingdings" panose="05000000000000000000" pitchFamily="2" charset="2"/>
              <a:buChar char="u"/>
            </a:pPr>
            <a:r>
              <a:rPr lang="zh-CN" altLang="en-US" sz="2800" dirty="0"/>
              <a:t>人工智能伦理与治理</a:t>
            </a:r>
            <a:endParaRPr lang="en-US" altLang="zh-CN" sz="2800" dirty="0"/>
          </a:p>
          <a:p>
            <a:pPr>
              <a:buFont typeface="Wingdings" panose="05000000000000000000" pitchFamily="2" charset="2"/>
              <a:buChar char="u"/>
            </a:pPr>
            <a:r>
              <a:rPr lang="zh-CN" altLang="en-US" sz="2800" dirty="0"/>
              <a:t>人工智能算法开发框架</a:t>
            </a:r>
            <a:endParaRPr lang="en-US" altLang="zh-CN" sz="2800" dirty="0"/>
          </a:p>
          <a:p>
            <a:pPr>
              <a:buFont typeface="Wingdings" panose="05000000000000000000" pitchFamily="2" charset="2"/>
              <a:buChar char="u"/>
            </a:pP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五大智能技术新方向</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335532" y="1549689"/>
            <a:ext cx="8472935" cy="4222889"/>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第三波人工智能浪潮</a:t>
            </a:r>
            <a:endParaRPr lang="zh-CN" altLang="en-US" spc="-100" dirty="0">
              <a:solidFill>
                <a:srgbClr val="D2533C"/>
              </a:solidFill>
              <a:latin typeface="Arial" panose="020B0604020202020204"/>
              <a:ea typeface="华文新魏" panose="0201080004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395536" y="1700808"/>
            <a:ext cx="3418508" cy="570912"/>
          </a:xfrm>
          <a:prstGeom prst="rect">
            <a:avLst/>
          </a:prstGeom>
        </p:spPr>
      </p:pic>
      <p:pic>
        <p:nvPicPr>
          <p:cNvPr id="8" name="图片 7"/>
          <p:cNvPicPr>
            <a:picLocks noChangeAspect="1"/>
          </p:cNvPicPr>
          <p:nvPr/>
        </p:nvPicPr>
        <p:blipFill>
          <a:blip r:embed="rId2"/>
          <a:stretch>
            <a:fillRect/>
          </a:stretch>
        </p:blipFill>
        <p:spPr>
          <a:xfrm>
            <a:off x="3995936" y="1520628"/>
            <a:ext cx="4875064" cy="931271"/>
          </a:xfrm>
          <a:prstGeom prst="rect">
            <a:avLst/>
          </a:prstGeom>
        </p:spPr>
      </p:pic>
      <p:pic>
        <p:nvPicPr>
          <p:cNvPr id="10" name="图片 9"/>
          <p:cNvPicPr>
            <a:picLocks noChangeAspect="1"/>
          </p:cNvPicPr>
          <p:nvPr/>
        </p:nvPicPr>
        <p:blipFill>
          <a:blip r:embed="rId3"/>
          <a:stretch>
            <a:fillRect/>
          </a:stretch>
        </p:blipFill>
        <p:spPr>
          <a:xfrm>
            <a:off x="395536" y="3114446"/>
            <a:ext cx="3418508" cy="662557"/>
          </a:xfrm>
          <a:prstGeom prst="rect">
            <a:avLst/>
          </a:prstGeom>
        </p:spPr>
      </p:pic>
      <p:pic>
        <p:nvPicPr>
          <p:cNvPr id="12" name="图片 11"/>
          <p:cNvPicPr>
            <a:picLocks noChangeAspect="1"/>
          </p:cNvPicPr>
          <p:nvPr/>
        </p:nvPicPr>
        <p:blipFill>
          <a:blip r:embed="rId4"/>
          <a:stretch>
            <a:fillRect/>
          </a:stretch>
        </p:blipFill>
        <p:spPr>
          <a:xfrm>
            <a:off x="4023176" y="2846789"/>
            <a:ext cx="4936606" cy="1000466"/>
          </a:xfrm>
          <a:prstGeom prst="rect">
            <a:avLst/>
          </a:prstGeom>
        </p:spPr>
      </p:pic>
      <p:pic>
        <p:nvPicPr>
          <p:cNvPr id="14" name="图片 13"/>
          <p:cNvPicPr>
            <a:picLocks noChangeAspect="1"/>
          </p:cNvPicPr>
          <p:nvPr/>
        </p:nvPicPr>
        <p:blipFill>
          <a:blip r:embed="rId5"/>
          <a:stretch>
            <a:fillRect/>
          </a:stretch>
        </p:blipFill>
        <p:spPr>
          <a:xfrm>
            <a:off x="395536" y="4586282"/>
            <a:ext cx="3418508" cy="699568"/>
          </a:xfrm>
          <a:prstGeom prst="rect">
            <a:avLst/>
          </a:prstGeom>
        </p:spPr>
      </p:pic>
      <p:pic>
        <p:nvPicPr>
          <p:cNvPr id="16" name="图片 15"/>
          <p:cNvPicPr>
            <a:picLocks noChangeAspect="1"/>
          </p:cNvPicPr>
          <p:nvPr/>
        </p:nvPicPr>
        <p:blipFill>
          <a:blip r:embed="rId6"/>
          <a:stretch>
            <a:fillRect/>
          </a:stretch>
        </p:blipFill>
        <p:spPr>
          <a:xfrm>
            <a:off x="4023176" y="4393611"/>
            <a:ext cx="5033715" cy="892239"/>
          </a:xfrm>
          <a:prstGeom prst="rect">
            <a:avLst/>
          </a:prstGeom>
        </p:spPr>
      </p:pic>
      <p:sp>
        <p:nvSpPr>
          <p:cNvPr id="18" name="矩形 17"/>
          <p:cNvSpPr/>
          <p:nvPr/>
        </p:nvSpPr>
        <p:spPr>
          <a:xfrm>
            <a:off x="251520" y="4288700"/>
            <a:ext cx="8805371" cy="1123621"/>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第三波人工智能浪潮</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309044" y="1343344"/>
            <a:ext cx="4035308" cy="4704184"/>
          </a:xfrm>
          <a:prstGeom prst="rect">
            <a:avLst/>
          </a:prstGeom>
        </p:spPr>
      </p:pic>
      <p:pic>
        <p:nvPicPr>
          <p:cNvPr id="8" name="图片 7"/>
          <p:cNvPicPr>
            <a:picLocks noChangeAspect="1"/>
          </p:cNvPicPr>
          <p:nvPr/>
        </p:nvPicPr>
        <p:blipFill>
          <a:blip r:embed="rId2"/>
          <a:stretch>
            <a:fillRect/>
          </a:stretch>
        </p:blipFill>
        <p:spPr>
          <a:xfrm>
            <a:off x="4362441" y="1441863"/>
            <a:ext cx="4344351" cy="4605665"/>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300" spc="-100" dirty="0">
                <a:solidFill>
                  <a:srgbClr val="D2533C"/>
                </a:solidFill>
                <a:latin typeface="Arial" panose="020B0604020202020204"/>
                <a:ea typeface="华文新魏" panose="02010800040101010101" pitchFamily="2" charset="-122"/>
              </a:rPr>
              <a:t>人工智能的发展</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pPr>
              <a:buFont typeface="Wingdings" panose="05000000000000000000" pitchFamily="2" charset="2"/>
              <a:buChar char="u"/>
            </a:pPr>
            <a:r>
              <a:rPr lang="en-US" altLang="zh-CN" sz="2800" dirty="0"/>
              <a:t> </a:t>
            </a:r>
            <a:r>
              <a:rPr lang="zh-CN" altLang="en-US" sz="2800" dirty="0">
                <a:solidFill>
                  <a:schemeClr val="tx1"/>
                </a:solidFill>
              </a:rPr>
              <a:t>记忆驱动的智能计算</a:t>
            </a:r>
            <a:endParaRPr lang="en-US" altLang="zh-CN" sz="2800" dirty="0">
              <a:solidFill>
                <a:schemeClr val="tx1"/>
              </a:solidFill>
            </a:endParaRPr>
          </a:p>
          <a:p>
            <a:pPr>
              <a:buFont typeface="Wingdings" panose="05000000000000000000" pitchFamily="2" charset="2"/>
              <a:buChar char="u"/>
            </a:pPr>
            <a:r>
              <a:rPr lang="zh-CN" altLang="en-US" sz="2800" dirty="0">
                <a:solidFill>
                  <a:schemeClr val="tx1"/>
                </a:solidFill>
              </a:rPr>
              <a:t> 可计算社会学</a:t>
            </a:r>
            <a:endParaRPr lang="en-US" altLang="zh-CN" sz="2800" dirty="0">
              <a:solidFill>
                <a:schemeClr val="tx1"/>
              </a:solidFill>
            </a:endParaRPr>
          </a:p>
          <a:p>
            <a:pPr>
              <a:buFont typeface="Wingdings" panose="05000000000000000000" pitchFamily="2" charset="2"/>
              <a:buChar char="u"/>
            </a:pPr>
            <a:r>
              <a:rPr lang="en-US" altLang="zh-CN" sz="2800" dirty="0">
                <a:solidFill>
                  <a:srgbClr val="C00000"/>
                </a:solidFill>
              </a:rPr>
              <a:t> </a:t>
            </a:r>
            <a:r>
              <a:rPr lang="zh-CN" altLang="en-US" sz="2800" dirty="0">
                <a:solidFill>
                  <a:srgbClr val="C00000"/>
                </a:solidFill>
              </a:rPr>
              <a:t>若干挑战</a:t>
            </a:r>
            <a:endParaRPr lang="zh-CN" altLang="en-US" sz="2800" dirty="0">
              <a:solidFill>
                <a:srgbClr val="C0000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挑战一</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sz="2800" b="0" i="0" u="none" strike="noStrike" baseline="0" dirty="0">
                <a:solidFill>
                  <a:srgbClr val="0070C0"/>
                </a:solidFill>
                <a:latin typeface="黑体" panose="02010609060101010101" pitchFamily="2" charset="-122"/>
                <a:ea typeface="黑体" panose="02010609060101010101" pitchFamily="2" charset="-122"/>
              </a:rPr>
              <a:t>人类常识知识支持下顿悟与直觉 </a:t>
            </a:r>
            <a:endParaRPr lang="zh-CN" altLang="en-US" sz="3200" dirty="0">
              <a:solidFill>
                <a:srgbClr val="0070C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6" name="文本框 5"/>
          <p:cNvSpPr txBox="1"/>
          <p:nvPr/>
        </p:nvSpPr>
        <p:spPr>
          <a:xfrm>
            <a:off x="840017" y="5037550"/>
            <a:ext cx="7254552" cy="1138773"/>
          </a:xfrm>
          <a:prstGeom prst="rect">
            <a:avLst/>
          </a:prstGeom>
          <a:noFill/>
        </p:spPr>
        <p:txBody>
          <a:bodyPr wrap="square">
            <a:spAutoFit/>
          </a:bodyPr>
          <a:lstStyle/>
          <a:p>
            <a:pPr algn="ctr"/>
            <a:endParaRPr lang="zh-CN" altLang="en-US" sz="2000" b="0" i="0" u="none" strike="noStrike" baseline="0" dirty="0">
              <a:solidFill>
                <a:srgbClr val="000000"/>
              </a:solidFill>
              <a:latin typeface="黑体" panose="02010609060101010101" pitchFamily="2" charset="-122"/>
              <a:ea typeface="黑体" panose="02010609060101010101" pitchFamily="2" charset="-122"/>
            </a:endParaRPr>
          </a:p>
          <a:p>
            <a:pPr algn="ctr"/>
            <a:r>
              <a:rPr lang="zh-CN" altLang="en-US" sz="2400" b="0" i="0" u="none" strike="noStrike" baseline="0" dirty="0">
                <a:latin typeface="黑体" panose="02010609060101010101" pitchFamily="2" charset="-122"/>
                <a:ea typeface="黑体" panose="02010609060101010101" pitchFamily="2" charset="-122"/>
              </a:rPr>
              <a:t>常识是人工智能的黑洞 </a:t>
            </a:r>
            <a:endParaRPr lang="zh-CN" altLang="en-US" sz="2400" b="0" i="0" u="none" strike="noStrike" baseline="0" dirty="0">
              <a:latin typeface="黑体" panose="02010609060101010101" pitchFamily="2" charset="-122"/>
              <a:ea typeface="黑体" panose="02010609060101010101" pitchFamily="2" charset="-122"/>
            </a:endParaRPr>
          </a:p>
          <a:p>
            <a:pPr algn="ctr"/>
            <a:r>
              <a:rPr lang="en-US" altLang="zh-CN" sz="2400" b="0" i="0" u="none" strike="noStrike" baseline="0" dirty="0">
                <a:latin typeface="Times New Roman" panose="02020603050405020304" pitchFamily="18" charset="0"/>
                <a:ea typeface="黑体" panose="02010609060101010101" pitchFamily="2" charset="-122"/>
              </a:rPr>
              <a:t>Common sense is the dark matter of artificial intelligence </a:t>
            </a:r>
            <a:endParaRPr lang="zh-CN" altLang="en-US" dirty="0"/>
          </a:p>
        </p:txBody>
      </p:sp>
      <p:pic>
        <p:nvPicPr>
          <p:cNvPr id="8" name="图片 7"/>
          <p:cNvPicPr>
            <a:picLocks noChangeAspect="1"/>
          </p:cNvPicPr>
          <p:nvPr/>
        </p:nvPicPr>
        <p:blipFill>
          <a:blip r:embed="rId1"/>
          <a:stretch>
            <a:fillRect/>
          </a:stretch>
        </p:blipFill>
        <p:spPr>
          <a:xfrm>
            <a:off x="1280436" y="2098059"/>
            <a:ext cx="6373713" cy="3275157"/>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挑战一</a:t>
            </a:r>
            <a:endParaRPr lang="zh-CN" altLang="en-US"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r>
              <a:rPr lang="zh-CN" altLang="en-US" sz="2800" b="0" i="0" u="none" strike="noStrike" baseline="0" dirty="0">
                <a:solidFill>
                  <a:srgbClr val="0070C0"/>
                </a:solidFill>
                <a:latin typeface="黑体" panose="02010609060101010101" pitchFamily="2" charset="-122"/>
                <a:ea typeface="黑体" panose="02010609060101010101" pitchFamily="2" charset="-122"/>
              </a:rPr>
              <a:t>人类常识知识支持下顿悟与直觉 </a:t>
            </a:r>
            <a:endParaRPr lang="zh-CN" altLang="en-US" sz="3200" dirty="0">
              <a:solidFill>
                <a:srgbClr val="0070C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251520" y="2060848"/>
            <a:ext cx="4935197" cy="892239"/>
          </a:xfrm>
          <a:prstGeom prst="rect">
            <a:avLst/>
          </a:prstGeom>
        </p:spPr>
      </p:pic>
      <p:pic>
        <p:nvPicPr>
          <p:cNvPr id="10" name="图片 9"/>
          <p:cNvPicPr>
            <a:picLocks noChangeAspect="1"/>
          </p:cNvPicPr>
          <p:nvPr/>
        </p:nvPicPr>
        <p:blipFill>
          <a:blip r:embed="rId2"/>
          <a:stretch>
            <a:fillRect/>
          </a:stretch>
        </p:blipFill>
        <p:spPr>
          <a:xfrm>
            <a:off x="251520" y="3239515"/>
            <a:ext cx="4935197" cy="867185"/>
          </a:xfrm>
          <a:prstGeom prst="rect">
            <a:avLst/>
          </a:prstGeom>
        </p:spPr>
      </p:pic>
      <p:pic>
        <p:nvPicPr>
          <p:cNvPr id="12" name="图片 11"/>
          <p:cNvPicPr>
            <a:picLocks noChangeAspect="1"/>
          </p:cNvPicPr>
          <p:nvPr/>
        </p:nvPicPr>
        <p:blipFill>
          <a:blip r:embed="rId3"/>
          <a:stretch>
            <a:fillRect/>
          </a:stretch>
        </p:blipFill>
        <p:spPr>
          <a:xfrm>
            <a:off x="244552" y="4361039"/>
            <a:ext cx="4942165" cy="912616"/>
          </a:xfrm>
          <a:prstGeom prst="rect">
            <a:avLst/>
          </a:prstGeom>
        </p:spPr>
      </p:pic>
      <p:sp>
        <p:nvSpPr>
          <p:cNvPr id="14" name="文本框 13"/>
          <p:cNvSpPr txBox="1"/>
          <p:nvPr/>
        </p:nvSpPr>
        <p:spPr>
          <a:xfrm>
            <a:off x="5364088" y="2117718"/>
            <a:ext cx="3681734" cy="2246769"/>
          </a:xfrm>
          <a:prstGeom prst="rect">
            <a:avLst/>
          </a:prstGeom>
          <a:noFill/>
        </p:spPr>
        <p:txBody>
          <a:bodyPr wrap="square">
            <a:spAutoFit/>
          </a:bodyPr>
          <a:lstStyle/>
          <a:p>
            <a:pPr algn="l"/>
            <a:endParaRPr lang="zh-CN" altLang="en-US" sz="2000" b="0" i="0" u="none" strike="noStrike" baseline="0" dirty="0">
              <a:solidFill>
                <a:srgbClr val="000000"/>
              </a:solidFill>
              <a:latin typeface="黑体" panose="02010609060101010101" pitchFamily="2" charset="-122"/>
              <a:ea typeface="黑体" panose="02010609060101010101" pitchFamily="2" charset="-122"/>
            </a:endParaRPr>
          </a:p>
          <a:p>
            <a:endParaRPr lang="zh-CN" altLang="en-US" sz="2000" b="0" i="0" u="none" strike="noStrike" baseline="0" dirty="0">
              <a:latin typeface="黑体" panose="02010609060101010101" pitchFamily="2" charset="-122"/>
              <a:ea typeface="黑体" panose="02010609060101010101" pitchFamily="2" charset="-122"/>
            </a:endParaRPr>
          </a:p>
          <a:p>
            <a:pPr marL="342900" indent="-342900">
              <a:buFont typeface="Arial" panose="020B0604020202020204" pitchFamily="34" charset="0"/>
              <a:buChar char="•"/>
            </a:pPr>
            <a:r>
              <a:rPr lang="zh-CN" altLang="en-US" sz="2000" b="0" i="0" u="none" strike="noStrike" baseline="0" dirty="0">
                <a:latin typeface="黑体" panose="02010609060101010101" pitchFamily="2" charset="-122"/>
                <a:ea typeface="黑体" panose="02010609060101010101" pitchFamily="2" charset="-122"/>
              </a:rPr>
              <a:t>威廉和他的三岁宝贝儿子谁身高更高 </a:t>
            </a:r>
            <a:endParaRPr lang="zh-CN" altLang="en-US" sz="2000" b="0" i="0" u="none" strike="noStrike" baseline="0" dirty="0">
              <a:latin typeface="黑体" panose="02010609060101010101" pitchFamily="2" charset="-122"/>
              <a:ea typeface="黑体" panose="02010609060101010101" pitchFamily="2" charset="-122"/>
            </a:endParaRPr>
          </a:p>
          <a:p>
            <a:pPr marL="342900" indent="-342900">
              <a:buFont typeface="Arial" panose="020B0604020202020204" pitchFamily="34" charset="0"/>
              <a:buChar char="•"/>
            </a:pPr>
            <a:r>
              <a:rPr lang="zh-CN" altLang="en-US" sz="2000" b="0" i="0" u="none" strike="noStrike" baseline="0" dirty="0">
                <a:latin typeface="黑体" panose="02010609060101010101" pitchFamily="2" charset="-122"/>
                <a:ea typeface="黑体" panose="02010609060101010101" pitchFamily="2" charset="-122"/>
              </a:rPr>
              <a:t>针扎入胡萝卜，它会留下小孔，请问这里的“它”指的是什么 </a:t>
            </a:r>
            <a:endParaRPr lang="zh-CN" altLang="en-US" sz="2000" b="0" i="0" u="none" strike="noStrike" baseline="0" dirty="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fade">
                                      <p:cBhvr>
                                        <p:cTn id="22" dur="500"/>
                                        <p:tgtEl>
                                          <p:spTgt spid="1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3" end="3"/>
                                            </p:txEl>
                                          </p:spTgt>
                                        </p:tgtEl>
                                        <p:attrNameLst>
                                          <p:attrName>style.visibility</p:attrName>
                                        </p:attrNameLst>
                                      </p:cBhvr>
                                      <p:to>
                                        <p:strVal val="visible"/>
                                      </p:to>
                                    </p:set>
                                    <p:animEffect transition="in" filter="fade">
                                      <p:cBhvr>
                                        <p:cTn id="27"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挑战二</a:t>
            </a:r>
            <a:endParaRPr lang="zh-CN" altLang="en-US" dirty="0"/>
          </a:p>
        </p:txBody>
      </p:sp>
      <p:sp>
        <p:nvSpPr>
          <p:cNvPr id="3" name="内容占位符 2"/>
          <p:cNvSpPr>
            <a:spLocks noGrp="1"/>
          </p:cNvSpPr>
          <p:nvPr>
            <p:ph idx="1"/>
          </p:nvPr>
        </p:nvSpPr>
        <p:spPr>
          <a:xfrm>
            <a:off x="822959" y="1178843"/>
            <a:ext cx="7543801" cy="4690251"/>
          </a:xfrm>
        </p:spPr>
        <p:txBody>
          <a:bodyPr/>
          <a:lstStyle/>
          <a:p>
            <a:pPr marL="0" indent="0">
              <a:buNone/>
            </a:pPr>
            <a:r>
              <a:rPr lang="zh-CN" altLang="en-US" sz="2400" b="0" i="0" u="none" strike="noStrike" baseline="0" dirty="0">
                <a:solidFill>
                  <a:srgbClr val="0070C0"/>
                </a:solidFill>
                <a:latin typeface="黑体" panose="02010609060101010101" pitchFamily="2" charset="-122"/>
                <a:ea typeface="黑体" panose="02010609060101010101" pitchFamily="2" charset="-122"/>
              </a:rPr>
              <a:t>元学习</a:t>
            </a:r>
            <a:r>
              <a:rPr lang="en-US" altLang="zh-CN" sz="2400" b="1" i="0" u="none" strike="noStrike" baseline="0" dirty="0">
                <a:solidFill>
                  <a:srgbClr val="0070C0"/>
                </a:solidFill>
                <a:latin typeface="Times New Roman" panose="02020603050405020304" pitchFamily="18" charset="0"/>
                <a:ea typeface="黑体" panose="02010609060101010101" pitchFamily="2" charset="-122"/>
              </a:rPr>
              <a:t>(</a:t>
            </a:r>
            <a:r>
              <a:rPr lang="en-GB" altLang="zh-CN" sz="2400" b="1" i="0" u="none" strike="noStrike" baseline="0" dirty="0">
                <a:solidFill>
                  <a:srgbClr val="0070C0"/>
                </a:solidFill>
                <a:latin typeface="Times New Roman" panose="02020603050405020304" pitchFamily="18" charset="0"/>
                <a:ea typeface="黑体" panose="02010609060101010101" pitchFamily="2" charset="-122"/>
              </a:rPr>
              <a:t>meta-learning)</a:t>
            </a:r>
            <a:r>
              <a:rPr lang="zh-CN" altLang="en-US" sz="2400" b="0" i="0" u="none" strike="noStrike" baseline="0" dirty="0">
                <a:solidFill>
                  <a:srgbClr val="0070C0"/>
                </a:solidFill>
                <a:latin typeface="黑体" panose="02010609060101010101" pitchFamily="2" charset="-122"/>
                <a:ea typeface="黑体" panose="02010609060101010101" pitchFamily="2" charset="-122"/>
              </a:rPr>
              <a:t>理论：“利用与探索”的多巴胺神经计算机制 </a:t>
            </a:r>
            <a:endParaRPr lang="en-US" altLang="zh-CN" sz="2400" b="0" i="0" u="none" strike="noStrike" baseline="0" dirty="0">
              <a:solidFill>
                <a:srgbClr val="0070C0"/>
              </a:solidFill>
              <a:latin typeface="黑体" panose="02010609060101010101" pitchFamily="2" charset="-122"/>
              <a:ea typeface="黑体" panose="02010609060101010101" pitchFamily="2" charset="-122"/>
            </a:endParaRPr>
          </a:p>
          <a:p>
            <a:pPr marL="0" indent="0" algn="l">
              <a:buNone/>
            </a:pPr>
            <a:r>
              <a:rPr lang="zh-CN" altLang="en-US" b="0" i="0" u="none" strike="noStrike" baseline="0" dirty="0">
                <a:latin typeface="黑体" panose="02010609060101010101" pitchFamily="2" charset="-122"/>
                <a:ea typeface="黑体" panose="02010609060101010101" pitchFamily="2" charset="-122"/>
              </a:rPr>
              <a:t>多巴胺</a:t>
            </a:r>
            <a:r>
              <a:rPr lang="zh-CN" altLang="en-US" dirty="0">
                <a:latin typeface="黑体" panose="02010609060101010101" pitchFamily="2" charset="-122"/>
                <a:ea typeface="黑体" panose="02010609060101010101" pitchFamily="2" charset="-122"/>
              </a:rPr>
              <a:t>（</a:t>
            </a:r>
            <a:r>
              <a:rPr lang="zh-CN" altLang="en-US" b="0" i="0" u="none" strike="noStrike" baseline="0" dirty="0">
                <a:latin typeface="黑体" panose="02010609060101010101" pitchFamily="2" charset="-122"/>
                <a:ea typeface="黑体" panose="02010609060101010101" pitchFamily="2" charset="-122"/>
              </a:rPr>
              <a:t>神经传导物质，快乐信号，</a:t>
            </a:r>
            <a:r>
              <a:rPr lang="en-US" altLang="zh-CN" b="0" i="0" u="none" strike="noStrike" baseline="0" dirty="0">
                <a:latin typeface="Times New Roman" panose="02020603050405020304" pitchFamily="18" charset="0"/>
                <a:ea typeface="黑体" panose="02010609060101010101" pitchFamily="2" charset="-122"/>
              </a:rPr>
              <a:t>2000</a:t>
            </a:r>
            <a:r>
              <a:rPr lang="zh-CN" altLang="en-US" b="0" i="0" u="none" strike="noStrike" baseline="0" dirty="0">
                <a:latin typeface="黑体" panose="02010609060101010101" pitchFamily="2" charset="-122"/>
                <a:ea typeface="黑体" panose="02010609060101010101" pitchFamily="2" charset="-122"/>
              </a:rPr>
              <a:t>年诺贝尔医学奖）在人脑学习过程中“周旋”于已得回报和预期回报 </a:t>
            </a:r>
            <a:endParaRPr lang="en-US" altLang="zh-CN" sz="2800" b="0" i="0" u="none" strike="noStrike" baseline="0" dirty="0">
              <a:solidFill>
                <a:srgbClr val="0070C0"/>
              </a:solidFill>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8" name="图片 7"/>
          <p:cNvPicPr>
            <a:picLocks noChangeAspect="1"/>
          </p:cNvPicPr>
          <p:nvPr/>
        </p:nvPicPr>
        <p:blipFill>
          <a:blip r:embed="rId1"/>
          <a:stretch>
            <a:fillRect/>
          </a:stretch>
        </p:blipFill>
        <p:spPr>
          <a:xfrm>
            <a:off x="0" y="1870329"/>
            <a:ext cx="9144000" cy="3356167"/>
          </a:xfrm>
          <a:prstGeom prst="rect">
            <a:avLst/>
          </a:prstGeom>
        </p:spPr>
      </p:pic>
      <p:sp>
        <p:nvSpPr>
          <p:cNvPr id="10" name="文本框 9"/>
          <p:cNvSpPr txBox="1"/>
          <p:nvPr/>
        </p:nvSpPr>
        <p:spPr>
          <a:xfrm>
            <a:off x="776078" y="4982210"/>
            <a:ext cx="8188409" cy="1107996"/>
          </a:xfrm>
          <a:prstGeom prst="rect">
            <a:avLst/>
          </a:prstGeom>
          <a:noFill/>
        </p:spPr>
        <p:txBody>
          <a:bodyPr wrap="square">
            <a:spAutoFit/>
          </a:bodyPr>
          <a:lstStyle/>
          <a:p>
            <a:pPr algn="l"/>
            <a:endParaRPr lang="zh-CN" altLang="en-US" sz="1800" b="0" i="0" u="none" strike="noStrike" baseline="0" dirty="0">
              <a:solidFill>
                <a:srgbClr val="000000"/>
              </a:solidFill>
              <a:latin typeface="黑体" panose="02010609060101010101" pitchFamily="2" charset="-122"/>
              <a:ea typeface="黑体" panose="02010609060101010101" pitchFamily="2" charset="-122"/>
            </a:endParaRPr>
          </a:p>
          <a:p>
            <a:r>
              <a:rPr lang="zh-CN" altLang="en-US" sz="2400" b="0" i="0" u="none" strike="noStrike" baseline="0" dirty="0">
                <a:latin typeface="黑体" panose="02010609060101010101" pitchFamily="2" charset="-122"/>
                <a:ea typeface="黑体" panose="02010609060101010101" pitchFamily="2" charset="-122"/>
              </a:rPr>
              <a:t>通过观察成人努力实现目标的行为和反应，婴幼儿的坚持性提高，并且努力去完成一个新的和困难的任务 </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挑战二</a:t>
            </a:r>
            <a:endParaRPr lang="zh-CN" altLang="en-US" dirty="0"/>
          </a:p>
        </p:txBody>
      </p:sp>
      <p:sp>
        <p:nvSpPr>
          <p:cNvPr id="3" name="内容占位符 2"/>
          <p:cNvSpPr>
            <a:spLocks noGrp="1"/>
          </p:cNvSpPr>
          <p:nvPr>
            <p:ph idx="1"/>
          </p:nvPr>
        </p:nvSpPr>
        <p:spPr>
          <a:xfrm>
            <a:off x="822959" y="1178843"/>
            <a:ext cx="7543801" cy="4690251"/>
          </a:xfrm>
        </p:spPr>
        <p:txBody>
          <a:bodyPr/>
          <a:lstStyle/>
          <a:p>
            <a:pPr marL="0" indent="0">
              <a:buNone/>
            </a:pPr>
            <a:r>
              <a:rPr lang="zh-CN" altLang="en-US" sz="2400" b="0" i="0" u="none" strike="noStrike" baseline="0" dirty="0">
                <a:solidFill>
                  <a:srgbClr val="0070C0"/>
                </a:solidFill>
                <a:latin typeface="黑体" panose="02010609060101010101" pitchFamily="2" charset="-122"/>
                <a:ea typeface="黑体" panose="02010609060101010101" pitchFamily="2" charset="-122"/>
              </a:rPr>
              <a:t>元学习</a:t>
            </a:r>
            <a:r>
              <a:rPr lang="en-US" altLang="zh-CN" sz="2400" b="1" i="0" u="none" strike="noStrike" baseline="0" dirty="0">
                <a:solidFill>
                  <a:srgbClr val="0070C0"/>
                </a:solidFill>
                <a:latin typeface="Times New Roman" panose="02020603050405020304" pitchFamily="18" charset="0"/>
                <a:ea typeface="黑体" panose="02010609060101010101" pitchFamily="2" charset="-122"/>
              </a:rPr>
              <a:t>(</a:t>
            </a:r>
            <a:r>
              <a:rPr lang="en-GB" altLang="zh-CN" sz="2400" b="1" i="0" u="none" strike="noStrike" baseline="0" dirty="0">
                <a:solidFill>
                  <a:srgbClr val="0070C0"/>
                </a:solidFill>
                <a:latin typeface="Times New Roman" panose="02020603050405020304" pitchFamily="18" charset="0"/>
                <a:ea typeface="黑体" panose="02010609060101010101" pitchFamily="2" charset="-122"/>
              </a:rPr>
              <a:t>meta-learning)</a:t>
            </a:r>
            <a:r>
              <a:rPr lang="zh-CN" altLang="en-US" sz="2400" b="0" i="0" u="none" strike="noStrike" baseline="0" dirty="0">
                <a:solidFill>
                  <a:srgbClr val="0070C0"/>
                </a:solidFill>
                <a:latin typeface="黑体" panose="02010609060101010101" pitchFamily="2" charset="-122"/>
                <a:ea typeface="黑体" panose="02010609060101010101" pitchFamily="2" charset="-122"/>
              </a:rPr>
              <a:t>理论：“利用与探索”的多巴胺神经计算机制 </a:t>
            </a:r>
            <a:endParaRPr lang="en-US" altLang="zh-CN" sz="2400" b="0" i="0" u="none" strike="noStrike" baseline="0" dirty="0">
              <a:solidFill>
                <a:srgbClr val="0070C0"/>
              </a:solidFill>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822958" y="1915568"/>
            <a:ext cx="5589610" cy="4081438"/>
          </a:xfrm>
          <a:prstGeom prst="rect">
            <a:avLst/>
          </a:prstGeom>
        </p:spPr>
      </p:pic>
      <p:sp>
        <p:nvSpPr>
          <p:cNvPr id="8" name="文本框 7"/>
          <p:cNvSpPr txBox="1"/>
          <p:nvPr/>
        </p:nvSpPr>
        <p:spPr>
          <a:xfrm>
            <a:off x="6156176" y="1951672"/>
            <a:ext cx="2727895" cy="1477328"/>
          </a:xfrm>
          <a:prstGeom prst="rect">
            <a:avLst/>
          </a:prstGeom>
          <a:noFill/>
        </p:spPr>
        <p:txBody>
          <a:bodyPr wrap="square">
            <a:spAutoFit/>
          </a:bodyPr>
          <a:lstStyle/>
          <a:p>
            <a:pPr marL="0" marR="0" lvl="0" indent="0" algn="l" defTabSz="762000" rtl="0" eaLnBrk="0" fontAlgn="base" latinLnBrk="0" hangingPunct="0">
              <a:lnSpc>
                <a:spcPct val="100000"/>
              </a:lnSpc>
              <a:spcBef>
                <a:spcPct val="30000"/>
              </a:spcBef>
              <a:spcAft>
                <a:spcPct val="0"/>
              </a:spcAft>
              <a:buClrTx/>
              <a:buSzTx/>
              <a:buFontTx/>
              <a:buNone/>
              <a:defRPr/>
            </a:pPr>
            <a:r>
              <a:rPr lang="zh-CN" altLang="en-US" sz="1800" b="0" i="0" u="none" strike="noStrike" baseline="0" dirty="0">
                <a:latin typeface="黑体" panose="02010609060101010101" pitchFamily="2" charset="-122"/>
                <a:ea typeface="黑体" panose="02010609060101010101" pitchFamily="2" charset="-122"/>
              </a:rPr>
              <a:t>多巴胺</a:t>
            </a:r>
            <a:r>
              <a:rPr lang="zh-CN" altLang="en-US" sz="1800" dirty="0">
                <a:latin typeface="黑体" panose="02010609060101010101" pitchFamily="2" charset="-122"/>
                <a:ea typeface="黑体" panose="02010609060101010101" pitchFamily="2" charset="-122"/>
              </a:rPr>
              <a:t>（</a:t>
            </a:r>
            <a:r>
              <a:rPr lang="zh-CN" altLang="en-US" sz="1800" b="0" i="0" u="none" strike="noStrike" baseline="0" dirty="0">
                <a:latin typeface="黑体" panose="02010609060101010101" pitchFamily="2" charset="-122"/>
                <a:ea typeface="黑体" panose="02010609060101010101" pitchFamily="2" charset="-122"/>
              </a:rPr>
              <a:t>神经传导物质，快乐信号）在人脑学习过程中“周旋”于已得回报和预期回报 </a:t>
            </a:r>
            <a:endParaRPr lang="en-US" altLang="zh-CN" sz="1800" b="0" i="0" u="none" strike="noStrike" baseline="0" dirty="0">
              <a:solidFill>
                <a:srgbClr val="0070C0"/>
              </a:solidFill>
              <a:latin typeface="黑体" panose="02010609060101010101" pitchFamily="2" charset="-122"/>
              <a:ea typeface="黑体" panose="02010609060101010101" pitchFamily="2" charset="-122"/>
            </a:endParaRPr>
          </a:p>
          <a:p>
            <a:endParaRPr lang="zh-CN"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挑战二</a:t>
            </a:r>
            <a:endParaRPr lang="zh-CN" altLang="en-US" dirty="0"/>
          </a:p>
        </p:txBody>
      </p:sp>
      <p:sp>
        <p:nvSpPr>
          <p:cNvPr id="3" name="内容占位符 2"/>
          <p:cNvSpPr>
            <a:spLocks noGrp="1"/>
          </p:cNvSpPr>
          <p:nvPr>
            <p:ph idx="1"/>
          </p:nvPr>
        </p:nvSpPr>
        <p:spPr>
          <a:xfrm>
            <a:off x="822959" y="1178843"/>
            <a:ext cx="7543801" cy="4690251"/>
          </a:xfrm>
        </p:spPr>
        <p:txBody>
          <a:bodyPr/>
          <a:lstStyle/>
          <a:p>
            <a:pPr marL="0" indent="0">
              <a:buNone/>
            </a:pPr>
            <a:r>
              <a:rPr lang="zh-CN" altLang="en-US" sz="2400" b="0" i="0" u="none" strike="noStrike" baseline="0" dirty="0">
                <a:solidFill>
                  <a:srgbClr val="0070C0"/>
                </a:solidFill>
                <a:latin typeface="黑体" panose="02010609060101010101" pitchFamily="2" charset="-122"/>
                <a:ea typeface="黑体" panose="02010609060101010101" pitchFamily="2" charset="-122"/>
              </a:rPr>
              <a:t>元学习</a:t>
            </a:r>
            <a:r>
              <a:rPr lang="en-US" altLang="zh-CN" sz="2400" b="1" i="0" u="none" strike="noStrike" baseline="0" dirty="0">
                <a:solidFill>
                  <a:srgbClr val="0070C0"/>
                </a:solidFill>
                <a:latin typeface="Times New Roman" panose="02020603050405020304" pitchFamily="18" charset="0"/>
                <a:ea typeface="黑体" panose="02010609060101010101" pitchFamily="2" charset="-122"/>
              </a:rPr>
              <a:t>(</a:t>
            </a:r>
            <a:r>
              <a:rPr lang="en-GB" altLang="zh-CN" sz="2400" b="1" i="0" u="none" strike="noStrike" baseline="0" dirty="0">
                <a:solidFill>
                  <a:srgbClr val="0070C0"/>
                </a:solidFill>
                <a:latin typeface="Times New Roman" panose="02020603050405020304" pitchFamily="18" charset="0"/>
                <a:ea typeface="黑体" panose="02010609060101010101" pitchFamily="2" charset="-122"/>
              </a:rPr>
              <a:t>meta-learning)</a:t>
            </a:r>
            <a:r>
              <a:rPr lang="zh-CN" altLang="en-US" sz="2400" b="0" i="0" u="none" strike="noStrike" baseline="0" dirty="0">
                <a:solidFill>
                  <a:srgbClr val="0070C0"/>
                </a:solidFill>
                <a:latin typeface="黑体" panose="02010609060101010101" pitchFamily="2" charset="-122"/>
                <a:ea typeface="黑体" panose="02010609060101010101" pitchFamily="2" charset="-122"/>
              </a:rPr>
              <a:t>理论：“利用与探索”的多巴胺神经计算机制 </a:t>
            </a:r>
            <a:endParaRPr lang="en-US" altLang="zh-CN" sz="2400" b="0" i="0" u="none" strike="noStrike" baseline="0" dirty="0">
              <a:solidFill>
                <a:srgbClr val="0070C0"/>
              </a:solidFill>
              <a:latin typeface="黑体" panose="02010609060101010101" pitchFamily="2" charset="-122"/>
              <a:ea typeface="黑体" panose="02010609060101010101" pitchFamily="2" charset="-122"/>
            </a:endParaRPr>
          </a:p>
          <a:p>
            <a:pPr marL="0" indent="0" algn="l">
              <a:buNone/>
            </a:pPr>
            <a:endParaRPr lang="en-US" altLang="zh-CN" b="0" i="0" u="none" strike="noStrike" baseline="0" dirty="0">
              <a:latin typeface="黑体" panose="02010609060101010101" pitchFamily="2" charset="-122"/>
              <a:ea typeface="黑体" panose="02010609060101010101" pitchFamily="2" charset="-122"/>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751761" y="2295602"/>
            <a:ext cx="4082792" cy="1514725"/>
          </a:xfrm>
          <a:prstGeom prst="rect">
            <a:avLst/>
          </a:prstGeom>
        </p:spPr>
      </p:pic>
      <p:sp>
        <p:nvSpPr>
          <p:cNvPr id="9" name="文本框 8"/>
          <p:cNvSpPr txBox="1"/>
          <p:nvPr/>
        </p:nvSpPr>
        <p:spPr>
          <a:xfrm>
            <a:off x="1015028" y="3355393"/>
            <a:ext cx="7351731" cy="2513701"/>
          </a:xfrm>
          <a:prstGeom prst="rect">
            <a:avLst/>
          </a:prstGeom>
          <a:noFill/>
        </p:spPr>
        <p:txBody>
          <a:bodyPr wrap="square">
            <a:spAutoFit/>
          </a:bodyPr>
          <a:lstStyle/>
          <a:p>
            <a:pPr algn="l">
              <a:lnSpc>
                <a:spcPct val="150000"/>
              </a:lnSpc>
            </a:pPr>
            <a:endParaRPr lang="zh-CN" altLang="en-US" sz="1800" b="0" i="0" u="none" strike="noStrike" baseline="0" dirty="0">
              <a:solidFill>
                <a:srgbClr val="000000"/>
              </a:solidFill>
              <a:latin typeface="Wingdings" panose="05000000000000000000" pitchFamily="2" charset="2"/>
            </a:endParaRPr>
          </a:p>
          <a:p>
            <a:pPr>
              <a:lnSpc>
                <a:spcPct val="150000"/>
              </a:lnSpc>
            </a:pPr>
            <a:endParaRPr lang="zh-CN" altLang="en-US" sz="1800" b="0" i="0" u="none" strike="noStrike" baseline="0" dirty="0">
              <a:latin typeface="Wingdings" panose="05000000000000000000" pitchFamily="2" charset="2"/>
            </a:endParaRPr>
          </a:p>
          <a:p>
            <a:pPr>
              <a:lnSpc>
                <a:spcPct val="150000"/>
              </a:lnSpc>
            </a:pPr>
            <a:r>
              <a:rPr lang="zh-CN" altLang="en-US" sz="2400" b="0" i="0" u="none" strike="noStrike" baseline="0" dirty="0">
                <a:latin typeface="Wingdings" panose="05000000000000000000" pitchFamily="2" charset="2"/>
              </a:rPr>
              <a:t></a:t>
            </a:r>
            <a:r>
              <a:rPr lang="zh-CN" altLang="en-US" sz="2400" b="0" i="0" u="none" strike="noStrike" baseline="0" dirty="0">
                <a:latin typeface="黑体" panose="02010609060101010101" pitchFamily="2" charset="-122"/>
                <a:ea typeface="黑体" panose="02010609060101010101" pitchFamily="2" charset="-122"/>
              </a:rPr>
              <a:t>基于结构和模型的学习是如何发生在脑中的 </a:t>
            </a:r>
            <a:endParaRPr lang="zh-CN" altLang="en-US" sz="2400" b="0" i="0" u="none" strike="noStrike" baseline="0" dirty="0">
              <a:latin typeface="黑体" panose="02010609060101010101" pitchFamily="2" charset="-122"/>
              <a:ea typeface="黑体" panose="02010609060101010101" pitchFamily="2" charset="-122"/>
            </a:endParaRPr>
          </a:p>
          <a:p>
            <a:pPr>
              <a:lnSpc>
                <a:spcPct val="150000"/>
              </a:lnSpc>
            </a:pPr>
            <a:r>
              <a:rPr lang="zh-CN" altLang="en-US" sz="2400" b="0" i="0" u="none" strike="noStrike" baseline="0" dirty="0">
                <a:latin typeface="Wingdings" panose="05000000000000000000" pitchFamily="2" charset="2"/>
                <a:ea typeface="黑体" panose="02010609060101010101" pitchFamily="2" charset="-122"/>
              </a:rPr>
              <a:t></a:t>
            </a:r>
            <a:r>
              <a:rPr lang="zh-CN" altLang="en-US" sz="2400" b="0" i="0" u="none" strike="noStrike" baseline="0" dirty="0">
                <a:latin typeface="黑体" panose="02010609060101010101" pitchFamily="2" charset="-122"/>
                <a:ea typeface="黑体" panose="02010609060101010101" pitchFamily="2" charset="-122"/>
              </a:rPr>
              <a:t>为什么多巴胺本身就编码模型信息 </a:t>
            </a:r>
            <a:endParaRPr lang="zh-CN" altLang="en-US" sz="2400" b="0" i="0" u="none" strike="noStrike" baseline="0" dirty="0">
              <a:latin typeface="黑体" panose="02010609060101010101" pitchFamily="2" charset="-122"/>
              <a:ea typeface="黑体" panose="02010609060101010101" pitchFamily="2" charset="-122"/>
            </a:endParaRPr>
          </a:p>
          <a:p>
            <a:pPr>
              <a:lnSpc>
                <a:spcPct val="150000"/>
              </a:lnSpc>
            </a:pPr>
            <a:r>
              <a:rPr lang="zh-CN" altLang="en-US" sz="2400" b="0" i="0" u="none" strike="noStrike" baseline="0" dirty="0">
                <a:latin typeface="Wingdings" panose="05000000000000000000" pitchFamily="2" charset="2"/>
                <a:ea typeface="黑体" panose="02010609060101010101" pitchFamily="2" charset="-122"/>
              </a:rPr>
              <a:t></a:t>
            </a:r>
            <a:r>
              <a:rPr lang="zh-CN" altLang="en-US" sz="2400" b="0" i="0" u="none" strike="noStrike" baseline="0" dirty="0">
                <a:latin typeface="黑体" panose="02010609060101010101" pitchFamily="2" charset="-122"/>
                <a:ea typeface="黑体" panose="02010609060101010101" pitchFamily="2" charset="-122"/>
              </a:rPr>
              <a:t>前额叶皮质的神经元是如何调节学习信号的 </a:t>
            </a:r>
            <a:endParaRPr lang="zh-CN" altLang="en-US" sz="2400" b="0" i="0" u="none" strike="noStrike" baseline="0" dirty="0">
              <a:latin typeface="黑体" panose="02010609060101010101" pitchFamily="2" charset="-122"/>
              <a:ea typeface="黑体" panose="02010609060101010101" pitchFamily="2" charset="-122"/>
            </a:endParaRPr>
          </a:p>
        </p:txBody>
      </p:sp>
      <p:sp>
        <p:nvSpPr>
          <p:cNvPr id="14" name="文本框 13"/>
          <p:cNvSpPr txBox="1"/>
          <p:nvPr/>
        </p:nvSpPr>
        <p:spPr>
          <a:xfrm>
            <a:off x="4943571" y="1856002"/>
            <a:ext cx="3892497" cy="1938992"/>
          </a:xfrm>
          <a:prstGeom prst="rect">
            <a:avLst/>
          </a:prstGeom>
          <a:solidFill>
            <a:srgbClr val="FFC000"/>
          </a:solidFill>
        </p:spPr>
        <p:txBody>
          <a:bodyPr wrap="square">
            <a:spAutoFit/>
          </a:bodyPr>
          <a:lstStyle/>
          <a:p>
            <a:r>
              <a:rPr lang="zh-CN" altLang="en-US" sz="2400" b="0" i="0" u="none" strike="noStrike" baseline="0" dirty="0">
                <a:latin typeface="黑体" panose="02010609060101010101" pitchFamily="2" charset="-122"/>
                <a:ea typeface="黑体" panose="02010609060101010101" pitchFamily="2" charset="-122"/>
              </a:rPr>
              <a:t>多巴胺奖励信号不仅仅是对权重进行调整，它还负责编码、传递抽象任务与规则结构的重要信息，从而使快速任务适应成为可能</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9">
                                            <p:txEl>
                                              <p:pRg st="3" end="3"/>
                                            </p:txEl>
                                          </p:spTgt>
                                        </p:tgtEl>
                                        <p:attrNameLst>
                                          <p:attrName>style.visibility</p:attrName>
                                        </p:attrNameLst>
                                      </p:cBhvr>
                                      <p:to>
                                        <p:strVal val="visible"/>
                                      </p:to>
                                    </p:set>
                                    <p:animEffect transition="in" filter="fade">
                                      <p:cBhvr>
                                        <p:cTn id="20" dur="500"/>
                                        <p:tgtEl>
                                          <p:spTgt spid="9">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animEffect transition="in" filter="fade">
                                      <p:cBhvr>
                                        <p:cTn id="23"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挑战三</a:t>
            </a:r>
            <a:endParaRPr lang="zh-CN" altLang="en-US" dirty="0"/>
          </a:p>
        </p:txBody>
      </p:sp>
      <p:sp>
        <p:nvSpPr>
          <p:cNvPr id="3" name="内容占位符 2"/>
          <p:cNvSpPr>
            <a:spLocks noGrp="1"/>
          </p:cNvSpPr>
          <p:nvPr>
            <p:ph idx="1"/>
          </p:nvPr>
        </p:nvSpPr>
        <p:spPr>
          <a:xfrm>
            <a:off x="777240" y="1124744"/>
            <a:ext cx="7543801" cy="4384310"/>
          </a:xfrm>
        </p:spPr>
        <p:txBody>
          <a:bodyPr/>
          <a:lstStyle/>
          <a:p>
            <a:r>
              <a:rPr lang="zh-CN" altLang="en-US" sz="2400" b="0" i="0" u="none" strike="noStrike" baseline="0" dirty="0">
                <a:solidFill>
                  <a:srgbClr val="0070C0"/>
                </a:solidFill>
                <a:latin typeface="黑体" panose="02010609060101010101" pitchFamily="2" charset="-122"/>
                <a:ea typeface="黑体" panose="02010609060101010101" pitchFamily="2" charset="-122"/>
              </a:rPr>
              <a:t>大脑的贝叶斯模型和因果推理 </a:t>
            </a:r>
            <a:endParaRPr lang="zh-CN" altLang="en-US" sz="2800" dirty="0">
              <a:solidFill>
                <a:srgbClr val="0070C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6" name="文本框 5"/>
          <p:cNvSpPr txBox="1"/>
          <p:nvPr/>
        </p:nvSpPr>
        <p:spPr>
          <a:xfrm>
            <a:off x="525046" y="1661564"/>
            <a:ext cx="3457876" cy="1631216"/>
          </a:xfrm>
          <a:prstGeom prst="rect">
            <a:avLst/>
          </a:prstGeom>
          <a:noFill/>
        </p:spPr>
        <p:txBody>
          <a:bodyPr wrap="square">
            <a:spAutoFit/>
          </a:bodyPr>
          <a:lstStyle/>
          <a:p>
            <a:r>
              <a:rPr lang="zh-CN" altLang="en-US" sz="2000" b="0" i="0" u="none" strike="noStrike" baseline="0" dirty="0">
                <a:latin typeface="黑体" panose="02010609060101010101" pitchFamily="2" charset="-122"/>
                <a:ea typeface="黑体" panose="02010609060101010101" pitchFamily="2" charset="-122"/>
              </a:rPr>
              <a:t>认知科学：大脑将外界信息计算得到概率赋予其所主动构建的“世界假设”，并加以调整优化。即比较“现有经验”和“未来期望” 。 </a:t>
            </a:r>
            <a:endParaRPr lang="zh-CN" altLang="en-US" sz="2000" dirty="0"/>
          </a:p>
        </p:txBody>
      </p:sp>
      <p:sp>
        <p:nvSpPr>
          <p:cNvPr id="8" name="文本框 7"/>
          <p:cNvSpPr txBox="1"/>
          <p:nvPr/>
        </p:nvSpPr>
        <p:spPr>
          <a:xfrm>
            <a:off x="525046" y="2771891"/>
            <a:ext cx="3457876" cy="2554545"/>
          </a:xfrm>
          <a:prstGeom prst="rect">
            <a:avLst/>
          </a:prstGeom>
          <a:noFill/>
        </p:spPr>
        <p:txBody>
          <a:bodyPr wrap="square">
            <a:spAutoFit/>
          </a:bodyPr>
          <a:lstStyle/>
          <a:p>
            <a:pPr algn="l"/>
            <a:endParaRPr lang="zh-CN" altLang="en-US" sz="2000" b="0" i="0" u="none" strike="noStrike" baseline="0" dirty="0">
              <a:solidFill>
                <a:srgbClr val="000000"/>
              </a:solidFill>
              <a:latin typeface="Wingdings" panose="05000000000000000000" pitchFamily="2" charset="2"/>
            </a:endParaRPr>
          </a:p>
          <a:p>
            <a:endParaRPr lang="zh-CN" altLang="en-US" sz="2000" b="0" i="0" u="none" strike="noStrike" baseline="0" dirty="0">
              <a:latin typeface="Wingdings" panose="05000000000000000000" pitchFamily="2" charset="2"/>
            </a:endParaRPr>
          </a:p>
          <a:p>
            <a:r>
              <a:rPr lang="zh-CN" altLang="en-US" sz="2000" b="0" i="0" u="none" strike="noStrike" baseline="0" dirty="0">
                <a:latin typeface="Wingdings" panose="05000000000000000000" pitchFamily="2" charset="2"/>
              </a:rPr>
              <a:t></a:t>
            </a:r>
            <a:r>
              <a:rPr lang="zh-CN" altLang="en-US" sz="2000" b="0" i="0" u="none" strike="noStrike" baseline="0" dirty="0">
                <a:latin typeface="黑体" panose="02010609060101010101" pitchFamily="2" charset="-122"/>
                <a:ea typeface="黑体" panose="02010609060101010101" pitchFamily="2" charset="-122"/>
              </a:rPr>
              <a:t>大脑如何在神经回路尺度上进行模型构建和推断，将自底向上与自上而下相互结合</a:t>
            </a:r>
            <a:endParaRPr lang="en-US" altLang="zh-CN" sz="2000" b="0" i="0" u="none" strike="noStrike" baseline="0" dirty="0">
              <a:latin typeface="黑体" panose="02010609060101010101" pitchFamily="2" charset="-122"/>
              <a:ea typeface="黑体" panose="02010609060101010101" pitchFamily="2" charset="-122"/>
            </a:endParaRPr>
          </a:p>
          <a:p>
            <a:r>
              <a:rPr lang="zh-CN" altLang="en-US" sz="2000" b="0" i="0" u="none" strike="noStrike" baseline="0" dirty="0">
                <a:latin typeface="黑体" panose="02010609060101010101" pitchFamily="2" charset="-122"/>
                <a:ea typeface="黑体" panose="02010609060101010101" pitchFamily="2" charset="-122"/>
              </a:rPr>
              <a:t> </a:t>
            </a:r>
            <a:endParaRPr lang="zh-CN" altLang="en-US" sz="2000" b="0" i="0" u="none" strike="noStrike" baseline="0" dirty="0">
              <a:latin typeface="黑体" panose="02010609060101010101" pitchFamily="2" charset="-122"/>
              <a:ea typeface="黑体" panose="02010609060101010101" pitchFamily="2" charset="-122"/>
            </a:endParaRPr>
          </a:p>
          <a:p>
            <a:r>
              <a:rPr lang="zh-CN" altLang="en-US" sz="2000" b="0" i="0" u="none" strike="noStrike" baseline="0" dirty="0">
                <a:latin typeface="Wingdings" panose="05000000000000000000" pitchFamily="2" charset="2"/>
                <a:ea typeface="黑体" panose="02010609060101010101" pitchFamily="2" charset="-122"/>
              </a:rPr>
              <a:t></a:t>
            </a:r>
            <a:r>
              <a:rPr lang="zh-CN" altLang="en-US" sz="2000" b="0" i="0" u="none" strike="noStrike" baseline="0" dirty="0">
                <a:latin typeface="黑体" panose="02010609060101010101" pitchFamily="2" charset="-122"/>
                <a:ea typeface="黑体" panose="02010609060101010101" pitchFamily="2" charset="-122"/>
              </a:rPr>
              <a:t>贝叶斯模型如何整合感知、认知、理性和意识 </a:t>
            </a:r>
            <a:endParaRPr lang="zh-CN" altLang="en-US" sz="2000" b="0" i="0" u="none" strike="noStrike" baseline="0" dirty="0">
              <a:latin typeface="黑体" panose="02010609060101010101" pitchFamily="2" charset="-122"/>
              <a:ea typeface="黑体" panose="02010609060101010101" pitchFamily="2" charset="-122"/>
            </a:endParaRPr>
          </a:p>
        </p:txBody>
      </p:sp>
      <p:pic>
        <p:nvPicPr>
          <p:cNvPr id="10" name="图片 9"/>
          <p:cNvPicPr>
            <a:picLocks noChangeAspect="1"/>
          </p:cNvPicPr>
          <p:nvPr/>
        </p:nvPicPr>
        <p:blipFill>
          <a:blip r:embed="rId1"/>
          <a:stretch>
            <a:fillRect/>
          </a:stretch>
        </p:blipFill>
        <p:spPr>
          <a:xfrm>
            <a:off x="4235116" y="1521311"/>
            <a:ext cx="4695825" cy="4838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fade">
                                      <p:cBhvr>
                                        <p:cTn id="20" dur="500"/>
                                        <p:tgtEl>
                                          <p:spTgt spid="8">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Effect transition="in" filter="fade">
                                      <p:cBhvr>
                                        <p:cTn id="23"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挑战三</a:t>
            </a:r>
            <a:endParaRPr lang="zh-CN" altLang="en-US" dirty="0"/>
          </a:p>
        </p:txBody>
      </p:sp>
      <p:sp>
        <p:nvSpPr>
          <p:cNvPr id="3" name="内容占位符 2"/>
          <p:cNvSpPr>
            <a:spLocks noGrp="1"/>
          </p:cNvSpPr>
          <p:nvPr>
            <p:ph idx="1"/>
          </p:nvPr>
        </p:nvSpPr>
        <p:spPr>
          <a:xfrm>
            <a:off x="777240" y="1124744"/>
            <a:ext cx="7543801" cy="4384310"/>
          </a:xfrm>
        </p:spPr>
        <p:txBody>
          <a:bodyPr/>
          <a:lstStyle/>
          <a:p>
            <a:r>
              <a:rPr lang="zh-CN" altLang="en-US" sz="2400" b="0" i="0" u="none" strike="noStrike" baseline="0" dirty="0">
                <a:solidFill>
                  <a:srgbClr val="0070C0"/>
                </a:solidFill>
                <a:latin typeface="黑体" panose="02010609060101010101" pitchFamily="2" charset="-122"/>
                <a:ea typeface="黑体" panose="02010609060101010101" pitchFamily="2" charset="-122"/>
              </a:rPr>
              <a:t>大脑的贝叶斯模型和因果推理 </a:t>
            </a:r>
            <a:endParaRPr lang="zh-CN" altLang="en-US" sz="2800" dirty="0">
              <a:solidFill>
                <a:srgbClr val="0070C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6" name="文本框 5"/>
          <p:cNvSpPr txBox="1"/>
          <p:nvPr/>
        </p:nvSpPr>
        <p:spPr>
          <a:xfrm>
            <a:off x="525046" y="1661564"/>
            <a:ext cx="3457876" cy="1323439"/>
          </a:xfrm>
          <a:prstGeom prst="rect">
            <a:avLst/>
          </a:prstGeom>
          <a:noFill/>
        </p:spPr>
        <p:txBody>
          <a:bodyPr wrap="square">
            <a:spAutoFit/>
          </a:bodyPr>
          <a:lstStyle/>
          <a:p>
            <a:r>
              <a:rPr lang="zh-CN" altLang="en-US" sz="2000" dirty="0">
                <a:latin typeface="黑体" panose="02010609060101010101" pitchFamily="2" charset="-122"/>
                <a:ea typeface="黑体" panose="02010609060101010101" pitchFamily="2" charset="-122"/>
              </a:rPr>
              <a:t>认知科学：大脑不是在被动等待外界输入信息，而是主动构建尚未“显性描述”的世界的假设。</a:t>
            </a:r>
            <a:endParaRPr lang="zh-CN" altLang="en-US" sz="2000" dirty="0"/>
          </a:p>
        </p:txBody>
      </p:sp>
      <p:pic>
        <p:nvPicPr>
          <p:cNvPr id="7" name="图片 6"/>
          <p:cNvPicPr>
            <a:picLocks noChangeAspect="1"/>
          </p:cNvPicPr>
          <p:nvPr/>
        </p:nvPicPr>
        <p:blipFill>
          <a:blip r:embed="rId1"/>
          <a:stretch>
            <a:fillRect/>
          </a:stretch>
        </p:blipFill>
        <p:spPr>
          <a:xfrm>
            <a:off x="251520" y="3261471"/>
            <a:ext cx="4536504" cy="1774856"/>
          </a:xfrm>
          <a:prstGeom prst="rect">
            <a:avLst/>
          </a:prstGeom>
        </p:spPr>
      </p:pic>
      <p:pic>
        <p:nvPicPr>
          <p:cNvPr id="11" name="图片 10"/>
          <p:cNvPicPr>
            <a:picLocks noChangeAspect="1"/>
          </p:cNvPicPr>
          <p:nvPr/>
        </p:nvPicPr>
        <p:blipFill>
          <a:blip r:embed="rId2"/>
          <a:stretch>
            <a:fillRect/>
          </a:stretch>
        </p:blipFill>
        <p:spPr>
          <a:xfrm>
            <a:off x="5313744" y="2986913"/>
            <a:ext cx="3457876" cy="3076575"/>
          </a:xfrm>
          <a:prstGeom prst="rect">
            <a:avLst/>
          </a:prstGeom>
        </p:spPr>
      </p:pic>
      <p:pic>
        <p:nvPicPr>
          <p:cNvPr id="8" name="图片 7"/>
          <p:cNvPicPr>
            <a:picLocks noChangeAspect="1"/>
          </p:cNvPicPr>
          <p:nvPr/>
        </p:nvPicPr>
        <p:blipFill>
          <a:blip r:embed="rId3"/>
          <a:stretch>
            <a:fillRect/>
          </a:stretch>
        </p:blipFill>
        <p:spPr>
          <a:xfrm>
            <a:off x="5072603" y="445738"/>
            <a:ext cx="3571875" cy="23431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挑战四</a:t>
            </a:r>
            <a:endParaRPr lang="zh-CN" altLang="en-US" dirty="0"/>
          </a:p>
        </p:txBody>
      </p:sp>
      <p:sp>
        <p:nvSpPr>
          <p:cNvPr id="3" name="内容占位符 2"/>
          <p:cNvSpPr>
            <a:spLocks noGrp="1"/>
          </p:cNvSpPr>
          <p:nvPr>
            <p:ph idx="1"/>
          </p:nvPr>
        </p:nvSpPr>
        <p:spPr>
          <a:xfrm>
            <a:off x="800099" y="1236845"/>
            <a:ext cx="7543801" cy="4384310"/>
          </a:xfrm>
        </p:spPr>
        <p:txBody>
          <a:bodyPr/>
          <a:lstStyle/>
          <a:p>
            <a:r>
              <a:rPr lang="zh-CN" altLang="en-US" sz="2400" b="0" i="0" u="none" strike="noStrike" baseline="0" dirty="0">
                <a:solidFill>
                  <a:srgbClr val="0070C0"/>
                </a:solidFill>
                <a:latin typeface="黑体" panose="02010609060101010101" pitchFamily="2" charset="-122"/>
                <a:ea typeface="黑体" panose="02010609060101010101" pitchFamily="2" charset="-122"/>
              </a:rPr>
              <a:t>控制论与人工智能和博弈对抗 </a:t>
            </a:r>
            <a:endParaRPr lang="zh-CN" altLang="en-US" sz="2800" dirty="0">
              <a:solidFill>
                <a:srgbClr val="0070C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12" name="图片 11"/>
          <p:cNvPicPr>
            <a:picLocks noChangeAspect="1"/>
          </p:cNvPicPr>
          <p:nvPr/>
        </p:nvPicPr>
        <p:blipFill>
          <a:blip r:embed="rId1"/>
          <a:stretch>
            <a:fillRect/>
          </a:stretch>
        </p:blipFill>
        <p:spPr>
          <a:xfrm>
            <a:off x="1115616" y="2594119"/>
            <a:ext cx="2113781" cy="1669762"/>
          </a:xfrm>
          <a:prstGeom prst="rect">
            <a:avLst/>
          </a:prstGeom>
        </p:spPr>
      </p:pic>
      <p:pic>
        <p:nvPicPr>
          <p:cNvPr id="13" name="图片 12"/>
          <p:cNvPicPr>
            <a:picLocks noChangeAspect="1"/>
          </p:cNvPicPr>
          <p:nvPr/>
        </p:nvPicPr>
        <p:blipFill>
          <a:blip r:embed="rId2"/>
          <a:stretch>
            <a:fillRect/>
          </a:stretch>
        </p:blipFill>
        <p:spPr>
          <a:xfrm>
            <a:off x="3923928" y="2132856"/>
            <a:ext cx="4261687" cy="4078805"/>
          </a:xfrm>
          <a:prstGeom prst="rect">
            <a:avLst/>
          </a:prstGeom>
        </p:spPr>
      </p:pic>
      <p:sp>
        <p:nvSpPr>
          <p:cNvPr id="14" name="文本框 13"/>
          <p:cNvSpPr txBox="1"/>
          <p:nvPr/>
        </p:nvSpPr>
        <p:spPr>
          <a:xfrm>
            <a:off x="5292080" y="1671191"/>
            <a:ext cx="1723549" cy="461665"/>
          </a:xfrm>
          <a:prstGeom prst="rect">
            <a:avLst/>
          </a:prstGeom>
          <a:noFill/>
        </p:spPr>
        <p:txBody>
          <a:bodyPr wrap="none" rtlCol="0">
            <a:spAutoFit/>
          </a:bodyPr>
          <a:lstStyle/>
          <a:p>
            <a:r>
              <a:rPr lang="zh-CN" altLang="en-US" dirty="0"/>
              <a:t>协同与对抗</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挑战四</a:t>
            </a:r>
            <a:endParaRPr lang="zh-CN" altLang="en-US" dirty="0"/>
          </a:p>
        </p:txBody>
      </p:sp>
      <p:sp>
        <p:nvSpPr>
          <p:cNvPr id="3" name="内容占位符 2"/>
          <p:cNvSpPr>
            <a:spLocks noGrp="1"/>
          </p:cNvSpPr>
          <p:nvPr>
            <p:ph idx="1"/>
          </p:nvPr>
        </p:nvSpPr>
        <p:spPr>
          <a:xfrm>
            <a:off x="800099" y="1236845"/>
            <a:ext cx="7543801" cy="4384310"/>
          </a:xfrm>
        </p:spPr>
        <p:txBody>
          <a:bodyPr/>
          <a:lstStyle/>
          <a:p>
            <a:r>
              <a:rPr lang="zh-CN" altLang="en-US" sz="2400" b="0" i="0" u="none" strike="noStrike" baseline="0" dirty="0">
                <a:solidFill>
                  <a:srgbClr val="0070C0"/>
                </a:solidFill>
                <a:latin typeface="黑体" panose="02010609060101010101" pitchFamily="2" charset="-122"/>
                <a:ea typeface="黑体" panose="02010609060101010101" pitchFamily="2" charset="-122"/>
              </a:rPr>
              <a:t>控制论与人工智能和博弈对抗 </a:t>
            </a:r>
            <a:endParaRPr lang="zh-CN" altLang="en-US" sz="2800" dirty="0">
              <a:solidFill>
                <a:srgbClr val="0070C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4600086" y="1628800"/>
            <a:ext cx="3960440" cy="4675106"/>
          </a:xfrm>
          <a:prstGeom prst="rect">
            <a:avLst/>
          </a:prstGeom>
        </p:spPr>
      </p:pic>
      <p:sp>
        <p:nvSpPr>
          <p:cNvPr id="10" name="文本框 9"/>
          <p:cNvSpPr txBox="1"/>
          <p:nvPr/>
        </p:nvSpPr>
        <p:spPr>
          <a:xfrm>
            <a:off x="800099" y="1262327"/>
            <a:ext cx="3743880" cy="4431983"/>
          </a:xfrm>
          <a:prstGeom prst="rect">
            <a:avLst/>
          </a:prstGeom>
          <a:noFill/>
        </p:spPr>
        <p:txBody>
          <a:bodyPr wrap="square">
            <a:spAutoFit/>
          </a:bodyPr>
          <a:lstStyle/>
          <a:p>
            <a:pPr algn="l"/>
            <a:endParaRPr lang="zh-CN" altLang="en-US" sz="1800" b="0" i="0" u="none" strike="noStrike" baseline="0" dirty="0">
              <a:solidFill>
                <a:srgbClr val="000000"/>
              </a:solidFill>
              <a:latin typeface="黑体" panose="02010609060101010101" pitchFamily="2" charset="-122"/>
              <a:ea typeface="黑体" panose="02010609060101010101" pitchFamily="2" charset="-122"/>
            </a:endParaRPr>
          </a:p>
          <a:p>
            <a:endParaRPr lang="zh-CN" altLang="en-US" sz="1800" b="0" i="0" u="none" strike="noStrike" baseline="0" dirty="0">
              <a:latin typeface="黑体" panose="02010609060101010101" pitchFamily="2" charset="-122"/>
              <a:ea typeface="黑体" panose="02010609060101010101" pitchFamily="2" charset="-122"/>
            </a:endParaRPr>
          </a:p>
          <a:p>
            <a:r>
              <a:rPr lang="zh-CN" altLang="en-US" b="0" i="0" u="none" strike="noStrike" baseline="0" dirty="0">
                <a:latin typeface="黑体" panose="02010609060101010101" pitchFamily="2" charset="-122"/>
                <a:ea typeface="黑体" panose="02010609060101010101" pitchFamily="2" charset="-122"/>
              </a:rPr>
              <a:t>健壮人工智能： </a:t>
            </a:r>
            <a:endParaRPr lang="en-US" altLang="zh-CN" b="0" i="0" u="none" strike="noStrike" baseline="0" dirty="0">
              <a:latin typeface="黑体" panose="02010609060101010101" pitchFamily="2" charset="-122"/>
              <a:ea typeface="黑体" panose="02010609060101010101" pitchFamily="2" charset="-122"/>
            </a:endParaRPr>
          </a:p>
          <a:p>
            <a:endParaRPr lang="zh-CN" altLang="en-US" b="0" i="0" u="none" strike="noStrike" baseline="0" dirty="0">
              <a:latin typeface="黑体" panose="02010609060101010101" pitchFamily="2" charset="-122"/>
              <a:ea typeface="黑体" panose="02010609060101010101" pitchFamily="2" charset="-122"/>
            </a:endParaRPr>
          </a:p>
          <a:p>
            <a:r>
              <a:rPr lang="zh-CN" altLang="en-US" sz="2200" b="0" i="0" u="none" strike="noStrike" baseline="0" dirty="0">
                <a:latin typeface="Wingdings" panose="05000000000000000000" pitchFamily="2" charset="2"/>
                <a:ea typeface="黑体" panose="02010609060101010101" pitchFamily="2" charset="-122"/>
              </a:rPr>
              <a:t></a:t>
            </a:r>
            <a:r>
              <a:rPr lang="zh-CN" altLang="en-US" sz="2200" b="0" i="0" u="none" strike="noStrike" baseline="0" dirty="0">
                <a:latin typeface="黑体" panose="02010609060101010101" pitchFamily="2" charset="-122"/>
                <a:ea typeface="黑体" panose="02010609060101010101" pitchFamily="2" charset="-122"/>
              </a:rPr>
              <a:t>自主无人系统在新环境中须通用性和自适应性要求极高 </a:t>
            </a:r>
            <a:endParaRPr lang="zh-CN" altLang="en-US" sz="2200" b="0" i="0" u="none" strike="noStrike" baseline="0" dirty="0">
              <a:latin typeface="黑体" panose="02010609060101010101" pitchFamily="2" charset="-122"/>
              <a:ea typeface="黑体" panose="02010609060101010101" pitchFamily="2" charset="-122"/>
            </a:endParaRPr>
          </a:p>
          <a:p>
            <a:r>
              <a:rPr lang="zh-CN" altLang="en-US" sz="2200" b="0" i="0" u="none" strike="noStrike" baseline="0" dirty="0">
                <a:latin typeface="Wingdings" panose="05000000000000000000" pitchFamily="2" charset="2"/>
                <a:ea typeface="黑体" panose="02010609060101010101" pitchFamily="2" charset="-122"/>
              </a:rPr>
              <a:t></a:t>
            </a:r>
            <a:r>
              <a:rPr lang="zh-CN" altLang="en-US" sz="2200" b="0" i="0" u="none" strike="noStrike" baseline="0" dirty="0">
                <a:latin typeface="黑体" panose="02010609060101010101" pitchFamily="2" charset="-122"/>
                <a:ea typeface="黑体" panose="02010609060101010101" pitchFamily="2" charset="-122"/>
              </a:rPr>
              <a:t>极端复杂条件对人工智能“健壮性”要求极高 </a:t>
            </a:r>
            <a:endParaRPr lang="zh-CN" altLang="en-US" sz="2200" b="0" i="0" u="none" strike="noStrike" baseline="0" dirty="0">
              <a:latin typeface="黑体" panose="02010609060101010101" pitchFamily="2" charset="-122"/>
              <a:ea typeface="黑体" panose="02010609060101010101" pitchFamily="2" charset="-122"/>
            </a:endParaRPr>
          </a:p>
          <a:p>
            <a:r>
              <a:rPr lang="zh-CN" altLang="en-US" sz="2200" b="0" i="0" u="none" strike="noStrike" baseline="0" dirty="0">
                <a:latin typeface="Wingdings" panose="05000000000000000000" pitchFamily="2" charset="2"/>
                <a:ea typeface="黑体" panose="02010609060101010101" pitchFamily="2" charset="-122"/>
              </a:rPr>
              <a:t></a:t>
            </a:r>
            <a:r>
              <a:rPr lang="zh-CN" altLang="en-US" sz="2200" b="0" i="0" u="none" strike="noStrike" baseline="0" dirty="0">
                <a:latin typeface="黑体" panose="02010609060101010101" pitchFamily="2" charset="-122"/>
                <a:ea typeface="黑体" panose="02010609060101010101" pitchFamily="2" charset="-122"/>
              </a:rPr>
              <a:t>人工智能体系的综合程度史无前例（云、网、端、算法、模型、人） </a:t>
            </a:r>
            <a:endParaRPr lang="zh-CN" altLang="en-US" sz="2200" b="0" i="0" u="none" strike="noStrike" baseline="0" dirty="0">
              <a:latin typeface="黑体" panose="02010609060101010101" pitchFamily="2" charset="-122"/>
              <a:ea typeface="黑体" panose="02010609060101010101" pitchFamily="2" charset="-122"/>
            </a:endParaRPr>
          </a:p>
          <a:p>
            <a:r>
              <a:rPr lang="zh-CN" altLang="en-US" sz="2200" b="0" i="0" u="none" strike="noStrike" baseline="0" dirty="0">
                <a:latin typeface="Wingdings" panose="05000000000000000000" pitchFamily="2" charset="2"/>
                <a:ea typeface="黑体" panose="02010609060101010101" pitchFamily="2" charset="-122"/>
              </a:rPr>
              <a:t></a:t>
            </a:r>
            <a:r>
              <a:rPr lang="zh-CN" altLang="en-US" sz="2200" b="0" i="0" u="none" strike="noStrike" baseline="0" dirty="0">
                <a:latin typeface="黑体" panose="02010609060101010101" pitchFamily="2" charset="-122"/>
                <a:ea typeface="黑体" panose="02010609060101010101" pitchFamily="2" charset="-122"/>
              </a:rPr>
              <a:t>人是“智能回路” 中最重要因素 </a:t>
            </a:r>
            <a:endParaRPr lang="zh-CN" altLang="en-US" sz="2200" b="0" i="0" u="none" strike="noStrike" baseline="0" dirty="0">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animEffect transition="in" filter="fade">
                                      <p:cBhvr>
                                        <p:cTn id="7" dur="500"/>
                                        <p:tgtEl>
                                          <p:spTgt spid="10">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
                                            <p:txEl>
                                              <p:pRg st="4" end="4"/>
                                            </p:txEl>
                                          </p:spTgt>
                                        </p:tgtEl>
                                        <p:attrNameLst>
                                          <p:attrName>style.visibility</p:attrName>
                                        </p:attrNameLst>
                                      </p:cBhvr>
                                      <p:to>
                                        <p:strVal val="visible"/>
                                      </p:to>
                                    </p:set>
                                    <p:animEffect transition="in" filter="fade">
                                      <p:cBhvr>
                                        <p:cTn id="10" dur="500"/>
                                        <p:tgtEl>
                                          <p:spTgt spid="10">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xEl>
                                              <p:pRg st="5" end="5"/>
                                            </p:txEl>
                                          </p:spTgt>
                                        </p:tgtEl>
                                        <p:attrNameLst>
                                          <p:attrName>style.visibility</p:attrName>
                                        </p:attrNameLst>
                                      </p:cBhvr>
                                      <p:to>
                                        <p:strVal val="visible"/>
                                      </p:to>
                                    </p:set>
                                    <p:animEffect transition="in" filter="fade">
                                      <p:cBhvr>
                                        <p:cTn id="13" dur="500"/>
                                        <p:tgtEl>
                                          <p:spTgt spid="10">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xEl>
                                              <p:pRg st="6" end="6"/>
                                            </p:txEl>
                                          </p:spTgt>
                                        </p:tgtEl>
                                        <p:attrNameLst>
                                          <p:attrName>style.visibility</p:attrName>
                                        </p:attrNameLst>
                                      </p:cBhvr>
                                      <p:to>
                                        <p:strVal val="visible"/>
                                      </p:to>
                                    </p:set>
                                    <p:animEffect transition="in" filter="fade">
                                      <p:cBhvr>
                                        <p:cTn id="16" dur="500"/>
                                        <p:tgtEl>
                                          <p:spTgt spid="10">
                                            <p:txEl>
                                              <p:pRg st="6" end="6"/>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10">
                                            <p:txEl>
                                              <p:pRg st="7" end="7"/>
                                            </p:txEl>
                                          </p:spTgt>
                                        </p:tgtEl>
                                        <p:attrNameLst>
                                          <p:attrName>style.visibility</p:attrName>
                                        </p:attrNameLst>
                                      </p:cBhvr>
                                      <p:to>
                                        <p:strVal val="visible"/>
                                      </p:to>
                                    </p:set>
                                    <p:animEffect transition="in" filter="fade">
                                      <p:cBhvr>
                                        <p:cTn id="19" dur="500"/>
                                        <p:tgtEl>
                                          <p:spTgt spid="10">
                                            <p:txEl>
                                              <p:pRg st="7" end="7"/>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pc="-100" dirty="0">
                <a:solidFill>
                  <a:srgbClr val="D2533C"/>
                </a:solidFill>
                <a:latin typeface="Arial" panose="020B0604020202020204"/>
                <a:ea typeface="华文新魏" panose="02010800040101010101" pitchFamily="2" charset="-122"/>
              </a:rPr>
              <a:t>挑战四</a:t>
            </a:r>
            <a:endParaRPr lang="zh-CN" altLang="en-US" dirty="0"/>
          </a:p>
        </p:txBody>
      </p:sp>
      <p:sp>
        <p:nvSpPr>
          <p:cNvPr id="3" name="内容占位符 2"/>
          <p:cNvSpPr>
            <a:spLocks noGrp="1"/>
          </p:cNvSpPr>
          <p:nvPr>
            <p:ph idx="1"/>
          </p:nvPr>
        </p:nvSpPr>
        <p:spPr>
          <a:xfrm>
            <a:off x="800099" y="1236845"/>
            <a:ext cx="7543801" cy="4384310"/>
          </a:xfrm>
        </p:spPr>
        <p:txBody>
          <a:bodyPr/>
          <a:lstStyle/>
          <a:p>
            <a:r>
              <a:rPr lang="zh-CN" altLang="en-US" sz="2400" b="0" i="0" u="none" strike="noStrike" baseline="0" dirty="0">
                <a:solidFill>
                  <a:srgbClr val="0070C0"/>
                </a:solidFill>
                <a:latin typeface="黑体" panose="02010609060101010101" pitchFamily="2" charset="-122"/>
                <a:ea typeface="黑体" panose="02010609060101010101" pitchFamily="2" charset="-122"/>
              </a:rPr>
              <a:t>控制论与人工智能和博弈对抗 </a:t>
            </a:r>
            <a:endParaRPr lang="zh-CN" altLang="en-US" sz="2800" dirty="0">
              <a:solidFill>
                <a:srgbClr val="0070C0"/>
              </a:solidFill>
            </a:endParaRPr>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7" name="图片 6"/>
          <p:cNvPicPr>
            <a:picLocks noChangeAspect="1"/>
          </p:cNvPicPr>
          <p:nvPr/>
        </p:nvPicPr>
        <p:blipFill>
          <a:blip r:embed="rId1"/>
          <a:stretch>
            <a:fillRect/>
          </a:stretch>
        </p:blipFill>
        <p:spPr>
          <a:xfrm>
            <a:off x="1078617" y="2017226"/>
            <a:ext cx="7032485" cy="411622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spc="-100" dirty="0">
                <a:solidFill>
                  <a:srgbClr val="D2533C"/>
                </a:solidFill>
                <a:latin typeface="Arial" panose="020B0604020202020204"/>
                <a:ea typeface="华文新魏" panose="02010800040101010101" pitchFamily="2" charset="-122"/>
              </a:rPr>
              <a:t>多学科交叉促进人工智能发展</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35496" y="2611384"/>
            <a:ext cx="2696927" cy="1825728"/>
          </a:xfrm>
          <a:prstGeom prst="rect">
            <a:avLst/>
          </a:prstGeom>
        </p:spPr>
      </p:pic>
      <p:pic>
        <p:nvPicPr>
          <p:cNvPr id="8" name="图片 7"/>
          <p:cNvPicPr>
            <a:picLocks noChangeAspect="1"/>
          </p:cNvPicPr>
          <p:nvPr/>
        </p:nvPicPr>
        <p:blipFill>
          <a:blip r:embed="rId2"/>
          <a:stretch>
            <a:fillRect/>
          </a:stretch>
        </p:blipFill>
        <p:spPr>
          <a:xfrm>
            <a:off x="2987824" y="1615924"/>
            <a:ext cx="3418921" cy="3816648"/>
          </a:xfrm>
          <a:prstGeom prst="rect">
            <a:avLst/>
          </a:prstGeom>
        </p:spPr>
      </p:pic>
      <p:sp>
        <p:nvSpPr>
          <p:cNvPr id="10" name="文本框 9"/>
          <p:cNvSpPr txBox="1"/>
          <p:nvPr/>
        </p:nvSpPr>
        <p:spPr>
          <a:xfrm>
            <a:off x="6444208" y="1844824"/>
            <a:ext cx="2811949" cy="3073214"/>
          </a:xfrm>
          <a:prstGeom prst="rect">
            <a:avLst/>
          </a:prstGeom>
          <a:noFill/>
        </p:spPr>
        <p:txBody>
          <a:bodyPr wrap="square">
            <a:spAutoFit/>
          </a:bodyPr>
          <a:lstStyle/>
          <a:p>
            <a:pPr>
              <a:lnSpc>
                <a:spcPct val="200000"/>
              </a:lnSpc>
            </a:pPr>
            <a:r>
              <a:rPr lang="zh-CN" altLang="en-US" sz="2000" b="0" i="0" u="none" strike="noStrike" baseline="0" dirty="0">
                <a:latin typeface="Wingdings" panose="05000000000000000000" pitchFamily="2" charset="2"/>
              </a:rPr>
              <a:t></a:t>
            </a:r>
            <a:r>
              <a:rPr lang="zh-CN" altLang="en-US" sz="2000" b="0" i="0" u="none" strike="noStrike" baseline="0" dirty="0">
                <a:latin typeface="黑体" panose="02010609060101010101" pitchFamily="2" charset="-122"/>
                <a:ea typeface="黑体" panose="02010609060101010101" pitchFamily="2" charset="-122"/>
              </a:rPr>
              <a:t>常识知识 </a:t>
            </a:r>
            <a:endParaRPr lang="zh-CN" altLang="en-US" sz="2000" b="0" i="0" u="none" strike="noStrike" baseline="0" dirty="0">
              <a:latin typeface="黑体" panose="02010609060101010101" pitchFamily="2" charset="-122"/>
              <a:ea typeface="黑体" panose="02010609060101010101" pitchFamily="2" charset="-122"/>
            </a:endParaRPr>
          </a:p>
          <a:p>
            <a:pPr>
              <a:lnSpc>
                <a:spcPct val="200000"/>
              </a:lnSpc>
            </a:pPr>
            <a:r>
              <a:rPr lang="zh-CN" altLang="en-US" sz="2000" b="0" i="0" u="none" strike="noStrike" baseline="0" dirty="0">
                <a:latin typeface="Wingdings" panose="05000000000000000000" pitchFamily="2" charset="2"/>
                <a:ea typeface="黑体" panose="02010609060101010101" pitchFamily="2" charset="-122"/>
              </a:rPr>
              <a:t></a:t>
            </a:r>
            <a:r>
              <a:rPr lang="zh-CN" altLang="en-US" sz="2000" b="0" i="0" u="none" strike="noStrike" baseline="0" dirty="0">
                <a:latin typeface="黑体" panose="02010609060101010101" pitchFamily="2" charset="-122"/>
                <a:ea typeface="黑体" panose="02010609060101010101" pitchFamily="2" charset="-122"/>
              </a:rPr>
              <a:t>元学习 </a:t>
            </a:r>
            <a:endParaRPr lang="zh-CN" altLang="en-US" sz="2000" b="0" i="0" u="none" strike="noStrike" baseline="0" dirty="0">
              <a:latin typeface="黑体" panose="02010609060101010101" pitchFamily="2" charset="-122"/>
              <a:ea typeface="黑体" panose="02010609060101010101" pitchFamily="2" charset="-122"/>
            </a:endParaRPr>
          </a:p>
          <a:p>
            <a:pPr>
              <a:lnSpc>
                <a:spcPct val="200000"/>
              </a:lnSpc>
            </a:pPr>
            <a:r>
              <a:rPr lang="zh-CN" altLang="en-US" sz="2000" b="0" i="0" u="none" strike="noStrike" baseline="0" dirty="0">
                <a:latin typeface="Wingdings" panose="05000000000000000000" pitchFamily="2" charset="2"/>
                <a:ea typeface="黑体" panose="02010609060101010101" pitchFamily="2" charset="-122"/>
              </a:rPr>
              <a:t></a:t>
            </a:r>
            <a:r>
              <a:rPr lang="zh-CN" altLang="en-US" sz="2000" b="0" i="0" u="none" strike="noStrike" baseline="0" dirty="0">
                <a:latin typeface="黑体" panose="02010609060101010101" pitchFamily="2" charset="-122"/>
                <a:ea typeface="黑体" panose="02010609060101010101" pitchFamily="2" charset="-122"/>
              </a:rPr>
              <a:t>贝叶斯大脑 </a:t>
            </a:r>
            <a:endParaRPr lang="zh-CN" altLang="en-US" sz="2000" b="0" i="0" u="none" strike="noStrike" baseline="0" dirty="0">
              <a:latin typeface="黑体" panose="02010609060101010101" pitchFamily="2" charset="-122"/>
              <a:ea typeface="黑体" panose="02010609060101010101" pitchFamily="2" charset="-122"/>
            </a:endParaRPr>
          </a:p>
          <a:p>
            <a:pPr>
              <a:lnSpc>
                <a:spcPct val="200000"/>
              </a:lnSpc>
            </a:pPr>
            <a:r>
              <a:rPr lang="zh-CN" altLang="en-US" sz="2000" b="0" i="0" u="none" strike="noStrike" baseline="0" dirty="0">
                <a:latin typeface="Wingdings" panose="05000000000000000000" pitchFamily="2" charset="2"/>
                <a:ea typeface="黑体" panose="02010609060101010101" pitchFamily="2" charset="-122"/>
              </a:rPr>
              <a:t></a:t>
            </a:r>
            <a:r>
              <a:rPr lang="zh-CN" altLang="en-US" sz="2000" b="0" i="0" u="none" strike="noStrike" baseline="0" dirty="0">
                <a:latin typeface="黑体" panose="02010609060101010101" pitchFamily="2" charset="-122"/>
                <a:ea typeface="黑体" panose="02010609060101010101" pitchFamily="2" charset="-122"/>
              </a:rPr>
              <a:t>因果推理 </a:t>
            </a:r>
            <a:endParaRPr lang="zh-CN" altLang="en-US" sz="2000" b="0" i="0" u="none" strike="noStrike" baseline="0" dirty="0">
              <a:latin typeface="黑体" panose="02010609060101010101" pitchFamily="2" charset="-122"/>
              <a:ea typeface="黑体" panose="02010609060101010101" pitchFamily="2" charset="-122"/>
            </a:endParaRPr>
          </a:p>
          <a:p>
            <a:pPr>
              <a:lnSpc>
                <a:spcPct val="200000"/>
              </a:lnSpc>
            </a:pPr>
            <a:r>
              <a:rPr lang="zh-CN" altLang="en-US" sz="2000" b="0" i="0" u="none" strike="noStrike" baseline="0" dirty="0">
                <a:latin typeface="Wingdings" panose="05000000000000000000" pitchFamily="2" charset="2"/>
                <a:ea typeface="黑体" panose="02010609060101010101" pitchFamily="2" charset="-122"/>
              </a:rPr>
              <a:t></a:t>
            </a:r>
            <a:r>
              <a:rPr lang="zh-CN" altLang="en-US" sz="2000" b="0" i="0" u="none" strike="noStrike" baseline="0" dirty="0">
                <a:latin typeface="黑体" panose="02010609060101010101" pitchFamily="2" charset="-122"/>
                <a:ea typeface="黑体" panose="02010609060101010101" pitchFamily="2" charset="-122"/>
              </a:rPr>
              <a:t>控制、博弈对抗、</a:t>
            </a:r>
            <a:r>
              <a:rPr lang="en-US" altLang="zh-CN" sz="2000" b="0" i="0" u="none" strike="noStrike" baseline="0" dirty="0">
                <a:latin typeface="Times New Roman" panose="02020603050405020304" pitchFamily="18" charset="0"/>
                <a:ea typeface="黑体" panose="02010609060101010101" pitchFamily="2" charset="-122"/>
              </a:rPr>
              <a:t>AI </a:t>
            </a:r>
            <a:endParaRPr lang="en-US" altLang="zh-CN" sz="2000" b="0" i="0" u="none" strike="noStrike" baseline="0" dirty="0">
              <a:latin typeface="Times New Roman" panose="02020603050405020304" pitchFamily="18" charset="0"/>
              <a:ea typeface="黑体" panose="02010609060101010101" pitchFamily="2" charset="-122"/>
            </a:endParaRPr>
          </a:p>
        </p:txBody>
      </p:sp>
      <p:pic>
        <p:nvPicPr>
          <p:cNvPr id="12" name="图片 11"/>
          <p:cNvPicPr>
            <a:picLocks noChangeAspect="1"/>
          </p:cNvPicPr>
          <p:nvPr/>
        </p:nvPicPr>
        <p:blipFill>
          <a:blip r:embed="rId3"/>
          <a:stretch>
            <a:fillRect/>
          </a:stretch>
        </p:blipFill>
        <p:spPr>
          <a:xfrm>
            <a:off x="2569383" y="2780928"/>
            <a:ext cx="441683" cy="453008"/>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2960" y="286604"/>
            <a:ext cx="8321040" cy="892239"/>
          </a:xfrm>
        </p:spPr>
        <p:txBody>
          <a:bodyPr>
            <a:normAutofit/>
          </a:bodyPr>
          <a:lstStyle/>
          <a:p>
            <a:br>
              <a:rPr lang="zh-CN" altLang="en-US" sz="1800" b="0" i="0" u="none" strike="noStrike" baseline="0" dirty="0">
                <a:solidFill>
                  <a:srgbClr val="000000"/>
                </a:solidFill>
                <a:latin typeface="黑体" panose="02010609060101010101" pitchFamily="2" charset="-122"/>
                <a:ea typeface="黑体" panose="02010609060101010101" pitchFamily="2" charset="-122"/>
              </a:rPr>
            </a:br>
            <a:r>
              <a:rPr lang="zh-CN" altLang="en-US" sz="4300" spc="-100" dirty="0">
                <a:solidFill>
                  <a:srgbClr val="D2533C"/>
                </a:solidFill>
                <a:latin typeface="Arial" panose="020B0604020202020204"/>
                <a:ea typeface="华文新魏" panose="02010800040101010101" pitchFamily="2" charset="-122"/>
              </a:rPr>
              <a:t>未来的人工智能 </a:t>
            </a:r>
            <a:endParaRPr lang="zh-CN" altLang="en-US" sz="4300" spc="-100" dirty="0">
              <a:solidFill>
                <a:srgbClr val="D2533C"/>
              </a:solidFill>
              <a:latin typeface="Arial" panose="020B0604020202020204"/>
              <a:ea typeface="华文新魏" panose="02010800040101010101" pitchFamily="2" charset="-122"/>
            </a:endParaRPr>
          </a:p>
        </p:txBody>
      </p:sp>
      <p:sp>
        <p:nvSpPr>
          <p:cNvPr id="3" name="内容占位符 2"/>
          <p:cNvSpPr>
            <a:spLocks noGrp="1"/>
          </p:cNvSpPr>
          <p:nvPr>
            <p:ph idx="1"/>
          </p:nvPr>
        </p:nvSpPr>
        <p:spPr/>
        <p:txBody>
          <a:bodyPr/>
          <a:lstStyle/>
          <a:p>
            <a:pPr marL="0" indent="0">
              <a:buNone/>
            </a:pPr>
            <a:r>
              <a:rPr lang="zh-CN" altLang="en-US" sz="1800" b="0" i="0" u="none" strike="noStrike" baseline="0" dirty="0">
                <a:latin typeface="黑体" panose="02010609060101010101" pitchFamily="2" charset="-122"/>
                <a:ea typeface="黑体" panose="02010609060101010101" pitchFamily="2" charset="-122"/>
              </a:rPr>
              <a:t>可解释、更通用和适应性强的人工智能 </a:t>
            </a:r>
            <a:endParaRPr lang="en-US" altLang="zh-CN" sz="1800" b="0" i="0" u="none" strike="noStrike" baseline="0" dirty="0">
              <a:latin typeface="黑体" panose="02010609060101010101" pitchFamily="2" charset="-122"/>
              <a:ea typeface="黑体" panose="02010609060101010101" pitchFamily="2" charset="-122"/>
            </a:endParaRPr>
          </a:p>
          <a:p>
            <a:r>
              <a:rPr lang="zh-CN" altLang="en-US" sz="1800" b="0" i="0" u="none" strike="noStrike" baseline="0" dirty="0">
                <a:latin typeface="黑体" panose="02010609060101010101" pitchFamily="2" charset="-122"/>
                <a:ea typeface="黑体" panose="02010609060101010101" pitchFamily="2" charset="-122"/>
              </a:rPr>
              <a:t>数据利用、知识引导与能力学习 </a:t>
            </a:r>
            <a:endParaRPr lang="zh-CN" altLang="en-US" dirty="0"/>
          </a:p>
        </p:txBody>
      </p:sp>
      <p:sp>
        <p:nvSpPr>
          <p:cNvPr id="4" name="灯片编号占位符 3"/>
          <p:cNvSpPr>
            <a:spLocks noGrp="1"/>
          </p:cNvSpPr>
          <p:nvPr>
            <p:ph type="sldNum" sz="quarter" idx="10"/>
          </p:nvPr>
        </p:nvSpPr>
        <p:spPr/>
        <p:txBody>
          <a:bodyPr/>
          <a:lstStyle/>
          <a:p>
            <a:pPr>
              <a:defRPr/>
            </a:pPr>
            <a:fld id="{F6DA434B-3FE0-453D-8E32-922B8A93A0FC}" type="slidenum">
              <a:rPr lang="en-US" altLang="zh-CN" smtClean="0"/>
            </a:fld>
            <a:endParaRPr lang="en-US" altLang="zh-CN"/>
          </a:p>
        </p:txBody>
      </p:sp>
      <p:sp>
        <p:nvSpPr>
          <p:cNvPr id="6" name="文本框 5"/>
          <p:cNvSpPr txBox="1"/>
          <p:nvPr/>
        </p:nvSpPr>
        <p:spPr>
          <a:xfrm>
            <a:off x="541268" y="5179431"/>
            <a:ext cx="8602732" cy="984885"/>
          </a:xfrm>
          <a:prstGeom prst="rect">
            <a:avLst/>
          </a:prstGeom>
          <a:noFill/>
        </p:spPr>
        <p:txBody>
          <a:bodyPr wrap="square">
            <a:spAutoFit/>
          </a:bodyPr>
          <a:lstStyle/>
          <a:p>
            <a:pPr algn="l"/>
            <a:endParaRPr lang="zh-CN" altLang="en-US" sz="1800" b="0" i="0" u="none" strike="noStrike" baseline="0" dirty="0">
              <a:solidFill>
                <a:srgbClr val="000000"/>
              </a:solidFill>
              <a:latin typeface="Times New Roman" panose="02020603050405020304" pitchFamily="18" charset="0"/>
            </a:endParaRPr>
          </a:p>
          <a:p>
            <a:r>
              <a:rPr lang="en-US" altLang="zh-CN" sz="2000" b="0" i="0" u="none" strike="noStrike" baseline="0" dirty="0">
                <a:latin typeface="Times New Roman" panose="02020603050405020304" pitchFamily="18" charset="0"/>
              </a:rPr>
              <a:t>Challenges and Opportunities: From Big Data to Knowledge in AI 2.0, </a:t>
            </a:r>
            <a:r>
              <a:rPr lang="en-US" altLang="zh-CN" sz="2000" b="0" i="1" u="none" strike="noStrike" baseline="0" dirty="0">
                <a:latin typeface="Times New Roman" panose="02020603050405020304" pitchFamily="18" charset="0"/>
              </a:rPr>
              <a:t>Frontiers of Information Technology &amp; Electronic Engineering</a:t>
            </a:r>
            <a:r>
              <a:rPr lang="en-US" altLang="zh-CN" sz="2000" b="0" i="0" u="none" strike="noStrike" baseline="0" dirty="0">
                <a:latin typeface="Times New Roman" panose="02020603050405020304" pitchFamily="18" charset="0"/>
              </a:rPr>
              <a:t>, 2017,18(1):3-14 </a:t>
            </a:r>
            <a:endParaRPr lang="zh-CN" altLang="en-US" sz="2000" dirty="0"/>
          </a:p>
        </p:txBody>
      </p:sp>
      <p:pic>
        <p:nvPicPr>
          <p:cNvPr id="12" name="图片 11"/>
          <p:cNvPicPr>
            <a:picLocks noChangeAspect="1"/>
          </p:cNvPicPr>
          <p:nvPr/>
        </p:nvPicPr>
        <p:blipFill>
          <a:blip r:embed="rId1"/>
          <a:stretch>
            <a:fillRect/>
          </a:stretch>
        </p:blipFill>
        <p:spPr>
          <a:xfrm>
            <a:off x="411480" y="2404498"/>
            <a:ext cx="8321040" cy="240813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72.35,&quot;left&quot;:24.85,&quot;top&quot;:9.2,&quot;width&quot;:483.75}"/>
</p:tagLst>
</file>

<file path=ppt/tags/tag2.xml><?xml version="1.0" encoding="utf-8"?>
<p:tagLst xmlns:p="http://schemas.openxmlformats.org/presentationml/2006/main">
  <p:tag name="KSO_WM_DIAGRAM_VIRTUALLY_FRAME" val="{&quot;height&quot;:372.35,&quot;left&quot;:24.85,&quot;top&quot;:9.2,&quot;width&quot;:483.75}"/>
</p:tagLst>
</file>

<file path=ppt/tags/tag3.xml><?xml version="1.0" encoding="utf-8"?>
<p:tagLst xmlns:p="http://schemas.openxmlformats.org/presentationml/2006/main">
  <p:tag name="KSO_WM_DIAGRAM_VIRTUALLY_FRAME" val="{&quot;height&quot;:372.35,&quot;left&quot;:24.85,&quot;top&quot;:9.2,&quot;width&quot;:483.75}"/>
</p:tagLst>
</file>

<file path=ppt/tags/tag4.xml><?xml version="1.0" encoding="utf-8"?>
<p:tagLst xmlns:p="http://schemas.openxmlformats.org/presentationml/2006/main">
  <p:tag name="KSO_WM_DIAGRAM_VIRTUALLY_FRAME" val="{&quot;height&quot;:372.35,&quot;left&quot;:24.85,&quot;top&quot;:9.2,&quot;width&quot;:483.75}"/>
</p:tagLst>
</file>

<file path=ppt/tags/tag5.xml><?xml version="1.0" encoding="utf-8"?>
<p:tagLst xmlns:p="http://schemas.openxmlformats.org/presentationml/2006/main">
  <p:tag name="KSO_WM_DIAGRAM_VIRTUALLY_FRAME" val="{&quot;height&quot;:372.35,&quot;left&quot;:24.85,&quot;top&quot;:9.2,&quot;width&quot;:483.75}"/>
</p:tagLst>
</file>

<file path=ppt/tags/tag6.xml><?xml version="1.0" encoding="utf-8"?>
<p:tagLst xmlns:p="http://schemas.openxmlformats.org/presentationml/2006/main">
  <p:tag name="KSO_WM_DIAGRAM_VIRTUALLY_FRAME" val="{&quot;height&quot;:372.35,&quot;left&quot;:24.85,&quot;top&quot;:9.2,&quot;width&quot;:483.75}"/>
</p:tagLst>
</file>

<file path=ppt/tags/tag7.xml><?xml version="1.0" encoding="utf-8"?>
<p:tagLst xmlns:p="http://schemas.openxmlformats.org/presentationml/2006/main">
  <p:tag name="KSO_WM_DIAGRAM_VIRTUALLY_FRAME" val="{&quot;height&quot;:372.35,&quot;left&quot;:24.85,&quot;top&quot;:9.2,&quot;width&quot;:483.75}"/>
</p:tagLst>
</file>

<file path=ppt/tags/tag8.xml><?xml version="1.0" encoding="utf-8"?>
<p:tagLst xmlns:p="http://schemas.openxmlformats.org/presentationml/2006/main">
  <p:tag name="KSO_WM_DIAGRAM_VIRTUALLY_FRAME" val="{&quot;height&quot;:372.35,&quot;left&quot;:24.85,&quot;top&quot;:9.2,&quot;width&quot;:483.75}"/>
</p:tagLst>
</file>

<file path=ppt/tags/tag9.xml><?xml version="1.0" encoding="utf-8"?>
<p:tagLst xmlns:p="http://schemas.openxmlformats.org/presentationml/2006/main">
  <p:tag name="KSO_WM_DIAGRAM_VIRTUALLY_FRAME" val="{&quot;height&quot;:372.35,&quot;left&quot;:24.85,&quot;top&quot;:9.2,&quot;width&quot;:483.75}"/>
</p:tagLst>
</file>

<file path=ppt/theme/theme1.xml><?xml version="1.0" encoding="utf-8"?>
<a:theme xmlns:a="http://schemas.openxmlformats.org/drawingml/2006/main" name="回顾">
  <a:themeElements>
    <a:clrScheme name="回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回顾">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0</TotalTime>
  <Words>7938</Words>
  <Application>WPS 演示</Application>
  <PresentationFormat>全屏显示(4:3)</PresentationFormat>
  <Paragraphs>749</Paragraphs>
  <Slides>85</Slides>
  <Notes>22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85</vt:i4>
      </vt:variant>
    </vt:vector>
  </HeadingPairs>
  <TitlesOfParts>
    <vt:vector size="99" baseType="lpstr">
      <vt:lpstr>Arial</vt:lpstr>
      <vt:lpstr>宋体</vt:lpstr>
      <vt:lpstr>Wingdings</vt:lpstr>
      <vt:lpstr>Tahoma</vt:lpstr>
      <vt:lpstr>Calibri Light</vt:lpstr>
      <vt:lpstr>Calibri</vt:lpstr>
      <vt:lpstr>Times New Roman</vt:lpstr>
      <vt:lpstr>黑体</vt:lpstr>
      <vt:lpstr>Arial</vt:lpstr>
      <vt:lpstr>华文新魏</vt:lpstr>
      <vt:lpstr>Wingdings</vt:lpstr>
      <vt:lpstr>微软雅黑</vt:lpstr>
      <vt:lpstr>Arial Unicode MS</vt:lpstr>
      <vt:lpstr>回顾</vt:lpstr>
      <vt:lpstr>人工智能与机器学习</vt:lpstr>
      <vt:lpstr>课程简介</vt:lpstr>
      <vt:lpstr>课程主要内容</vt:lpstr>
      <vt:lpstr>第一章  人工智能概述</vt:lpstr>
      <vt:lpstr>PowerPoint 演示文稿</vt:lpstr>
      <vt:lpstr>课程考核</vt:lpstr>
      <vt:lpstr>内容大纲</vt:lpstr>
      <vt:lpstr>智能的概念</vt:lpstr>
      <vt:lpstr>智能的概念</vt:lpstr>
      <vt:lpstr>PowerPoint 演示文稿</vt:lpstr>
      <vt:lpstr>人类/生物智能</vt:lpstr>
      <vt:lpstr>人工智能的概念</vt:lpstr>
      <vt:lpstr>内容大纲</vt:lpstr>
      <vt:lpstr>孕育（1956年之前）</vt:lpstr>
      <vt:lpstr>诞生（1956年）</vt:lpstr>
      <vt:lpstr>诞生（1956年）</vt:lpstr>
      <vt:lpstr>组织成立</vt:lpstr>
      <vt:lpstr>人工智能螺旋式发展之路</vt:lpstr>
      <vt:lpstr>人工智能螺旋式发展之路</vt:lpstr>
      <vt:lpstr>人工智能螺旋式发展之路</vt:lpstr>
      <vt:lpstr>从智能角度对人工智能的分类</vt:lpstr>
      <vt:lpstr>从智能角度对人工智能的分类</vt:lpstr>
      <vt:lpstr>从典型任务/应用对人工智能分类</vt:lpstr>
      <vt:lpstr> 人工智能发展中的主流方法</vt:lpstr>
      <vt:lpstr> 人工智能发展中的主流方法</vt:lpstr>
      <vt:lpstr> 人工智能发展中的主流方法</vt:lpstr>
      <vt:lpstr> 人工智能发展中的主流方法</vt:lpstr>
      <vt:lpstr> 人工智能发展中的主流方法</vt:lpstr>
      <vt:lpstr> 人工智能发展中的主流方法</vt:lpstr>
      <vt:lpstr> 人工智能发展中的主流方法</vt:lpstr>
      <vt:lpstr>人工智能三种主流方法区别</vt:lpstr>
      <vt:lpstr> 人类智能与机器智能区别 </vt:lpstr>
      <vt:lpstr>内容大纲</vt:lpstr>
      <vt:lpstr> 人工智能基本研究内容 </vt:lpstr>
      <vt:lpstr>人工智能基本研究内容 </vt:lpstr>
      <vt:lpstr> 人工智能基本研究内容 </vt:lpstr>
      <vt:lpstr> 人工智能基本研究内容 </vt:lpstr>
      <vt:lpstr>人工智能学科交叉领域</vt:lpstr>
      <vt:lpstr>人工智能课程群关系图</vt:lpstr>
      <vt:lpstr>人工智能应用：人机博弈</vt:lpstr>
      <vt:lpstr>人工智能应用：人机博弈</vt:lpstr>
      <vt:lpstr>人工智能应用：人机博弈</vt:lpstr>
      <vt:lpstr>人工智能应用：大学课程助教</vt:lpstr>
      <vt:lpstr>人工智能：聊天、作诗、绘画</vt:lpstr>
      <vt:lpstr>人工智能：电子商务智能助理</vt:lpstr>
      <vt:lpstr>人工智能：与人类生活息息相关</vt:lpstr>
      <vt:lpstr>人工智能：智能驾驶时代逐渐开启</vt:lpstr>
      <vt:lpstr>内容大纲</vt:lpstr>
      <vt:lpstr>人工智能的发展</vt:lpstr>
      <vt:lpstr> 记忆是人类认知的基石 </vt:lpstr>
      <vt:lpstr> 记忆是人类认知的基石 </vt:lpstr>
      <vt:lpstr>仅有短期记忆的人生</vt:lpstr>
      <vt:lpstr>神经科学作为新算法的灵感来源</vt:lpstr>
      <vt:lpstr> 模型中的记忆(internal memory) </vt:lpstr>
      <vt:lpstr> 从分段学习到“端到端”学习</vt:lpstr>
      <vt:lpstr> 从分段学习到“端到端”学习</vt:lpstr>
      <vt:lpstr> 从分段学习到“端到端”学习</vt:lpstr>
      <vt:lpstr>当前数据、已有知识和未知交互</vt:lpstr>
      <vt:lpstr>当前数据、已有知识和未知交互的挑战</vt:lpstr>
      <vt:lpstr>跨媒体综合推理</vt:lpstr>
      <vt:lpstr>跨媒体综合推理</vt:lpstr>
      <vt:lpstr>人工智能的发展</vt:lpstr>
      <vt:lpstr>三元空间融合时代CPS</vt:lpstr>
      <vt:lpstr>社会学研究：观察与实验</vt:lpstr>
      <vt:lpstr> 计算社会的数据基础 </vt:lpstr>
      <vt:lpstr> 计算社会的数据基础 </vt:lpstr>
      <vt:lpstr>计算社会学</vt:lpstr>
      <vt:lpstr> “数据之学科鸿沟” </vt:lpstr>
      <vt:lpstr>未来发展与趋势</vt:lpstr>
      <vt:lpstr>五大智能技术新方向</vt:lpstr>
      <vt:lpstr>第三波人工智能浪潮</vt:lpstr>
      <vt:lpstr>第三波人工智能浪潮</vt:lpstr>
      <vt:lpstr>人工智能的发展</vt:lpstr>
      <vt:lpstr>挑战一</vt:lpstr>
      <vt:lpstr>挑战一</vt:lpstr>
      <vt:lpstr>挑战二</vt:lpstr>
      <vt:lpstr>挑战二</vt:lpstr>
      <vt:lpstr>挑战二</vt:lpstr>
      <vt:lpstr>挑战三</vt:lpstr>
      <vt:lpstr>挑战三</vt:lpstr>
      <vt:lpstr>挑战四</vt:lpstr>
      <vt:lpstr>挑战四</vt:lpstr>
      <vt:lpstr>挑战四</vt:lpstr>
      <vt:lpstr>多学科交叉促进人工智能发展</vt:lpstr>
      <vt:lpstr> 未来的人工智能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邓苏</dc:creator>
  <cp:lastModifiedBy>宗威</cp:lastModifiedBy>
  <cp:revision>1651</cp:revision>
  <dcterms:created xsi:type="dcterms:W3CDTF">1996-07-03T01:00:00Z</dcterms:created>
  <dcterms:modified xsi:type="dcterms:W3CDTF">2026-04-27T12:21:48Z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E6FF964AAE33463D8456C2DB8D736857_12</vt:lpwstr>
  </property>
  <property fmtid="{D5CDD505-2E9C-101B-9397-08002B2CF9AE}" pid="3" name="KSOProductBuildVer">
    <vt:lpwstr>2052-12.1.0.25865</vt:lpwstr>
  </property>
</Properties>
</file>