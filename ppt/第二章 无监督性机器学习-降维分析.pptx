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48"/>
  </p:handoutMasterIdLst>
  <p:sldIdLst>
    <p:sldId id="708" r:id="rId3"/>
    <p:sldId id="839" r:id="rId4"/>
    <p:sldId id="1157" r:id="rId5"/>
    <p:sldId id="1300" r:id="rId6"/>
    <p:sldId id="1301" r:id="rId7"/>
    <p:sldId id="1317" r:id="rId9"/>
    <p:sldId id="1274" r:id="rId10"/>
    <p:sldId id="1275" r:id="rId11"/>
    <p:sldId id="1302" r:id="rId12"/>
    <p:sldId id="1303" r:id="rId13"/>
    <p:sldId id="1304" r:id="rId14"/>
    <p:sldId id="1318" r:id="rId15"/>
    <p:sldId id="1322" r:id="rId16"/>
    <p:sldId id="1305" r:id="rId17"/>
    <p:sldId id="1306" r:id="rId18"/>
    <p:sldId id="1320" r:id="rId19"/>
    <p:sldId id="1311" r:id="rId20"/>
    <p:sldId id="1321" r:id="rId21"/>
    <p:sldId id="1323" r:id="rId22"/>
    <p:sldId id="1307" r:id="rId23"/>
    <p:sldId id="1158" r:id="rId24"/>
    <p:sldId id="1308" r:id="rId25"/>
    <p:sldId id="1325" r:id="rId26"/>
    <p:sldId id="1326" r:id="rId27"/>
    <p:sldId id="1309" r:id="rId28"/>
    <p:sldId id="1312" r:id="rId29"/>
    <p:sldId id="1338" r:id="rId30"/>
    <p:sldId id="1327" r:id="rId31"/>
    <p:sldId id="1324" r:id="rId32"/>
    <p:sldId id="1328" r:id="rId33"/>
    <p:sldId id="1329" r:id="rId34"/>
    <p:sldId id="1330" r:id="rId35"/>
    <p:sldId id="1331" r:id="rId36"/>
    <p:sldId id="1332" r:id="rId37"/>
    <p:sldId id="1333" r:id="rId38"/>
    <p:sldId id="1334" r:id="rId39"/>
    <p:sldId id="1335" r:id="rId40"/>
    <p:sldId id="1336" r:id="rId41"/>
    <p:sldId id="1337" r:id="rId42"/>
    <p:sldId id="1342" r:id="rId43"/>
    <p:sldId id="1341" r:id="rId44"/>
    <p:sldId id="1314" r:id="rId45"/>
    <p:sldId id="1339" r:id="rId46"/>
    <p:sldId id="1344" r:id="rId47"/>
  </p:sldIdLst>
  <p:sldSz cx="9144000" cy="6858000" type="screen4x3"/>
  <p:notesSz cx="9144000" cy="6858000"/>
  <p:defaultTextStyle>
    <a:defPPr>
      <a:defRPr lang="zh-CN"/>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5F1B5416-640A-4F21-9AB5-898F4CDF8A5B}">
          <p14:sldIdLst>
            <p14:sldId id="708"/>
            <p14:sldId id="839"/>
            <p14:sldId id="1157"/>
            <p14:sldId id="1300"/>
            <p14:sldId id="1301"/>
            <p14:sldId id="1317"/>
            <p14:sldId id="1274"/>
            <p14:sldId id="1275"/>
            <p14:sldId id="1302"/>
            <p14:sldId id="1303"/>
            <p14:sldId id="1304"/>
            <p14:sldId id="1318"/>
            <p14:sldId id="1322"/>
            <p14:sldId id="1305"/>
            <p14:sldId id="1306"/>
            <p14:sldId id="1320"/>
            <p14:sldId id="1311"/>
            <p14:sldId id="1321"/>
            <p14:sldId id="1323"/>
            <p14:sldId id="1307"/>
            <p14:sldId id="1158"/>
            <p14:sldId id="1308"/>
            <p14:sldId id="1325"/>
            <p14:sldId id="1326"/>
            <p14:sldId id="1309"/>
            <p14:sldId id="1312"/>
            <p14:sldId id="1338"/>
            <p14:sldId id="1327"/>
            <p14:sldId id="1324"/>
            <p14:sldId id="1328"/>
            <p14:sldId id="1329"/>
            <p14:sldId id="1330"/>
            <p14:sldId id="1331"/>
            <p14:sldId id="1332"/>
            <p14:sldId id="1333"/>
            <p14:sldId id="1334"/>
            <p14:sldId id="1335"/>
            <p14:sldId id="1336"/>
            <p14:sldId id="1337"/>
            <p14:sldId id="1342"/>
            <p14:sldId id="1341"/>
            <p14:sldId id="1314"/>
            <p14:sldId id="1339"/>
            <p14:sldId id="1344"/>
          </p14:sldIdLst>
        </p14:section>
      </p14:sectionLst>
    </p:ext>
    <p:ext uri="{EFAFB233-063F-42B5-8137-9DF3F51BA10A}">
      <p15:sldGuideLst xmlns:p15="http://schemas.microsoft.com/office/powerpoint/2012/main">
        <p15:guide id="1" orient="horz" pos="3242" userDrawn="1">
          <p15:clr>
            <a:srgbClr val="A4A3A4"/>
          </p15:clr>
        </p15:guide>
        <p15:guide id="2" pos="28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48312"/>
    <a:srgbClr val="FF3300"/>
    <a:srgbClr val="FF99FF"/>
    <a:srgbClr val="ECE7E3"/>
    <a:srgbClr val="21C5FF"/>
    <a:srgbClr val="E28E7F"/>
    <a:srgbClr val="C26F0E"/>
    <a:srgbClr val="0000FF"/>
    <a:srgbClr val="00800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2" autoAdjust="0"/>
    <p:restoredTop sz="88628" autoAdjust="0"/>
  </p:normalViewPr>
  <p:slideViewPr>
    <p:cSldViewPr showGuides="1">
      <p:cViewPr varScale="1">
        <p:scale>
          <a:sx n="75" d="100"/>
          <a:sy n="75" d="100"/>
        </p:scale>
        <p:origin x="1474" y="58"/>
      </p:cViewPr>
      <p:guideLst>
        <p:guide orient="horz" pos="3242"/>
        <p:guide pos="2896"/>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howGuides="1">
      <p:cViewPr varScale="1">
        <p:scale>
          <a:sx n="43" d="100"/>
          <a:sy n="43" d="100"/>
        </p:scale>
        <p:origin x="-1416" y="-90"/>
      </p:cViewPr>
      <p:guideLst>
        <p:guide orient="horz" pos="2205"/>
        <p:guide pos="289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handoutMaster" Target="handoutMasters/handoutMaster1.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emf"/><Relationship Id="rId1" Type="http://schemas.openxmlformats.org/officeDocument/2006/relationships/image" Target="../media/image3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962400" cy="342900"/>
          </a:xfrm>
          <a:prstGeom prst="rect">
            <a:avLst/>
          </a:prstGeom>
          <a:noFill/>
          <a:ln w="9525">
            <a:noFill/>
            <a:miter lim="800000"/>
          </a:ln>
          <a:effectLst/>
        </p:spPr>
        <p:txBody>
          <a:bodyPr vert="horz" wrap="square" lIns="19050" tIns="0" rIns="19050" bIns="0" numCol="1" anchor="t" anchorCtr="0" compatLnSpc="1"/>
          <a:lstStyle>
            <a:lvl1pP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2051" name="Rectangle 3"/>
          <p:cNvSpPr>
            <a:spLocks noGrp="1" noChangeArrowheads="1"/>
          </p:cNvSpPr>
          <p:nvPr>
            <p:ph type="dt" idx="1"/>
          </p:nvPr>
        </p:nvSpPr>
        <p:spPr bwMode="auto">
          <a:xfrm>
            <a:off x="5181600" y="0"/>
            <a:ext cx="3962400" cy="342900"/>
          </a:xfrm>
          <a:prstGeom prst="rect">
            <a:avLst/>
          </a:prstGeom>
          <a:noFill/>
          <a:ln w="9525">
            <a:noFill/>
            <a:miter lim="800000"/>
          </a:ln>
          <a:effectLst/>
        </p:spPr>
        <p:txBody>
          <a:bodyPr vert="horz" wrap="square" lIns="19050" tIns="0" rIns="19050" bIns="0" numCol="1" anchor="t" anchorCtr="0" compatLnSpc="1"/>
          <a:lstStyle>
            <a:lvl1pPr algn="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11268" name="Rectangle 4"/>
          <p:cNvSpPr>
            <a:spLocks noGrp="1" noRot="1" noChangeAspect="1" noChangeArrowheads="1" noTextEdit="1"/>
          </p:cNvSpPr>
          <p:nvPr>
            <p:ph type="sldImg" idx="2"/>
          </p:nvPr>
        </p:nvSpPr>
        <p:spPr bwMode="auto">
          <a:xfrm>
            <a:off x="2863850" y="519113"/>
            <a:ext cx="3416300" cy="2562225"/>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19200" y="3257550"/>
            <a:ext cx="6705600" cy="3086100"/>
          </a:xfrm>
          <a:prstGeom prst="rect">
            <a:avLst/>
          </a:prstGeom>
          <a:noFill/>
          <a:ln w="9525">
            <a:noFill/>
            <a:miter lim="800000"/>
          </a:ln>
          <a:effectLst/>
        </p:spPr>
        <p:txBody>
          <a:bodyPr vert="horz" wrap="square" lIns="92075" tIns="46038" rIns="92075" bIns="46038"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2054" name="Rectangle 6"/>
          <p:cNvSpPr>
            <a:spLocks noGrp="1" noChangeArrowheads="1"/>
          </p:cNvSpPr>
          <p:nvPr>
            <p:ph type="ftr" sz="quarter" idx="4"/>
          </p:nvPr>
        </p:nvSpPr>
        <p:spPr bwMode="auto">
          <a:xfrm>
            <a:off x="0" y="6515100"/>
            <a:ext cx="3962400" cy="342900"/>
          </a:xfrm>
          <a:prstGeom prst="rect">
            <a:avLst/>
          </a:prstGeom>
          <a:noFill/>
          <a:ln w="9525">
            <a:noFill/>
            <a:miter lim="800000"/>
          </a:ln>
          <a:effectLst/>
        </p:spPr>
        <p:txBody>
          <a:bodyPr vert="horz" wrap="square" lIns="19050" tIns="0" rIns="19050" bIns="0" numCol="1" anchor="b" anchorCtr="0" compatLnSpc="1"/>
          <a:lstStyle>
            <a:lvl1pP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2055" name="Rectangle 7"/>
          <p:cNvSpPr>
            <a:spLocks noGrp="1" noChangeArrowheads="1"/>
          </p:cNvSpPr>
          <p:nvPr>
            <p:ph type="sldNum" sz="quarter" idx="5"/>
          </p:nvPr>
        </p:nvSpPr>
        <p:spPr bwMode="auto">
          <a:xfrm>
            <a:off x="5181600" y="6515100"/>
            <a:ext cx="3962400" cy="342900"/>
          </a:xfrm>
          <a:prstGeom prst="rect">
            <a:avLst/>
          </a:prstGeom>
          <a:noFill/>
          <a:ln w="9525">
            <a:noFill/>
            <a:miter lim="800000"/>
          </a:ln>
          <a:effectLst/>
        </p:spPr>
        <p:txBody>
          <a:bodyPr vert="horz" wrap="square" lIns="19050" tIns="0" rIns="19050" bIns="0" numCol="1" anchor="b" anchorCtr="0" compatLnSpc="1"/>
          <a:lstStyle>
            <a:lvl1pPr algn="r" eaLnBrk="0" hangingPunct="0">
              <a:defRPr sz="1000" i="1">
                <a:latin typeface="Times New Roman" panose="02020603050405020304" pitchFamily="18" charset="0"/>
              </a:defRPr>
            </a:lvl1pPr>
          </a:lstStyle>
          <a:p>
            <a:pPr>
              <a:defRPr/>
            </a:pPr>
            <a:fld id="{0500817F-17F9-46F0-832A-0BFACEB59CFB}"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6"/>
          <p:cNvSpPr/>
          <p:nvPr userDrawn="1"/>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2" descr="Image result for 西安电子科技大学"/>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32363" y="92075"/>
            <a:ext cx="381635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E:\Z_20141020浙大应用项调整\PPT-10.23\PPT源文件-10.23-03.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68313" y="6535738"/>
            <a:ext cx="5202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822960" y="758952"/>
            <a:ext cx="7543800" cy="3566160"/>
          </a:xfrm>
        </p:spPr>
        <p:txBody>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4" descr="E:\Z_20141020浙大应用项调整\PPT-10.23\PPT源文件-10.23-03.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8313" y="6535738"/>
            <a:ext cx="5202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userDrawn="1"/>
        </p:nvSpPr>
        <p:spPr>
          <a:xfrm>
            <a:off x="822325" y="1557338"/>
            <a:ext cx="7543800" cy="2873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Title 1"/>
          <p:cNvSpPr>
            <a:spLocks noGrp="1"/>
          </p:cNvSpPr>
          <p:nvPr>
            <p:ph type="title"/>
          </p:nvPr>
        </p:nvSpPr>
        <p:spPr>
          <a:xfrm>
            <a:off x="822960" y="286604"/>
            <a:ext cx="7543800" cy="892239"/>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22959" y="1484784"/>
            <a:ext cx="7543801" cy="438431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6" name="Slide Number Placeholder 5"/>
          <p:cNvSpPr>
            <a:spLocks noGrp="1"/>
          </p:cNvSpPr>
          <p:nvPr>
            <p:ph type="sldNum" sz="quarter" idx="10"/>
          </p:nvPr>
        </p:nvSpPr>
        <p:spPr/>
        <p:txBody>
          <a:bodyPr/>
          <a:lstStyle>
            <a:lvl1pPr>
              <a:defRPr/>
            </a:lvl1pPr>
          </a:lstStyle>
          <a:p>
            <a:pPr>
              <a:defRPr/>
            </a:pPr>
            <a:fld id="{F6DA434B-3FE0-453D-8E32-922B8A93A0FC}"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4" name="Rectangle 6"/>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2" descr="Image result for 西安电子科技大学"/>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32363" y="92075"/>
            <a:ext cx="381635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22960" y="758952"/>
            <a:ext cx="7543800" cy="3566160"/>
          </a:xfrm>
        </p:spPr>
        <p:txBody>
          <a:bodyPr anchorCtr="0"/>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2960" y="4453128"/>
            <a:ext cx="75438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8" name="Date Placeholder 3"/>
          <p:cNvSpPr>
            <a:spLocks noGrp="1"/>
          </p:cNvSpPr>
          <p:nvPr>
            <p:ph type="dt" sz="half" idx="10"/>
          </p:nvPr>
        </p:nvSpPr>
        <p:spPr/>
        <p:txBody>
          <a:bodyPr/>
          <a:lstStyle>
            <a:lvl1pPr>
              <a:defRPr/>
            </a:lvl1pPr>
          </a:lstStyle>
          <a:p>
            <a:pPr>
              <a:defRPr/>
            </a:pPr>
            <a:endParaRPr lang="en-US" altLang="zh-CN"/>
          </a:p>
        </p:txBody>
      </p:sp>
      <p:sp>
        <p:nvSpPr>
          <p:cNvPr id="9" name="Footer Placeholder 4"/>
          <p:cNvSpPr>
            <a:spLocks noGrp="1"/>
          </p:cNvSpPr>
          <p:nvPr>
            <p:ph type="ftr" sz="quarter" idx="11"/>
          </p:nvPr>
        </p:nvSpPr>
        <p:spPr/>
        <p:txBody>
          <a:bodyPr/>
          <a:lstStyle>
            <a:lvl1pPr>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lvl1pPr>
          </a:lstStyle>
          <a:p>
            <a:pPr>
              <a:defRPr/>
            </a:pPr>
            <a:fld id="{256FA0F2-C9A2-4F64-A66E-20022CCEEAEC}"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1C950D77-C628-43FC-BC46-456A714236B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22960" y="2582334"/>
            <a:ext cx="3703320" cy="32867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63440" y="2582334"/>
            <a:ext cx="3703320" cy="32867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83FD6D5D-01DA-4DC2-BBDE-EB5119091C7F}"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C9C69257-8032-4398-859F-185CE6CE699B}"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Rectangle 4"/>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pPr>
              <a:defRPr/>
            </a:pPr>
            <a:endParaRPr lang="en-US" altLang="zh-CN"/>
          </a:p>
        </p:txBody>
      </p:sp>
      <p:sp>
        <p:nvSpPr>
          <p:cNvPr id="5" name="Footer Placeholder 7"/>
          <p:cNvSpPr>
            <a:spLocks noGrp="1"/>
          </p:cNvSpPr>
          <p:nvPr>
            <p:ph type="ftr" sz="quarter" idx="11"/>
          </p:nvPr>
        </p:nvSpPr>
        <p:spPr/>
        <p:txBody>
          <a:bodyPr/>
          <a:lstStyle>
            <a:lvl1pPr>
              <a:defRPr>
                <a:solidFill>
                  <a:srgbClr val="FFFFFF"/>
                </a:solidFill>
              </a:defRPr>
            </a:lvl1pPr>
          </a:lstStyle>
          <a:p>
            <a:pPr>
              <a:defRPr/>
            </a:pPr>
            <a:endParaRPr lang="en-US" altLang="zh-CN"/>
          </a:p>
        </p:txBody>
      </p:sp>
      <p:sp>
        <p:nvSpPr>
          <p:cNvPr id="6" name="Slide Number Placeholder 8"/>
          <p:cNvSpPr>
            <a:spLocks noGrp="1"/>
          </p:cNvSpPr>
          <p:nvPr>
            <p:ph type="sldNum" sz="quarter" idx="12"/>
          </p:nvPr>
        </p:nvSpPr>
        <p:spPr/>
        <p:txBody>
          <a:bodyPr/>
          <a:lstStyle>
            <a:lvl1pPr>
              <a:defRPr/>
            </a:lvl1pPr>
          </a:lstStyle>
          <a:p>
            <a:pPr>
              <a:defRPr/>
            </a:pPr>
            <a:fld id="{AA51C516-9C89-45EA-8E3A-FDE8D53A16AD}"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5" name="Rectangle 7"/>
          <p:cNvSpPr/>
          <p:nvPr/>
        </p:nvSpPr>
        <p:spPr>
          <a:xfrm>
            <a:off x="0" y="0"/>
            <a:ext cx="303847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p:cNvSpPr/>
          <p:nvPr/>
        </p:nvSpPr>
        <p:spPr>
          <a:xfrm>
            <a:off x="3030538" y="0"/>
            <a:ext cx="47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7" name="Date Placeholder 4"/>
          <p:cNvSpPr>
            <a:spLocks noGrp="1"/>
          </p:cNvSpPr>
          <p:nvPr>
            <p:ph type="dt" sz="half" idx="10"/>
          </p:nvPr>
        </p:nvSpPr>
        <p:spPr>
          <a:xfrm>
            <a:off x="349250" y="6459538"/>
            <a:ext cx="1963738" cy="365125"/>
          </a:xfrm>
        </p:spPr>
        <p:txBody>
          <a:bodyPr/>
          <a:lstStyle>
            <a:lvl1pPr algn="l">
              <a:defRPr/>
            </a:lvl1pPr>
          </a:lstStyle>
          <a:p>
            <a:pPr>
              <a:defRPr/>
            </a:pPr>
            <a:endParaRPr lang="en-US" altLang="zh-CN"/>
          </a:p>
        </p:txBody>
      </p:sp>
      <p:sp>
        <p:nvSpPr>
          <p:cNvPr id="8" name="Footer Placeholder 5"/>
          <p:cNvSpPr>
            <a:spLocks noGrp="1"/>
          </p:cNvSpPr>
          <p:nvPr>
            <p:ph type="ftr" sz="quarter" idx="11"/>
          </p:nvPr>
        </p:nvSpPr>
        <p:spPr>
          <a:xfrm>
            <a:off x="3600450" y="6459538"/>
            <a:ext cx="3486150" cy="365125"/>
          </a:xfrm>
        </p:spPr>
        <p:txBody>
          <a:bodyPr/>
          <a:lstStyle>
            <a:lvl1pPr algn="l">
              <a:defRPr>
                <a:solidFill>
                  <a:schemeClr val="tx2"/>
                </a:solidFill>
              </a:defRPr>
            </a:lvl1pPr>
          </a:lstStyle>
          <a:p>
            <a:pPr>
              <a:defRPr/>
            </a:pPr>
            <a:endParaRPr lang="en-US" altLang="zh-CN"/>
          </a:p>
        </p:txBody>
      </p:sp>
      <p:sp>
        <p:nvSpPr>
          <p:cNvPr id="9" name="Slide Number Placeholder 6"/>
          <p:cNvSpPr>
            <a:spLocks noGrp="1"/>
          </p:cNvSpPr>
          <p:nvPr>
            <p:ph type="sldNum" sz="quarter" idx="12"/>
          </p:nvPr>
        </p:nvSpPr>
        <p:spPr/>
        <p:txBody>
          <a:bodyPr/>
          <a:lstStyle>
            <a:lvl1pPr>
              <a:defRPr>
                <a:solidFill>
                  <a:schemeClr val="tx2"/>
                </a:solidFill>
              </a:defRPr>
            </a:lvl1pPr>
          </a:lstStyle>
          <a:p>
            <a:pPr>
              <a:defRPr/>
            </a:pPr>
            <a:fld id="{EEDFC271-D8E7-4FF2-943A-13935E45B499}"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图片与标题">
    <p:spTree>
      <p:nvGrpSpPr>
        <p:cNvPr id="1" name=""/>
        <p:cNvGrpSpPr/>
        <p:nvPr/>
      </p:nvGrpSpPr>
      <p:grpSpPr>
        <a:xfrm>
          <a:off x="0" y="0"/>
          <a:ext cx="0" cy="0"/>
          <a:chOff x="0" y="0"/>
          <a:chExt cx="0" cy="0"/>
        </a:xfrm>
      </p:grpSpPr>
      <p:sp>
        <p:nvSpPr>
          <p:cNvPr id="5" name="Rectangle 7"/>
          <p:cNvSpPr/>
          <p:nvPr/>
        </p:nvSpPr>
        <p:spPr>
          <a:xfrm>
            <a:off x="0" y="4953000"/>
            <a:ext cx="9142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p:cNvSpPr/>
          <p:nvPr/>
        </p:nvSpPr>
        <p:spPr>
          <a:xfrm>
            <a:off x="0" y="4914900"/>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oAutofit/>
          </a:bodyPr>
          <a:lstStyle>
            <a:lvl1pPr>
              <a:defRPr sz="3600" b="0">
                <a:solidFill>
                  <a:srgbClr val="FFFFFF"/>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7" name="Date Placeholder 4"/>
          <p:cNvSpPr>
            <a:spLocks noGrp="1"/>
          </p:cNvSpPr>
          <p:nvPr>
            <p:ph type="dt" sz="half" idx="10"/>
          </p:nvPr>
        </p:nvSpPr>
        <p:spPr/>
        <p:txBody>
          <a:bodyPr/>
          <a:lstStyle>
            <a:lvl1pPr>
              <a:defRPr/>
            </a:lvl1pPr>
          </a:lstStyle>
          <a:p>
            <a:pPr>
              <a:defRPr/>
            </a:pPr>
            <a:endParaRPr lang="en-US" altLang="zh-CN"/>
          </a:p>
        </p:txBody>
      </p:sp>
      <p:sp>
        <p:nvSpPr>
          <p:cNvPr id="8" name="Footer Placeholder 5"/>
          <p:cNvSpPr>
            <a:spLocks noGrp="1"/>
          </p:cNvSpPr>
          <p:nvPr>
            <p:ph type="ftr" sz="quarter" idx="11"/>
          </p:nvPr>
        </p:nvSpPr>
        <p:spPr/>
        <p:txBody>
          <a:bodyPr/>
          <a:lstStyle>
            <a:lvl1pPr>
              <a:defRPr/>
            </a:lvl1pPr>
          </a:lstStyle>
          <a:p>
            <a:pPr>
              <a:defRPr/>
            </a:pPr>
            <a:endParaRPr lang="en-US" altLang="zh-CN"/>
          </a:p>
        </p:txBody>
      </p:sp>
      <p:sp>
        <p:nvSpPr>
          <p:cNvPr id="9" name="Slide Number Placeholder 6"/>
          <p:cNvSpPr>
            <a:spLocks noGrp="1"/>
          </p:cNvSpPr>
          <p:nvPr>
            <p:ph type="sldNum" sz="quarter" idx="12"/>
          </p:nvPr>
        </p:nvSpPr>
        <p:spPr/>
        <p:txBody>
          <a:bodyPr/>
          <a:lstStyle>
            <a:lvl1pPr>
              <a:defRPr/>
            </a:lvl1pPr>
          </a:lstStyle>
          <a:p>
            <a:pPr>
              <a:defRPr/>
            </a:pPr>
            <a:fld id="{D0FD5BEA-9E28-41CA-BE91-C9A1BA7CFA11}"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3191729D-44E3-49BA-994F-783CF7E187B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10;文本">
    <p:spTree>
      <p:nvGrpSpPr>
        <p:cNvPr id="1" name=""/>
        <p:cNvGrpSpPr/>
        <p:nvPr/>
      </p:nvGrpSpPr>
      <p:grpSpPr>
        <a:xfrm>
          <a:off x="0" y="0"/>
          <a:ext cx="0" cy="0"/>
          <a:chOff x="0" y="0"/>
          <a:chExt cx="0" cy="0"/>
        </a:xfrm>
      </p:grpSpPr>
      <p:sp>
        <p:nvSpPr>
          <p:cNvPr id="4" name="Rectangle 6"/>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6" name="Date Placeholder 3"/>
          <p:cNvSpPr>
            <a:spLocks noGrp="1"/>
          </p:cNvSpPr>
          <p:nvPr>
            <p:ph type="dt" sz="half" idx="10"/>
          </p:nvPr>
        </p:nvSpPr>
        <p:spPr/>
        <p:txBody>
          <a:bodyPr/>
          <a:lstStyle>
            <a:lvl1pPr>
              <a:defRPr/>
            </a:lvl1pPr>
          </a:lstStyle>
          <a:p>
            <a:pPr>
              <a:defRPr/>
            </a:pPr>
            <a:endParaRPr lang="en-US" altLang="zh-CN"/>
          </a:p>
        </p:txBody>
      </p:sp>
      <p:sp>
        <p:nvSpPr>
          <p:cNvPr id="7" name="Footer Placeholder 4"/>
          <p:cNvSpPr>
            <a:spLocks noGrp="1"/>
          </p:cNvSpPr>
          <p:nvPr>
            <p:ph type="ftr" sz="quarter" idx="11"/>
          </p:nvPr>
        </p:nvSpPr>
        <p:spPr/>
        <p:txBody>
          <a:bodyPr/>
          <a:lstStyle>
            <a:lvl1pPr>
              <a:defRPr/>
            </a:lvl1pPr>
          </a:lstStyle>
          <a:p>
            <a:pPr>
              <a:defRPr/>
            </a:pPr>
            <a:endParaRPr lang="en-US" altLang="zh-CN"/>
          </a:p>
        </p:txBody>
      </p:sp>
      <p:sp>
        <p:nvSpPr>
          <p:cNvPr id="8" name="Slide Number Placeholder 5"/>
          <p:cNvSpPr>
            <a:spLocks noGrp="1"/>
          </p:cNvSpPr>
          <p:nvPr>
            <p:ph type="sldNum" sz="quarter" idx="12"/>
          </p:nvPr>
        </p:nvSpPr>
        <p:spPr/>
        <p:txBody>
          <a:bodyPr/>
          <a:lstStyle>
            <a:lvl1pPr>
              <a:defRPr/>
            </a:lvl1pPr>
          </a:lstStyle>
          <a:p>
            <a:pPr>
              <a:defRPr/>
            </a:pPr>
            <a:fld id="{D26B558E-6E52-4ECF-B6D6-3B703C722682}" type="slidenum">
              <a:rPr lang="en-US" altLang="zh-CN"/>
            </a:fld>
            <a:endParaRPr lang="en-US" altLang="zh-C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1029" name="Text Placeholder 2"/>
          <p:cNvSpPr>
            <a:spLocks noGrp="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ltLang="zh-CN"/>
          </a:p>
        </p:txBody>
      </p:sp>
      <p:sp>
        <p:nvSpPr>
          <p:cNvPr id="5" name="Footer Placeholder 4"/>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ltLang="zh-CN"/>
          </a:p>
        </p:txBody>
      </p:sp>
      <p:sp>
        <p:nvSpPr>
          <p:cNvPr id="6" name="Slide Number Placeholder 5"/>
          <p:cNvSpPr>
            <a:spLocks noGrp="1"/>
          </p:cNvSpPr>
          <p:nvPr>
            <p:ph type="sldNum" sz="quarter" idx="4"/>
          </p:nvPr>
        </p:nvSpPr>
        <p:spPr>
          <a:xfrm>
            <a:off x="7424738" y="6459538"/>
            <a:ext cx="984250" cy="365125"/>
          </a:xfrm>
          <a:prstGeom prst="rect">
            <a:avLst/>
          </a:prstGeom>
        </p:spPr>
        <p:txBody>
          <a:bodyPr vert="horz" lIns="91440" tIns="45720" rIns="91440" bIns="45720" rtlCol="0" anchor="ctr"/>
          <a:lstStyle>
            <a:lvl1pPr algn="r">
              <a:defRPr sz="1050">
                <a:solidFill>
                  <a:srgbClr val="FFFFFF"/>
                </a:solidFill>
              </a:defRPr>
            </a:lvl1pPr>
          </a:lstStyle>
          <a:p>
            <a:pPr>
              <a:defRPr/>
            </a:pPr>
            <a:fld id="{47489B64-E570-46EF-ABE2-C5B7231161B8}" type="slidenum">
              <a:rPr lang="en-US" altLang="zh-CN"/>
            </a:fld>
            <a:endParaRPr lang="en-US" altLang="zh-CN"/>
          </a:p>
        </p:txBody>
      </p:sp>
      <p:cxnSp>
        <p:nvCxnSpPr>
          <p:cNvPr id="10" name="Straight Connector 9"/>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9pPr>
    </p:titleStyle>
    <p:body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3" Type="http://schemas.openxmlformats.org/officeDocument/2006/relationships/notesSlide" Target="../notesSlides/notesSlide2.xml"/><Relationship Id="rId12" Type="http://schemas.openxmlformats.org/officeDocument/2006/relationships/slideLayout" Target="../slideLayouts/slideLayout2.xml"/><Relationship Id="rId11" Type="http://schemas.openxmlformats.org/officeDocument/2006/relationships/image" Target="../media/image14.png"/><Relationship Id="rId10" Type="http://schemas.openxmlformats.org/officeDocument/2006/relationships/image" Target="../media/image13.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4.wmf"/><Relationship Id="rId7" Type="http://schemas.openxmlformats.org/officeDocument/2006/relationships/oleObject" Target="../embeddings/oleObject4.bin"/><Relationship Id="rId6" Type="http://schemas.openxmlformats.org/officeDocument/2006/relationships/image" Target="../media/image33.wmf"/><Relationship Id="rId5" Type="http://schemas.openxmlformats.org/officeDocument/2006/relationships/oleObject" Target="../embeddings/oleObject3.bin"/><Relationship Id="rId4" Type="http://schemas.openxmlformats.org/officeDocument/2006/relationships/image" Target="../media/image32.emf"/><Relationship Id="rId3" Type="http://schemas.openxmlformats.org/officeDocument/2006/relationships/oleObject" Target="../embeddings/oleObject2.bin"/><Relationship Id="rId2" Type="http://schemas.openxmlformats.org/officeDocument/2006/relationships/image" Target="../media/image31.e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image" Target="../media/image48.png"/></Relationships>
</file>

<file path=ppt/slides/_rels/slide30.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58.png"/><Relationship Id="rId7" Type="http://schemas.openxmlformats.org/officeDocument/2006/relationships/image" Target="../media/image57.png"/><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44.png"/><Relationship Id="rId2" Type="http://schemas.openxmlformats.org/officeDocument/2006/relationships/image" Target="../media/image53.png"/><Relationship Id="rId12" Type="http://schemas.openxmlformats.org/officeDocument/2006/relationships/slideLayout" Target="../slideLayouts/slideLayout2.xml"/><Relationship Id="rId11" Type="http://schemas.openxmlformats.org/officeDocument/2006/relationships/image" Target="../media/image61.png"/><Relationship Id="rId10" Type="http://schemas.openxmlformats.org/officeDocument/2006/relationships/image" Target="../media/image60.png"/><Relationship Id="rId1" Type="http://schemas.openxmlformats.org/officeDocument/2006/relationships/image" Target="../media/image5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image" Target="../media/image62.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image" Target="../media/image6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image" Target="../media/image69.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image" Target="../media/image70.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2.png"/><Relationship Id="rId2" Type="http://schemas.openxmlformats.org/officeDocument/2006/relationships/image" Target="../media/image68.png"/><Relationship Id="rId1" Type="http://schemas.openxmlformats.org/officeDocument/2006/relationships/image" Target="../media/image71.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image" Target="../media/image7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image" Target="../media/image7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42.x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84.png"/><Relationship Id="rId7" Type="http://schemas.openxmlformats.org/officeDocument/2006/relationships/image" Target="../media/image83.png"/><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png"/><Relationship Id="rId10" Type="http://schemas.openxmlformats.org/officeDocument/2006/relationships/slideLayout" Target="../slideLayouts/slideLayout2.xml"/><Relationship Id="rId1" Type="http://schemas.openxmlformats.org/officeDocument/2006/relationships/image" Target="../media/image7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22325" y="758825"/>
            <a:ext cx="7543800" cy="3565525"/>
          </a:xfrm>
        </p:spPr>
        <p:txBody>
          <a:bodyPr>
            <a:normAutofit/>
          </a:bodyPr>
          <a:lstStyle/>
          <a:p>
            <a:pPr algn="ctr" eaLnBrk="1" fontAlgn="auto" hangingPunct="1">
              <a:lnSpc>
                <a:spcPct val="125000"/>
              </a:lnSpc>
              <a:spcAft>
                <a:spcPts val="0"/>
              </a:spcAft>
              <a:defRPr/>
            </a:pPr>
            <a: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t>第三章 </a:t>
            </a:r>
            <a:b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br>
            <a: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t>无监督性机器学习</a:t>
            </a:r>
            <a:endParaRPr lang="zh-CN" altLang="en-US" dirty="0">
              <a:solidFill>
                <a:srgbClr val="C00000"/>
              </a:solidFill>
            </a:endParaRPr>
          </a:p>
        </p:txBody>
      </p:sp>
      <p:sp>
        <p:nvSpPr>
          <p:cNvPr id="3" name="副标题 2"/>
          <p:cNvSpPr>
            <a:spLocks noGrp="1"/>
          </p:cNvSpPr>
          <p:nvPr>
            <p:ph type="subTitle" idx="1"/>
          </p:nvPr>
        </p:nvSpPr>
        <p:spPr>
          <a:xfrm>
            <a:off x="825500" y="4456113"/>
            <a:ext cx="7543800" cy="1143000"/>
          </a:xfrm>
        </p:spPr>
        <p:txBody>
          <a:bodyPr rtlCol="0"/>
          <a:lstStyle/>
          <a:p>
            <a:pPr algn="ctr" eaLnBrk="1" fontAlgn="auto" hangingPunct="1">
              <a:defRPr/>
            </a:pPr>
            <a:r>
              <a:rPr lang="en-US" altLang="zh-CN" b="1" dirty="0">
                <a:latin typeface="Tahoma" panose="020B0604030504040204" pitchFamily="34" charset="0"/>
                <a:ea typeface="Tahoma" panose="020B0604030504040204" pitchFamily="34" charset="0"/>
                <a:cs typeface="Tahoma" panose="020B0604030504040204" pitchFamily="34" charset="0"/>
              </a:rPr>
              <a:t>Supervised machine learning</a:t>
            </a:r>
            <a:endParaRPr lang="zh-CN" altLang="en-US" dirty="0">
              <a:latin typeface="Tahoma" panose="020B0604030504040204" pitchFamily="34" charset="0"/>
              <a:cs typeface="Tahoma" panose="020B0604030504040204" pitchFamily="34" charset="0"/>
            </a:endParaRPr>
          </a:p>
        </p:txBody>
      </p:sp>
      <p:sp>
        <p:nvSpPr>
          <p:cNvPr id="4" name="灯片编号占位符 3"/>
          <p:cNvSpPr>
            <a:spLocks noGrp="1"/>
          </p:cNvSpPr>
          <p:nvPr>
            <p:ph type="sldNum" sz="quarter" idx="4294967295"/>
          </p:nvPr>
        </p:nvSpPr>
        <p:spPr/>
        <p:txBody>
          <a:bodyPr/>
          <a:lstStyle/>
          <a:p>
            <a:pPr>
              <a:defRPr/>
            </a:pPr>
            <a:fld id="{5C607526-F0CC-4C74-8DBA-9971CBCEA052}" type="slidenum">
              <a:rPr lang="en-US" altLang="zh-CN"/>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solidFill>
                  <a:srgbClr val="C00000"/>
                </a:solidFill>
                <a:latin typeface="Arial" panose="020B0604020202020204"/>
                <a:ea typeface="宋体" panose="02010600030101010101" pitchFamily="2" charset="-122"/>
              </a:rPr>
              <a:t>降维分析</a:t>
            </a:r>
            <a:endParaRPr kumimoji="0" lang="en-US" altLang="zh-CN" kern="100" dirty="0">
              <a:solidFill>
                <a:srgbClr val="C00000"/>
              </a:solidFill>
              <a:latin typeface="Arial" panose="020B0604020202020204"/>
              <a:ea typeface="宋体" panose="02010600030101010101" pitchFamily="2" charset="-122"/>
            </a:endParaRPr>
          </a:p>
          <a:p>
            <a:pPr eaLnBrk="1" hangingPunct="1">
              <a:lnSpc>
                <a:spcPct val="90000"/>
              </a:lnSpc>
              <a:spcBef>
                <a:spcPct val="40000"/>
              </a:spcBef>
              <a:defRPr/>
            </a:pPr>
            <a:r>
              <a:rPr kumimoji="0" lang="zh-CN" altLang="en-US" kern="100" dirty="0">
                <a:latin typeface="Arial" panose="020B0604020202020204"/>
                <a:ea typeface="宋体" panose="02010600030101010101" pitchFamily="2" charset="-122"/>
              </a:rPr>
              <a:t>奇异值分解</a:t>
            </a:r>
            <a:endParaRPr kumimoji="0" lang="en-US" altLang="zh-CN" kern="100"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主成分分析</a:t>
            </a:r>
            <a:endParaRPr kumimoji="0" lang="en-US" altLang="zh-CN" kern="100" dirty="0">
              <a:latin typeface="Arial" panose="020B0604020202020204"/>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ee the source imag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4792" y="4077072"/>
            <a:ext cx="6342583" cy="221197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维度灾难</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8" name="矩形 3"/>
          <p:cNvSpPr>
            <a:spLocks noChangeArrowheads="1"/>
          </p:cNvSpPr>
          <p:nvPr/>
        </p:nvSpPr>
        <p:spPr bwMode="auto">
          <a:xfrm>
            <a:off x="822960" y="1340768"/>
            <a:ext cx="7292676" cy="2922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维数灾难</a:t>
            </a:r>
            <a:r>
              <a:rPr lang="en-US" altLang="zh-CN" sz="2000" dirty="0">
                <a:solidFill>
                  <a:srgbClr val="000000"/>
                </a:solidFill>
              </a:rPr>
              <a:t>(Curse of Dimensionality)</a:t>
            </a:r>
            <a:r>
              <a:rPr lang="zh-CN" altLang="en-US" sz="2000" dirty="0">
                <a:solidFill>
                  <a:srgbClr val="000000"/>
                </a:solidFill>
              </a:rPr>
              <a:t>：通常是指在涉及到</a:t>
            </a:r>
            <a:r>
              <a:rPr lang="zh-CN" altLang="en-US" sz="2000" b="1" dirty="0">
                <a:solidFill>
                  <a:srgbClr val="FF0000"/>
                </a:solidFill>
              </a:rPr>
              <a:t>向量</a:t>
            </a:r>
            <a:r>
              <a:rPr lang="zh-CN" altLang="en-US" sz="2000" dirty="0">
                <a:solidFill>
                  <a:srgbClr val="000000"/>
                </a:solidFill>
              </a:rPr>
              <a:t>的计算的问题中，随着维数的增加，计算量呈指数倍增长的一种现象。</a:t>
            </a:r>
            <a:endParaRPr lang="zh-CN" altLang="en-US" sz="2000" dirty="0">
              <a:solidFill>
                <a:srgbClr val="000000"/>
              </a:solidFill>
            </a:endParaRPr>
          </a:p>
          <a:p>
            <a:r>
              <a:rPr lang="zh-CN" altLang="en-US" sz="2000" dirty="0">
                <a:solidFill>
                  <a:srgbClr val="000000"/>
                </a:solidFill>
              </a:rPr>
              <a:t>维数灾难涉及数字分析、抽样、组合、机器学习、数据挖掘和数据库等诸多领域。在机器学习的建模过程中，通常指的是随着特征数量的增多，计算量会变得很大，如特征达到上亿维的话，在进行计算的时候是算不出来的。有的时候，维度太大也会导致机器学习性能的下降，并不是特征维度越大越好，</a:t>
            </a:r>
            <a:r>
              <a:rPr lang="zh-CN" altLang="en-US" sz="2000" b="1" dirty="0">
                <a:solidFill>
                  <a:srgbClr val="FF0000"/>
                </a:solidFill>
              </a:rPr>
              <a:t>模型的性能会随着特征的增加先上升后下降。</a:t>
            </a:r>
            <a:endParaRPr lang="zh-CN" altLang="en-US" sz="2000" b="1"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降维</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8" name="矩形 3"/>
          <p:cNvSpPr>
            <a:spLocks noChangeArrowheads="1"/>
          </p:cNvSpPr>
          <p:nvPr/>
        </p:nvSpPr>
        <p:spPr bwMode="auto">
          <a:xfrm>
            <a:off x="822960" y="1340768"/>
            <a:ext cx="7292676"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降维</a:t>
            </a:r>
            <a:r>
              <a:rPr lang="en-US" altLang="zh-CN" sz="2000" dirty="0">
                <a:solidFill>
                  <a:srgbClr val="000000"/>
                </a:solidFill>
              </a:rPr>
              <a:t>(Dimensionality Reduction)</a:t>
            </a:r>
            <a:r>
              <a:rPr lang="zh-CN" altLang="en-US" sz="2000" dirty="0">
                <a:solidFill>
                  <a:srgbClr val="000000"/>
                </a:solidFill>
              </a:rPr>
              <a:t>是将训练数据中的样本</a:t>
            </a:r>
            <a:r>
              <a:rPr lang="en-US" altLang="zh-CN" sz="2000" dirty="0">
                <a:solidFill>
                  <a:srgbClr val="000000"/>
                </a:solidFill>
              </a:rPr>
              <a:t>(</a:t>
            </a:r>
            <a:r>
              <a:rPr lang="zh-CN" altLang="en-US" sz="2000" dirty="0">
                <a:solidFill>
                  <a:srgbClr val="000000"/>
                </a:solidFill>
              </a:rPr>
              <a:t>实例</a:t>
            </a:r>
            <a:r>
              <a:rPr lang="en-US" altLang="zh-CN" sz="2000" dirty="0">
                <a:solidFill>
                  <a:srgbClr val="000000"/>
                </a:solidFill>
              </a:rPr>
              <a:t>)</a:t>
            </a:r>
            <a:r>
              <a:rPr lang="zh-CN" altLang="en-US" sz="2000" dirty="0">
                <a:solidFill>
                  <a:srgbClr val="000000"/>
                </a:solidFill>
              </a:rPr>
              <a:t>从高维空间转换到低维空间，该过程与信息论中有损压缩概念密切相关。</a:t>
            </a:r>
            <a:r>
              <a:rPr lang="zh-CN" altLang="en-US" sz="2000" b="1" dirty="0">
                <a:solidFill>
                  <a:srgbClr val="FF0000"/>
                </a:solidFill>
              </a:rPr>
              <a:t>注意</a:t>
            </a:r>
            <a:r>
              <a:rPr lang="zh-CN" altLang="en-US" sz="2000" dirty="0">
                <a:solidFill>
                  <a:srgbClr val="000000"/>
                </a:solidFill>
              </a:rPr>
              <a:t>：</a:t>
            </a:r>
            <a:r>
              <a:rPr lang="zh-CN" altLang="en-US" sz="2000" b="1" dirty="0">
                <a:solidFill>
                  <a:srgbClr val="FF0000"/>
                </a:solidFill>
              </a:rPr>
              <a:t>不存在完全无损的降维</a:t>
            </a:r>
            <a:r>
              <a:rPr lang="zh-CN" altLang="en-US" sz="2000" dirty="0">
                <a:solidFill>
                  <a:srgbClr val="000000"/>
                </a:solidFill>
              </a:rPr>
              <a:t>。</a:t>
            </a:r>
            <a:endParaRPr lang="en-US" altLang="zh-CN" sz="2000" dirty="0">
              <a:solidFill>
                <a:srgbClr val="000000"/>
              </a:solidFill>
            </a:endParaRPr>
          </a:p>
          <a:p>
            <a:r>
              <a:rPr lang="zh-CN" altLang="en-US" sz="2000" dirty="0">
                <a:solidFill>
                  <a:srgbClr val="000000"/>
                </a:solidFill>
              </a:rPr>
              <a:t>有很多种算法可以完成对原始数据的降维，降维是通过对原始数据的</a:t>
            </a:r>
            <a:r>
              <a:rPr lang="zh-CN" altLang="en-US" sz="2000" b="1" dirty="0">
                <a:solidFill>
                  <a:srgbClr val="FF0000"/>
                </a:solidFill>
              </a:rPr>
              <a:t>线性变换实现</a:t>
            </a:r>
            <a:r>
              <a:rPr lang="zh-CN" altLang="en-US" sz="2000" dirty="0">
                <a:solidFill>
                  <a:srgbClr val="000000"/>
                </a:solidFill>
              </a:rPr>
              <a:t>的。</a:t>
            </a:r>
            <a:endParaRPr lang="en-US" altLang="zh-CN" sz="2000" dirty="0">
              <a:solidFill>
                <a:srgbClr val="000000"/>
              </a:solidFill>
            </a:endParaRPr>
          </a:p>
          <a:p>
            <a:r>
              <a:rPr lang="zh-CN" altLang="en-US" sz="2000" dirty="0">
                <a:latin typeface="-apple-system"/>
              </a:rPr>
              <a:t>如果原始数据是 </a:t>
            </a:r>
            <a:r>
              <a:rPr lang="en-US" altLang="zh-CN" sz="2000" dirty="0">
                <a:latin typeface="-apple-system"/>
              </a:rPr>
              <a:t>d </a:t>
            </a:r>
            <a:r>
              <a:rPr lang="zh-CN" altLang="en-US" sz="2000" dirty="0">
                <a:latin typeface="-apple-system"/>
              </a:rPr>
              <a:t>维的，想将其约简到 </a:t>
            </a:r>
            <a:r>
              <a:rPr lang="en-US" altLang="zh-CN" sz="2000" dirty="0">
                <a:latin typeface="-apple-system"/>
              </a:rPr>
              <a:t>n </a:t>
            </a:r>
            <a:r>
              <a:rPr lang="zh-CN" altLang="en-US" sz="2000" dirty="0">
                <a:latin typeface="-apple-system"/>
              </a:rPr>
              <a:t>维（</a:t>
            </a:r>
            <a:r>
              <a:rPr lang="en-US" altLang="zh-CN" sz="2000" dirty="0">
                <a:latin typeface="-apple-system"/>
              </a:rPr>
              <a:t>n &lt; d</a:t>
            </a:r>
            <a:r>
              <a:rPr lang="zh-CN" altLang="en-US" sz="2000" dirty="0">
                <a:latin typeface="-apple-system"/>
              </a:rPr>
              <a:t>），则需要找到一个矩阵</a:t>
            </a:r>
            <a:r>
              <a:rPr lang="en-US" altLang="zh-CN" sz="2000" dirty="0">
                <a:latin typeface="-apple-system"/>
              </a:rPr>
              <a:t>W</a:t>
            </a:r>
            <a:r>
              <a:rPr lang="zh-CN" altLang="en-US" sz="2000" dirty="0">
                <a:latin typeface="-apple-system"/>
              </a:rPr>
              <a:t>完成映射。最自然的选择是</a:t>
            </a:r>
            <a:r>
              <a:rPr lang="en-US" altLang="zh-CN" sz="2000" dirty="0">
                <a:latin typeface="-apple-system"/>
              </a:rPr>
              <a:t>W</a:t>
            </a:r>
            <a:r>
              <a:rPr lang="zh-CN" altLang="en-US" sz="2000" dirty="0">
                <a:latin typeface="-apple-system"/>
              </a:rPr>
              <a:t>在降维的同时能够复原原始的数据 ，但通常这是不可能，不同</a:t>
            </a:r>
            <a:r>
              <a:rPr lang="en-US" altLang="zh-CN" sz="2000" dirty="0">
                <a:latin typeface="-apple-system"/>
              </a:rPr>
              <a:t>W</a:t>
            </a:r>
            <a:r>
              <a:rPr lang="zh-CN" altLang="en-US" sz="2000" dirty="0">
                <a:latin typeface="-apple-system"/>
              </a:rPr>
              <a:t>的区别在于信息损失程度的不同。</a:t>
            </a:r>
            <a:endParaRPr lang="zh-CN"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降维</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8" name="矩形 3"/>
          <p:cNvSpPr>
            <a:spLocks noChangeArrowheads="1"/>
          </p:cNvSpPr>
          <p:nvPr/>
        </p:nvSpPr>
        <p:spPr bwMode="auto">
          <a:xfrm>
            <a:off x="822960" y="1340768"/>
            <a:ext cx="7586028" cy="520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为什么要降维</a:t>
            </a:r>
            <a:endParaRPr lang="en-US" altLang="zh-CN" sz="2000" dirty="0">
              <a:solidFill>
                <a:srgbClr val="000000"/>
              </a:solidFill>
            </a:endParaRPr>
          </a:p>
          <a:p>
            <a:pPr lvl="1"/>
            <a:r>
              <a:rPr lang="zh-CN" altLang="en-US" sz="1800" dirty="0"/>
              <a:t>高维数据增加了运算的难度</a:t>
            </a:r>
            <a:endParaRPr lang="zh-CN" altLang="en-US" sz="1800" dirty="0"/>
          </a:p>
          <a:p>
            <a:pPr lvl="1"/>
            <a:r>
              <a:rPr lang="zh-CN" altLang="en-US" sz="1800" dirty="0"/>
              <a:t>高维使得学习算法的泛化能力变弱（例如，在最近邻分类器中，样本复杂度随着维度成指数增长），维度越高，算法的搜索难度和成本就越大。</a:t>
            </a:r>
            <a:endParaRPr lang="zh-CN" altLang="en-US" sz="1800" dirty="0"/>
          </a:p>
          <a:p>
            <a:pPr lvl="1"/>
            <a:r>
              <a:rPr lang="zh-CN" altLang="en-US" sz="1800" dirty="0"/>
              <a:t>降维能够增加数据的可读性，利于发掘数据的有意义的结构</a:t>
            </a:r>
            <a:endParaRPr lang="zh-CN" altLang="en-US" sz="1800" dirty="0"/>
          </a:p>
          <a:p>
            <a:r>
              <a:rPr lang="zh-CN" altLang="en-US" sz="2000" dirty="0"/>
              <a:t>降维的优点：</a:t>
            </a:r>
            <a:endParaRPr lang="zh-CN" altLang="en-US" sz="2000" dirty="0"/>
          </a:p>
          <a:p>
            <a:pPr lvl="1"/>
            <a:r>
              <a:rPr lang="zh-CN" altLang="en-US" sz="1800" dirty="0"/>
              <a:t>通过减少特征的维数，数据集存储所需的空间也相应减少，减少了特征维数所需的计算训练时间；</a:t>
            </a:r>
            <a:endParaRPr lang="zh-CN" altLang="en-US" sz="1800" dirty="0"/>
          </a:p>
          <a:p>
            <a:pPr lvl="1"/>
            <a:r>
              <a:rPr lang="zh-CN" altLang="en-US" sz="1800" dirty="0"/>
              <a:t>数据集特征的降维有助于快速可视化数据；</a:t>
            </a:r>
            <a:endParaRPr lang="zh-CN" altLang="en-US" sz="1800" dirty="0"/>
          </a:p>
          <a:p>
            <a:pPr lvl="1"/>
            <a:r>
              <a:rPr lang="zh-CN" altLang="en-US" sz="1800" dirty="0"/>
              <a:t>通过处理多重共线性消除冗余特征。</a:t>
            </a:r>
            <a:endParaRPr lang="zh-CN" altLang="en-US" sz="1800" dirty="0"/>
          </a:p>
          <a:p>
            <a:r>
              <a:rPr lang="zh-CN" altLang="en-US" sz="2000" dirty="0"/>
              <a:t>降维的缺点：</a:t>
            </a:r>
            <a:endParaRPr lang="zh-CN" altLang="en-US" sz="2000" dirty="0"/>
          </a:p>
          <a:p>
            <a:pPr lvl="1"/>
            <a:r>
              <a:rPr lang="zh-CN" altLang="en-US" sz="1800" dirty="0"/>
              <a:t>降维可能会丢失一些数据；</a:t>
            </a:r>
            <a:endParaRPr lang="zh-CN" altLang="en-US" sz="1800" dirty="0"/>
          </a:p>
          <a:p>
            <a:pPr lvl="1"/>
            <a:r>
              <a:rPr lang="zh-CN" altLang="en-US" sz="1800" dirty="0"/>
              <a:t>在主成分分析</a:t>
            </a:r>
            <a:r>
              <a:rPr lang="en-US" altLang="zh-CN" sz="1800" dirty="0"/>
              <a:t>(PCA)</a:t>
            </a:r>
            <a:r>
              <a:rPr lang="zh-CN" altLang="en-US" sz="1800" dirty="0"/>
              <a:t>降维技术中，有时需要考虑多少主成分是难以确定的，往往使用经验法则</a:t>
            </a:r>
            <a:endParaRPr lang="zh-CN" altLang="en-US" sz="1800" dirty="0"/>
          </a:p>
          <a:p>
            <a:endParaRPr lang="zh-CN" alt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eaLnBrk="1" hangingPunct="1">
              <a:lnSpc>
                <a:spcPct val="90000"/>
              </a:lnSpc>
              <a:spcBef>
                <a:spcPct val="40000"/>
              </a:spcBef>
              <a:defRPr/>
            </a:pPr>
            <a:r>
              <a:rPr kumimoji="0" lang="zh-CN" altLang="en-US" kern="100" dirty="0">
                <a:latin typeface="Arial" panose="020B0604020202020204"/>
                <a:ea typeface="宋体" panose="02010600030101010101" pitchFamily="2" charset="-122"/>
              </a:rPr>
              <a:t>降维分析</a:t>
            </a:r>
            <a:endParaRPr kumimoji="0" lang="en-US" altLang="zh-CN" kern="100" dirty="0">
              <a:latin typeface="Arial" panose="020B0604020202020204"/>
              <a:ea typeface="宋体" panose="02010600030101010101" pitchFamily="2" charset="-122"/>
            </a:endParaRPr>
          </a:p>
          <a:p>
            <a:pPr eaLnBrk="1" hangingPunct="1">
              <a:lnSpc>
                <a:spcPct val="90000"/>
              </a:lnSpc>
              <a:spcBef>
                <a:spcPct val="40000"/>
              </a:spcBef>
              <a:defRPr/>
            </a:pPr>
            <a:r>
              <a:rPr kumimoji="0" lang="zh-CN" altLang="en-US" kern="100" dirty="0">
                <a:solidFill>
                  <a:srgbClr val="C00000"/>
                </a:solidFill>
                <a:latin typeface="Arial" panose="020B0604020202020204"/>
                <a:ea typeface="宋体" panose="02010600030101010101" pitchFamily="2" charset="-122"/>
              </a:rPr>
              <a:t>奇异值分解</a:t>
            </a:r>
            <a:endParaRPr kumimoji="0" lang="en-US" altLang="zh-CN" kern="100" dirty="0">
              <a:solidFill>
                <a:srgbClr val="C00000"/>
              </a:solidFill>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主成分分析</a:t>
            </a:r>
            <a:endParaRPr kumimoji="0" lang="en-US" altLang="zh-CN" kern="100" dirty="0">
              <a:latin typeface="Arial" panose="020B0604020202020204"/>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奇异值分解</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8" name="矩形 3"/>
          <p:cNvSpPr>
            <a:spLocks noChangeArrowheads="1"/>
          </p:cNvSpPr>
          <p:nvPr/>
        </p:nvSpPr>
        <p:spPr bwMode="auto">
          <a:xfrm>
            <a:off x="822960" y="1340768"/>
            <a:ext cx="7349440" cy="316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奇异值分解 </a:t>
            </a:r>
            <a:r>
              <a:rPr lang="en-US" altLang="zh-CN" sz="2000" dirty="0">
                <a:solidFill>
                  <a:srgbClr val="000000"/>
                </a:solidFill>
              </a:rPr>
              <a:t>(Singular Value Decomposition</a:t>
            </a:r>
            <a:r>
              <a:rPr lang="zh-CN" altLang="en-US" sz="2000" dirty="0">
                <a:solidFill>
                  <a:srgbClr val="000000"/>
                </a:solidFill>
              </a:rPr>
              <a:t>，以下简称 </a:t>
            </a:r>
            <a:r>
              <a:rPr lang="en-US" altLang="zh-CN" sz="2000" b="1" dirty="0">
                <a:solidFill>
                  <a:srgbClr val="FF0000"/>
                </a:solidFill>
              </a:rPr>
              <a:t>SVD</a:t>
            </a:r>
            <a:r>
              <a:rPr lang="en-US" altLang="zh-CN" sz="2000" dirty="0">
                <a:solidFill>
                  <a:srgbClr val="000000"/>
                </a:solidFill>
              </a:rPr>
              <a:t>)</a:t>
            </a:r>
            <a:r>
              <a:rPr lang="zh-CN" altLang="en-US" sz="2000" dirty="0">
                <a:solidFill>
                  <a:srgbClr val="000000"/>
                </a:solidFill>
              </a:rPr>
              <a:t>是在机器学习领域广泛应用的算法，它不光可以用于降维算法中的特征分解，还可以用于推荐系统，以及自然语言处理等领域。是很多机器学习算法的基石。</a:t>
            </a:r>
            <a:endParaRPr lang="en-US" altLang="zh-CN" sz="2000" dirty="0">
              <a:solidFill>
                <a:srgbClr val="000000"/>
              </a:solidFill>
            </a:endParaRPr>
          </a:p>
          <a:p>
            <a:r>
              <a:rPr lang="en-US" altLang="zh-CN" sz="2000" dirty="0">
                <a:solidFill>
                  <a:srgbClr val="000000"/>
                </a:solidFill>
              </a:rPr>
              <a:t>SVD</a:t>
            </a:r>
            <a:r>
              <a:rPr lang="zh-CN" altLang="en-US" sz="2000" dirty="0">
                <a:solidFill>
                  <a:srgbClr val="000000"/>
                </a:solidFill>
              </a:rPr>
              <a:t>可以将一个矩阵 𝐴分解为三个矩阵的乘积：</a:t>
            </a:r>
            <a:endParaRPr lang="zh-CN" altLang="en-US" sz="2000" dirty="0">
              <a:solidFill>
                <a:srgbClr val="000000"/>
              </a:solidFill>
            </a:endParaRPr>
          </a:p>
          <a:p>
            <a:pPr marL="0" lvl="1"/>
            <a:r>
              <a:rPr lang="zh-CN" altLang="en-US" sz="2000" dirty="0">
                <a:solidFill>
                  <a:srgbClr val="000000"/>
                </a:solidFill>
                <a:sym typeface="+mn-ea"/>
              </a:rPr>
              <a:t>一个正交矩阵 𝑈</a:t>
            </a:r>
            <a:r>
              <a:rPr lang="en-US" altLang="zh-CN" sz="2000" dirty="0">
                <a:solidFill>
                  <a:srgbClr val="000000"/>
                </a:solidFill>
                <a:sym typeface="+mn-ea"/>
              </a:rPr>
              <a:t>(orthogonal matrix)</a:t>
            </a:r>
            <a:r>
              <a:rPr lang="zh-CN" altLang="en-US" sz="2000" dirty="0">
                <a:solidFill>
                  <a:srgbClr val="000000"/>
                </a:solidFill>
                <a:sym typeface="+mn-ea"/>
              </a:rPr>
              <a:t>：在目标空间旋转 / 翻转</a:t>
            </a:r>
            <a:endParaRPr lang="zh-CN" altLang="en-US" sz="2000" dirty="0">
              <a:solidFill>
                <a:srgbClr val="000000"/>
              </a:solidFill>
            </a:endParaRPr>
          </a:p>
          <a:p>
            <a:pPr marL="0" lvl="1"/>
            <a:r>
              <a:rPr lang="zh-CN" altLang="en-US" sz="2000" dirty="0">
                <a:solidFill>
                  <a:srgbClr val="000000"/>
                </a:solidFill>
                <a:sym typeface="+mn-ea"/>
              </a:rPr>
              <a:t>一个对角矩阵𝛴 </a:t>
            </a:r>
            <a:r>
              <a:rPr lang="en-US" altLang="zh-CN" sz="2000" dirty="0">
                <a:solidFill>
                  <a:srgbClr val="000000"/>
                </a:solidFill>
                <a:sym typeface="+mn-ea"/>
              </a:rPr>
              <a:t>(diagonal matrix)</a:t>
            </a:r>
            <a:r>
              <a:rPr lang="zh-CN" altLang="en-US" sz="2000" dirty="0">
                <a:solidFill>
                  <a:srgbClr val="000000"/>
                </a:solidFill>
                <a:sym typeface="+mn-ea"/>
              </a:rPr>
              <a:t>：单独对每个维度拉伸 / 压</a:t>
            </a:r>
            <a:endParaRPr lang="zh-CN" altLang="en-US" sz="2000" dirty="0">
              <a:solidFill>
                <a:srgbClr val="000000"/>
              </a:solidFill>
              <a:sym typeface="+mn-ea"/>
            </a:endParaRPr>
          </a:p>
          <a:p>
            <a:pPr marL="0" lvl="1"/>
            <a:r>
              <a:rPr lang="zh-CN" altLang="en-US" sz="2000" dirty="0">
                <a:solidFill>
                  <a:srgbClr val="000000"/>
                </a:solidFill>
                <a:sym typeface="+mn-ea"/>
              </a:rPr>
              <a:t>一个正交矩阵的转置</a:t>
            </a:r>
            <a:r>
              <a:rPr lang="en-US" altLang="zh-CN" sz="2000" dirty="0">
                <a:solidFill>
                  <a:srgbClr val="000000"/>
                </a:solidFill>
                <a:sym typeface="+mn-ea"/>
              </a:rPr>
              <a:t>V</a:t>
            </a:r>
            <a:r>
              <a:rPr lang="en-US" altLang="zh-CN" sz="2000" baseline="30000" dirty="0">
                <a:solidFill>
                  <a:srgbClr val="000000"/>
                </a:solidFill>
                <a:sym typeface="+mn-ea"/>
              </a:rPr>
              <a:t>T</a:t>
            </a:r>
            <a:r>
              <a:rPr lang="en-US" altLang="zh-CN" sz="2000" dirty="0">
                <a:solidFill>
                  <a:srgbClr val="000000"/>
                </a:solidFill>
                <a:sym typeface="+mn-ea"/>
              </a:rPr>
              <a:t>：</a:t>
            </a:r>
            <a:r>
              <a:rPr lang="zh-CN" altLang="en-US" sz="2000" dirty="0">
                <a:solidFill>
                  <a:srgbClr val="000000"/>
                </a:solidFill>
                <a:sym typeface="+mn-ea"/>
              </a:rPr>
              <a:t>原空间旋转 / 翻转</a:t>
            </a:r>
            <a:endParaRPr lang="zh-CN" altLang="en-US" sz="2000" dirty="0">
              <a:solidFill>
                <a:srgbClr val="000000"/>
              </a:solidFill>
              <a:sym typeface="+mn-ea"/>
            </a:endParaRPr>
          </a:p>
          <a:p>
            <a:pPr marL="457200" lvl="1" indent="0">
              <a:buNone/>
            </a:pPr>
            <a:endParaRPr lang="zh-CN" altLang="en-US" sz="2000" dirty="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奇异值分解</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a:xfrm>
            <a:off x="7424738" y="6525903"/>
            <a:ext cx="918922" cy="298760"/>
          </a:xfrm>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8" name="矩形 3"/>
              <p:cNvSpPr>
                <a:spLocks noChangeArrowheads="1"/>
              </p:cNvSpPr>
              <p:nvPr/>
            </p:nvSpPr>
            <p:spPr bwMode="auto">
              <a:xfrm>
                <a:off x="374650" y="994410"/>
                <a:ext cx="8678545" cy="4029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假设矩阵 𝐴 是一个 𝑚</a:t>
                </a:r>
                <a:r>
                  <a:rPr lang="en-US" altLang="zh-CN" sz="2000" dirty="0">
                    <a:solidFill>
                      <a:srgbClr val="000000"/>
                    </a:solidFill>
                  </a:rPr>
                  <a:t>×</a:t>
                </a:r>
                <a:r>
                  <a:rPr lang="zh-CN" altLang="en-US" sz="2000" dirty="0">
                    <a:solidFill>
                      <a:srgbClr val="000000"/>
                    </a:solidFill>
                  </a:rPr>
                  <a:t>𝑛 的矩阵，通过</a:t>
                </a:r>
                <a:r>
                  <a:rPr lang="en-US" altLang="zh-CN" sz="2000" dirty="0">
                    <a:solidFill>
                      <a:srgbClr val="000000"/>
                    </a:solidFill>
                  </a:rPr>
                  <a:t>SVD</a:t>
                </a:r>
                <a:r>
                  <a:rPr lang="zh-CN" altLang="en-US" sz="2000" dirty="0">
                    <a:solidFill>
                      <a:srgbClr val="000000"/>
                    </a:solidFill>
                  </a:rPr>
                  <a:t>是对矩阵进行分解，那么我们定义矩阵 𝐴 的 </a:t>
                </a:r>
                <a:r>
                  <a:rPr lang="en-US" altLang="zh-CN" sz="2000" dirty="0">
                    <a:solidFill>
                      <a:srgbClr val="000000"/>
                    </a:solidFill>
                  </a:rPr>
                  <a:t>SVD </a:t>
                </a:r>
                <a:r>
                  <a:rPr lang="zh-CN" altLang="en-US" sz="2000" dirty="0">
                    <a:solidFill>
                      <a:srgbClr val="000000"/>
                    </a:solidFill>
                  </a:rPr>
                  <a:t>为：</a:t>
                </a:r>
                <a:endParaRPr lang="en-US" altLang="zh-CN" sz="20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𝐴</m:t>
                      </m:r>
                      <m:r>
                        <a:rPr lang="zh-CN" altLang="en-US" sz="2000">
                          <a:latin typeface="Cambria Math" panose="02040503050406030204" pitchFamily="18" charset="0"/>
                        </a:rPr>
                        <m:t>=</m:t>
                      </m:r>
                      <m:r>
                        <a:rPr lang="zh-CN" altLang="en-US" sz="2000" i="1">
                          <a:latin typeface="Cambria Math" panose="02040503050406030204" pitchFamily="18" charset="0"/>
                        </a:rPr>
                        <m:t>𝑈</m:t>
                      </m:r>
                      <m:r>
                        <a:rPr lang="zh-CN" altLang="en-US" sz="2000" i="1">
                          <a:latin typeface="Cambria Math" panose="02040503050406030204" pitchFamily="18" charset="0"/>
                        </a:rPr>
                        <m:t>𝛴</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𝑉</m:t>
                          </m:r>
                        </m:e>
                        <m:sup>
                          <m:r>
                            <m:rPr>
                              <m:sty m:val="p"/>
                            </m:rPr>
                            <a:rPr lang="zh-CN" altLang="en-US" sz="2000">
                              <a:latin typeface="Cambria Math" panose="02040503050406030204" pitchFamily="18" charset="0"/>
                            </a:rPr>
                            <m:t>T</m:t>
                          </m:r>
                        </m:sup>
                      </m:sSup>
                      <m:r>
                        <a:rPr lang="zh-CN" altLang="en-US" sz="2000">
                          <a:latin typeface="Cambria Math" panose="02040503050406030204" pitchFamily="18" charset="0"/>
                        </a:rPr>
                        <m:t>=</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𝑢</m:t>
                          </m:r>
                        </m:e>
                        <m:sub>
                          <m:r>
                            <a:rPr lang="zh-CN" altLang="en-US" sz="2000">
                              <a:latin typeface="Cambria Math" panose="02040503050406030204" pitchFamily="18" charset="0"/>
                            </a:rPr>
                            <m:t>1</m:t>
                          </m:r>
                        </m:sub>
                      </m:sSub>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𝜎</m:t>
                          </m:r>
                        </m:e>
                        <m:sub>
                          <m:r>
                            <a:rPr lang="zh-CN" altLang="en-US" sz="2000">
                              <a:latin typeface="Cambria Math" panose="02040503050406030204" pitchFamily="18" charset="0"/>
                            </a:rPr>
                            <m:t>1</m:t>
                          </m:r>
                        </m:sub>
                      </m:sSub>
                      <m:sSubSup>
                        <m:sSubSupPr>
                          <m:ctrlPr>
                            <a:rPr lang="zh-CN" altLang="en-US" sz="2000" i="1">
                              <a:solidFill>
                                <a:srgbClr val="836967"/>
                              </a:solidFill>
                              <a:latin typeface="Cambria Math" panose="02040503050406030204" pitchFamily="18" charset="0"/>
                            </a:rPr>
                          </m:ctrlPr>
                        </m:sSubSupPr>
                        <m:e>
                          <m:r>
                            <a:rPr lang="zh-CN" altLang="en-US" sz="2000" i="1">
                              <a:latin typeface="Cambria Math" panose="02040503050406030204" pitchFamily="18" charset="0"/>
                            </a:rPr>
                            <m:t>𝑣</m:t>
                          </m:r>
                        </m:e>
                        <m:sub>
                          <m:r>
                            <a:rPr lang="zh-CN" altLang="en-US" sz="2000">
                              <a:latin typeface="Cambria Math" panose="02040503050406030204" pitchFamily="18" charset="0"/>
                            </a:rPr>
                            <m:t>1</m:t>
                          </m:r>
                        </m:sub>
                        <m:sup>
                          <m:r>
                            <m:rPr>
                              <m:sty m:val="p"/>
                            </m:rPr>
                            <a:rPr lang="zh-CN" altLang="en-US" sz="2000">
                              <a:latin typeface="Cambria Math" panose="02040503050406030204" pitchFamily="18" charset="0"/>
                            </a:rPr>
                            <m:t>T</m:t>
                          </m:r>
                        </m:sup>
                      </m:sSubSup>
                      <m:r>
                        <a:rPr lang="zh-CN" altLang="en-US" sz="2000">
                          <a:latin typeface="Cambria Math" panose="02040503050406030204" pitchFamily="18" charset="0"/>
                        </a:rPr>
                        <m:t>+⋯+</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𝑢</m:t>
                          </m:r>
                        </m:e>
                        <m:sub>
                          <m:r>
                            <a:rPr lang="zh-CN" altLang="en-US" sz="2000" i="1">
                              <a:latin typeface="Cambria Math" panose="02040503050406030204" pitchFamily="18" charset="0"/>
                            </a:rPr>
                            <m:t>𝑟</m:t>
                          </m:r>
                        </m:sub>
                      </m:sSub>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𝜎</m:t>
                          </m:r>
                        </m:e>
                        <m:sub>
                          <m:r>
                            <a:rPr lang="zh-CN" altLang="en-US" sz="2000" i="1">
                              <a:latin typeface="Cambria Math" panose="02040503050406030204" pitchFamily="18" charset="0"/>
                            </a:rPr>
                            <m:t>𝑟</m:t>
                          </m:r>
                        </m:sub>
                      </m:sSub>
                      <m:sSubSup>
                        <m:sSubSupPr>
                          <m:ctrlPr>
                            <a:rPr lang="zh-CN" altLang="en-US" sz="2000" i="1">
                              <a:solidFill>
                                <a:srgbClr val="836967"/>
                              </a:solidFill>
                              <a:latin typeface="Cambria Math" panose="02040503050406030204" pitchFamily="18" charset="0"/>
                            </a:rPr>
                          </m:ctrlPr>
                        </m:sSubSupPr>
                        <m:e>
                          <m:r>
                            <a:rPr lang="zh-CN" altLang="en-US" sz="2000" i="1">
                              <a:latin typeface="Cambria Math" panose="02040503050406030204" pitchFamily="18" charset="0"/>
                            </a:rPr>
                            <m:t>𝑣</m:t>
                          </m:r>
                        </m:e>
                        <m:sub>
                          <m:r>
                            <a:rPr lang="zh-CN" altLang="en-US" sz="2000" i="1">
                              <a:latin typeface="Cambria Math" panose="02040503050406030204" pitchFamily="18" charset="0"/>
                            </a:rPr>
                            <m:t>𝑟</m:t>
                          </m:r>
                        </m:sub>
                        <m:sup>
                          <m:r>
                            <m:rPr>
                              <m:sty m:val="p"/>
                            </m:rPr>
                            <a:rPr lang="zh-CN" altLang="en-US" sz="2000">
                              <a:latin typeface="Cambria Math" panose="02040503050406030204" pitchFamily="18" charset="0"/>
                            </a:rPr>
                            <m:t>T</m:t>
                          </m:r>
                        </m:sup>
                      </m:sSubSup>
                    </m:oMath>
                  </m:oMathPara>
                </a14:m>
                <a:endParaRPr lang="en-US" altLang="zh-CN" sz="2000" dirty="0">
                  <a:latin typeface="+mj-ea"/>
                </a:endParaRPr>
              </a:p>
              <a:p>
                <a:pPr marL="228600" lvl="2" indent="0">
                  <a:buNone/>
                </a:pPr>
                <a:r>
                  <a:rPr lang="en-US" altLang="zh-CN" sz="1710" i="1">
                    <a:latin typeface="Cambria Math" panose="02040503050406030204" pitchFamily="18" charset="0"/>
                    <a:cs typeface="Times New Roman" panose="02020603050405020304" pitchFamily="18" charset="0"/>
                  </a:rPr>
                  <a:t>    —U</a:t>
                </a:r>
                <a:r>
                  <a:rPr lang="zh-CN" altLang="zh-CN" sz="2000" dirty="0">
                    <a:latin typeface="+mj-ea"/>
                    <a:cs typeface="Times New Roman" panose="02020603050405020304" pitchFamily="18" charset="0"/>
                  </a:rPr>
                  <a:t>是</a:t>
                </a:r>
                <a14:m>
                  <m:oMath xmlns:m="http://schemas.openxmlformats.org/officeDocument/2006/math">
                    <m:r>
                      <a:rPr lang="zh-CN" altLang="zh-CN" sz="2000" dirty="0">
                        <a:latin typeface="+mj-ea"/>
                        <a:cs typeface="Times New Roman" panose="02020603050405020304" pitchFamily="18" charset="0"/>
                      </a:rPr>
                      <m:t>𝑚</m:t>
                    </m:r>
                    <m:r>
                      <a:rPr lang="zh-CN" altLang="zh-CN" sz="2000" dirty="0">
                        <a:latin typeface="+mj-ea"/>
                        <a:cs typeface="Times New Roman" panose="02020603050405020304" pitchFamily="18" charset="0"/>
                      </a:rPr>
                      <m:t>×</m:t>
                    </m:r>
                    <m:r>
                      <a:rPr lang="zh-CN" altLang="zh-CN" sz="2000" dirty="0">
                        <a:latin typeface="+mj-ea"/>
                        <a:cs typeface="Times New Roman" panose="02020603050405020304" pitchFamily="18" charset="0"/>
                      </a:rPr>
                      <m:t>𝑚</m:t>
                    </m:r>
                    <m:r>
                      <a:rPr lang="zh-CN" altLang="zh-CN" sz="1710" dirty="0">
                        <a:latin typeface="+mj-ea"/>
                        <a:cs typeface="Times New Roman" panose="02020603050405020304" pitchFamily="18" charset="0"/>
                        <a:sym typeface="+mn-ea"/>
                      </a:rPr>
                      <m:t>的左奇异矩阵，每个特征向量</m:t>
                    </m:r>
                    <m:sSub>
                      <m:sSubPr>
                        <m:ctrlPr>
                          <a:rPr lang="zh-CN" altLang="zh-CN" sz="1710" dirty="0">
                            <a:latin typeface="+mj-ea"/>
                            <a:cs typeface="Times New Roman" panose="02020603050405020304" pitchFamily="18" charset="0"/>
                          </a:rPr>
                        </m:ctrlPr>
                      </m:sSubPr>
                      <m:e>
                        <m:r>
                          <a:rPr lang="zh-CN" altLang="zh-CN" sz="1710" dirty="0">
                            <a:latin typeface="+mj-ea"/>
                            <a:cs typeface="Times New Roman" panose="02020603050405020304" pitchFamily="18" charset="0"/>
                          </a:rPr>
                          <m:t>𝑢</m:t>
                        </m:r>
                      </m:e>
                      <m:sub>
                        <m:r>
                          <a:rPr lang="zh-CN" altLang="zh-CN" sz="1710" dirty="0">
                            <a:latin typeface="+mj-ea"/>
                            <a:cs typeface="Times New Roman" panose="02020603050405020304" pitchFamily="18" charset="0"/>
                          </a:rPr>
                          <m:t>𝑖</m:t>
                        </m:r>
                      </m:sub>
                    </m:sSub>
                    <m:r>
                      <a:rPr lang="zh-CN" altLang="zh-CN" sz="1710" dirty="0">
                        <a:latin typeface="+mj-ea"/>
                        <a:cs typeface="Times New Roman" panose="02020603050405020304" pitchFamily="18" charset="0"/>
                        <a:sym typeface="+mn-ea"/>
                      </a:rPr>
                      <m:t>叫做 </m:t>
                    </m:r>
                    <m:r>
                      <a:rPr lang="zh-CN" altLang="zh-CN" sz="1710" dirty="0">
                        <a:latin typeface="+mj-ea"/>
                        <a:cs typeface="Times New Roman" panose="02020603050405020304" pitchFamily="18" charset="0"/>
                      </a:rPr>
                      <m:t>𝐴</m:t>
                    </m:r>
                    <m:r>
                      <a:rPr lang="zh-CN" altLang="zh-CN" sz="1710" dirty="0">
                        <a:latin typeface="+mj-ea"/>
                        <a:cs typeface="Times New Roman" panose="02020603050405020304" pitchFamily="18" charset="0"/>
                        <a:sym typeface="+mn-ea"/>
                      </a:rPr>
                      <m:t> 的左奇异向量</m:t>
                    </m:r>
                  </m:oMath>
                </a14:m>
                <a:endParaRPr lang="zh-CN" altLang="zh-CN" sz="1710" dirty="0">
                  <a:latin typeface="微软雅黑" panose="020B0503020204020204" pitchFamily="34" charset="-122"/>
                  <a:cs typeface="Times New Roman" panose="02020603050405020304" pitchFamily="18" charset="0"/>
                </a:endParaRPr>
              </a:p>
              <a:p>
                <a:pPr lvl="1"/>
                <a14:m>
                  <m:oMath xmlns:m="http://schemas.openxmlformats.org/officeDocument/2006/math">
                    <m:r>
                      <a:rPr lang="en-US" altLang="zh-CN" sz="2000" i="1">
                        <a:latin typeface="Cambria Math" panose="02040503050406030204" pitchFamily="18" charset="0"/>
                        <a:cs typeface="Times New Roman" panose="02020603050405020304" pitchFamily="18" charset="0"/>
                      </a:rPr>
                      <m:t>𝑉</m:t>
                    </m:r>
                  </m:oMath>
                </a14:m>
                <a:r>
                  <a:rPr lang="zh-CN" altLang="zh-CN" sz="2000" dirty="0">
                    <a:latin typeface="微软雅黑" panose="020B0503020204020204" pitchFamily="34" charset="-122"/>
                    <a:cs typeface="Times New Roman" panose="02020603050405020304" pitchFamily="18" charset="0"/>
                  </a:rPr>
                  <a:t>是一个</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𝑛</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𝑛</m:t>
                    </m:r>
                  </m:oMath>
                </a14:m>
                <a:r>
                  <a:rPr lang="zh-CN" altLang="zh-CN" sz="2000" dirty="0">
                    <a:latin typeface="微软雅黑" panose="020B0503020204020204" pitchFamily="34" charset="-122"/>
                    <a:cs typeface="Times New Roman" panose="02020603050405020304" pitchFamily="18" charset="0"/>
                  </a:rPr>
                  <a:t>的右奇异矩阵，每个特征向量</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𝑣</m:t>
                        </m:r>
                      </m:e>
                      <m:sub>
                        <m:r>
                          <a:rPr lang="en-US" altLang="zh-CN" sz="2000" i="1">
                            <a:latin typeface="Cambria Math" panose="02040503050406030204" pitchFamily="18" charset="0"/>
                            <a:cs typeface="Times New Roman" panose="02020603050405020304" pitchFamily="18" charset="0"/>
                          </a:rPr>
                          <m:t>𝑖</m:t>
                        </m:r>
                      </m:sub>
                    </m:sSub>
                  </m:oMath>
                </a14:m>
                <a:r>
                  <a:rPr lang="zh-CN" altLang="zh-CN" sz="2000" dirty="0">
                    <a:latin typeface="微软雅黑" panose="020B0503020204020204" pitchFamily="34" charset="-122"/>
                    <a:cs typeface="Times New Roman" panose="02020603050405020304" pitchFamily="18" charset="0"/>
                  </a:rPr>
                  <a:t>叫做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oMath>
                </a14:m>
                <a:r>
                  <a:rPr lang="en-US" altLang="zh-CN" sz="2000" dirty="0">
                    <a:latin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cs typeface="Times New Roman" panose="02020603050405020304" pitchFamily="18" charset="0"/>
                  </a:rPr>
                  <a:t>的右奇异向量。</a:t>
                </a:r>
                <a:endParaRPr lang="zh-CN" altLang="zh-CN" sz="2000" dirty="0">
                  <a:latin typeface="微软雅黑" panose="020B0503020204020204" pitchFamily="34" charset="-122"/>
                  <a:cs typeface="Times New Roman" panose="02020603050405020304" pitchFamily="18" charset="0"/>
                </a:endParaRPr>
              </a:p>
              <a:p>
                <a:pPr lvl="1"/>
                <a14:m>
                  <m:oMath xmlns:m="http://schemas.openxmlformats.org/officeDocument/2006/math">
                    <m:r>
                      <a:rPr lang="en-US" altLang="zh-CN" sz="2000" i="1">
                        <a:latin typeface="Cambria Math" panose="02040503050406030204" pitchFamily="18" charset="0"/>
                        <a:cs typeface="Times New Roman" panose="02020603050405020304" pitchFamily="18" charset="0"/>
                      </a:rPr>
                      <m:t>𝛴</m:t>
                    </m:r>
                  </m:oMath>
                </a14:m>
                <a:r>
                  <a:rPr lang="zh-CN" altLang="zh-CN" sz="2000" dirty="0">
                    <a:latin typeface="+mj-ea"/>
                    <a:cs typeface="Times New Roman" panose="02020603050405020304" pitchFamily="18" charset="0"/>
                  </a:rPr>
                  <a:t>是一个</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𝑚</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𝑛</m:t>
                    </m:r>
                  </m:oMath>
                </a14:m>
                <a:r>
                  <a:rPr lang="zh-CN" altLang="zh-CN" sz="2000" dirty="0">
                    <a:latin typeface="+mj-ea"/>
                    <a:cs typeface="Times New Roman" panose="02020603050405020304" pitchFamily="18" charset="0"/>
                  </a:rPr>
                  <a:t>的奇异值对角矩阵，除了主对角线上的元素以外全为</a:t>
                </a:r>
                <a:r>
                  <a:rPr lang="en-US" altLang="zh-CN" sz="2000" dirty="0">
                    <a:latin typeface="+mj-ea"/>
                    <a:cs typeface="Times New Roman" panose="02020603050405020304" pitchFamily="18" charset="0"/>
                  </a:rPr>
                  <a:t> 0</a:t>
                </a:r>
                <a:r>
                  <a:rPr lang="zh-CN" altLang="zh-CN" sz="2000" dirty="0">
                    <a:latin typeface="+mj-ea"/>
                    <a:cs typeface="Times New Roman" panose="02020603050405020304" pitchFamily="18" charset="0"/>
                  </a:rPr>
                  <a:t>，主对角线上</a:t>
                </a:r>
                <a14:m>
                  <m:oMath xmlns:m="http://schemas.openxmlformats.org/officeDocument/2006/math">
                    <m:r>
                      <a:rPr lang="en-US" altLang="zh-CN" sz="2000" i="1">
                        <a:latin typeface="Cambria Math" panose="02040503050406030204" pitchFamily="18" charset="0"/>
                        <a:cs typeface="Times New Roman" panose="02020603050405020304" pitchFamily="18" charset="0"/>
                      </a:rPr>
                      <m:t>𝜎</m:t>
                    </m:r>
                  </m:oMath>
                </a14:m>
                <a:r>
                  <a:rPr lang="en-US" altLang="zh-CN" sz="2000" baseline="-25000" dirty="0">
                    <a:latin typeface="+mj-ea"/>
                    <a:cs typeface="Times New Roman" panose="02020603050405020304" pitchFamily="18" charset="0"/>
                  </a:rPr>
                  <a:t>1</a:t>
                </a:r>
                <a:r>
                  <a:rPr lang="en-US" altLang="zh-CN" sz="2000" dirty="0">
                    <a:latin typeface="+mj-ea"/>
                    <a:cs typeface="Times New Roman" panose="02020603050405020304" pitchFamily="18" charset="0"/>
                    <a:sym typeface="+mn-ea"/>
                  </a:rPr>
                  <a:t>≥</a:t>
                </a:r>
                <a14:m>
                  <m:oMath xmlns:m="http://schemas.openxmlformats.org/officeDocument/2006/math">
                    <m:r>
                      <a:rPr lang="en-US" altLang="zh-CN" sz="2000" i="1">
                        <a:latin typeface="Cambria Math" panose="02040503050406030204" pitchFamily="18" charset="0"/>
                        <a:cs typeface="Times New Roman" panose="02020603050405020304" pitchFamily="18" charset="0"/>
                      </a:rPr>
                      <m:t>𝜎</m:t>
                    </m:r>
                  </m:oMath>
                </a14:m>
                <a:r>
                  <a:rPr lang="en-US" altLang="zh-CN" sz="2000" baseline="-25000" dirty="0">
                    <a:latin typeface="+mj-ea"/>
                    <a:cs typeface="Times New Roman" panose="02020603050405020304" pitchFamily="18" charset="0"/>
                  </a:rPr>
                  <a:t>2</a:t>
                </a:r>
                <a:r>
                  <a:rPr lang="en-US" altLang="zh-CN" sz="2000" dirty="0">
                    <a:latin typeface="+mj-ea"/>
                    <a:cs typeface="Times New Roman" panose="02020603050405020304" pitchFamily="18" charset="0"/>
                  </a:rPr>
                  <a:t>≥⋯≥0</a:t>
                </a:r>
                <a:r>
                  <a:rPr lang="zh-CN" altLang="en-US" sz="2000" dirty="0">
                    <a:latin typeface="+mj-ea"/>
                    <a:cs typeface="Times New Roman" panose="02020603050405020304" pitchFamily="18" charset="0"/>
                  </a:rPr>
                  <a:t>，是每个维度的拉伸强度</a:t>
                </a:r>
                <a:r>
                  <a:rPr lang="en-US" altLang="zh-CN" sz="2000" dirty="0">
                    <a:latin typeface="+mj-ea"/>
                    <a:cs typeface="Times New Roman" panose="02020603050405020304" pitchFamily="18" charset="0"/>
                  </a:rPr>
                  <a:t>(</a:t>
                </a:r>
                <a:r>
                  <a:rPr lang="zh-CN" altLang="en-US" sz="2000" dirty="0">
                    <a:latin typeface="+mj-ea"/>
                    <a:cs typeface="Times New Roman" panose="02020603050405020304" pitchFamily="18" charset="0"/>
                  </a:rPr>
                  <a:t>信息权重</a:t>
                </a:r>
                <a:r>
                  <a:rPr lang="en-US" altLang="zh-CN" sz="2000" dirty="0">
                    <a:latin typeface="+mj-ea"/>
                    <a:cs typeface="Times New Roman" panose="02020603050405020304" pitchFamily="18" charset="0"/>
                  </a:rPr>
                  <a:t>),</a:t>
                </a:r>
                <a:r>
                  <a:rPr lang="zh-CN" altLang="en-US" sz="2000" dirty="0">
                    <a:latin typeface="+mj-ea"/>
                    <a:cs typeface="Times New Roman" panose="02020603050405020304" pitchFamily="18" charset="0"/>
                  </a:rPr>
                  <a:t>奇异值越大，该维度信息越重要；奇异值接近0，代表噪声、冗余信息</a:t>
                </a:r>
                <a:endParaRPr lang="zh-CN" altLang="en-US" sz="2000" dirty="0">
                  <a:latin typeface="+mj-ea"/>
                  <a:cs typeface="Times New Roman" panose="02020603050405020304" pitchFamily="18" charset="0"/>
                </a:endParaRPr>
              </a:p>
              <a:p>
                <a:pPr lvl="1"/>
                <a14:m>
                  <m:oMath xmlns:m="http://schemas.openxmlformats.org/officeDocument/2006/math">
                    <m:r>
                      <a:rPr lang="en-US" altLang="zh-CN" sz="2000" i="1">
                        <a:latin typeface="Cambria Math" panose="02040503050406030204" pitchFamily="18" charset="0"/>
                        <a:cs typeface="Times New Roman" panose="02020603050405020304" pitchFamily="18" charset="0"/>
                      </a:rPr>
                      <m:t>𝑈</m:t>
                    </m:r>
                  </m:oMath>
                </a14:m>
                <a:r>
                  <a:rPr lang="en-US" altLang="zh-CN" sz="2000" dirty="0">
                    <a:latin typeface="+mj-ea"/>
                    <a:cs typeface="Times New Roman" panose="02020603050405020304" pitchFamily="18" charset="0"/>
                  </a:rPr>
                  <a:t> </a:t>
                </a:r>
                <a:r>
                  <a:rPr lang="zh-CN" altLang="zh-CN" sz="2000" dirty="0">
                    <a:latin typeface="+mj-ea"/>
                    <a:cs typeface="Times New Roman" panose="02020603050405020304" pitchFamily="18" charset="0"/>
                  </a:rPr>
                  <a:t>和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𝑉</m:t>
                    </m:r>
                  </m:oMath>
                </a14:m>
                <a:r>
                  <a:rPr lang="zh-CN" altLang="zh-CN" sz="2000" dirty="0">
                    <a:latin typeface="+mj-ea"/>
                    <a:cs typeface="Times New Roman" panose="02020603050405020304" pitchFamily="18" charset="0"/>
                  </a:rPr>
                  <a:t>都是酉矩阵，即满足</a:t>
                </a:r>
                <a:r>
                  <a:rPr lang="en-US" altLang="zh-CN" sz="2000" dirty="0">
                    <a:latin typeface="+mj-ea"/>
                    <a:cs typeface="Times New Roman" panose="02020603050405020304" pitchFamily="18" charset="0"/>
                  </a:rPr>
                  <a:t>:</a:t>
                </a:r>
                <a14:m>
                  <m:oMath xmlns:m="http://schemas.openxmlformats.org/officeDocument/2006/math">
                    <m:sSup>
                      <m:sSupPr>
                        <m:ctrlPr>
                          <a:rPr lang="zh-CN"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𝑈</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i="1">
                        <a:latin typeface="Cambria Math" panose="02040503050406030204" pitchFamily="18" charset="0"/>
                        <a:cs typeface="Times New Roman" panose="02020603050405020304" pitchFamily="18" charset="0"/>
                      </a:rPr>
                      <m:t>𝑈</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𝐼</m:t>
                    </m:r>
                    <m:r>
                      <a:rPr lang="en-US" altLang="zh-CN" sz="2000">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𝑉</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i="1">
                        <a:latin typeface="Cambria Math" panose="02040503050406030204" pitchFamily="18" charset="0"/>
                        <a:cs typeface="Times New Roman" panose="02020603050405020304" pitchFamily="18" charset="0"/>
                      </a:rPr>
                      <m:t>𝑉</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𝐼</m:t>
                    </m:r>
                  </m:oMath>
                </a14:m>
                <a:r>
                  <a:rPr lang="zh-CN" altLang="zh-CN" sz="2000" dirty="0">
                    <a:latin typeface="+mj-ea"/>
                    <a:cs typeface="Times New Roman" panose="02020603050405020304" pitchFamily="18" charset="0"/>
                  </a:rPr>
                  <a:t>。</a:t>
                </a:r>
                <a:endParaRPr lang="zh-CN" altLang="zh-CN" sz="2000" dirty="0">
                  <a:latin typeface="+mj-ea"/>
                  <a:cs typeface="Times New Roman" panose="02020603050405020304" pitchFamily="18" charset="0"/>
                </a:endParaRPr>
              </a:p>
              <a:p>
                <a:pPr lvl="1"/>
                <a14:m>
                  <m:oMath xmlns:m="http://schemas.openxmlformats.org/officeDocument/2006/math">
                    <m:r>
                      <a:rPr lang="en-US" altLang="zh-CN" sz="2000" i="1">
                        <a:latin typeface="Cambria Math" panose="02040503050406030204" pitchFamily="18" charset="0"/>
                        <a:cs typeface="Times New Roman" panose="02020603050405020304" pitchFamily="18" charset="0"/>
                      </a:rPr>
                      <m:t>𝑟</m:t>
                    </m:r>
                  </m:oMath>
                </a14:m>
                <a:r>
                  <a:rPr lang="zh-CN" altLang="zh-CN" sz="2000" dirty="0">
                    <a:latin typeface="+mj-ea"/>
                    <a:cs typeface="Times New Roman" panose="02020603050405020304" pitchFamily="18" charset="0"/>
                  </a:rPr>
                  <a:t>为矩阵</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oMath>
                </a14:m>
                <a:r>
                  <a:rPr lang="zh-CN" altLang="zh-CN" sz="2000" dirty="0">
                    <a:latin typeface="+mj-ea"/>
                    <a:cs typeface="Times New Roman" panose="02020603050405020304" pitchFamily="18" charset="0"/>
                  </a:rPr>
                  <a:t>的秩</a:t>
                </a:r>
                <a:r>
                  <a:rPr lang="en-US" altLang="zh-CN" sz="2000" dirty="0">
                    <a:latin typeface="+mj-ea"/>
                    <a:cs typeface="Times New Roman" panose="02020603050405020304" pitchFamily="18" charset="0"/>
                  </a:rPr>
                  <a:t>(rank)</a:t>
                </a:r>
                <a:r>
                  <a:rPr lang="zh-CN" altLang="zh-CN" sz="2000" dirty="0">
                    <a:latin typeface="+mj-ea"/>
                    <a:cs typeface="Times New Roman" panose="02020603050405020304" pitchFamily="18" charset="0"/>
                  </a:rPr>
                  <a:t>。</a:t>
                </a:r>
                <a:endParaRPr lang="zh-CN" altLang="zh-CN" sz="2000" dirty="0">
                  <a:latin typeface="+mj-ea"/>
                  <a:cs typeface="Times New Roman" panose="02020603050405020304" pitchFamily="18" charset="0"/>
                </a:endParaRPr>
              </a:p>
              <a:p>
                <a:pPr>
                  <a:lnSpc>
                    <a:spcPct val="150000"/>
                  </a:lnSpc>
                </a:pPr>
                <a:endParaRPr lang="zh-CN" altLang="en-US" sz="2000" dirty="0">
                  <a:latin typeface="+mj-ea"/>
                </a:endParaRPr>
              </a:p>
            </p:txBody>
          </p:sp>
        </mc:Choice>
        <mc:Fallback>
          <p:sp>
            <p:nvSpPr>
              <p:cNvPr id="8" name="矩形 3"/>
              <p:cNvSpPr>
                <a:spLocks noRot="1" noChangeAspect="1" noMove="1" noResize="1" noEditPoints="1" noAdjustHandles="1" noChangeArrowheads="1" noChangeShapeType="1" noTextEdit="1"/>
              </p:cNvSpPr>
              <p:nvPr/>
            </p:nvSpPr>
            <p:spPr bwMode="auto">
              <a:xfrm>
                <a:off x="374650" y="994410"/>
                <a:ext cx="8678545" cy="4029710"/>
              </a:xfrm>
              <a:prstGeom prst="rect">
                <a:avLst/>
              </a:prstGeom>
              <a:blipFill rotWithShape="1">
                <a:blip r:embed="rId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3" name="组合 2"/>
          <p:cNvGrpSpPr/>
          <p:nvPr/>
        </p:nvGrpSpPr>
        <p:grpSpPr>
          <a:xfrm>
            <a:off x="1547664" y="4284588"/>
            <a:ext cx="6048672" cy="2053121"/>
            <a:chOff x="2129358" y="3424232"/>
            <a:chExt cx="6478684" cy="2773201"/>
          </a:xfrm>
        </p:grpSpPr>
        <mc:AlternateContent xmlns:mc="http://schemas.openxmlformats.org/markup-compatibility/2006">
          <mc:Choice xmlns:a14="http://schemas.microsoft.com/office/drawing/2010/main" Requires="a14">
            <p:sp>
              <p:nvSpPr>
                <p:cNvPr id="5" name="Google Shape;3543;p58"/>
                <p:cNvSpPr/>
                <p:nvPr/>
              </p:nvSpPr>
              <p:spPr>
                <a:xfrm>
                  <a:off x="2168993" y="3992204"/>
                  <a:ext cx="997800" cy="1883401"/>
                </a:xfrm>
                <a:prstGeom prst="rect">
                  <a:avLst/>
                </a:prstGeom>
                <a:solidFill>
                  <a:schemeClr val="bg2">
                    <a:lumMod val="40000"/>
                    <a:lumOff val="6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2400" i="1" smtClean="0">
                            <a:effectLst/>
                            <a:latin typeface="Cambria Math" panose="02040503050406030204" pitchFamily="18" charset="0"/>
                            <a:ea typeface="+mj-ea"/>
                            <a:cs typeface="Times New Roman" panose="02020603050405020304" pitchFamily="18" charset="0"/>
                          </a:rPr>
                          <m:t>𝐴</m:t>
                        </m:r>
                      </m:oMath>
                    </m:oMathPara>
                  </a14:m>
                  <a:endParaRPr dirty="0">
                    <a:latin typeface="Consolas" panose="020B0609020204030204"/>
                    <a:ea typeface="Consolas" panose="020B0609020204030204"/>
                    <a:cs typeface="Consolas" panose="020B0609020204030204"/>
                    <a:sym typeface="Consolas" panose="020B0609020204030204"/>
                  </a:endParaRPr>
                </a:p>
              </p:txBody>
            </p:sp>
          </mc:Choice>
          <mc:Fallback>
            <p:sp>
              <p:nvSpPr>
                <p:cNvPr id="5" name="Google Shape;3543;p58"/>
                <p:cNvSpPr>
                  <a:spLocks noRot="1" noChangeAspect="1" noMove="1" noResize="1" noEditPoints="1" noAdjustHandles="1" noChangeArrowheads="1" noChangeShapeType="1" noTextEdit="1"/>
                </p:cNvSpPr>
                <p:nvPr/>
              </p:nvSpPr>
              <p:spPr>
                <a:xfrm>
                  <a:off x="2168993" y="3992204"/>
                  <a:ext cx="997800" cy="1883401"/>
                </a:xfrm>
                <a:prstGeom prst="rect">
                  <a:avLst/>
                </a:prstGeom>
                <a:blipFill rotWithShape="1">
                  <a:blip r:embed="rId2"/>
                </a:blipFill>
                <a:ln w="9525" cap="flat" cmpd="sng">
                  <a:solidFill>
                    <a:schemeClr val="dk2"/>
                  </a:solidFill>
                  <a:prstDash val="solid"/>
                  <a:round/>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Google Shape;3544;p58"/>
                <p:cNvSpPr/>
                <p:nvPr/>
              </p:nvSpPr>
              <p:spPr>
                <a:xfrm>
                  <a:off x="7610242" y="3961972"/>
                  <a:ext cx="997800" cy="10041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zh-CN" altLang="zh-CN" sz="2400" i="1" smtClean="0">
                                <a:effectLst/>
                                <a:latin typeface="Cambria Math" panose="02040503050406030204" pitchFamily="18" charset="0"/>
                                <a:ea typeface="+mj-ea"/>
                                <a:cs typeface="Times New Roman" panose="02020603050405020304" pitchFamily="18" charset="0"/>
                              </a:rPr>
                            </m:ctrlPr>
                          </m:sSupPr>
                          <m:e>
                            <m:r>
                              <a:rPr lang="en-US" altLang="zh-CN" sz="2400" i="1">
                                <a:effectLst/>
                                <a:latin typeface="Cambria Math" panose="02040503050406030204" pitchFamily="18" charset="0"/>
                                <a:ea typeface="+mj-ea"/>
                                <a:cs typeface="Times New Roman" panose="02020603050405020304" pitchFamily="18" charset="0"/>
                              </a:rPr>
                              <m:t>𝑉</m:t>
                            </m:r>
                          </m:e>
                          <m:sup>
                            <m:r>
                              <m:rPr>
                                <m:sty m:val="p"/>
                              </m:rPr>
                              <a:rPr lang="en-US" altLang="zh-CN" sz="2400" i="0">
                                <a:effectLst/>
                                <a:latin typeface="Cambria Math" panose="02040503050406030204" pitchFamily="18" charset="0"/>
                                <a:ea typeface="+mj-ea"/>
                                <a:cs typeface="Times New Roman" panose="02020603050405020304" pitchFamily="18" charset="0"/>
                              </a:rPr>
                              <m:t>T</m:t>
                            </m:r>
                          </m:sup>
                        </m:sSup>
                      </m:oMath>
                    </m:oMathPara>
                  </a14:m>
                  <a:endParaRPr dirty="0"/>
                </a:p>
              </p:txBody>
            </p:sp>
          </mc:Choice>
          <mc:Fallback>
            <p:sp>
              <p:nvSpPr>
                <p:cNvPr id="6" name="Google Shape;3544;p58"/>
                <p:cNvSpPr>
                  <a:spLocks noRot="1" noChangeAspect="1" noMove="1" noResize="1" noEditPoints="1" noAdjustHandles="1" noChangeArrowheads="1" noChangeShapeType="1" noTextEdit="1"/>
                </p:cNvSpPr>
                <p:nvPr/>
              </p:nvSpPr>
              <p:spPr>
                <a:xfrm>
                  <a:off x="7610242" y="3961972"/>
                  <a:ext cx="997800" cy="1004100"/>
                </a:xfrm>
                <a:prstGeom prst="rect">
                  <a:avLst/>
                </a:prstGeom>
                <a:blipFill rotWithShape="1">
                  <a:blip r:embed="rId3"/>
                </a:blipFill>
                <a:ln w="9525" cap="flat" cmpd="sng">
                  <a:solidFill>
                    <a:schemeClr val="dk2"/>
                  </a:solidFill>
                  <a:prstDash val="solid"/>
                  <a:round/>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Google Shape;3545;p58"/>
                <p:cNvSpPr/>
                <p:nvPr/>
              </p:nvSpPr>
              <p:spPr>
                <a:xfrm>
                  <a:off x="6232711" y="3966415"/>
                  <a:ext cx="997800" cy="1883401"/>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2400" i="1" smtClean="0">
                            <a:effectLst/>
                            <a:latin typeface="Cambria Math" panose="02040503050406030204" pitchFamily="18" charset="0"/>
                            <a:ea typeface="+mj-ea"/>
                            <a:cs typeface="Times New Roman" panose="02020603050405020304" pitchFamily="18" charset="0"/>
                          </a:rPr>
                          <m:t>𝛴</m:t>
                        </m:r>
                      </m:oMath>
                    </m:oMathPara>
                  </a14:m>
                  <a:endParaRPr dirty="0"/>
                </a:p>
              </p:txBody>
            </p:sp>
          </mc:Choice>
          <mc:Fallback>
            <p:sp>
              <p:nvSpPr>
                <p:cNvPr id="7" name="Google Shape;3545;p58"/>
                <p:cNvSpPr>
                  <a:spLocks noRot="1" noChangeAspect="1" noMove="1" noResize="1" noEditPoints="1" noAdjustHandles="1" noChangeArrowheads="1" noChangeShapeType="1" noTextEdit="1"/>
                </p:cNvSpPr>
                <p:nvPr/>
              </p:nvSpPr>
              <p:spPr>
                <a:xfrm>
                  <a:off x="6232711" y="3966415"/>
                  <a:ext cx="997800" cy="1883401"/>
                </a:xfrm>
                <a:prstGeom prst="rect">
                  <a:avLst/>
                </a:prstGeom>
                <a:blipFill rotWithShape="1">
                  <a:blip r:embed="rId4"/>
                </a:blipFill>
                <a:ln w="9525" cap="flat" cmpd="sng">
                  <a:solidFill>
                    <a:schemeClr val="dk2"/>
                  </a:solidFill>
                  <a:prstDash val="solid"/>
                  <a:round/>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Google Shape;3546;p58"/>
                <p:cNvSpPr/>
                <p:nvPr/>
              </p:nvSpPr>
              <p:spPr>
                <a:xfrm>
                  <a:off x="3985953" y="3966416"/>
                  <a:ext cx="1831822" cy="1883401"/>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2400" i="1" smtClean="0">
                            <a:effectLst/>
                            <a:latin typeface="Cambria Math" panose="02040503050406030204" pitchFamily="18" charset="0"/>
                            <a:ea typeface="+mj-ea"/>
                            <a:cs typeface="Times New Roman" panose="02020603050405020304" pitchFamily="18" charset="0"/>
                          </a:rPr>
                          <m:t>𝑈</m:t>
                        </m:r>
                      </m:oMath>
                    </m:oMathPara>
                  </a14:m>
                  <a:endParaRPr dirty="0">
                    <a:latin typeface="Consolas" panose="020B0609020204030204"/>
                    <a:ea typeface="Consolas" panose="020B0609020204030204"/>
                    <a:cs typeface="Consolas" panose="020B0609020204030204"/>
                    <a:sym typeface="Consolas" panose="020B0609020204030204"/>
                  </a:endParaRPr>
                </a:p>
              </p:txBody>
            </p:sp>
          </mc:Choice>
          <mc:Fallback>
            <p:sp>
              <p:nvSpPr>
                <p:cNvPr id="9" name="Google Shape;3546;p58"/>
                <p:cNvSpPr>
                  <a:spLocks noRot="1" noChangeAspect="1" noMove="1" noResize="1" noEditPoints="1" noAdjustHandles="1" noChangeArrowheads="1" noChangeShapeType="1" noTextEdit="1"/>
                </p:cNvSpPr>
                <p:nvPr/>
              </p:nvSpPr>
              <p:spPr>
                <a:xfrm>
                  <a:off x="3985953" y="3966416"/>
                  <a:ext cx="1831822" cy="1883401"/>
                </a:xfrm>
                <a:prstGeom prst="rect">
                  <a:avLst/>
                </a:prstGeom>
                <a:blipFill rotWithShape="1">
                  <a:blip r:embed="rId5"/>
                </a:blipFill>
                <a:ln w="9525" cap="flat" cmpd="sng">
                  <a:solidFill>
                    <a:schemeClr val="dk2"/>
                  </a:solidFill>
                  <a:prstDash val="solid"/>
                  <a:round/>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6232711" y="5828101"/>
                  <a:ext cx="997800" cy="369332"/>
                </a:xfrm>
                <a:prstGeom prst="rect">
                  <a:avLst/>
                </a:prstGeom>
                <a:noFill/>
              </p:spPr>
              <p:txBody>
                <a:bodyPr wrap="square">
                  <a:sp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zh-CN" altLang="en-US" sz="1800" i="1" smtClean="0">
                            <a:effectLst/>
                            <a:latin typeface="Cambria Math" panose="02040503050406030204" pitchFamily="18" charset="0"/>
                            <a:ea typeface="+mj-ea"/>
                            <a:cs typeface="Times New Roman" panose="02020603050405020304" pitchFamily="18" charset="0"/>
                          </a:rPr>
                          <m:t>𝑚</m:t>
                        </m:r>
                        <m:r>
                          <a:rPr lang="en-US" altLang="zh-CN" sz="1800">
                            <a:effectLst/>
                            <a:latin typeface="Cambria Math" panose="02040503050406030204" pitchFamily="18" charset="0"/>
                            <a:ea typeface="+mj-ea"/>
                            <a:cs typeface="Times New Roman" panose="02020603050405020304" pitchFamily="18" charset="0"/>
                          </a:rPr>
                          <m:t>×</m:t>
                        </m:r>
                        <m:r>
                          <a:rPr lang="zh-CN" altLang="en-US" sz="1800" i="1">
                            <a:effectLst/>
                            <a:latin typeface="Cambria Math" panose="02040503050406030204" pitchFamily="18" charset="0"/>
                            <a:ea typeface="+mj-ea"/>
                            <a:cs typeface="Times New Roman" panose="02020603050405020304" pitchFamily="18" charset="0"/>
                          </a:rPr>
                          <m:t>𝑛</m:t>
                        </m:r>
                      </m:oMath>
                    </m:oMathPara>
                  </a14:m>
                  <a:endParaRPr lang="en-US" altLang="zh-CN" sz="1800" dirty="0"/>
                </a:p>
              </p:txBody>
            </p:sp>
          </mc:Choice>
          <mc:Fallback>
            <p:sp>
              <p:nvSpPr>
                <p:cNvPr id="10" name="文本框 9"/>
                <p:cNvSpPr txBox="1">
                  <a:spLocks noRot="1" noChangeAspect="1" noMove="1" noResize="1" noEditPoints="1" noAdjustHandles="1" noChangeArrowheads="1" noChangeShapeType="1" noTextEdit="1"/>
                </p:cNvSpPr>
                <p:nvPr/>
              </p:nvSpPr>
              <p:spPr>
                <a:xfrm>
                  <a:off x="6232711" y="5828101"/>
                  <a:ext cx="997800"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2129358" y="5828101"/>
                  <a:ext cx="997800" cy="369332"/>
                </a:xfrm>
                <a:prstGeom prst="rect">
                  <a:avLst/>
                </a:prstGeom>
                <a:noFill/>
              </p:spPr>
              <p:txBody>
                <a:bodyPr wrap="square">
                  <a:sp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zh-CN" altLang="en-US" sz="1800" i="1" smtClean="0">
                            <a:effectLst/>
                            <a:latin typeface="Cambria Math" panose="02040503050406030204" pitchFamily="18" charset="0"/>
                            <a:ea typeface="+mj-ea"/>
                            <a:cs typeface="Times New Roman" panose="02020603050405020304" pitchFamily="18" charset="0"/>
                          </a:rPr>
                          <m:t>𝑚</m:t>
                        </m:r>
                        <m:r>
                          <a:rPr lang="en-US" altLang="zh-CN" sz="1800">
                            <a:effectLst/>
                            <a:latin typeface="Cambria Math" panose="02040503050406030204" pitchFamily="18" charset="0"/>
                            <a:ea typeface="+mj-ea"/>
                            <a:cs typeface="Times New Roman" panose="02020603050405020304" pitchFamily="18" charset="0"/>
                          </a:rPr>
                          <m:t>×</m:t>
                        </m:r>
                        <m:r>
                          <a:rPr lang="zh-CN" altLang="en-US" sz="1800" i="1">
                            <a:effectLst/>
                            <a:latin typeface="Cambria Math" panose="02040503050406030204" pitchFamily="18" charset="0"/>
                            <a:ea typeface="+mj-ea"/>
                            <a:cs typeface="Times New Roman" panose="02020603050405020304" pitchFamily="18" charset="0"/>
                          </a:rPr>
                          <m:t>𝑛</m:t>
                        </m:r>
                      </m:oMath>
                    </m:oMathPara>
                  </a14:m>
                  <a:endParaRPr lang="en-US" altLang="zh-CN" sz="1800" dirty="0"/>
                </a:p>
              </p:txBody>
            </p:sp>
          </mc:Choice>
          <mc:Fallback>
            <p:sp>
              <p:nvSpPr>
                <p:cNvPr id="11" name="文本框 10"/>
                <p:cNvSpPr txBox="1">
                  <a:spLocks noRot="1" noChangeAspect="1" noMove="1" noResize="1" noEditPoints="1" noAdjustHandles="1" noChangeArrowheads="1" noChangeShapeType="1" noTextEdit="1"/>
                </p:cNvSpPr>
                <p:nvPr/>
              </p:nvSpPr>
              <p:spPr>
                <a:xfrm>
                  <a:off x="2129358" y="5828101"/>
                  <a:ext cx="997800"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4402964" y="5828101"/>
                  <a:ext cx="997800" cy="369332"/>
                </a:xfrm>
                <a:prstGeom prst="rect">
                  <a:avLst/>
                </a:prstGeom>
                <a:noFill/>
              </p:spPr>
              <p:txBody>
                <a:bodyPr wrap="square">
                  <a:spAutoFit/>
                </a:bodyPr>
                <a:lstStyle/>
                <a:p>
                  <a:pPr lvl="0" algn="ctr">
                    <a:spcBef>
                      <a:spcPts val="0"/>
                    </a:spcBef>
                    <a:spcAft>
                      <a:spcPts val="0"/>
                    </a:spcAft>
                  </a:pPr>
                  <a14:m>
                    <m:oMathPara xmlns:m="http://schemas.openxmlformats.org/officeDocument/2006/math">
                      <m:oMathParaPr>
                        <m:jc m:val="centerGroup"/>
                      </m:oMathParaPr>
                      <m:oMath xmlns:m="http://schemas.openxmlformats.org/officeDocument/2006/math">
                        <m:r>
                          <a:rPr lang="zh-CN" altLang="en-US" sz="1800" i="1" smtClean="0">
                            <a:effectLst/>
                            <a:latin typeface="Cambria Math" panose="02040503050406030204" pitchFamily="18" charset="0"/>
                            <a:ea typeface="+mj-ea"/>
                            <a:cs typeface="Times New Roman" panose="02020603050405020304" pitchFamily="18" charset="0"/>
                          </a:rPr>
                          <m:t>𝑚</m:t>
                        </m:r>
                        <m:r>
                          <a:rPr lang="en-US" altLang="zh-CN" sz="1800">
                            <a:effectLst/>
                            <a:latin typeface="Cambria Math" panose="02040503050406030204" pitchFamily="18" charset="0"/>
                            <a:ea typeface="+mj-ea"/>
                            <a:cs typeface="Times New Roman" panose="02020603050405020304" pitchFamily="18" charset="0"/>
                          </a:rPr>
                          <m:t>×</m:t>
                        </m:r>
                        <m:r>
                          <a:rPr lang="zh-CN" altLang="en-US" sz="1800" i="1">
                            <a:latin typeface="Cambria Math" panose="02040503050406030204" pitchFamily="18" charset="0"/>
                            <a:cs typeface="Times New Roman" panose="02020603050405020304" pitchFamily="18" charset="0"/>
                          </a:rPr>
                          <m:t>𝑚</m:t>
                        </m:r>
                      </m:oMath>
                    </m:oMathPara>
                  </a14:m>
                  <a:endParaRPr lang="en-US" altLang="zh-CN" sz="1800" dirty="0"/>
                </a:p>
              </p:txBody>
            </p:sp>
          </mc:Choice>
          <mc:Fallback>
            <p:sp>
              <p:nvSpPr>
                <p:cNvPr id="12" name="文本框 11"/>
                <p:cNvSpPr txBox="1">
                  <a:spLocks noRot="1" noChangeAspect="1" noMove="1" noResize="1" noEditPoints="1" noAdjustHandles="1" noChangeArrowheads="1" noChangeShapeType="1" noTextEdit="1"/>
                </p:cNvSpPr>
                <p:nvPr/>
              </p:nvSpPr>
              <p:spPr>
                <a:xfrm>
                  <a:off x="4402964" y="5828101"/>
                  <a:ext cx="997800" cy="369332"/>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7610242" y="4929461"/>
                  <a:ext cx="997800" cy="369332"/>
                </a:xfrm>
                <a:prstGeom prst="rect">
                  <a:avLst/>
                </a:prstGeom>
                <a:noFill/>
              </p:spPr>
              <p:txBody>
                <a:bodyPr wrap="square">
                  <a:spAutoFit/>
                </a:bodyPr>
                <a:lstStyle/>
                <a:p>
                  <a:pPr lvl="0" algn="ctr">
                    <a:spcBef>
                      <a:spcPts val="0"/>
                    </a:spcBef>
                    <a:spcAft>
                      <a:spcPts val="0"/>
                    </a:spcAft>
                  </a:pPr>
                  <a14:m>
                    <m:oMathPara xmlns:m="http://schemas.openxmlformats.org/officeDocument/2006/math">
                      <m:oMathParaPr>
                        <m:jc m:val="centerGroup"/>
                      </m:oMathParaPr>
                      <m:oMath xmlns:m="http://schemas.openxmlformats.org/officeDocument/2006/math">
                        <m:r>
                          <a:rPr lang="zh-CN" altLang="en-US" sz="1800" i="1">
                            <a:latin typeface="Cambria Math" panose="02040503050406030204" pitchFamily="18" charset="0"/>
                            <a:cs typeface="Times New Roman" panose="02020603050405020304" pitchFamily="18" charset="0"/>
                          </a:rPr>
                          <m:t>𝑛</m:t>
                        </m:r>
                        <m:r>
                          <a:rPr lang="en-US" altLang="zh-CN" sz="1800">
                            <a:effectLst/>
                            <a:latin typeface="Cambria Math" panose="02040503050406030204" pitchFamily="18" charset="0"/>
                            <a:ea typeface="+mj-ea"/>
                            <a:cs typeface="Times New Roman" panose="02020603050405020304" pitchFamily="18" charset="0"/>
                          </a:rPr>
                          <m:t>×</m:t>
                        </m:r>
                        <m:r>
                          <a:rPr lang="zh-CN" altLang="en-US" sz="1800" i="1">
                            <a:effectLst/>
                            <a:latin typeface="Cambria Math" panose="02040503050406030204" pitchFamily="18" charset="0"/>
                            <a:ea typeface="+mj-ea"/>
                            <a:cs typeface="Times New Roman" panose="02020603050405020304" pitchFamily="18" charset="0"/>
                          </a:rPr>
                          <m:t>𝑛</m:t>
                        </m:r>
                      </m:oMath>
                    </m:oMathPara>
                  </a14:m>
                  <a:endParaRPr lang="en-US" altLang="zh-CN" sz="1800" dirty="0"/>
                </a:p>
              </p:txBody>
            </p:sp>
          </mc:Choice>
          <mc:Fallback>
            <p:sp>
              <p:nvSpPr>
                <p:cNvPr id="13" name="文本框 12"/>
                <p:cNvSpPr txBox="1">
                  <a:spLocks noRot="1" noChangeAspect="1" noMove="1" noResize="1" noEditPoints="1" noAdjustHandles="1" noChangeArrowheads="1" noChangeShapeType="1" noTextEdit="1"/>
                </p:cNvSpPr>
                <p:nvPr/>
              </p:nvSpPr>
              <p:spPr>
                <a:xfrm>
                  <a:off x="7610242" y="4929461"/>
                  <a:ext cx="997800" cy="369332"/>
                </a:xfrm>
                <a:prstGeom prst="rect">
                  <a:avLst/>
                </a:prstGeom>
                <a:blipFill rotWithShape="1">
                  <a:blip r:embed="rId8"/>
                </a:blipFill>
              </p:spPr>
              <p:txBody>
                <a:bodyPr/>
                <a:lstStyle/>
                <a:p>
                  <a:r>
                    <a:rPr lang="zh-CN" altLang="en-US">
                      <a:noFill/>
                    </a:rPr>
                    <a:t> </a:t>
                  </a:r>
                </a:p>
              </p:txBody>
            </p:sp>
          </mc:Fallback>
        </mc:AlternateContent>
        <p:cxnSp>
          <p:nvCxnSpPr>
            <p:cNvPr id="14" name="直接连接符 13"/>
            <p:cNvCxnSpPr/>
            <p:nvPr/>
          </p:nvCxnSpPr>
          <p:spPr>
            <a:xfrm>
              <a:off x="3301218" y="4900246"/>
              <a:ext cx="412653"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5" name="直接连接符 14"/>
            <p:cNvCxnSpPr/>
            <p:nvPr/>
          </p:nvCxnSpPr>
          <p:spPr>
            <a:xfrm>
              <a:off x="3301218" y="5052646"/>
              <a:ext cx="412653"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6" name="直接连接符 15"/>
            <p:cNvCxnSpPr/>
            <p:nvPr/>
          </p:nvCxnSpPr>
          <p:spPr>
            <a:xfrm>
              <a:off x="6232711" y="3966415"/>
              <a:ext cx="541383" cy="624342"/>
            </a:xfrm>
            <a:prstGeom prst="line">
              <a:avLst/>
            </a:prstGeom>
          </p:spPr>
          <p:style>
            <a:lnRef idx="1">
              <a:schemeClr val="accent4"/>
            </a:lnRef>
            <a:fillRef idx="0">
              <a:schemeClr val="accent4"/>
            </a:fillRef>
            <a:effectRef idx="0">
              <a:schemeClr val="accent4"/>
            </a:effectRef>
            <a:fontRef idx="minor">
              <a:schemeClr val="tx1"/>
            </a:fontRef>
          </p:style>
        </p:cxnSp>
        <p:cxnSp>
          <p:nvCxnSpPr>
            <p:cNvPr id="17" name="直接连接符 16"/>
            <p:cNvCxnSpPr/>
            <p:nvPr/>
          </p:nvCxnSpPr>
          <p:spPr>
            <a:xfrm flipH="1">
              <a:off x="6232711" y="4590757"/>
              <a:ext cx="541383" cy="0"/>
            </a:xfrm>
            <a:prstGeom prst="line">
              <a:avLst/>
            </a:prstGeom>
            <a:ln>
              <a:prstDash val="dash"/>
            </a:ln>
          </p:spPr>
          <p:style>
            <a:lnRef idx="1">
              <a:schemeClr val="accent4"/>
            </a:lnRef>
            <a:fillRef idx="0">
              <a:schemeClr val="accent4"/>
            </a:fillRef>
            <a:effectRef idx="0">
              <a:schemeClr val="accent4"/>
            </a:effectRef>
            <a:fontRef idx="minor">
              <a:schemeClr val="tx1"/>
            </a:fontRef>
          </p:style>
        </p:cxnSp>
        <p:cxnSp>
          <p:nvCxnSpPr>
            <p:cNvPr id="18" name="直接连接符 17"/>
            <p:cNvCxnSpPr/>
            <p:nvPr/>
          </p:nvCxnSpPr>
          <p:spPr>
            <a:xfrm flipV="1">
              <a:off x="6774094" y="3966415"/>
              <a:ext cx="0" cy="624342"/>
            </a:xfrm>
            <a:prstGeom prst="line">
              <a:avLst/>
            </a:prstGeom>
            <a:ln>
              <a:prstDash val="dash"/>
            </a:ln>
          </p:spPr>
          <p:style>
            <a:lnRef idx="1">
              <a:schemeClr val="accent4"/>
            </a:lnRef>
            <a:fillRef idx="0">
              <a:schemeClr val="accent4"/>
            </a:fillRef>
            <a:effectRef idx="0">
              <a:schemeClr val="accent4"/>
            </a:effectRef>
            <a:fontRef idx="minor">
              <a:schemeClr val="tx1"/>
            </a:fontRef>
          </p:style>
        </p:cxnSp>
        <p:sp>
          <p:nvSpPr>
            <p:cNvPr id="19" name="Google Shape;1444;p42"/>
            <p:cNvSpPr/>
            <p:nvPr/>
          </p:nvSpPr>
          <p:spPr>
            <a:xfrm>
              <a:off x="6459475" y="4226949"/>
              <a:ext cx="87855" cy="93702"/>
            </a:xfrm>
            <a:prstGeom prst="rect">
              <a:avLst/>
            </a:prstGeom>
            <a:solidFill>
              <a:srgbClr val="FCFC7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0" name="直接箭头连接符 19"/>
            <p:cNvCxnSpPr>
              <a:endCxn id="19" idx="0"/>
            </p:cNvCxnSpPr>
            <p:nvPr/>
          </p:nvCxnSpPr>
          <p:spPr>
            <a:xfrm>
              <a:off x="6503403" y="3718560"/>
              <a:ext cx="0" cy="50838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mc:Choice xmlns:a14="http://schemas.microsoft.com/office/drawing/2010/main" Requires="a14">
            <p:sp>
              <p:nvSpPr>
                <p:cNvPr id="21" name="文本框 20"/>
                <p:cNvSpPr txBox="1"/>
                <p:nvPr/>
              </p:nvSpPr>
              <p:spPr>
                <a:xfrm>
                  <a:off x="6608971" y="3506686"/>
                  <a:ext cx="459545"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𝑟</m:t>
                        </m:r>
                      </m:oMath>
                    </m:oMathPara>
                  </a14:m>
                  <a:endParaRPr lang="zh-CN" altLang="en-US" dirty="0"/>
                </a:p>
              </p:txBody>
            </p:sp>
          </mc:Choice>
          <mc:Fallback>
            <p:sp>
              <p:nvSpPr>
                <p:cNvPr id="21" name="文本框 20"/>
                <p:cNvSpPr txBox="1">
                  <a:spLocks noRot="1" noChangeAspect="1" noMove="1" noResize="1" noEditPoints="1" noAdjustHandles="1" noChangeArrowheads="1" noChangeShapeType="1" noTextEdit="1"/>
                </p:cNvSpPr>
                <p:nvPr/>
              </p:nvSpPr>
              <p:spPr>
                <a:xfrm>
                  <a:off x="6608971" y="3506686"/>
                  <a:ext cx="459545" cy="461665"/>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6151732" y="4191489"/>
                  <a:ext cx="459545"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𝑟</m:t>
                        </m:r>
                      </m:oMath>
                    </m:oMathPara>
                  </a14:m>
                  <a:endParaRPr lang="zh-CN" altLang="en-US" dirty="0"/>
                </a:p>
              </p:txBody>
            </p:sp>
          </mc:Choice>
          <mc:Fallback>
            <p:sp>
              <p:nvSpPr>
                <p:cNvPr id="22" name="文本框 21"/>
                <p:cNvSpPr txBox="1">
                  <a:spLocks noRot="1" noChangeAspect="1" noMove="1" noResize="1" noEditPoints="1" noAdjustHandles="1" noChangeArrowheads="1" noChangeShapeType="1" noTextEdit="1"/>
                </p:cNvSpPr>
                <p:nvPr/>
              </p:nvSpPr>
              <p:spPr>
                <a:xfrm>
                  <a:off x="6151732" y="4191489"/>
                  <a:ext cx="459545" cy="461665"/>
                </a:xfrm>
                <a:prstGeom prst="rect">
                  <a:avLst/>
                </a:prstGeom>
                <a:blipFill rotWithShape="1">
                  <a:blip r:embed="rId9"/>
                </a:blipFill>
              </p:spPr>
              <p:txBody>
                <a:bodyPr/>
                <a:lstStyle/>
                <a:p>
                  <a:r>
                    <a:rPr lang="zh-CN" altLang="en-US">
                      <a:noFill/>
                    </a:rPr>
                    <a:t> </a:t>
                  </a:r>
                </a:p>
              </p:txBody>
            </p:sp>
          </mc:Fallback>
        </mc:AlternateContent>
        <p:sp>
          <p:nvSpPr>
            <p:cNvPr id="23" name="文本框 22"/>
            <p:cNvSpPr txBox="1"/>
            <p:nvPr/>
          </p:nvSpPr>
          <p:spPr>
            <a:xfrm>
              <a:off x="6151732" y="3424232"/>
              <a:ext cx="791196" cy="307777"/>
            </a:xfrm>
            <a:prstGeom prst="rect">
              <a:avLst/>
            </a:prstGeom>
            <a:noFill/>
          </p:spPr>
          <p:txBody>
            <a:bodyPr wrap="square" rtlCol="0">
              <a:spAutoFit/>
            </a:bodyPr>
            <a:lstStyle/>
            <a:p>
              <a:r>
                <a:rPr lang="zh-CN" altLang="en-US" sz="1400" dirty="0"/>
                <a:t>奇异值</a:t>
              </a:r>
              <a:endParaRPr lang="zh-CN" altLang="en-US" sz="1400" dirty="0"/>
            </a:p>
          </p:txBody>
        </p:sp>
      </p:grpSp>
      <mc:AlternateContent xmlns:mc="http://schemas.openxmlformats.org/markup-compatibility/2006">
        <mc:Choice xmlns:a14="http://schemas.microsoft.com/office/drawing/2010/main" Requires="a14">
          <p:sp>
            <p:nvSpPr>
              <p:cNvPr id="24" name="文本框 23"/>
              <p:cNvSpPr txBox="1"/>
              <p:nvPr/>
            </p:nvSpPr>
            <p:spPr>
              <a:xfrm>
                <a:off x="4982921" y="4859392"/>
                <a:ext cx="262371" cy="769441"/>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4400" i="1" smtClean="0">
                          <a:effectLst/>
                          <a:latin typeface="Cambria Math" panose="02040503050406030204" pitchFamily="18" charset="0"/>
                          <a:ea typeface="宋体" panose="02010600030101010101" pitchFamily="2" charset="-122"/>
                          <a:cs typeface="Times New Roman" panose="02020603050405020304" pitchFamily="18" charset="0"/>
                        </a:rPr>
                        <m:t>·</m:t>
                      </m:r>
                    </m:oMath>
                  </m:oMathPara>
                </a14:m>
                <a:endParaRPr lang="zh-CN" altLang="en-US" sz="4400" dirty="0"/>
              </a:p>
            </p:txBody>
          </p:sp>
        </mc:Choice>
        <mc:Fallback>
          <p:sp>
            <p:nvSpPr>
              <p:cNvPr id="24" name="文本框 23"/>
              <p:cNvSpPr txBox="1">
                <a:spLocks noRot="1" noChangeAspect="1" noMove="1" noResize="1" noEditPoints="1" noAdjustHandles="1" noChangeArrowheads="1" noChangeShapeType="1" noTextEdit="1"/>
              </p:cNvSpPr>
              <p:nvPr/>
            </p:nvSpPr>
            <p:spPr>
              <a:xfrm>
                <a:off x="4982921" y="4859392"/>
                <a:ext cx="262371" cy="769441"/>
              </a:xfrm>
              <a:prstGeom prst="rect">
                <a:avLst/>
              </a:prstGeom>
              <a:blipFill rotWithShape="1">
                <a:blip r:embed="rId10"/>
                <a:stretch>
                  <a:fillRect l="-29" t="-48" r="73"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p:cNvSpPr txBox="1"/>
              <p:nvPr/>
            </p:nvSpPr>
            <p:spPr>
              <a:xfrm>
                <a:off x="6364688" y="4807888"/>
                <a:ext cx="272179" cy="769441"/>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4400" i="1" smtClean="0">
                          <a:effectLst/>
                          <a:latin typeface="Cambria Math" panose="02040503050406030204" pitchFamily="18" charset="0"/>
                          <a:ea typeface="宋体" panose="02010600030101010101" pitchFamily="2" charset="-122"/>
                          <a:cs typeface="Times New Roman" panose="02020603050405020304" pitchFamily="18" charset="0"/>
                        </a:rPr>
                        <m:t>·</m:t>
                      </m:r>
                    </m:oMath>
                  </m:oMathPara>
                </a14:m>
                <a:endParaRPr lang="zh-CN" altLang="en-US" sz="4400" dirty="0"/>
              </a:p>
            </p:txBody>
          </p:sp>
        </mc:Choice>
        <mc:Fallback>
          <p:sp>
            <p:nvSpPr>
              <p:cNvPr id="25" name="文本框 24"/>
              <p:cNvSpPr txBox="1">
                <a:spLocks noRot="1" noChangeAspect="1" noMove="1" noResize="1" noEditPoints="1" noAdjustHandles="1" noChangeArrowheads="1" noChangeShapeType="1" noTextEdit="1"/>
              </p:cNvSpPr>
              <p:nvPr/>
            </p:nvSpPr>
            <p:spPr>
              <a:xfrm>
                <a:off x="6364688" y="4807888"/>
                <a:ext cx="272179" cy="769441"/>
              </a:xfrm>
              <a:prstGeom prst="rect">
                <a:avLst/>
              </a:prstGeom>
              <a:blipFill rotWithShape="1">
                <a:blip r:embed="rId11"/>
                <a:stretch>
                  <a:fillRect l="-30" t="-39" r="177" b="16"/>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奇异值分解</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a:xfrm>
            <a:off x="7424738" y="6525903"/>
            <a:ext cx="918922" cy="298760"/>
          </a:xfrm>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8" name="矩形 3"/>
              <p:cNvSpPr>
                <a:spLocks noChangeArrowheads="1"/>
              </p:cNvSpPr>
              <p:nvPr/>
            </p:nvSpPr>
            <p:spPr bwMode="auto">
              <a:xfrm>
                <a:off x="822960" y="1340768"/>
                <a:ext cx="7925504" cy="5220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indent="0">
                  <a:buNone/>
                </a:pPr>
                <a:r>
                  <a:rPr lang="en-US" altLang="zh-CN" sz="2000" b="1" dirty="0">
                    <a:solidFill>
                      <a:srgbClr val="000000"/>
                    </a:solidFill>
                  </a:rPr>
                  <a:t>SVD</a:t>
                </a:r>
                <a:r>
                  <a:rPr lang="zh-CN" altLang="en-US" sz="2000" b="1" dirty="0">
                    <a:solidFill>
                      <a:srgbClr val="000000"/>
                    </a:solidFill>
                  </a:rPr>
                  <a:t>求解（</a:t>
                </a:r>
                <a:r>
                  <a:rPr lang="en-US" altLang="zh-CN" sz="2000" b="1" dirty="0">
                    <a:solidFill>
                      <a:srgbClr val="000000"/>
                    </a:solidFill>
                  </a:rPr>
                  <a:t>U</a:t>
                </a:r>
                <a:r>
                  <a:rPr lang="zh-CN" altLang="en-US" sz="2000" b="1" dirty="0">
                    <a:solidFill>
                      <a:srgbClr val="000000"/>
                    </a:solidFill>
                  </a:rPr>
                  <a:t>矩阵求解）</a:t>
                </a:r>
                <a:endParaRPr lang="en-US" altLang="zh-CN" sz="2000" b="1" dirty="0">
                  <a:solidFill>
                    <a:srgbClr val="000000"/>
                  </a:solidFill>
                </a:endParaRPr>
              </a:p>
              <a:p>
                <a:pPr>
                  <a:spcBef>
                    <a:spcPts val="900"/>
                  </a:spcBef>
                  <a:spcAft>
                    <a:spcPts val="900"/>
                  </a:spcAft>
                </a:pPr>
                <a:r>
                  <a:rPr lang="zh-CN" altLang="zh-CN" sz="2000" dirty="0">
                    <a:latin typeface="微软雅黑" panose="020B0503020204020204" pitchFamily="34" charset="-122"/>
                    <a:cs typeface="Times New Roman" panose="02020603050405020304" pitchFamily="18" charset="0"/>
                  </a:rPr>
                  <a:t>方阵</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oMath>
                </a14:m>
                <a:r>
                  <a:rPr lang="zh-CN" altLang="en-US" sz="2000" dirty="0">
                    <a:latin typeface="微软雅黑" panose="020B0503020204020204" pitchFamily="34" charset="-122"/>
                    <a:cs typeface="Times New Roman" panose="02020603050405020304" pitchFamily="18" charset="0"/>
                  </a:rPr>
                  <a:t>为</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𝑚</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𝑚</m:t>
                    </m:r>
                  </m:oMath>
                </a14:m>
                <a:r>
                  <a:rPr lang="zh-CN" altLang="zh-CN" sz="2000" dirty="0">
                    <a:latin typeface="微软雅黑" panose="020B0503020204020204" pitchFamily="34" charset="-122"/>
                    <a:cs typeface="Times New Roman" panose="02020603050405020304" pitchFamily="18" charset="0"/>
                  </a:rPr>
                  <a:t>的一个</a:t>
                </a:r>
                <a:r>
                  <a:rPr lang="zh-CN" altLang="en-US" sz="2000" b="1" dirty="0">
                    <a:solidFill>
                      <a:srgbClr val="FF0000"/>
                    </a:solidFill>
                    <a:latin typeface="微软雅黑" panose="020B0503020204020204" pitchFamily="34" charset="-122"/>
                    <a:cs typeface="Times New Roman" panose="02020603050405020304" pitchFamily="18" charset="0"/>
                  </a:rPr>
                  <a:t>方阵</a:t>
                </a:r>
                <a:r>
                  <a:rPr lang="zh-CN" altLang="zh-CN" sz="2000" dirty="0">
                    <a:latin typeface="微软雅黑" panose="020B0503020204020204" pitchFamily="34" charset="-122"/>
                    <a:cs typeface="Times New Roman" panose="02020603050405020304" pitchFamily="18" charset="0"/>
                  </a:rPr>
                  <a:t>，那么就可以进行</a:t>
                </a:r>
                <a:r>
                  <a:rPr lang="zh-CN" altLang="zh-CN" sz="2000" b="1" dirty="0">
                    <a:solidFill>
                      <a:srgbClr val="FF0000"/>
                    </a:solidFill>
                    <a:latin typeface="微软雅黑" panose="020B0503020204020204" pitchFamily="34" charset="-122"/>
                    <a:cs typeface="Times New Roman" panose="02020603050405020304" pitchFamily="18" charset="0"/>
                  </a:rPr>
                  <a:t>特征分解</a:t>
                </a:r>
                <a:r>
                  <a:rPr lang="zh-CN" altLang="en-US" sz="2000" dirty="0">
                    <a:latin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cs typeface="Times New Roman" panose="02020603050405020304" pitchFamily="18" charset="0"/>
                  </a:rPr>
                  <a:t>得到的特征值和特征向量满足下式：</a:t>
                </a:r>
                <a:endParaRPr lang="en-US" altLang="zh-CN" sz="2000" dirty="0">
                  <a:latin typeface="Cambria Math" panose="02040503050406030204" pitchFamily="18" charset="0"/>
                  <a:cs typeface="Times New Roman" panose="02020603050405020304" pitchFamily="18" charset="0"/>
                </a:endParaRP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𝐴</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𝑢</m:t>
                          </m:r>
                        </m:e>
                        <m:sub>
                          <m:r>
                            <a:rPr lang="en-US" altLang="zh-CN" sz="2000" i="1">
                              <a:latin typeface="Cambria Math" panose="02040503050406030204" pitchFamily="18" charset="0"/>
                              <a:cs typeface="Times New Roman" panose="02020603050405020304" pitchFamily="18" charset="0"/>
                            </a:rPr>
                            <m:t>𝑖</m:t>
                          </m:r>
                        </m:sub>
                      </m:sSub>
                      <m:r>
                        <a:rPr lang="en-US" altLang="zh-CN" sz="20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𝜆</m:t>
                          </m:r>
                        </m:e>
                        <m:sub>
                          <m:r>
                            <a:rPr lang="en-US" altLang="zh-CN" sz="2000" i="1">
                              <a:latin typeface="Cambria Math" panose="02040503050406030204" pitchFamily="18" charset="0"/>
                              <a:cs typeface="Times New Roman" panose="02020603050405020304" pitchFamily="18" charset="0"/>
                            </a:rPr>
                            <m:t>𝑖</m:t>
                          </m:r>
                        </m:sub>
                      </m:sSub>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𝑢</m:t>
                          </m:r>
                        </m:e>
                        <m:sub>
                          <m:r>
                            <a:rPr lang="en-US" altLang="zh-CN" sz="2000" i="1">
                              <a:latin typeface="Cambria Math" panose="02040503050406030204" pitchFamily="18" charset="0"/>
                              <a:cs typeface="Times New Roman" panose="02020603050405020304" pitchFamily="18" charset="0"/>
                            </a:rPr>
                            <m:t>𝑖</m:t>
                          </m:r>
                        </m:sub>
                      </m:sSub>
                    </m:oMath>
                  </m:oMathPara>
                </a14:m>
                <a:endParaRPr lang="zh-CN" altLang="zh-CN" sz="2000" dirty="0">
                  <a:latin typeface="微软雅黑" panose="020B0503020204020204" pitchFamily="34" charset="-122"/>
                  <a:cs typeface="Times New Roman" panose="02020603050405020304" pitchFamily="18" charset="0"/>
                </a:endParaRPr>
              </a:p>
              <a:p>
                <a:pPr>
                  <a:spcBef>
                    <a:spcPts val="900"/>
                  </a:spcBef>
                  <a:spcAft>
                    <a:spcPts val="900"/>
                  </a:spcAft>
                </a:pPr>
                <a:r>
                  <a:rPr lang="zh-CN" altLang="zh-CN" sz="2000" dirty="0">
                    <a:latin typeface="微软雅黑" panose="020B0503020204020204" pitchFamily="34" charset="-122"/>
                    <a:cs typeface="Times New Roman" panose="02020603050405020304" pitchFamily="18" charset="0"/>
                  </a:rPr>
                  <a:t>可以得到矩阵</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oMath>
                </a14:m>
                <a:r>
                  <a:rPr lang="zh-CN" altLang="zh-CN" sz="2000" dirty="0">
                    <a:latin typeface="微软雅黑" panose="020B0503020204020204" pitchFamily="34" charset="-122"/>
                    <a:cs typeface="Times New Roman" panose="02020603050405020304" pitchFamily="18" charset="0"/>
                  </a:rPr>
                  <a:t>的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𝑚</m:t>
                    </m:r>
                  </m:oMath>
                </a14:m>
                <a:r>
                  <a:rPr lang="en-US" altLang="zh-CN" sz="2000" dirty="0">
                    <a:latin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cs typeface="Times New Roman" panose="02020603050405020304" pitchFamily="18" charset="0"/>
                  </a:rPr>
                  <a:t>个特征值和对应的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𝑚</m:t>
                    </m:r>
                  </m:oMath>
                </a14:m>
                <a:r>
                  <a:rPr lang="zh-CN" altLang="zh-CN" sz="2000" dirty="0">
                    <a:latin typeface="微软雅黑" panose="020B0503020204020204" pitchFamily="34" charset="-122"/>
                    <a:cs typeface="Times New Roman" panose="02020603050405020304" pitchFamily="18" charset="0"/>
                  </a:rPr>
                  <a:t>个特征向量</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𝑢</m:t>
                    </m:r>
                  </m:oMath>
                </a14:m>
                <a:r>
                  <a:rPr lang="zh-CN" altLang="zh-CN" sz="2000" dirty="0">
                    <a:latin typeface="微软雅黑" panose="020B0503020204020204" pitchFamily="34" charset="-122"/>
                    <a:cs typeface="Times New Roman" panose="02020603050405020304" pitchFamily="18" charset="0"/>
                  </a:rPr>
                  <a:t>了。</a:t>
                </a:r>
                <a:endParaRPr lang="en-US" altLang="zh-CN" sz="2000" dirty="0">
                  <a:latin typeface="微软雅黑" panose="020B0503020204020204" pitchFamily="34" charset="-122"/>
                  <a:cs typeface="Times New Roman" panose="02020603050405020304" pitchFamily="18" charset="0"/>
                </a:endParaRPr>
              </a:p>
              <a:p>
                <a:pPr>
                  <a:spcBef>
                    <a:spcPts val="900"/>
                  </a:spcBef>
                  <a:spcAft>
                    <a:spcPts val="900"/>
                  </a:spcAft>
                </a:pPr>
                <a:r>
                  <a:rPr lang="zh-CN" altLang="zh-CN" sz="2000" dirty="0">
                    <a:latin typeface="微软雅黑" panose="020B0503020204020204" pitchFamily="34" charset="-122"/>
                    <a:cs typeface="Times New Roman" panose="02020603050405020304" pitchFamily="18" charset="0"/>
                  </a:rPr>
                  <a:t>将</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oMath>
                </a14:m>
                <a:r>
                  <a:rPr lang="zh-CN" altLang="zh-CN" sz="2000" dirty="0">
                    <a:latin typeface="微软雅黑" panose="020B0503020204020204" pitchFamily="34" charset="-122"/>
                    <a:cs typeface="Times New Roman" panose="02020603050405020304" pitchFamily="18" charset="0"/>
                  </a:rPr>
                  <a:t>的所有特征向量组成一个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𝑚</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𝑚</m:t>
                    </m:r>
                  </m:oMath>
                </a14:m>
                <a:r>
                  <a:rPr lang="zh-CN" altLang="zh-CN" sz="2000" dirty="0">
                    <a:latin typeface="微软雅黑" panose="020B0503020204020204" pitchFamily="34" charset="-122"/>
                    <a:cs typeface="Times New Roman" panose="02020603050405020304" pitchFamily="18" charset="0"/>
                  </a:rPr>
                  <a:t>的矩阵</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𝑈</m:t>
                    </m:r>
                  </m:oMath>
                </a14:m>
                <a:r>
                  <a:rPr lang="zh-CN" altLang="zh-CN" sz="2000" dirty="0">
                    <a:latin typeface="微软雅黑" panose="020B0503020204020204" pitchFamily="34" charset="-122"/>
                    <a:cs typeface="Times New Roman" panose="02020603050405020304" pitchFamily="18" charset="0"/>
                  </a:rPr>
                  <a:t>，就是</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𝑆𝑉𝐷</m:t>
                    </m:r>
                  </m:oMath>
                </a14:m>
                <a:r>
                  <a:rPr lang="en-US" altLang="zh-CN" sz="2000" dirty="0">
                    <a:latin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cs typeface="Times New Roman" panose="02020603050405020304" pitchFamily="18" charset="0"/>
                  </a:rPr>
                  <a:t>公式里面的</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𝑈</m:t>
                    </m:r>
                  </m:oMath>
                </a14:m>
                <a:r>
                  <a:rPr lang="en-US" altLang="zh-CN" sz="2000" dirty="0">
                    <a:latin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cs typeface="Times New Roman" panose="02020603050405020304" pitchFamily="18" charset="0"/>
                  </a:rPr>
                  <a:t>矩阵</a:t>
                </a:r>
                <a:r>
                  <a:rPr lang="zh-CN" altLang="en-US" sz="2000" dirty="0">
                    <a:latin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cs typeface="Times New Roman" panose="02020603050405020304" pitchFamily="18" charset="0"/>
                  </a:rPr>
                  <a:t>一般将</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𝑈</m:t>
                    </m:r>
                  </m:oMath>
                </a14:m>
                <a:r>
                  <a:rPr lang="zh-CN" altLang="zh-CN" sz="2000" dirty="0">
                    <a:latin typeface="微软雅黑" panose="020B0503020204020204" pitchFamily="34" charset="-122"/>
                    <a:cs typeface="Times New Roman" panose="02020603050405020304" pitchFamily="18" charset="0"/>
                  </a:rPr>
                  <a:t>中的每个特征向量叫做</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oMath>
                </a14:m>
                <a:r>
                  <a:rPr lang="en-US" altLang="zh-CN" sz="2000" dirty="0">
                    <a:latin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cs typeface="Times New Roman" panose="02020603050405020304" pitchFamily="18" charset="0"/>
                  </a:rPr>
                  <a:t>的</a:t>
                </a:r>
                <a:r>
                  <a:rPr lang="zh-CN" altLang="zh-CN" sz="2000" b="1" dirty="0">
                    <a:latin typeface="微软雅黑" panose="020B0503020204020204" pitchFamily="34" charset="-122"/>
                    <a:cs typeface="Times New Roman" panose="02020603050405020304" pitchFamily="18" charset="0"/>
                  </a:rPr>
                  <a:t>左奇异向量</a:t>
                </a:r>
                <a:endParaRPr lang="en-US" altLang="zh-CN" sz="2000" b="1" dirty="0">
                  <a:latin typeface="微软雅黑" panose="020B0503020204020204" pitchFamily="34" charset="-122"/>
                  <a:cs typeface="Times New Roman" panose="02020603050405020304" pitchFamily="18" charset="0"/>
                </a:endParaRPr>
              </a:p>
              <a:p>
                <a:pPr>
                  <a:spcBef>
                    <a:spcPts val="900"/>
                  </a:spcBef>
                  <a:spcAft>
                    <a:spcPts val="900"/>
                  </a:spcAft>
                </a:pPr>
                <a:r>
                  <a:rPr lang="en-US" altLang="zh-CN" sz="2000" dirty="0">
                    <a:latin typeface="微软雅黑" panose="020B0503020204020204" pitchFamily="34" charset="-122"/>
                    <a:cs typeface="Times New Roman" panose="02020603050405020304" pitchFamily="18" charset="0"/>
                  </a:rPr>
                  <a:t>注意：</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a:latin typeface="Cambria Math" panose="02040503050406030204" pitchFamily="18" charset="0"/>
                        <a:cs typeface="Times New Roman" panose="02020603050405020304" pitchFamily="18" charset="0"/>
                      </a:rPr>
                      <m:t>=(</m:t>
                    </m:r>
                    <m:r>
                      <a:rPr lang="zh-CN" altLang="en-US" sz="2000" i="1">
                        <a:latin typeface="Cambria Math" panose="02040503050406030204" pitchFamily="18" charset="0"/>
                      </a:rPr>
                      <m:t>𝑈</m:t>
                    </m:r>
                    <m:r>
                      <a:rPr lang="zh-CN" altLang="en-US" sz="2000" i="1">
                        <a:latin typeface="Cambria Math" panose="02040503050406030204" pitchFamily="18" charset="0"/>
                      </a:rPr>
                      <m:t>𝛴</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𝑉</m:t>
                        </m:r>
                      </m:e>
                      <m:sup>
                        <m:r>
                          <m:rPr>
                            <m:sty m:val="p"/>
                          </m:rPr>
                          <a:rPr lang="zh-CN" altLang="en-US" sz="2000">
                            <a:latin typeface="Cambria Math" panose="02040503050406030204" pitchFamily="18" charset="0"/>
                          </a:rPr>
                          <m:t>T</m:t>
                        </m:r>
                      </m:sup>
                    </m:sSup>
                    <m:r>
                      <a:rPr lang="en-US" altLang="zh-CN" sz="2000">
                        <a:latin typeface="Cambria Math" panose="02040503050406030204" pitchFamily="18" charset="0"/>
                        <a:cs typeface="Times New Roman" panose="02020603050405020304" pitchFamily="18" charset="0"/>
                      </a:rPr>
                      <m:t>)(</m:t>
                    </m:r>
                    <m:r>
                      <a:rPr lang="zh-CN" altLang="en-US" sz="2000" i="1">
                        <a:latin typeface="Cambria Math" panose="02040503050406030204" pitchFamily="18" charset="0"/>
                      </a:rPr>
                      <m:t>𝑈</m:t>
                    </m:r>
                    <m:r>
                      <a:rPr lang="zh-CN" altLang="en-US" sz="2000" i="1">
                        <a:latin typeface="Cambria Math" panose="02040503050406030204" pitchFamily="18" charset="0"/>
                      </a:rPr>
                      <m:t>𝛴</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𝑉</m:t>
                        </m:r>
                      </m:e>
                      <m:sup>
                        <m:r>
                          <m:rPr>
                            <m:sty m:val="p"/>
                          </m:rPr>
                          <a:rPr lang="zh-CN" altLang="en-US" sz="2000">
                            <a:latin typeface="Cambria Math" panose="02040503050406030204" pitchFamily="18" charset="0"/>
                          </a:rPr>
                          <m:t>T</m:t>
                        </m:r>
                      </m:sup>
                    </m:sSup>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a:latin typeface="Cambria Math" panose="02040503050406030204" pitchFamily="18" charset="0"/>
                            <a:cs typeface="Times New Roman" panose="02020603050405020304" pitchFamily="18" charset="0"/>
                          </a:rPr>
                          <m:t>)</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𝑈</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𝛴</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𝑈</m:t>
                        </m:r>
                      </m:e>
                      <m:sup>
                        <m:r>
                          <m:rPr>
                            <m:sty m:val="p"/>
                          </m:rPr>
                          <a:rPr lang="en-US" altLang="zh-CN" sz="2000">
                            <a:latin typeface="Cambria Math" panose="02040503050406030204" pitchFamily="18" charset="0"/>
                            <a:cs typeface="Times New Roman" panose="02020603050405020304" pitchFamily="18" charset="0"/>
                          </a:rPr>
                          <m:t>T</m:t>
                        </m:r>
                      </m:sup>
                    </m:sSup>
                    <m:r>
                      <a:rPr lang="zh-CN" altLang="en-US" sz="2000" i="1">
                        <a:latin typeface="Cambria Math" panose="02040503050406030204" pitchFamily="18" charset="0"/>
                        <a:cs typeface="Times New Roman" panose="02020603050405020304" pitchFamily="18" charset="0"/>
                      </a:rPr>
                      <m:t>，</m:t>
                    </m:r>
                  </m:oMath>
                </a14:m>
                <a:r>
                  <a:rPr lang="zh-CN" altLang="zh-CN" sz="2000" dirty="0">
                    <a:latin typeface="微软雅黑" panose="020B0503020204020204" pitchFamily="34" charset="-122"/>
                    <a:cs typeface="Times New Roman" panose="02020603050405020304" pitchFamily="18" charset="0"/>
                  </a:rPr>
                  <a:t>上式证明使用了</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𝑉</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i="1">
                        <a:latin typeface="Cambria Math" panose="02040503050406030204" pitchFamily="18" charset="0"/>
                        <a:cs typeface="Times New Roman" panose="02020603050405020304" pitchFamily="18" charset="0"/>
                      </a:rPr>
                      <m:t>𝑉</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𝐼</m:t>
                    </m:r>
                    <m:r>
                      <a:rPr lang="en-US" altLang="zh-CN" sz="2000">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𝛴</m:t>
                    </m:r>
                  </m:oMath>
                </a14:m>
                <a:r>
                  <a:rPr lang="zh-CN" altLang="zh-CN" sz="2000" dirty="0">
                    <a:latin typeface="微软雅黑" panose="020B0503020204020204" pitchFamily="34" charset="-122"/>
                    <a:cs typeface="Times New Roman" panose="02020603050405020304" pitchFamily="18" charset="0"/>
                  </a:rPr>
                  <a:t>。可以看出的</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oMath>
                </a14:m>
                <a:r>
                  <a:rPr lang="zh-CN" altLang="zh-CN" sz="2000" dirty="0">
                    <a:latin typeface="微软雅黑" panose="020B0503020204020204" pitchFamily="34" charset="-122"/>
                    <a:cs typeface="Times New Roman" panose="02020603050405020304" pitchFamily="18" charset="0"/>
                  </a:rPr>
                  <a:t>特征向量组成的</a:t>
                </a:r>
                <a:r>
                  <a:rPr lang="zh-CN" altLang="en-US" sz="2000" dirty="0">
                    <a:latin typeface="微软雅黑" panose="020B0503020204020204" pitchFamily="34" charset="-122"/>
                    <a:cs typeface="Times New Roman" panose="02020603050405020304" pitchFamily="18" charset="0"/>
                  </a:rPr>
                  <a:t>矩阵</a:t>
                </a:r>
                <a:r>
                  <a:rPr lang="zh-CN" altLang="zh-CN" sz="2000" dirty="0">
                    <a:latin typeface="微软雅黑" panose="020B0503020204020204" pitchFamily="34" charset="-122"/>
                    <a:cs typeface="Times New Roman" panose="02020603050405020304" pitchFamily="18" charset="0"/>
                  </a:rPr>
                  <a:t>就是我们</a:t>
                </a:r>
                <a:r>
                  <a:rPr lang="en-US" altLang="zh-CN" sz="2000" dirty="0">
                    <a:latin typeface="微软雅黑" panose="020B0503020204020204" pitchFamily="34" charset="-122"/>
                    <a:cs typeface="Times New Roman" panose="02020603050405020304" pitchFamily="18" charset="0"/>
                  </a:rPr>
                  <a:t> SVD </a:t>
                </a:r>
                <a:r>
                  <a:rPr lang="zh-CN" altLang="zh-CN" sz="2000" dirty="0">
                    <a:latin typeface="微软雅黑" panose="020B0503020204020204" pitchFamily="34" charset="-122"/>
                    <a:cs typeface="Times New Roman" panose="02020603050405020304" pitchFamily="18" charset="0"/>
                  </a:rPr>
                  <a:t>中的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𝑈</m:t>
                    </m:r>
                  </m:oMath>
                </a14:m>
                <a:r>
                  <a:rPr lang="zh-CN" altLang="zh-CN" sz="2000" dirty="0">
                    <a:latin typeface="微软雅黑" panose="020B0503020204020204" pitchFamily="34" charset="-122"/>
                    <a:cs typeface="Times New Roman" panose="02020603050405020304" pitchFamily="18" charset="0"/>
                  </a:rPr>
                  <a:t>矩阵。</a:t>
                </a:r>
                <a:endParaRPr lang="zh-CN" altLang="zh-CN" sz="2000" dirty="0">
                  <a:latin typeface="微软雅黑" panose="020B0503020204020204" pitchFamily="34" charset="-122"/>
                  <a:cs typeface="Times New Roman" panose="02020603050405020304" pitchFamily="18" charset="0"/>
                </a:endParaRPr>
              </a:p>
              <a:p>
                <a:pPr>
                  <a:spcBef>
                    <a:spcPts val="900"/>
                  </a:spcBef>
                  <a:spcAft>
                    <a:spcPts val="900"/>
                  </a:spcAft>
                </a:pPr>
                <a:endParaRPr lang="en-US" altLang="zh-CN" sz="2000" dirty="0">
                  <a:latin typeface="微软雅黑" panose="020B0503020204020204" pitchFamily="34" charset="-122"/>
                  <a:cs typeface="Times New Roman" panose="02020603050405020304" pitchFamily="18" charset="0"/>
                </a:endParaRPr>
              </a:p>
              <a:p>
                <a:endParaRPr lang="zh-CN" altLang="en-US" sz="2000" dirty="0">
                  <a:solidFill>
                    <a:srgbClr val="000000"/>
                  </a:solidFill>
                </a:endParaRPr>
              </a:p>
            </p:txBody>
          </p:sp>
        </mc:Choice>
        <mc:Fallback>
          <p:sp>
            <p:nvSpPr>
              <p:cNvPr id="8" name="矩形 3"/>
              <p:cNvSpPr>
                <a:spLocks noRot="1" noChangeAspect="1" noMove="1" noResize="1" noEditPoints="1" noAdjustHandles="1" noChangeArrowheads="1" noChangeShapeType="1" noTextEdit="1"/>
              </p:cNvSpPr>
              <p:nvPr/>
            </p:nvSpPr>
            <p:spPr bwMode="auto">
              <a:xfrm>
                <a:off x="822960" y="1340768"/>
                <a:ext cx="7925504" cy="5220335"/>
              </a:xfrm>
              <a:prstGeom prst="rect">
                <a:avLst/>
              </a:prstGeom>
              <a:blipFill rotWithShape="1">
                <a:blip r:embed="rId1"/>
                <a:stretch>
                  <a:fillRect t="-5" r="1" b="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奇异值分解</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a:xfrm>
            <a:off x="7424738" y="6525903"/>
            <a:ext cx="918922" cy="298760"/>
          </a:xfrm>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8" name="矩形 3"/>
              <p:cNvSpPr>
                <a:spLocks noChangeArrowheads="1"/>
              </p:cNvSpPr>
              <p:nvPr/>
            </p:nvSpPr>
            <p:spPr bwMode="auto">
              <a:xfrm>
                <a:off x="822960" y="1340768"/>
                <a:ext cx="7925504" cy="5306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indent="0">
                  <a:buNone/>
                </a:pPr>
                <a:r>
                  <a:rPr lang="en-US" altLang="zh-CN" sz="2000" b="1" dirty="0">
                    <a:solidFill>
                      <a:srgbClr val="000000"/>
                    </a:solidFill>
                  </a:rPr>
                  <a:t>SVD</a:t>
                </a:r>
                <a:r>
                  <a:rPr lang="zh-CN" altLang="en-US" sz="2000" b="1" dirty="0">
                    <a:solidFill>
                      <a:srgbClr val="000000"/>
                    </a:solidFill>
                  </a:rPr>
                  <a:t>求解（</a:t>
                </a:r>
                <a:r>
                  <a:rPr lang="en-US" altLang="zh-CN" sz="2000" b="1" dirty="0">
                    <a:solidFill>
                      <a:srgbClr val="000000"/>
                    </a:solidFill>
                  </a:rPr>
                  <a:t>V</a:t>
                </a:r>
                <a:r>
                  <a:rPr lang="zh-CN" altLang="en-US" sz="2000" b="1" dirty="0">
                    <a:solidFill>
                      <a:srgbClr val="000000"/>
                    </a:solidFill>
                  </a:rPr>
                  <a:t>矩阵求解）</a:t>
                </a:r>
                <a:endParaRPr lang="en-US" altLang="zh-CN" sz="2000" b="1" dirty="0">
                  <a:solidFill>
                    <a:srgbClr val="000000"/>
                  </a:solidFill>
                </a:endParaRPr>
              </a:p>
              <a:p>
                <a:pPr>
                  <a:spcBef>
                    <a:spcPts val="900"/>
                  </a:spcBef>
                  <a:spcAft>
                    <a:spcPts val="900"/>
                  </a:spcAft>
                </a:pPr>
                <a:r>
                  <a:rPr lang="zh-CN" altLang="zh-CN" sz="2000" dirty="0">
                    <a:latin typeface="微软雅黑" panose="020B0503020204020204" pitchFamily="34" charset="-122"/>
                    <a:cs typeface="Times New Roman" panose="02020603050405020304" pitchFamily="18" charset="0"/>
                  </a:rPr>
                  <a:t>如果将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oMath>
                </a14:m>
                <a:r>
                  <a:rPr lang="en-US" altLang="zh-CN" sz="2000" dirty="0">
                    <a:latin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cs typeface="Times New Roman" panose="02020603050405020304" pitchFamily="18" charset="0"/>
                  </a:rPr>
                  <a:t>的转置和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oMath>
                </a14:m>
                <a:r>
                  <a:rPr lang="en-US" altLang="zh-CN" sz="2000" dirty="0">
                    <a:latin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cs typeface="Times New Roman" panose="02020603050405020304" pitchFamily="18" charset="0"/>
                  </a:rPr>
                  <a:t>做矩阵乘法，那么会得到</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𝑛</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𝑛</m:t>
                    </m:r>
                  </m:oMath>
                </a14:m>
                <a:r>
                  <a:rPr lang="en-US" altLang="zh-CN" sz="2000" dirty="0">
                    <a:latin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cs typeface="Times New Roman" panose="02020603050405020304" pitchFamily="18" charset="0"/>
                  </a:rPr>
                  <a:t>的一个方阵 </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i="1">
                        <a:latin typeface="Cambria Math" panose="02040503050406030204" pitchFamily="18" charset="0"/>
                        <a:cs typeface="Times New Roman" panose="02020603050405020304" pitchFamily="18" charset="0"/>
                      </a:rPr>
                      <m:t>𝐴</m:t>
                    </m:r>
                    <m:r>
                      <a:rPr lang="en-US" altLang="zh-CN" sz="2000" b="0" i="0" smtClean="0">
                        <a:latin typeface="Cambria Math" panose="02040503050406030204" pitchFamily="18" charset="0"/>
                        <a:cs typeface="Times New Roman" panose="02020603050405020304" pitchFamily="18" charset="0"/>
                      </a:rPr>
                      <m:t>,</m:t>
                    </m:r>
                  </m:oMath>
                </a14:m>
                <a:r>
                  <a:rPr lang="zh-CN" altLang="zh-CN" sz="2000" dirty="0">
                    <a:latin typeface="微软雅黑" panose="020B0503020204020204" pitchFamily="34" charset="-122"/>
                    <a:cs typeface="Times New Roman" panose="02020603050405020304" pitchFamily="18" charset="0"/>
                  </a:rPr>
                  <a:t>就可以进行特征分解</a:t>
                </a:r>
                <a:r>
                  <a:rPr lang="zh-CN" altLang="en-US" sz="2000" dirty="0">
                    <a:latin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cs typeface="Times New Roman" panose="02020603050405020304" pitchFamily="18" charset="0"/>
                  </a:rPr>
                  <a:t>得到的特征值和特征向量满足下式：</a:t>
                </a:r>
                <a:endParaRPr lang="en-US" altLang="zh-CN" sz="2000" dirty="0">
                  <a:latin typeface="Cambria Math" panose="02040503050406030204" pitchFamily="18" charset="0"/>
                  <a:cs typeface="Times New Roman" panose="02020603050405020304" pitchFamily="18" charset="0"/>
                </a:endParaRPr>
              </a:p>
              <a:p>
                <a:pPr marL="0" indent="0">
                  <a:spcBef>
                    <a:spcPts val="900"/>
                  </a:spcBef>
                  <a:spcAft>
                    <a:spcPts val="900"/>
                  </a:spcAft>
                  <a:buNone/>
                </a:pPr>
                <a14:m>
                  <m:oMathPara xmlns:m="http://schemas.openxmlformats.org/officeDocument/2006/math">
                    <m:oMathParaPr>
                      <m:jc m:val="centerGroup"/>
                    </m:oMathParaPr>
                    <m:oMath xmlns:m="http://schemas.openxmlformats.org/officeDocument/2006/math">
                      <m:r>
                        <a:rPr lang="en-US" altLang="zh-CN" sz="2000">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i="1">
                          <a:latin typeface="Cambria Math" panose="02040503050406030204" pitchFamily="18" charset="0"/>
                          <a:cs typeface="Times New Roman" panose="02020603050405020304" pitchFamily="18" charset="0"/>
                        </a:rPr>
                        <m:t>𝐴</m:t>
                      </m:r>
                      <m:r>
                        <a:rPr lang="en-US" altLang="zh-CN" sz="20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𝑣</m:t>
                          </m:r>
                        </m:e>
                        <m:sub>
                          <m:r>
                            <a:rPr lang="en-US" altLang="zh-CN" sz="2000" i="1">
                              <a:latin typeface="Cambria Math" panose="02040503050406030204" pitchFamily="18" charset="0"/>
                              <a:cs typeface="Times New Roman" panose="02020603050405020304" pitchFamily="18" charset="0"/>
                            </a:rPr>
                            <m:t>𝑖</m:t>
                          </m:r>
                        </m:sub>
                      </m:sSub>
                      <m:r>
                        <a:rPr lang="en-US" altLang="zh-CN" sz="20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𝜆</m:t>
                          </m:r>
                        </m:e>
                        <m:sub>
                          <m:r>
                            <a:rPr lang="en-US" altLang="zh-CN" sz="2000" i="1">
                              <a:latin typeface="Cambria Math" panose="02040503050406030204" pitchFamily="18" charset="0"/>
                              <a:cs typeface="Times New Roman" panose="02020603050405020304" pitchFamily="18" charset="0"/>
                            </a:rPr>
                            <m:t>𝑖</m:t>
                          </m:r>
                        </m:sub>
                      </m:sSub>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𝑣</m:t>
                          </m:r>
                        </m:e>
                        <m:sub>
                          <m:r>
                            <a:rPr lang="en-US" altLang="zh-CN" sz="2000" i="1">
                              <a:latin typeface="Cambria Math" panose="02040503050406030204" pitchFamily="18" charset="0"/>
                              <a:cs typeface="Times New Roman" panose="02020603050405020304" pitchFamily="18" charset="0"/>
                            </a:rPr>
                            <m:t>𝑖</m:t>
                          </m:r>
                        </m:sub>
                      </m:sSub>
                    </m:oMath>
                  </m:oMathPara>
                </a14:m>
                <a:endParaRPr lang="zh-CN" altLang="zh-CN" sz="2000" dirty="0">
                  <a:latin typeface="微软雅黑" panose="020B0503020204020204" pitchFamily="34" charset="-122"/>
                  <a:cs typeface="Times New Roman" panose="02020603050405020304" pitchFamily="18" charset="0"/>
                </a:endParaRPr>
              </a:p>
              <a:p>
                <a:pPr>
                  <a:spcBef>
                    <a:spcPts val="900"/>
                  </a:spcBef>
                  <a:spcAft>
                    <a:spcPts val="900"/>
                  </a:spcAft>
                </a:pPr>
                <a:r>
                  <a:rPr lang="zh-CN" altLang="zh-CN" sz="2000" dirty="0">
                    <a:latin typeface="微软雅黑" panose="020B0503020204020204" pitchFamily="34" charset="-122"/>
                    <a:cs typeface="Times New Roman" panose="02020603050405020304" pitchFamily="18" charset="0"/>
                  </a:rPr>
                  <a:t>可以得到矩阵</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i="1">
                        <a:latin typeface="Cambria Math" panose="02040503050406030204" pitchFamily="18" charset="0"/>
                        <a:cs typeface="Times New Roman" panose="02020603050405020304" pitchFamily="18" charset="0"/>
                      </a:rPr>
                      <m:t>𝐴</m:t>
                    </m:r>
                  </m:oMath>
                </a14:m>
                <a:r>
                  <a:rPr lang="zh-CN" altLang="zh-CN" sz="2000" dirty="0">
                    <a:latin typeface="微软雅黑" panose="020B0503020204020204" pitchFamily="34" charset="-122"/>
                    <a:cs typeface="Times New Roman" panose="02020603050405020304" pitchFamily="18" charset="0"/>
                  </a:rPr>
                  <a:t>的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𝑚</m:t>
                    </m:r>
                  </m:oMath>
                </a14:m>
                <a:r>
                  <a:rPr lang="en-US" altLang="zh-CN" sz="2000" dirty="0">
                    <a:latin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cs typeface="Times New Roman" panose="02020603050405020304" pitchFamily="18" charset="0"/>
                  </a:rPr>
                  <a:t>个特征值和对应的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𝑚</m:t>
                    </m:r>
                  </m:oMath>
                </a14:m>
                <a:r>
                  <a:rPr lang="zh-CN" altLang="zh-CN" sz="2000" dirty="0">
                    <a:latin typeface="微软雅黑" panose="020B0503020204020204" pitchFamily="34" charset="-122"/>
                    <a:cs typeface="Times New Roman" panose="02020603050405020304" pitchFamily="18" charset="0"/>
                  </a:rPr>
                  <a:t>个特征向量</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𝑣</m:t>
                    </m:r>
                  </m:oMath>
                </a14:m>
                <a:r>
                  <a:rPr lang="zh-CN" altLang="zh-CN" sz="2000" dirty="0">
                    <a:latin typeface="微软雅黑" panose="020B0503020204020204" pitchFamily="34" charset="-122"/>
                    <a:cs typeface="Times New Roman" panose="02020603050405020304" pitchFamily="18" charset="0"/>
                  </a:rPr>
                  <a:t>了。</a:t>
                </a:r>
                <a:endParaRPr lang="en-US" altLang="zh-CN" sz="2000" dirty="0">
                  <a:latin typeface="微软雅黑" panose="020B0503020204020204" pitchFamily="34" charset="-122"/>
                  <a:cs typeface="Times New Roman" panose="02020603050405020304" pitchFamily="18" charset="0"/>
                </a:endParaRPr>
              </a:p>
              <a:p>
                <a:pPr>
                  <a:spcBef>
                    <a:spcPts val="900"/>
                  </a:spcBef>
                  <a:spcAft>
                    <a:spcPts val="900"/>
                  </a:spcAft>
                </a:pPr>
                <a:r>
                  <a:rPr lang="zh-CN" altLang="zh-CN" sz="2000" dirty="0">
                    <a:latin typeface="微软雅黑" panose="020B0503020204020204" pitchFamily="34" charset="-122"/>
                    <a:cs typeface="Times New Roman" panose="02020603050405020304" pitchFamily="18" charset="0"/>
                  </a:rPr>
                  <a:t>将</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i="1">
                        <a:latin typeface="Cambria Math" panose="02040503050406030204" pitchFamily="18" charset="0"/>
                        <a:cs typeface="Times New Roman" panose="02020603050405020304" pitchFamily="18" charset="0"/>
                      </a:rPr>
                      <m:t>𝐴</m:t>
                    </m:r>
                  </m:oMath>
                </a14:m>
                <a:r>
                  <a:rPr lang="zh-CN" altLang="zh-CN" sz="2000" dirty="0">
                    <a:latin typeface="微软雅黑" panose="020B0503020204020204" pitchFamily="34" charset="-122"/>
                    <a:cs typeface="Times New Roman" panose="02020603050405020304" pitchFamily="18" charset="0"/>
                  </a:rPr>
                  <a:t>的所有特征向量组成一个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𝑚</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𝑚</m:t>
                    </m:r>
                  </m:oMath>
                </a14:m>
                <a:r>
                  <a:rPr lang="zh-CN" altLang="zh-CN" sz="2000" dirty="0">
                    <a:latin typeface="微软雅黑" panose="020B0503020204020204" pitchFamily="34" charset="-122"/>
                    <a:cs typeface="Times New Roman" panose="02020603050405020304" pitchFamily="18" charset="0"/>
                  </a:rPr>
                  <a:t>的矩阵</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𝑉</m:t>
                    </m:r>
                  </m:oMath>
                </a14:m>
                <a:r>
                  <a:rPr lang="zh-CN" altLang="zh-CN" sz="2000" dirty="0">
                    <a:latin typeface="微软雅黑" panose="020B0503020204020204" pitchFamily="34" charset="-122"/>
                    <a:cs typeface="Times New Roman" panose="02020603050405020304" pitchFamily="18" charset="0"/>
                  </a:rPr>
                  <a:t>，就是</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𝑆𝑉𝐷</m:t>
                    </m:r>
                  </m:oMath>
                </a14:m>
                <a:r>
                  <a:rPr lang="en-US" altLang="zh-CN" sz="2000" dirty="0">
                    <a:latin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cs typeface="Times New Roman" panose="02020603050405020304" pitchFamily="18" charset="0"/>
                  </a:rPr>
                  <a:t>公式里面的</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𝑉</m:t>
                    </m:r>
                  </m:oMath>
                </a14:m>
                <a:r>
                  <a:rPr lang="zh-CN" altLang="zh-CN" sz="2000" dirty="0">
                    <a:latin typeface="微软雅黑" panose="020B0503020204020204" pitchFamily="34" charset="-122"/>
                    <a:cs typeface="Times New Roman" panose="02020603050405020304" pitchFamily="18" charset="0"/>
                  </a:rPr>
                  <a:t>矩阵</a:t>
                </a:r>
                <a:r>
                  <a:rPr lang="zh-CN" altLang="en-US" sz="2000" dirty="0">
                    <a:latin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cs typeface="Times New Roman" panose="02020603050405020304" pitchFamily="18" charset="0"/>
                  </a:rPr>
                  <a:t>一般将</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𝑈</m:t>
                    </m:r>
                  </m:oMath>
                </a14:m>
                <a:r>
                  <a:rPr lang="zh-CN" altLang="zh-CN" sz="2000" dirty="0">
                    <a:latin typeface="微软雅黑" panose="020B0503020204020204" pitchFamily="34" charset="-122"/>
                    <a:cs typeface="Times New Roman" panose="02020603050405020304" pitchFamily="18" charset="0"/>
                  </a:rPr>
                  <a:t>中的每个特征向量叫做</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oMath>
                </a14:m>
                <a:r>
                  <a:rPr lang="en-US" altLang="zh-CN" sz="2000" dirty="0">
                    <a:latin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cs typeface="Times New Roman" panose="02020603050405020304" pitchFamily="18" charset="0"/>
                  </a:rPr>
                  <a:t>的</a:t>
                </a:r>
                <a:r>
                  <a:rPr lang="zh-CN" altLang="en-US" sz="2000" b="1" dirty="0">
                    <a:latin typeface="微软雅黑" panose="020B0503020204020204" pitchFamily="34" charset="-122"/>
                    <a:cs typeface="Times New Roman" panose="02020603050405020304" pitchFamily="18" charset="0"/>
                  </a:rPr>
                  <a:t>右</a:t>
                </a:r>
                <a:r>
                  <a:rPr lang="zh-CN" altLang="zh-CN" sz="2000" b="1" dirty="0">
                    <a:latin typeface="微软雅黑" panose="020B0503020204020204" pitchFamily="34" charset="-122"/>
                    <a:cs typeface="Times New Roman" panose="02020603050405020304" pitchFamily="18" charset="0"/>
                  </a:rPr>
                  <a:t>奇异向量</a:t>
                </a:r>
                <a:endParaRPr lang="en-US" altLang="zh-CN" sz="2000" b="1" dirty="0">
                  <a:latin typeface="微软雅黑" panose="020B0503020204020204" pitchFamily="34" charset="-122"/>
                  <a:cs typeface="Times New Roman" panose="02020603050405020304" pitchFamily="18" charset="0"/>
                </a:endParaRPr>
              </a:p>
              <a:p>
                <a:pPr>
                  <a:spcBef>
                    <a:spcPts val="900"/>
                  </a:spcBef>
                  <a:spcAft>
                    <a:spcPts val="900"/>
                  </a:spcAft>
                </a:pPr>
                <a:r>
                  <a:rPr lang="en-US" altLang="zh-CN" sz="2000" dirty="0">
                    <a:latin typeface="微软雅黑" panose="020B0503020204020204" pitchFamily="34" charset="-122"/>
                    <a:cs typeface="Times New Roman" panose="02020603050405020304" pitchFamily="18" charset="0"/>
                  </a:rPr>
                  <a:t>注意：</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i="1">
                        <a:latin typeface="Cambria Math" panose="02040503050406030204" pitchFamily="18" charset="0"/>
                        <a:cs typeface="Times New Roman" panose="02020603050405020304" pitchFamily="18" charset="0"/>
                      </a:rPr>
                      <m:t>𝐴</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𝑈</m:t>
                    </m:r>
                    <m:r>
                      <a:rPr lang="en-US" altLang="zh-CN" sz="2000" i="1">
                        <a:latin typeface="Cambria Math" panose="02040503050406030204" pitchFamily="18" charset="0"/>
                        <a:cs typeface="Times New Roman" panose="02020603050405020304" pitchFamily="18" charset="0"/>
                      </a:rPr>
                      <m:t>𝛴</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𝑉</m:t>
                        </m:r>
                      </m:e>
                      <m:sup>
                        <m:r>
                          <m:rPr>
                            <m:sty m:val="p"/>
                          </m:rPr>
                          <a:rPr lang="en-US" altLang="zh-CN" sz="2000">
                            <a:latin typeface="Cambria Math" panose="02040503050406030204" pitchFamily="18" charset="0"/>
                            <a:cs typeface="Times New Roman" panose="02020603050405020304" pitchFamily="18" charset="0"/>
                          </a:rPr>
                          <m:t>T</m:t>
                        </m:r>
                      </m:sup>
                    </m:sSup>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a:latin typeface="Cambria Math" panose="02040503050406030204" pitchFamily="18" charset="0"/>
                            <a:cs typeface="Times New Roman" panose="02020603050405020304" pitchFamily="18" charset="0"/>
                          </a:rPr>
                          <m:t>)</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𝑈</m:t>
                    </m:r>
                    <m:r>
                      <a:rPr lang="en-US" altLang="zh-CN" sz="2000" i="1">
                        <a:latin typeface="Cambria Math" panose="02040503050406030204" pitchFamily="18" charset="0"/>
                        <a:cs typeface="Times New Roman" panose="02020603050405020304" pitchFamily="18" charset="0"/>
                      </a:rPr>
                      <m:t>𝛴</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𝑉</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𝑉</m:t>
                    </m:r>
                    <m:r>
                      <a:rPr lang="en-US" altLang="zh-CN" sz="2000">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i="1">
                        <a:latin typeface="Cambria Math" panose="02040503050406030204" pitchFamily="18" charset="0"/>
                        <a:cs typeface="Times New Roman" panose="02020603050405020304" pitchFamily="18" charset="0"/>
                      </a:rPr>
                      <m:t>𝛴</m:t>
                    </m:r>
                    <m:r>
                      <a:rPr lang="en-US" altLang="zh-CN" sz="2000">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𝑉</m:t>
                        </m:r>
                      </m:e>
                      <m:sup>
                        <m:r>
                          <m:rPr>
                            <m:sty m:val="p"/>
                          </m:rPr>
                          <a:rPr lang="en-US" altLang="zh-CN" sz="2000">
                            <a:latin typeface="Cambria Math" panose="02040503050406030204" pitchFamily="18" charset="0"/>
                            <a:cs typeface="Times New Roman" panose="02020603050405020304" pitchFamily="18" charset="0"/>
                          </a:rPr>
                          <m:t>T</m:t>
                        </m:r>
                      </m:sup>
                    </m:sSup>
                    <m:r>
                      <a:rPr lang="zh-CN" altLang="en-US" sz="2000" i="1">
                        <a:latin typeface="Cambria Math" panose="02040503050406030204" pitchFamily="18" charset="0"/>
                        <a:cs typeface="Times New Roman" panose="02020603050405020304" pitchFamily="18" charset="0"/>
                      </a:rPr>
                      <m:t>，</m:t>
                    </m:r>
                  </m:oMath>
                </a14:m>
                <a:r>
                  <a:rPr lang="zh-CN" altLang="zh-CN" sz="2000" dirty="0">
                    <a:latin typeface="微软雅黑" panose="020B0503020204020204" pitchFamily="34" charset="-122"/>
                    <a:cs typeface="Times New Roman" panose="02020603050405020304" pitchFamily="18" charset="0"/>
                  </a:rPr>
                  <a:t>上式证明使用了</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𝑉</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i="1">
                        <a:latin typeface="Cambria Math" panose="02040503050406030204" pitchFamily="18" charset="0"/>
                        <a:cs typeface="Times New Roman" panose="02020603050405020304" pitchFamily="18" charset="0"/>
                      </a:rPr>
                      <m:t>𝑉</m:t>
                    </m:r>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𝐼</m:t>
                    </m:r>
                    <m:r>
                      <a:rPr lang="en-US" altLang="zh-CN" sz="2000">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𝛴</m:t>
                    </m:r>
                  </m:oMath>
                </a14:m>
                <a:r>
                  <a:rPr lang="zh-CN" altLang="zh-CN" sz="2000" dirty="0">
                    <a:latin typeface="微软雅黑" panose="020B0503020204020204" pitchFamily="34" charset="-122"/>
                    <a:cs typeface="Times New Roman" panose="02020603050405020304" pitchFamily="18" charset="0"/>
                  </a:rPr>
                  <a:t>。可以看出的</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𝐴</m:t>
                    </m:r>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oMath>
                </a14:m>
                <a:r>
                  <a:rPr lang="zh-CN" altLang="zh-CN" sz="2000" dirty="0">
                    <a:latin typeface="微软雅黑" panose="020B0503020204020204" pitchFamily="34" charset="-122"/>
                    <a:cs typeface="Times New Roman" panose="02020603050405020304" pitchFamily="18" charset="0"/>
                  </a:rPr>
                  <a:t>特征向量组成的</a:t>
                </a:r>
                <a:r>
                  <a:rPr lang="zh-CN" altLang="en-US" sz="2000" dirty="0">
                    <a:latin typeface="微软雅黑" panose="020B0503020204020204" pitchFamily="34" charset="-122"/>
                    <a:cs typeface="Times New Roman" panose="02020603050405020304" pitchFamily="18" charset="0"/>
                  </a:rPr>
                  <a:t>矩阵</a:t>
                </a:r>
                <a:r>
                  <a:rPr lang="zh-CN" altLang="zh-CN" sz="2000" dirty="0">
                    <a:latin typeface="微软雅黑" panose="020B0503020204020204" pitchFamily="34" charset="-122"/>
                    <a:cs typeface="Times New Roman" panose="02020603050405020304" pitchFamily="18" charset="0"/>
                  </a:rPr>
                  <a:t>就是我们</a:t>
                </a:r>
                <a:r>
                  <a:rPr lang="en-US" altLang="zh-CN" sz="2000" dirty="0">
                    <a:latin typeface="微软雅黑" panose="020B0503020204020204" pitchFamily="34" charset="-122"/>
                    <a:cs typeface="Times New Roman" panose="02020603050405020304" pitchFamily="18" charset="0"/>
                  </a:rPr>
                  <a:t> SVD </a:t>
                </a:r>
                <a:r>
                  <a:rPr lang="zh-CN" altLang="zh-CN" sz="2000" dirty="0">
                    <a:latin typeface="微软雅黑" panose="020B0503020204020204" pitchFamily="34" charset="-122"/>
                    <a:cs typeface="Times New Roman" panose="02020603050405020304" pitchFamily="18" charset="0"/>
                  </a:rPr>
                  <a:t>中的</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𝑉</m:t>
                    </m:r>
                  </m:oMath>
                </a14:m>
                <a:r>
                  <a:rPr lang="zh-CN" altLang="zh-CN" sz="2000" dirty="0">
                    <a:latin typeface="微软雅黑" panose="020B0503020204020204" pitchFamily="34" charset="-122"/>
                    <a:cs typeface="Times New Roman" panose="02020603050405020304" pitchFamily="18" charset="0"/>
                  </a:rPr>
                  <a:t>矩阵。</a:t>
                </a:r>
                <a:endParaRPr lang="zh-CN" altLang="zh-CN" sz="2000" dirty="0">
                  <a:latin typeface="微软雅黑" panose="020B0503020204020204" pitchFamily="34" charset="-122"/>
                  <a:cs typeface="Times New Roman" panose="02020603050405020304" pitchFamily="18" charset="0"/>
                </a:endParaRPr>
              </a:p>
              <a:p>
                <a:pPr>
                  <a:spcBef>
                    <a:spcPts val="900"/>
                  </a:spcBef>
                  <a:spcAft>
                    <a:spcPts val="900"/>
                  </a:spcAft>
                </a:pPr>
                <a:endParaRPr lang="en-US" altLang="zh-CN" sz="2000" dirty="0">
                  <a:latin typeface="微软雅黑" panose="020B0503020204020204" pitchFamily="34" charset="-122"/>
                  <a:cs typeface="Times New Roman" panose="02020603050405020304" pitchFamily="18" charset="0"/>
                </a:endParaRPr>
              </a:p>
              <a:p>
                <a:endParaRPr lang="zh-CN" altLang="en-US" sz="2000" dirty="0">
                  <a:solidFill>
                    <a:srgbClr val="000000"/>
                  </a:solidFill>
                </a:endParaRPr>
              </a:p>
            </p:txBody>
          </p:sp>
        </mc:Choice>
        <mc:Fallback>
          <p:sp>
            <p:nvSpPr>
              <p:cNvPr id="8" name="矩形 3"/>
              <p:cNvSpPr>
                <a:spLocks noRot="1" noChangeAspect="1" noMove="1" noResize="1" noEditPoints="1" noAdjustHandles="1" noChangeArrowheads="1" noChangeShapeType="1" noTextEdit="1"/>
              </p:cNvSpPr>
              <p:nvPr/>
            </p:nvSpPr>
            <p:spPr bwMode="auto">
              <a:xfrm>
                <a:off x="822960" y="1340768"/>
                <a:ext cx="7925504" cy="5306517"/>
              </a:xfrm>
              <a:prstGeom prst="rect">
                <a:avLst/>
              </a:prstGeom>
              <a:blipFill rotWithShape="1">
                <a:blip r:embed="rId1"/>
                <a:stretch>
                  <a:fillRect t="-5" r="1" b="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奇异值分解</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a:xfrm>
            <a:off x="7424738" y="6525903"/>
            <a:ext cx="918922" cy="298760"/>
          </a:xfrm>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8" name="矩形 3"/>
              <p:cNvSpPr>
                <a:spLocks noChangeArrowheads="1"/>
              </p:cNvSpPr>
              <p:nvPr/>
            </p:nvSpPr>
            <p:spPr bwMode="auto">
              <a:xfrm>
                <a:off x="822960" y="1340768"/>
                <a:ext cx="7925504" cy="5105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indent="0">
                  <a:buNone/>
                </a:pPr>
                <a14:m>
                  <m:oMath xmlns:m="http://schemas.openxmlformats.org/officeDocument/2006/math">
                    <m:r>
                      <a:rPr lang="en-US" altLang="zh-CN" sz="2000" i="1">
                        <a:latin typeface="Cambria Math" panose="02040503050406030204" pitchFamily="18" charset="0"/>
                      </a:rPr>
                      <m:t>𝛴</m:t>
                    </m:r>
                  </m:oMath>
                </a14:m>
                <a:r>
                  <a:rPr lang="zh-CN" altLang="en-US" sz="2000" b="1" dirty="0">
                    <a:solidFill>
                      <a:srgbClr val="000000"/>
                    </a:solidFill>
                  </a:rPr>
                  <a:t>矩阵求解</a:t>
                </a:r>
                <a:endParaRPr lang="en-US" altLang="zh-CN" sz="2000" b="1" dirty="0">
                  <a:solidFill>
                    <a:srgbClr val="000000"/>
                  </a:solidFill>
                </a:endParaRPr>
              </a:p>
              <a:p>
                <a:r>
                  <a:rPr lang="zh-CN" altLang="zh-CN" sz="2000" dirty="0">
                    <a:latin typeface="+mj-ea"/>
                  </a:rPr>
                  <a:t>进一步我们还可以看出我们的特征值矩阵等于奇异值矩阵的平方，也就是说特征值和奇异值满足如下关系：</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𝜎</m:t>
                        </m:r>
                      </m:e>
                      <m:sub>
                        <m:r>
                          <a:rPr lang="en-US" altLang="zh-CN" sz="2000" i="1">
                            <a:latin typeface="Cambria Math" panose="02040503050406030204" pitchFamily="18" charset="0"/>
                          </a:rPr>
                          <m:t>𝑖</m:t>
                        </m:r>
                      </m:sub>
                    </m:sSub>
                    <m:r>
                      <a:rPr lang="en-US" altLang="zh-CN" sz="2000">
                        <a:latin typeface="Cambria Math" panose="02040503050406030204" pitchFamily="18" charset="0"/>
                      </a:rPr>
                      <m:t>=</m:t>
                    </m:r>
                    <m:rad>
                      <m:radPr>
                        <m:degHide m:val="on"/>
                        <m:ctrlPr>
                          <a:rPr lang="zh-CN" altLang="zh-CN" sz="2000" i="1">
                            <a:latin typeface="Cambria Math" panose="02040503050406030204" pitchFamily="18" charset="0"/>
                          </a:rPr>
                        </m:ctrlPr>
                      </m:radPr>
                      <m:deg/>
                      <m:e>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𝜆</m:t>
                            </m:r>
                          </m:e>
                          <m:sub>
                            <m:r>
                              <a:rPr lang="en-US" altLang="zh-CN" sz="2000" i="1">
                                <a:latin typeface="Cambria Math" panose="02040503050406030204" pitchFamily="18" charset="0"/>
                              </a:rPr>
                              <m:t>𝑖</m:t>
                            </m:r>
                          </m:sub>
                        </m:sSub>
                      </m:e>
                    </m:rad>
                  </m:oMath>
                </a14:m>
                <a:endParaRPr lang="zh-CN" altLang="zh-CN" sz="2000" dirty="0">
                  <a:latin typeface="+mj-ea"/>
                </a:endParaRPr>
              </a:p>
              <a:p>
                <a:r>
                  <a:rPr lang="zh-CN" altLang="zh-CN" sz="2000" dirty="0">
                    <a:latin typeface="+mj-ea"/>
                  </a:rPr>
                  <a:t>这样也就是说，</a:t>
                </a:r>
                <a:r>
                  <a:rPr lang="zh-CN" altLang="en-US" sz="2000" dirty="0">
                    <a:latin typeface="+mj-ea"/>
                  </a:rPr>
                  <a:t>也</a:t>
                </a:r>
                <a:r>
                  <a:rPr lang="zh-CN" altLang="zh-CN" sz="2000" dirty="0">
                    <a:latin typeface="+mj-ea"/>
                  </a:rPr>
                  <a:t>可以不用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𝜎</m:t>
                        </m:r>
                      </m:e>
                      <m:sub>
                        <m:r>
                          <a:rPr lang="en-US" altLang="zh-CN" sz="2000" i="1">
                            <a:latin typeface="Cambria Math" panose="02040503050406030204" pitchFamily="18" charset="0"/>
                          </a:rPr>
                          <m:t>𝑖</m:t>
                        </m:r>
                      </m:sub>
                    </m:sSub>
                    <m:r>
                      <a:rPr lang="en-US" altLang="zh-CN" sz="2000">
                        <a:latin typeface="Cambria Math" panose="02040503050406030204" pitchFamily="18" charset="0"/>
                      </a:rPr>
                      <m:t>=</m:t>
                    </m:r>
                    <m:f>
                      <m:fPr>
                        <m:ctrlPr>
                          <a:rPr lang="zh-CN" altLang="zh-CN" sz="2000" i="1">
                            <a:latin typeface="Cambria Math" panose="02040503050406030204" pitchFamily="18" charset="0"/>
                          </a:rPr>
                        </m:ctrlPr>
                      </m:fPr>
                      <m:num>
                        <m:r>
                          <a:rPr lang="en-US" altLang="zh-CN" sz="2000" i="1">
                            <a:latin typeface="Cambria Math" panose="02040503050406030204" pitchFamily="18" charset="0"/>
                          </a:rPr>
                          <m:t>𝐴</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𝑣</m:t>
                            </m:r>
                          </m:e>
                          <m:sub>
                            <m:r>
                              <a:rPr lang="en-US" altLang="zh-CN" sz="2000" i="1">
                                <a:latin typeface="Cambria Math" panose="02040503050406030204" pitchFamily="18" charset="0"/>
                              </a:rPr>
                              <m:t>𝑖</m:t>
                            </m:r>
                          </m:sub>
                        </m:sSub>
                      </m:num>
                      <m:den>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𝑢</m:t>
                            </m:r>
                          </m:e>
                          <m:sub>
                            <m:r>
                              <a:rPr lang="en-US" altLang="zh-CN" sz="2000" i="1">
                                <a:latin typeface="Cambria Math" panose="02040503050406030204" pitchFamily="18" charset="0"/>
                              </a:rPr>
                              <m:t>𝑖</m:t>
                            </m:r>
                          </m:sub>
                        </m:sSub>
                      </m:den>
                    </m:f>
                  </m:oMath>
                </a14:m>
                <a:r>
                  <a:rPr lang="en-US" altLang="zh-CN" sz="2000" dirty="0">
                    <a:latin typeface="+mj-ea"/>
                  </a:rPr>
                  <a:t> </a:t>
                </a:r>
                <a:r>
                  <a:rPr lang="zh-CN" altLang="zh-CN" sz="2000" dirty="0">
                    <a:latin typeface="+mj-ea"/>
                  </a:rPr>
                  <a:t>来计算奇异值，可以通过求出</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𝐴</m:t>
                        </m:r>
                      </m:e>
                      <m:sup>
                        <m:r>
                          <m:rPr>
                            <m:sty m:val="p"/>
                          </m:rPr>
                          <a:rPr lang="en-US" altLang="zh-CN" sz="2000">
                            <a:latin typeface="Cambria Math" panose="02040503050406030204" pitchFamily="18" charset="0"/>
                            <a:cs typeface="Times New Roman" panose="02020603050405020304" pitchFamily="18" charset="0"/>
                          </a:rPr>
                          <m:t>T</m:t>
                        </m:r>
                      </m:sup>
                    </m:sSup>
                    <m:r>
                      <a:rPr lang="en-US" altLang="zh-CN" sz="2000" i="1">
                        <a:latin typeface="Cambria Math" panose="02040503050406030204" pitchFamily="18" charset="0"/>
                        <a:cs typeface="Times New Roman" panose="02020603050405020304" pitchFamily="18" charset="0"/>
                      </a:rPr>
                      <m:t>𝐴</m:t>
                    </m:r>
                  </m:oMath>
                </a14:m>
                <a:r>
                  <a:rPr lang="zh-CN" altLang="zh-CN" sz="2000" dirty="0">
                    <a:latin typeface="+mj-ea"/>
                  </a:rPr>
                  <a:t>的特征值取平方根来求奇异值。</a:t>
                </a:r>
                <a:endParaRPr lang="zh-CN" altLang="zh-CN" sz="2000" dirty="0">
                  <a:latin typeface="+mj-ea"/>
                </a:endParaRPr>
              </a:p>
              <a:p>
                <a:r>
                  <a:rPr lang="zh-CN" altLang="zh-CN" sz="2000" dirty="0">
                    <a:latin typeface="+mj-ea"/>
                  </a:rPr>
                  <a:t>由于奇异值矩阵</a:t>
                </a:r>
                <a14:m>
                  <m:oMath xmlns:m="http://schemas.openxmlformats.org/officeDocument/2006/math">
                    <m:r>
                      <a:rPr lang="en-US" altLang="zh-CN" sz="2000" i="1">
                        <a:latin typeface="Cambria Math" panose="02040503050406030204" pitchFamily="18" charset="0"/>
                      </a:rPr>
                      <m:t>𝛴</m:t>
                    </m:r>
                  </m:oMath>
                </a14:m>
                <a:r>
                  <a:rPr lang="zh-CN" altLang="zh-CN" sz="2000" dirty="0">
                    <a:latin typeface="+mj-ea"/>
                  </a:rPr>
                  <a:t>除了对角线上是奇异值，而其他位置都是</a:t>
                </a:r>
                <a:r>
                  <a:rPr lang="en-US" altLang="zh-CN" sz="2000" dirty="0">
                    <a:latin typeface="+mj-ea"/>
                  </a:rPr>
                  <a:t> 0</a:t>
                </a:r>
                <a:r>
                  <a:rPr lang="zh-CN" altLang="zh-CN" sz="2000" dirty="0">
                    <a:latin typeface="+mj-ea"/>
                  </a:rPr>
                  <a:t>，那我们只需要求出每个奇异值 </a:t>
                </a:r>
                <a14:m>
                  <m:oMath xmlns:m="http://schemas.openxmlformats.org/officeDocument/2006/math">
                    <m:r>
                      <a:rPr lang="en-US" altLang="zh-CN" sz="2000" i="1">
                        <a:latin typeface="Cambria Math" panose="02040503050406030204" pitchFamily="18" charset="0"/>
                      </a:rPr>
                      <m:t>𝜎</m:t>
                    </m:r>
                  </m:oMath>
                </a14:m>
                <a:r>
                  <a:rPr lang="zh-CN" altLang="zh-CN" sz="2000" dirty="0">
                    <a:latin typeface="+mj-ea"/>
                  </a:rPr>
                  <a:t>就可以了。</a:t>
                </a:r>
                <a:endParaRPr lang="zh-CN" altLang="zh-CN" sz="2000" dirty="0">
                  <a:latin typeface="+mj-ea"/>
                </a:endParaRPr>
              </a:p>
              <a:p>
                <a:r>
                  <a:rPr lang="en-US" altLang="zh-CN" sz="2000" dirty="0" err="1">
                    <a:latin typeface="+mj-ea"/>
                  </a:rPr>
                  <a:t>注意到</a:t>
                </a:r>
                <a:r>
                  <a:rPr lang="en-US" altLang="zh-CN" sz="2000" dirty="0">
                    <a:latin typeface="+mj-ea"/>
                  </a:rPr>
                  <a:t>:</a:t>
                </a:r>
                <a14:m>
                  <m:oMath xmlns:m="http://schemas.openxmlformats.org/officeDocument/2006/math">
                    <m:r>
                      <a:rPr lang="en-US" altLang="zh-CN" sz="2000" i="1">
                        <a:latin typeface="Cambria Math" panose="02040503050406030204" pitchFamily="18" charset="0"/>
                      </a:rPr>
                      <m:t>𝐴</m:t>
                    </m:r>
                    <m:r>
                      <a:rPr lang="en-US" altLang="zh-CN" sz="2000">
                        <a:latin typeface="Cambria Math" panose="02040503050406030204" pitchFamily="18" charset="0"/>
                      </a:rPr>
                      <m:t>=</m:t>
                    </m:r>
                    <m:r>
                      <a:rPr lang="en-US" altLang="zh-CN" sz="2000" i="1">
                        <a:latin typeface="Cambria Math" panose="02040503050406030204" pitchFamily="18" charset="0"/>
                      </a:rPr>
                      <m:t>𝑈</m:t>
                    </m:r>
                    <m:r>
                      <a:rPr lang="en-US" altLang="zh-CN" sz="2000" i="1">
                        <a:latin typeface="Cambria Math" panose="02040503050406030204" pitchFamily="18" charset="0"/>
                      </a:rPr>
                      <m:t>𝛴</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𝑉</m:t>
                        </m:r>
                      </m:e>
                      <m:sup>
                        <m:r>
                          <m:rPr>
                            <m:sty m:val="p"/>
                          </m:rPr>
                          <a:rPr lang="en-US" altLang="zh-CN" sz="2000">
                            <a:latin typeface="Cambria Math" panose="02040503050406030204" pitchFamily="18" charset="0"/>
                          </a:rPr>
                          <m:t>T</m:t>
                        </m:r>
                      </m:sup>
                    </m:sSup>
                  </m:oMath>
                </a14:m>
                <a:r>
                  <a:rPr lang="zh-CN" altLang="en-US" sz="2000" dirty="0">
                    <a:latin typeface="+mj-ea"/>
                  </a:rPr>
                  <a:t>，</a:t>
                </a:r>
                <a:r>
                  <a:rPr lang="en-US" altLang="zh-CN" sz="2000" dirty="0">
                    <a:latin typeface="+mj-ea"/>
                  </a:rPr>
                  <a:t>则：</a:t>
                </a:r>
                <a14:m>
                  <m:oMath xmlns:m="http://schemas.openxmlformats.org/officeDocument/2006/math">
                    <m:r>
                      <a:rPr lang="en-US" altLang="zh-CN" sz="2000" i="1">
                        <a:latin typeface="Cambria Math" panose="02040503050406030204" pitchFamily="18" charset="0"/>
                      </a:rPr>
                      <m:t>𝐴𝑉</m:t>
                    </m:r>
                    <m:r>
                      <a:rPr lang="en-US" altLang="zh-CN" sz="2000">
                        <a:latin typeface="Cambria Math" panose="02040503050406030204" pitchFamily="18" charset="0"/>
                      </a:rPr>
                      <m:t>=</m:t>
                    </m:r>
                    <m:r>
                      <a:rPr lang="en-US" altLang="zh-CN" sz="2000" i="1">
                        <a:latin typeface="Cambria Math" panose="02040503050406030204" pitchFamily="18" charset="0"/>
                      </a:rPr>
                      <m:t>𝑈</m:t>
                    </m:r>
                    <m:r>
                      <a:rPr lang="en-US" altLang="zh-CN" sz="2000" i="1">
                        <a:latin typeface="Cambria Math" panose="02040503050406030204" pitchFamily="18" charset="0"/>
                      </a:rPr>
                      <m:t>𝛴</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𝑉</m:t>
                        </m:r>
                      </m:e>
                      <m:sup>
                        <m:r>
                          <m:rPr>
                            <m:sty m:val="p"/>
                          </m:rPr>
                          <a:rPr lang="en-US" altLang="zh-CN" sz="2000">
                            <a:latin typeface="Cambria Math" panose="02040503050406030204" pitchFamily="18" charset="0"/>
                          </a:rPr>
                          <m:t>T</m:t>
                        </m:r>
                      </m:sup>
                    </m:sSup>
                    <m:r>
                      <a:rPr lang="en-US" altLang="zh-CN" sz="2000" i="1">
                        <a:latin typeface="Cambria Math" panose="02040503050406030204" pitchFamily="18" charset="0"/>
                      </a:rPr>
                      <m:t>𝑉</m:t>
                    </m:r>
                  </m:oMath>
                </a14:m>
                <a:endParaRPr lang="zh-CN" altLang="zh-CN" sz="2000" dirty="0">
                  <a:latin typeface="+mj-ea"/>
                </a:endParaRPr>
              </a:p>
              <a:p>
                <a:r>
                  <a:rPr lang="en-US" altLang="zh-CN" sz="2000" dirty="0" err="1">
                    <a:latin typeface="+mj-ea"/>
                  </a:rPr>
                  <a:t>由于</a:t>
                </a:r>
                <a:r>
                  <a:rPr lang="en-US" altLang="zh-CN" sz="2000" dirty="0">
                    <a:latin typeface="+mj-ea"/>
                  </a:rPr>
                  <a:t>：</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𝑉</m:t>
                        </m:r>
                      </m:e>
                      <m:sup>
                        <m:r>
                          <m:rPr>
                            <m:sty m:val="p"/>
                          </m:rPr>
                          <a:rPr lang="en-US" altLang="zh-CN" sz="2000">
                            <a:latin typeface="Cambria Math" panose="02040503050406030204" pitchFamily="18" charset="0"/>
                          </a:rPr>
                          <m:t>T</m:t>
                        </m:r>
                      </m:sup>
                    </m:sSup>
                    <m:r>
                      <a:rPr lang="en-US" altLang="zh-CN" sz="2000" i="1">
                        <a:latin typeface="Cambria Math" panose="02040503050406030204" pitchFamily="18" charset="0"/>
                      </a:rPr>
                      <m:t>𝑉</m:t>
                    </m:r>
                    <m:r>
                      <a:rPr lang="en-US" altLang="zh-CN" sz="2000">
                        <a:latin typeface="Cambria Math" panose="02040503050406030204" pitchFamily="18" charset="0"/>
                      </a:rPr>
                      <m:t>=</m:t>
                    </m:r>
                    <m:r>
                      <a:rPr lang="en-US" altLang="zh-CN" sz="2000" i="1">
                        <a:latin typeface="Cambria Math" panose="02040503050406030204" pitchFamily="18" charset="0"/>
                      </a:rPr>
                      <m:t>𝐼</m:t>
                    </m:r>
                  </m:oMath>
                </a14:m>
                <a:r>
                  <a:rPr lang="zh-CN" altLang="en-US" sz="2000" dirty="0">
                    <a:latin typeface="+mj-ea"/>
                  </a:rPr>
                  <a:t>，</a:t>
                </a:r>
                <a:r>
                  <a:rPr lang="en-US" altLang="zh-CN" sz="2000" dirty="0">
                    <a:latin typeface="+mj-ea"/>
                  </a:rPr>
                  <a:t>则：</a:t>
                </a:r>
                <a14:m>
                  <m:oMath xmlns:m="http://schemas.openxmlformats.org/officeDocument/2006/math">
                    <m:r>
                      <a:rPr lang="en-US" altLang="zh-CN" sz="2000" i="1">
                        <a:latin typeface="Cambria Math" panose="02040503050406030204" pitchFamily="18" charset="0"/>
                      </a:rPr>
                      <m:t>𝐴𝑉</m:t>
                    </m:r>
                    <m:r>
                      <a:rPr lang="en-US" altLang="zh-CN" sz="2000">
                        <a:latin typeface="Cambria Math" panose="02040503050406030204" pitchFamily="18" charset="0"/>
                      </a:rPr>
                      <m:t>=</m:t>
                    </m:r>
                    <m:r>
                      <a:rPr lang="en-US" altLang="zh-CN" sz="2000" i="1">
                        <a:latin typeface="Cambria Math" panose="02040503050406030204" pitchFamily="18" charset="0"/>
                      </a:rPr>
                      <m:t>𝑈</m:t>
                    </m:r>
                    <m:r>
                      <a:rPr lang="en-US" altLang="zh-CN" sz="2000" i="1">
                        <a:latin typeface="Cambria Math" panose="02040503050406030204" pitchFamily="18" charset="0"/>
                      </a:rPr>
                      <m:t>𝛴</m:t>
                    </m:r>
                  </m:oMath>
                </a14:m>
                <a:endParaRPr lang="zh-CN" altLang="zh-CN" sz="2000" dirty="0">
                  <a:latin typeface="+mj-ea"/>
                </a:endParaRPr>
              </a:p>
              <a:p>
                <a:r>
                  <a:rPr lang="en-US" altLang="zh-CN" sz="2000" dirty="0" err="1">
                    <a:latin typeface="+mj-ea"/>
                  </a:rPr>
                  <a:t>得到</a:t>
                </a:r>
                <a:r>
                  <a:rPr lang="en-US" altLang="zh-CN" sz="2000" dirty="0">
                    <a:latin typeface="+mj-ea"/>
                  </a:rPr>
                  <a:t>：</a:t>
                </a:r>
                <a14:m>
                  <m:oMath xmlns:m="http://schemas.openxmlformats.org/officeDocument/2006/math">
                    <m:r>
                      <a:rPr lang="en-US" altLang="zh-CN" sz="2000" i="1">
                        <a:latin typeface="Cambria Math" panose="02040503050406030204" pitchFamily="18" charset="0"/>
                      </a:rPr>
                      <m:t>𝐴</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𝑣</m:t>
                        </m:r>
                      </m:e>
                      <m:sub>
                        <m:r>
                          <a:rPr lang="en-US" altLang="zh-CN" sz="2000" i="1">
                            <a:latin typeface="Cambria Math" panose="02040503050406030204" pitchFamily="18" charset="0"/>
                          </a:rPr>
                          <m:t>𝑖</m:t>
                        </m:r>
                      </m:sub>
                    </m:sSub>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𝜎</m:t>
                        </m:r>
                      </m:e>
                      <m:sub>
                        <m:r>
                          <a:rPr lang="en-US" altLang="zh-CN" sz="2000" i="1">
                            <a:latin typeface="Cambria Math" panose="02040503050406030204" pitchFamily="18" charset="0"/>
                          </a:rPr>
                          <m:t>𝑖</m:t>
                        </m:r>
                      </m:sub>
                    </m:sSub>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𝑢</m:t>
                        </m:r>
                      </m:e>
                      <m:sub>
                        <m:r>
                          <a:rPr lang="en-US" altLang="zh-CN" sz="2000" i="1">
                            <a:latin typeface="Cambria Math" panose="02040503050406030204" pitchFamily="18" charset="0"/>
                          </a:rPr>
                          <m:t>𝑖</m:t>
                        </m:r>
                      </m:sub>
                    </m:sSub>
                  </m:oMath>
                </a14:m>
                <a:r>
                  <a:rPr lang="zh-CN" altLang="en-US" sz="2000" dirty="0">
                    <a:latin typeface="+mj-ea"/>
                  </a:rPr>
                  <a:t>，</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𝜎</m:t>
                        </m:r>
                      </m:e>
                      <m:sub>
                        <m:r>
                          <a:rPr lang="en-US" altLang="zh-CN" sz="2000" i="1">
                            <a:latin typeface="Cambria Math" panose="02040503050406030204" pitchFamily="18" charset="0"/>
                          </a:rPr>
                          <m:t>𝑖</m:t>
                        </m:r>
                      </m:sub>
                    </m:sSub>
                    <m:r>
                      <a:rPr lang="en-US" altLang="zh-CN" sz="2000">
                        <a:latin typeface="Cambria Math" panose="02040503050406030204" pitchFamily="18" charset="0"/>
                      </a:rPr>
                      <m:t>=</m:t>
                    </m:r>
                    <m:r>
                      <a:rPr lang="en-US" altLang="zh-CN" sz="2000" i="1">
                        <a:latin typeface="Cambria Math" panose="02040503050406030204" pitchFamily="18" charset="0"/>
                      </a:rPr>
                      <m:t>𝐴</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𝑣</m:t>
                        </m:r>
                      </m:e>
                      <m:sub>
                        <m:r>
                          <a:rPr lang="en-US" altLang="zh-CN" sz="2000" i="1">
                            <a:latin typeface="Cambria Math" panose="02040503050406030204" pitchFamily="18" charset="0"/>
                          </a:rPr>
                          <m:t>𝑖</m:t>
                        </m:r>
                      </m:sub>
                    </m:sSub>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𝑢</m:t>
                        </m:r>
                      </m:e>
                      <m:sub>
                        <m:r>
                          <a:rPr lang="en-US" altLang="zh-CN" sz="2000" i="1">
                            <a:latin typeface="Cambria Math" panose="02040503050406030204" pitchFamily="18" charset="0"/>
                          </a:rPr>
                          <m:t>𝑖</m:t>
                        </m:r>
                      </m:sub>
                    </m:sSub>
                  </m:oMath>
                </a14:m>
                <a:endParaRPr lang="zh-CN" altLang="zh-CN" sz="2000" dirty="0">
                  <a:latin typeface="+mj-ea"/>
                </a:endParaRPr>
              </a:p>
              <a:p>
                <a:r>
                  <a:rPr lang="zh-CN" altLang="zh-CN" sz="2000" dirty="0">
                    <a:latin typeface="+mj-ea"/>
                  </a:rPr>
                  <a:t>这样可以求出每个奇异值，进而求出奇异值矩阵 </a:t>
                </a:r>
                <a14:m>
                  <m:oMath xmlns:m="http://schemas.openxmlformats.org/officeDocument/2006/math">
                    <m:r>
                      <a:rPr lang="en-US" altLang="zh-CN" sz="2000" i="1">
                        <a:latin typeface="Cambria Math" panose="02040503050406030204" pitchFamily="18" charset="0"/>
                      </a:rPr>
                      <m:t>𝛴</m:t>
                    </m:r>
                  </m:oMath>
                </a14:m>
                <a:r>
                  <a:rPr lang="zh-CN" altLang="zh-CN" sz="2000" dirty="0">
                    <a:latin typeface="+mj-ea"/>
                  </a:rPr>
                  <a:t>。</a:t>
                </a:r>
                <a:endParaRPr lang="zh-CN" altLang="zh-CN" sz="2000" dirty="0">
                  <a:latin typeface="+mj-ea"/>
                </a:endParaRPr>
              </a:p>
              <a:p>
                <a:pPr>
                  <a:spcBef>
                    <a:spcPts val="900"/>
                  </a:spcBef>
                  <a:spcAft>
                    <a:spcPts val="900"/>
                  </a:spcAft>
                </a:pPr>
                <a:endParaRPr lang="en-US" altLang="zh-CN" sz="2000" dirty="0">
                  <a:latin typeface="微软雅黑" panose="020B0503020204020204" pitchFamily="34" charset="-122"/>
                  <a:cs typeface="Times New Roman" panose="02020603050405020304" pitchFamily="18" charset="0"/>
                </a:endParaRPr>
              </a:p>
              <a:p>
                <a:endParaRPr lang="zh-CN" altLang="en-US" sz="2000" dirty="0">
                  <a:solidFill>
                    <a:srgbClr val="000000"/>
                  </a:solidFill>
                </a:endParaRPr>
              </a:p>
            </p:txBody>
          </p:sp>
        </mc:Choice>
        <mc:Fallback>
          <p:sp>
            <p:nvSpPr>
              <p:cNvPr id="8" name="矩形 3"/>
              <p:cNvSpPr>
                <a:spLocks noRot="1" noChangeAspect="1" noMove="1" noResize="1" noEditPoints="1" noAdjustHandles="1" noChangeArrowheads="1" noChangeShapeType="1" noTextEdit="1"/>
              </p:cNvSpPr>
              <p:nvPr/>
            </p:nvSpPr>
            <p:spPr bwMode="auto">
              <a:xfrm>
                <a:off x="822960" y="1340768"/>
                <a:ext cx="7925504" cy="5105372"/>
              </a:xfrm>
              <a:prstGeom prst="rect">
                <a:avLst/>
              </a:prstGeom>
              <a:blipFill rotWithShape="1">
                <a:blip r:embed="rId1"/>
                <a:stretch>
                  <a:fillRect t="-6" r="1" b="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78765" y="1484630"/>
            <a:ext cx="8860790" cy="4384040"/>
          </a:xfrm>
        </p:spPr>
        <p:txBody>
          <a:bodyPr/>
          <a:p>
            <a:r>
              <a:rPr lang="en-US" altLang="zh-CN"/>
              <a:t>U (</a:t>
            </a:r>
            <a:r>
              <a:rPr lang="zh-CN" altLang="en-US"/>
              <a:t>左奇异向量矩阵，</a:t>
            </a:r>
            <a:r>
              <a:rPr lang="en-US" altLang="zh-CN"/>
              <a:t>m×m)：</a:t>
            </a:r>
            <a:r>
              <a:rPr lang="en-US" altLang="zh-CN" b="1"/>
              <a:t>“</a:t>
            </a:r>
            <a:r>
              <a:rPr lang="zh-CN" altLang="en-US" b="1"/>
              <a:t>行对象”的抽象特征</a:t>
            </a:r>
            <a:endParaRPr lang="zh-CN" altLang="en-US"/>
          </a:p>
          <a:p>
            <a:pPr lvl="1">
              <a:buFont typeface="Wingdings" panose="05000000000000000000" charset="0"/>
              <a:buChar char="n"/>
            </a:pPr>
            <a:r>
              <a:rPr lang="zh-CN" altLang="en-US"/>
              <a:t>每一行对应原始数据的一个对象（如一个用户、一张图片）。</a:t>
            </a:r>
            <a:endParaRPr lang="zh-CN" altLang="en-US"/>
          </a:p>
          <a:p>
            <a:pPr lvl="1">
              <a:buFont typeface="Wingdings" panose="05000000000000000000" charset="0"/>
              <a:buChar char="n"/>
            </a:pPr>
            <a:r>
              <a:rPr lang="zh-CN" altLang="en-US"/>
              <a:t>每一列代表一个“新维度”或“潜在概念”（如“喜好科技产品程度”、“图片中的亮度梯度”）。</a:t>
            </a:r>
            <a:endParaRPr lang="zh-CN" altLang="en-US"/>
          </a:p>
          <a:p>
            <a:r>
              <a:rPr lang="en-US" altLang="zh-CN"/>
              <a:t>Σ (</a:t>
            </a:r>
            <a:r>
              <a:rPr lang="zh-CN" altLang="en-US"/>
              <a:t>奇异值矩阵，</a:t>
            </a:r>
            <a:r>
              <a:rPr lang="en-US" altLang="zh-CN"/>
              <a:t>m×n，</a:t>
            </a:r>
            <a:r>
              <a:rPr lang="zh-CN" altLang="en-US"/>
              <a:t>通常为对角矩阵)：</a:t>
            </a:r>
            <a:r>
              <a:rPr lang="zh-CN" altLang="en-US" b="1"/>
              <a:t>每个新维度的“强度”或“权重”</a:t>
            </a:r>
            <a:endParaRPr lang="zh-CN" altLang="en-US" b="1"/>
          </a:p>
          <a:p>
            <a:pPr lvl="1">
              <a:buFont typeface="Wingdings" panose="05000000000000000000" charset="0"/>
              <a:buChar char="n"/>
            </a:pPr>
            <a:r>
              <a:rPr lang="zh-CN" altLang="en-US"/>
              <a:t>对角线上的值 </a:t>
            </a:r>
            <a:r>
              <a:rPr lang="en-US" altLang="zh-CN"/>
              <a:t>σ1≥σ2≥...≥0</a:t>
            </a:r>
            <a:r>
              <a:rPr lang="zh-CN" altLang="en-US"/>
              <a:t> 称为奇异值。</a:t>
            </a:r>
            <a:endParaRPr lang="zh-CN" altLang="en-US"/>
          </a:p>
          <a:p>
            <a:pPr lvl="1">
              <a:buFont typeface="Wingdings" panose="05000000000000000000" charset="0"/>
              <a:buChar char="n"/>
            </a:pPr>
            <a:r>
              <a:rPr lang="zh-CN" altLang="en-US"/>
              <a:t>数值越大，说明这个维度保留原数据的信息越多、越重要。</a:t>
            </a:r>
            <a:endParaRPr lang="zh-CN" altLang="en-US"/>
          </a:p>
          <a:p>
            <a:pPr lvl="1">
              <a:buFont typeface="Wingdings" panose="05000000000000000000" charset="0"/>
              <a:buChar char="n"/>
            </a:pPr>
            <a:r>
              <a:rPr lang="zh-CN" altLang="en-US"/>
              <a:t>用贡献度来选择保留几个维度：</a:t>
            </a:r>
            <a:endParaRPr lang="zh-CN" altLang="en-US"/>
          </a:p>
          <a:p>
            <a:endParaRPr lang="en-US" altLang="zh-CN"/>
          </a:p>
          <a:p>
            <a:r>
              <a:rPr lang="en-US" altLang="zh-CN"/>
              <a:t>V</a:t>
            </a:r>
            <a:r>
              <a:rPr lang="en-US" altLang="zh-CN" baseline="30000"/>
              <a:t>T</a:t>
            </a:r>
            <a:r>
              <a:rPr lang="zh-CN" altLang="en-US"/>
              <a:t>  (右奇异向量矩阵的转置，</a:t>
            </a:r>
            <a:r>
              <a:rPr lang="en-US" altLang="zh-CN"/>
              <a:t>n×n)：</a:t>
            </a:r>
            <a:r>
              <a:rPr lang="en-US" altLang="zh-CN" b="1"/>
              <a:t>“</a:t>
            </a:r>
            <a:r>
              <a:rPr lang="zh-CN" altLang="en-US" b="1"/>
              <a:t>列特征”的抽象特征</a:t>
            </a:r>
            <a:endParaRPr lang="zh-CN" altLang="en-US" b="1"/>
          </a:p>
          <a:p>
            <a:pPr lvl="1">
              <a:buFont typeface="Wingdings" panose="05000000000000000000" charset="0"/>
              <a:buChar char="n"/>
            </a:pPr>
            <a:r>
              <a:rPr lang="zh-CN" altLang="en-US"/>
              <a:t>每一行对应原始数据的一个特征（如一个商品关键词、一张图片的像素位置）</a:t>
            </a:r>
            <a:endParaRPr lang="zh-CN" altLang="en-US"/>
          </a:p>
          <a:p>
            <a:pPr lvl="1">
              <a:buFont typeface="Wingdings" panose="05000000000000000000" charset="0"/>
              <a:buChar char="n"/>
            </a:pPr>
            <a:r>
              <a:rPr lang="en-US" altLang="zh-CN">
                <a:sym typeface="+mn-ea"/>
              </a:rPr>
              <a:t>V </a:t>
            </a:r>
            <a:r>
              <a:rPr lang="zh-CN" altLang="en-US">
                <a:sym typeface="+mn-ea"/>
              </a:rPr>
              <a:t>中的</a:t>
            </a:r>
            <a:r>
              <a:rPr lang="zh-CN" altLang="en-US"/>
              <a:t>每一列对应与</a:t>
            </a:r>
            <a:r>
              <a:rPr lang="en-US" altLang="zh-CN"/>
              <a:t>U </a:t>
            </a:r>
            <a:r>
              <a:rPr lang="zh-CN" altLang="en-US"/>
              <a:t>相同的“新维度”。</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6" name="标题 5"/>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奇异值分解</a:t>
            </a:r>
            <a:endParaRPr lang="zh-CN" altLang="en-US" spc="-100" dirty="0">
              <a:solidFill>
                <a:srgbClr val="D2533C"/>
              </a:solidFill>
              <a:latin typeface="Arial" panose="020B0604020202020204"/>
              <a:ea typeface="华文新魏" panose="02010800040101010101" pitchFamily="2" charset="-122"/>
            </a:endParaRPr>
          </a:p>
        </p:txBody>
      </p:sp>
      <p:pic>
        <p:nvPicPr>
          <p:cNvPr id="7" name="图片 6"/>
          <p:cNvPicPr>
            <a:picLocks noChangeAspect="1"/>
          </p:cNvPicPr>
          <p:nvPr/>
        </p:nvPicPr>
        <p:blipFill>
          <a:blip r:embed="rId1"/>
          <a:stretch>
            <a:fillRect/>
          </a:stretch>
        </p:blipFill>
        <p:spPr>
          <a:xfrm>
            <a:off x="2915920" y="4076700"/>
            <a:ext cx="2316480" cy="5924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17805" y="1001395"/>
            <a:ext cx="8641080" cy="4384040"/>
          </a:xfrm>
        </p:spPr>
        <p:txBody>
          <a:bodyPr/>
          <a:p>
            <a:pPr latinLnBrk="0">
              <a:spcBef>
                <a:spcPts val="900"/>
              </a:spcBef>
              <a:spcAft>
                <a:spcPts val="100"/>
              </a:spcAft>
            </a:pPr>
            <a:r>
              <a:rPr lang="en-US" altLang="zh-CN" sz="1800" b="1">
                <a:solidFill>
                  <a:srgbClr val="FF0000"/>
                </a:solidFill>
              </a:rPr>
              <a:t> </a:t>
            </a:r>
            <a:r>
              <a:rPr lang="zh-CN" altLang="en-US" sz="1800" b="1">
                <a:solidFill>
                  <a:srgbClr val="FF0000"/>
                </a:solidFill>
              </a:rPr>
              <a:t>注意：</a:t>
            </a:r>
            <a:endParaRPr lang="zh-CN" altLang="en-US" sz="1800" b="1">
              <a:solidFill>
                <a:srgbClr val="FF0000"/>
              </a:solidFill>
            </a:endParaRPr>
          </a:p>
          <a:p>
            <a:pPr latinLnBrk="0">
              <a:spcBef>
                <a:spcPts val="900"/>
              </a:spcBef>
              <a:spcAft>
                <a:spcPts val="100"/>
              </a:spcAft>
              <a:buFont typeface="Wingdings" panose="05000000000000000000" charset="0"/>
              <a:buChar char="n"/>
            </a:pPr>
            <a:r>
              <a:rPr lang="en-US" altLang="zh-CN" sz="1800"/>
              <a:t>SVD </a:t>
            </a:r>
            <a:r>
              <a:rPr lang="zh-CN" altLang="en-US" sz="1800"/>
              <a:t>对量纲和基准敏感，需要先对原始数据进行去中心化</a:t>
            </a:r>
            <a:endParaRPr lang="zh-CN" altLang="en-US" sz="1800"/>
          </a:p>
          <a:p>
            <a:pPr marL="0" indent="0" latinLnBrk="0">
              <a:spcBef>
                <a:spcPts val="900"/>
              </a:spcBef>
              <a:spcAft>
                <a:spcPts val="100"/>
              </a:spcAft>
              <a:buFont typeface="Wingdings" panose="05000000000000000000" charset="0"/>
              <a:buNone/>
            </a:pPr>
            <a:r>
              <a:rPr lang="zh-CN" altLang="en-US" sz="1800"/>
              <a:t>列中心化：计算每列的均值，每个元素减去对应列的均值，消除特征（列）之间的量纲/均值差异</a:t>
            </a:r>
            <a:endParaRPr lang="zh-CN" altLang="en-US" sz="1800"/>
          </a:p>
          <a:p>
            <a:pPr marL="0" indent="0" latinLnBrk="0">
              <a:spcBef>
                <a:spcPts val="900"/>
              </a:spcBef>
              <a:spcAft>
                <a:spcPts val="100"/>
              </a:spcAft>
              <a:buFont typeface="Wingdings" panose="05000000000000000000" charset="0"/>
              <a:buNone/>
            </a:pPr>
            <a:r>
              <a:rPr lang="zh-CN" altLang="en-US" sz="1800"/>
              <a:t>行中心化：计算每行的均值，每个元素减去对应行的均值，消除样本（行）之间的均值差异</a:t>
            </a:r>
            <a:endParaRPr lang="zh-CN" altLang="en-US" sz="1800"/>
          </a:p>
          <a:p>
            <a:pPr marL="0" indent="0" latinLnBrk="0">
              <a:spcBef>
                <a:spcPts val="900"/>
              </a:spcBef>
              <a:spcAft>
                <a:spcPts val="100"/>
              </a:spcAft>
              <a:buFont typeface="Wingdings" panose="05000000000000000000" charset="0"/>
              <a:buNone/>
            </a:pPr>
            <a:r>
              <a:rPr lang="zh-CN" altLang="en-US" sz="1800"/>
              <a:t>标准化：先列中心化，再除以列标准差（能够消除量纲影响）</a:t>
            </a:r>
            <a:endParaRPr lang="zh-CN" altLang="en-US" sz="1800"/>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5" name="标题 1"/>
          <p:cNvSpPr>
            <a:spLocks noGrp="1"/>
          </p:cNvSpPr>
          <p:nvPr/>
        </p:nvSpPr>
        <p:spPr>
          <a:xfrm>
            <a:off x="827405" y="286604"/>
            <a:ext cx="8321040" cy="892239"/>
          </a:xfrm>
          <a:prstGeom prst="rect">
            <a:avLst/>
          </a:prstGeom>
        </p:spPr>
        <p:txBody>
          <a:bodyPr vert="horz" lIns="91440" tIns="45720" rIns="91440" bIns="45720" rtlCol="0" anchor="b">
            <a:normAutofit/>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9p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奇异值分解</a:t>
            </a:r>
            <a:endParaRPr lang="zh-CN" altLang="en-US" spc="-100" dirty="0">
              <a:solidFill>
                <a:srgbClr val="D2533C"/>
              </a:solidFill>
              <a:latin typeface="Arial" panose="020B0604020202020204"/>
              <a:ea typeface="华文新魏" panose="02010800040101010101" pitchFamily="2" charset="-122"/>
            </a:endParaRPr>
          </a:p>
        </p:txBody>
      </p:sp>
      <p:sp>
        <p:nvSpPr>
          <p:cNvPr id="6" name="内容占位符 2"/>
          <p:cNvSpPr>
            <a:spLocks noGrp="1"/>
          </p:cNvSpPr>
          <p:nvPr/>
        </p:nvSpPr>
        <p:spPr>
          <a:xfrm>
            <a:off x="217805" y="3285490"/>
            <a:ext cx="8860790" cy="271208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charset="0"/>
              <a:buChar char="n"/>
            </a:pPr>
            <a:r>
              <a:rPr lang="en-US" altLang="zh-CN" sz="1600"/>
              <a:t>SVD</a:t>
            </a:r>
            <a:r>
              <a:rPr lang="zh-CN" altLang="en-US" sz="1600"/>
              <a:t>降维并不是直接删除原有特征，而是基于</a:t>
            </a:r>
            <a:r>
              <a:rPr lang="en-US" altLang="zh-CN" sz="1600">
                <a:sym typeface="+mn-ea"/>
              </a:rPr>
              <a:t>Σ</a:t>
            </a:r>
            <a:r>
              <a:rPr lang="zh-CN" altLang="en-US" sz="1600">
                <a:sym typeface="+mn-ea"/>
              </a:rPr>
              <a:t>，选择贡献度较高的维度，对原有特征进行线性求和。即：</a:t>
            </a:r>
            <a:endParaRPr lang="zh-CN" altLang="en-US" sz="1600">
              <a:sym typeface="+mn-ea"/>
            </a:endParaRPr>
          </a:p>
          <a:p>
            <a:pPr algn="ctr"/>
            <a:r>
              <a:rPr lang="en-US" altLang="zh-CN" sz="1600">
                <a:sym typeface="+mn-ea"/>
              </a:rPr>
              <a:t>  </a:t>
            </a:r>
            <a:r>
              <a:rPr lang="zh-CN" altLang="en-US" sz="1600">
                <a:sym typeface="+mn-ea"/>
              </a:rPr>
              <a:t>降维后数据（新坐标）=</a:t>
            </a:r>
            <a:r>
              <a:rPr lang="en-US" altLang="zh-CN" sz="1600">
                <a:sym typeface="+mn-ea"/>
              </a:rPr>
              <a:t>A⋅V</a:t>
            </a:r>
            <a:r>
              <a:rPr lang="en-US" altLang="zh-CN" sz="1600" baseline="-25000">
                <a:sym typeface="+mn-ea"/>
              </a:rPr>
              <a:t>k </a:t>
            </a:r>
            <a:endParaRPr lang="en-US" altLang="zh-CN" sz="1600" baseline="-25000">
              <a:sym typeface="+mn-ea"/>
            </a:endParaRPr>
          </a:p>
          <a:p>
            <a:pPr algn="ctr"/>
            <a:r>
              <a:rPr lang="zh-CN" altLang="en-US" sz="1200">
                <a:sym typeface="+mn-ea"/>
              </a:rPr>
              <a:t>（</a:t>
            </a:r>
            <a:r>
              <a:rPr lang="en-US" altLang="zh-CN" sz="1200">
                <a:sym typeface="+mn-ea"/>
              </a:rPr>
              <a:t>V</a:t>
            </a:r>
            <a:r>
              <a:rPr lang="en-US" altLang="zh-CN" sz="1200" baseline="-25000">
                <a:sym typeface="+mn-ea"/>
              </a:rPr>
              <a:t>k</a:t>
            </a:r>
            <a:r>
              <a:rPr lang="zh-CN" altLang="en-US" sz="1200">
                <a:sym typeface="+mn-ea"/>
              </a:rPr>
              <a:t>是</a:t>
            </a:r>
            <a:r>
              <a:rPr lang="en-US" altLang="zh-CN" sz="1200">
                <a:sym typeface="+mn-ea"/>
              </a:rPr>
              <a:t>n×k</a:t>
            </a:r>
            <a:r>
              <a:rPr lang="zh-CN" altLang="en-US" sz="1200">
                <a:sym typeface="+mn-ea"/>
              </a:rPr>
              <a:t>矩阵，</a:t>
            </a:r>
            <a:r>
              <a:rPr lang="en-US" altLang="zh-CN" sz="1200">
                <a:sym typeface="+mn-ea"/>
              </a:rPr>
              <a:t>n </a:t>
            </a:r>
            <a:r>
              <a:rPr lang="zh-CN" altLang="en-US" sz="1200">
                <a:sym typeface="+mn-ea"/>
              </a:rPr>
              <a:t>是原始特征数，</a:t>
            </a:r>
            <a:r>
              <a:rPr lang="en-US" altLang="zh-CN" sz="1200">
                <a:sym typeface="+mn-ea"/>
              </a:rPr>
              <a:t>k </a:t>
            </a:r>
            <a:r>
              <a:rPr lang="zh-CN" altLang="en-US" sz="1200">
                <a:sym typeface="+mn-ea"/>
              </a:rPr>
              <a:t>是降维后的维数）</a:t>
            </a:r>
            <a:endParaRPr lang="zh-CN" altLang="en-US" sz="1200">
              <a:sym typeface="+mn-ea"/>
            </a:endParaRPr>
          </a:p>
          <a:p>
            <a:pPr algn="just">
              <a:buFont typeface="Wingdings" panose="05000000000000000000" charset="0"/>
              <a:buChar char="n"/>
            </a:pPr>
            <a:r>
              <a:rPr lang="en-US" altLang="zh-CN" sz="1600">
                <a:sym typeface="+mn-ea"/>
              </a:rPr>
              <a:t>SVD </a:t>
            </a:r>
            <a:r>
              <a:rPr lang="zh-CN" altLang="en-US" sz="1600">
                <a:sym typeface="+mn-ea"/>
              </a:rPr>
              <a:t>降维的本质是：找到一组新的坐标轴（</a:t>
            </a:r>
            <a:r>
              <a:rPr lang="en-US" altLang="zh-CN" sz="1600">
                <a:sym typeface="+mn-ea"/>
              </a:rPr>
              <a:t>V </a:t>
            </a:r>
            <a:r>
              <a:rPr lang="zh-CN" altLang="en-US" sz="1600">
                <a:sym typeface="+mn-ea"/>
              </a:rPr>
              <a:t>的列），按重要性排序，然后只保留前</a:t>
            </a:r>
            <a:r>
              <a:rPr lang="en-US" altLang="zh-CN" sz="1600">
                <a:sym typeface="+mn-ea"/>
              </a:rPr>
              <a:t>k </a:t>
            </a:r>
            <a:r>
              <a:rPr lang="zh-CN" altLang="en-US" sz="1600">
                <a:sym typeface="+mn-ea"/>
              </a:rPr>
              <a:t>个坐标，每个新坐标都是所有原始特征的线性组合。</a:t>
            </a:r>
            <a:endParaRPr lang="zh-CN" altLang="en-US" sz="1600">
              <a:sym typeface="+mn-ea"/>
            </a:endParaRPr>
          </a:p>
          <a:p>
            <a:pPr marL="0" indent="0" algn="ctr">
              <a:buNone/>
            </a:pPr>
            <a:r>
              <a:rPr lang="zh-CN" altLang="en-US" sz="1600">
                <a:sym typeface="+mn-ea"/>
              </a:rPr>
              <a:t> 降维后的近似矩阵（用新坐标将原有矩阵进行输出）：</a:t>
            </a:r>
            <a:endParaRPr lang="zh-CN" altLang="en-US" sz="1600">
              <a:sym typeface="+mn-ea"/>
            </a:endParaRPr>
          </a:p>
          <a:p>
            <a:pPr marL="0" indent="0" algn="just">
              <a:buNone/>
            </a:pPr>
            <a:endParaRPr lang="zh-CN" altLang="en-US" sz="1600">
              <a:sym typeface="+mn-ea"/>
            </a:endParaRPr>
          </a:p>
          <a:p>
            <a:pPr marL="0" indent="0" algn="just">
              <a:buNone/>
            </a:pPr>
            <a:r>
              <a:rPr lang="en-US" altLang="zh-CN" sz="1400">
                <a:sym typeface="+mn-ea"/>
              </a:rPr>
              <a:t>                                                                            </a:t>
            </a:r>
            <a:r>
              <a:rPr lang="zh-CN" altLang="en-US" sz="1400">
                <a:sym typeface="+mn-ea"/>
              </a:rPr>
              <a:t>（</a:t>
            </a:r>
            <a:r>
              <a:rPr lang="en-US" altLang="zh-CN" sz="1400">
                <a:sym typeface="+mn-ea"/>
              </a:rPr>
              <a:t>U</a:t>
            </a:r>
            <a:r>
              <a:rPr lang="en-US" altLang="zh-CN" sz="1400" baseline="-25000">
                <a:sym typeface="+mn-ea"/>
              </a:rPr>
              <a:t>k</a:t>
            </a:r>
            <a:r>
              <a:rPr lang="zh-CN" altLang="en-US" sz="1400">
                <a:sym typeface="+mn-ea"/>
              </a:rPr>
              <a:t> 是左奇异向量矩阵</a:t>
            </a:r>
            <a:r>
              <a:rPr lang="en-US" altLang="zh-CN" sz="1400">
                <a:sym typeface="+mn-ea"/>
              </a:rPr>
              <a:t>U</a:t>
            </a:r>
            <a:r>
              <a:rPr lang="zh-CN" altLang="en-US" sz="1400">
                <a:sym typeface="+mn-ea"/>
              </a:rPr>
              <a:t>的前</a:t>
            </a:r>
            <a:r>
              <a:rPr lang="en-US" altLang="zh-CN" sz="1400">
                <a:sym typeface="+mn-ea"/>
              </a:rPr>
              <a:t>k</a:t>
            </a:r>
            <a:r>
              <a:rPr lang="zh-CN" altLang="en-US" sz="1400">
                <a:sym typeface="+mn-ea"/>
              </a:rPr>
              <a:t>列）</a:t>
            </a:r>
            <a:endParaRPr lang="zh-CN" altLang="en-US" sz="1400">
              <a:sym typeface="+mn-ea"/>
            </a:endParaRPr>
          </a:p>
          <a:p>
            <a:r>
              <a:rPr lang="en-US" altLang="zh-CN" sz="1600">
                <a:sym typeface="+mn-ea"/>
              </a:rPr>
              <a:t>​</a:t>
            </a:r>
            <a:endParaRPr lang="en-US" altLang="zh-CN" sz="1600">
              <a:sym typeface="+mn-ea"/>
            </a:endParaRPr>
          </a:p>
          <a:p>
            <a:endParaRPr lang="en-US" altLang="zh-CN" sz="1600">
              <a:sym typeface="+mn-ea"/>
            </a:endParaRPr>
          </a:p>
        </p:txBody>
      </p:sp>
      <p:pic>
        <p:nvPicPr>
          <p:cNvPr id="7" name="图片 6"/>
          <p:cNvPicPr>
            <a:picLocks noChangeAspect="1"/>
          </p:cNvPicPr>
          <p:nvPr/>
        </p:nvPicPr>
        <p:blipFill>
          <a:blip r:embed="rId1"/>
          <a:stretch>
            <a:fillRect/>
          </a:stretch>
        </p:blipFill>
        <p:spPr>
          <a:xfrm>
            <a:off x="3060065" y="5581650"/>
            <a:ext cx="3284855" cy="5022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奇异值分解</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a:xfrm>
            <a:off x="7424738" y="6525903"/>
            <a:ext cx="918922" cy="298760"/>
          </a:xfrm>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830064" y="1178843"/>
            <a:ext cx="5758160" cy="515342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奇异值分解</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a:xfrm>
            <a:off x="7424738" y="6525903"/>
            <a:ext cx="918922" cy="298760"/>
          </a:xfrm>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971600" y="1178843"/>
            <a:ext cx="5363538" cy="515342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a:t>第 1 维贡献度：</a:t>
            </a:r>
            <a:r>
              <a:rPr lang="en-US" altLang="zh-CN"/>
              <a:t>3/4=75%</a:t>
            </a:r>
            <a:endParaRPr lang="en-US" altLang="zh-CN"/>
          </a:p>
          <a:p>
            <a:r>
              <a:rPr lang="zh-CN" altLang="en-US"/>
              <a:t>第</a:t>
            </a:r>
            <a:r>
              <a:rPr lang="en-US" altLang="zh-CN"/>
              <a:t>2</a:t>
            </a:r>
            <a:r>
              <a:rPr lang="zh-CN" altLang="en-US"/>
              <a:t>维度贡献度：</a:t>
            </a:r>
            <a:r>
              <a:rPr lang="en-US" altLang="zh-CN"/>
              <a:t>1/4=25%</a:t>
            </a:r>
            <a:endParaRPr lang="en-US" altLang="zh-CN"/>
          </a:p>
          <a:p>
            <a:pPr>
              <a:buFont typeface="Wingdings" panose="05000000000000000000" charset="0"/>
              <a:buChar char="n"/>
            </a:pPr>
            <a:r>
              <a:rPr lang="zh-CN" altLang="en-US"/>
              <a:t>如果要求累计贡献度 ≥ 90%：需要</a:t>
            </a:r>
            <a:r>
              <a:rPr lang="en-US" altLang="zh-CN"/>
              <a:t>k=2（</a:t>
            </a:r>
            <a:r>
              <a:rPr lang="zh-CN" altLang="en-US"/>
              <a:t>因为 75% &lt; 90%）</a:t>
            </a:r>
            <a:endParaRPr lang="zh-CN" altLang="en-US"/>
          </a:p>
          <a:p>
            <a:pPr>
              <a:buFont typeface="Wingdings" panose="05000000000000000000" charset="0"/>
              <a:buChar char="n"/>
            </a:pPr>
            <a:r>
              <a:rPr lang="zh-CN" altLang="en-US"/>
              <a:t>如果只要求 ≥ 70%：可以用 </a:t>
            </a:r>
            <a:r>
              <a:rPr lang="en-US" altLang="zh-CN"/>
              <a:t>k=1</a:t>
            </a:r>
            <a:endParaRPr lang="en-US" altLang="zh-CN"/>
          </a:p>
          <a:p>
            <a:pPr>
              <a:buFont typeface="Wingdings" panose="05000000000000000000" charset="0"/>
              <a:buChar char="n"/>
            </a:pPr>
            <a:r>
              <a:rPr lang="zh-CN" altLang="en-US"/>
              <a:t>为了解释降维效果，我们取</a:t>
            </a:r>
            <a:r>
              <a:rPr lang="en-US" altLang="zh-CN"/>
              <a:t>k=1（</a:t>
            </a:r>
            <a:r>
              <a:rPr lang="zh-CN" altLang="en-US"/>
              <a:t>压缩到 1 维，损失 25% 信息）</a:t>
            </a:r>
            <a:endParaRPr lang="zh-CN" altLang="en-US"/>
          </a:p>
          <a:p>
            <a:pPr>
              <a:buFont typeface="Wingdings" panose="05000000000000000000" charset="0"/>
              <a:buChar char="n"/>
            </a:pPr>
            <a:endParaRPr lang="zh-CN" altLang="en-US"/>
          </a:p>
          <a:p>
            <a:pPr>
              <a:buFont typeface="Wingdings" panose="05000000000000000000" charset="0"/>
              <a:buChar char="n"/>
            </a:pPr>
            <a:endParaRPr lang="zh-CN" altLang="en-US"/>
          </a:p>
          <a:p>
            <a:pPr>
              <a:buFont typeface="Wingdings" panose="05000000000000000000" charset="0"/>
              <a:buChar char="n"/>
            </a:pPr>
            <a:r>
              <a:rPr lang="zh-CN" altLang="en-US"/>
              <a:t>降维后的近似矩阵：</a:t>
            </a:r>
            <a:endParaRPr lang="zh-CN" altLang="en-US"/>
          </a:p>
          <a:p>
            <a:pPr marL="0" indent="0">
              <a:buFont typeface="Wingdings" panose="05000000000000000000" charset="0"/>
              <a:buNone/>
            </a:pPr>
            <a:endParaRPr lang="zh-CN" altLang="en-US"/>
          </a:p>
          <a:p>
            <a:pPr marL="0" indent="0">
              <a:buFont typeface="Wingdings" panose="05000000000000000000" charset="0"/>
              <a:buNone/>
            </a:pP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5" name="标题 1"/>
          <p:cNvSpPr>
            <a:spLocks noGrp="1"/>
          </p:cNvSpPr>
          <p:nvPr/>
        </p:nvSpPr>
        <p:spPr>
          <a:xfrm>
            <a:off x="683260" y="260569"/>
            <a:ext cx="8321040" cy="892239"/>
          </a:xfrm>
          <a:prstGeom prst="rect">
            <a:avLst/>
          </a:prstGeom>
        </p:spPr>
        <p:txBody>
          <a:bodyPr vert="horz" lIns="91440" tIns="45720" rIns="91440" bIns="45720" rtlCol="0" anchor="b">
            <a:normAutofit/>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9p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奇异值分解</a:t>
            </a:r>
            <a:endParaRPr lang="zh-CN" altLang="en-US" spc="-100" dirty="0">
              <a:solidFill>
                <a:srgbClr val="D2533C"/>
              </a:solidFill>
              <a:latin typeface="Arial" panose="020B0604020202020204"/>
              <a:ea typeface="华文新魏" panose="02010800040101010101" pitchFamily="2" charset="-122"/>
            </a:endParaRPr>
          </a:p>
        </p:txBody>
      </p:sp>
      <p:pic>
        <p:nvPicPr>
          <p:cNvPr id="6" name="图片 5"/>
          <p:cNvPicPr>
            <a:picLocks noChangeAspect="1"/>
          </p:cNvPicPr>
          <p:nvPr/>
        </p:nvPicPr>
        <p:blipFill>
          <a:blip r:embed="rId1"/>
          <a:stretch>
            <a:fillRect/>
          </a:stretch>
        </p:blipFill>
        <p:spPr>
          <a:xfrm>
            <a:off x="1691640" y="3933190"/>
            <a:ext cx="5191125" cy="723900"/>
          </a:xfrm>
          <a:prstGeom prst="rect">
            <a:avLst/>
          </a:prstGeom>
        </p:spPr>
      </p:pic>
      <p:pic>
        <p:nvPicPr>
          <p:cNvPr id="7" name="图片 6"/>
          <p:cNvPicPr>
            <a:picLocks noChangeAspect="1"/>
          </p:cNvPicPr>
          <p:nvPr/>
        </p:nvPicPr>
        <p:blipFill>
          <a:blip r:embed="rId2"/>
          <a:stretch>
            <a:fillRect/>
          </a:stretch>
        </p:blipFill>
        <p:spPr>
          <a:xfrm>
            <a:off x="2515870" y="5013325"/>
            <a:ext cx="3543300" cy="12382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a:solidFill>
                  <a:srgbClr val="D2533C"/>
                </a:solidFill>
                <a:latin typeface="Arial" panose="020B0604020202020204"/>
                <a:ea typeface="华文新魏" panose="02010800040101010101" pitchFamily="2" charset="-122"/>
              </a:rPr>
              <a:t>SVD</a:t>
            </a:r>
            <a:r>
              <a:rPr lang="zh-CN" altLang="en-US" spc="-100" dirty="0">
                <a:solidFill>
                  <a:srgbClr val="D2533C"/>
                </a:solidFill>
                <a:latin typeface="Arial" panose="020B0604020202020204"/>
                <a:ea typeface="华文新魏" panose="02010800040101010101" pitchFamily="2" charset="-122"/>
              </a:rPr>
              <a:t>案例</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a:xfrm>
            <a:off x="7424738" y="6525903"/>
            <a:ext cx="918922" cy="298760"/>
          </a:xfrm>
        </p:spPr>
        <p:txBody>
          <a:bodyPr/>
          <a:lstStyle/>
          <a:p>
            <a:pPr>
              <a:defRPr/>
            </a:pPr>
            <a:fld id="{F6DA434B-3FE0-453D-8E32-922B8A93A0FC}" type="slidenum">
              <a:rPr lang="en-US" altLang="zh-CN" smtClean="0"/>
            </a:fld>
            <a:endParaRPr lang="en-US" altLang="zh-CN"/>
          </a:p>
        </p:txBody>
      </p:sp>
      <p:sp>
        <p:nvSpPr>
          <p:cNvPr id="3" name="灯片编号占位符 3"/>
          <p:cNvSpPr txBox="1"/>
          <p:nvPr/>
        </p:nvSpPr>
        <p:spPr>
          <a:xfrm>
            <a:off x="7107976" y="5931345"/>
            <a:ext cx="984250" cy="365125"/>
          </a:xfrm>
          <a:prstGeom prst="rect">
            <a:avLst/>
          </a:prstGeom>
        </p:spPr>
        <p:txBody>
          <a:bodyPr vert="horz" lIns="91440" tIns="45720" rIns="91440" bIns="45720" rtlCol="0" anchor="ctr"/>
          <a:lstStyle>
            <a:defPPr>
              <a:defRPr lang="zh-CN"/>
            </a:defPPr>
            <a:lvl1pPr algn="r" rtl="0" eaLnBrk="0" fontAlgn="base" hangingPunct="0">
              <a:spcBef>
                <a:spcPct val="0"/>
              </a:spcBef>
              <a:spcAft>
                <a:spcPct val="0"/>
              </a:spcAft>
              <a:defRPr kumimoji="1" sz="1050" kern="1200">
                <a:solidFill>
                  <a:srgbClr val="FFFFFF"/>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a:lstStyle>
          <a:p>
            <a:pPr>
              <a:defRPr/>
            </a:pPr>
            <a:fld id="{F6DA434B-3FE0-453D-8E32-922B8A93A0FC}" type="slidenum">
              <a:rPr lang="en-US" altLang="zh-CN" sz="1600" smtClean="0"/>
            </a:fld>
            <a:endParaRPr lang="en-US" altLang="zh-CN" sz="1600"/>
          </a:p>
        </p:txBody>
      </p:sp>
      <p:pic>
        <p:nvPicPr>
          <p:cNvPr id="5" name="Picture"/>
          <p:cNvPicPr/>
          <p:nvPr/>
        </p:nvPicPr>
        <p:blipFill>
          <a:blip r:embed="rId1"/>
          <a:stretch>
            <a:fillRect/>
          </a:stretch>
        </p:blipFill>
        <p:spPr bwMode="auto">
          <a:xfrm>
            <a:off x="76117" y="1177498"/>
            <a:ext cx="4495883" cy="2518384"/>
          </a:xfrm>
          <a:prstGeom prst="rect">
            <a:avLst/>
          </a:prstGeom>
          <a:noFill/>
          <a:ln w="9525">
            <a:noFill/>
          </a:ln>
        </p:spPr>
      </p:pic>
      <p:pic>
        <p:nvPicPr>
          <p:cNvPr id="7" name="Picture"/>
          <p:cNvPicPr/>
          <p:nvPr/>
        </p:nvPicPr>
        <p:blipFill>
          <a:blip r:embed="rId1"/>
          <a:stretch>
            <a:fillRect/>
          </a:stretch>
        </p:blipFill>
        <p:spPr bwMode="auto">
          <a:xfrm>
            <a:off x="4398516" y="1143675"/>
            <a:ext cx="4495883" cy="2518384"/>
          </a:xfrm>
          <a:prstGeom prst="rect">
            <a:avLst/>
          </a:prstGeom>
          <a:noFill/>
          <a:ln w="9525">
            <a:noFill/>
          </a:ln>
        </p:spPr>
      </p:pic>
      <p:sp>
        <p:nvSpPr>
          <p:cNvPr id="8" name="文本框 7"/>
          <p:cNvSpPr txBox="1"/>
          <p:nvPr/>
        </p:nvSpPr>
        <p:spPr>
          <a:xfrm>
            <a:off x="1671791" y="3617685"/>
            <a:ext cx="1523573" cy="400110"/>
          </a:xfrm>
          <a:prstGeom prst="rect">
            <a:avLst/>
          </a:prstGeom>
          <a:noFill/>
        </p:spPr>
        <p:txBody>
          <a:bodyPr wrap="square">
            <a:spAutoFit/>
          </a:bodyPr>
          <a:lstStyle/>
          <a:p>
            <a:r>
              <a:rPr lang="zh-CN" altLang="zh-CN" sz="2000" dirty="0">
                <a:effectLst/>
                <a:latin typeface="微软雅黑" panose="020B0503020204020204" pitchFamily="34" charset="-122"/>
                <a:cs typeface="Times New Roman" panose="02020603050405020304" pitchFamily="18" charset="0"/>
              </a:rPr>
              <a:t>原始图像</a:t>
            </a:r>
            <a:endParaRPr lang="zh-CN" altLang="en-US" sz="2000" dirty="0">
              <a:latin typeface="微软雅黑" panose="020B0503020204020204" pitchFamily="34" charset="-122"/>
            </a:endParaRPr>
          </a:p>
        </p:txBody>
      </p:sp>
      <p:sp>
        <p:nvSpPr>
          <p:cNvPr id="9" name="文本框 8"/>
          <p:cNvSpPr txBox="1"/>
          <p:nvPr/>
        </p:nvSpPr>
        <p:spPr>
          <a:xfrm>
            <a:off x="5775936" y="3605201"/>
            <a:ext cx="1741042" cy="400110"/>
          </a:xfrm>
          <a:prstGeom prst="rect">
            <a:avLst/>
          </a:prstGeom>
          <a:noFill/>
        </p:spPr>
        <p:txBody>
          <a:bodyPr wrap="square">
            <a:spAutoFit/>
          </a:bodyPr>
          <a:lstStyle/>
          <a:p>
            <a:r>
              <a:rPr lang="zh-CN" altLang="en-US" sz="2000" dirty="0">
                <a:effectLst/>
                <a:latin typeface="微软雅黑" panose="020B0503020204020204" pitchFamily="34" charset="-122"/>
                <a:cs typeface="Times New Roman" panose="02020603050405020304" pitchFamily="18" charset="0"/>
              </a:rPr>
              <a:t>处理后的</a:t>
            </a:r>
            <a:r>
              <a:rPr lang="zh-CN" altLang="zh-CN" sz="2000" dirty="0">
                <a:effectLst/>
                <a:latin typeface="微软雅黑" panose="020B0503020204020204" pitchFamily="34" charset="-122"/>
                <a:cs typeface="Times New Roman" panose="02020603050405020304" pitchFamily="18" charset="0"/>
              </a:rPr>
              <a:t>图像</a:t>
            </a:r>
            <a:endParaRPr lang="zh-CN" altLang="en-US" sz="2000" dirty="0">
              <a:latin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文本框 9"/>
              <p:cNvSpPr txBox="1"/>
              <p:nvPr/>
            </p:nvSpPr>
            <p:spPr>
              <a:xfrm>
                <a:off x="3798630" y="4221776"/>
                <a:ext cx="4545030" cy="369332"/>
              </a:xfrm>
              <a:prstGeom prst="rect">
                <a:avLst/>
              </a:prstGeom>
              <a:noFill/>
            </p:spPr>
            <p:txBody>
              <a:bodyPr wrap="square">
                <a:spAutoFit/>
              </a:bodyPr>
              <a:lstStyle/>
              <a:p>
                <a:pPr>
                  <a:spcBef>
                    <a:spcPts val="900"/>
                  </a:spcBef>
                  <a:spcAft>
                    <a:spcPts val="900"/>
                  </a:spcAft>
                </a:pPr>
                <a:r>
                  <a:rPr lang="zh-CN" altLang="zh-CN" sz="1800" dirty="0">
                    <a:effectLst/>
                    <a:latin typeface="微软雅黑" panose="020B0503020204020204" pitchFamily="34" charset="-122"/>
                    <a:cs typeface="Times New Roman" panose="02020603050405020304" pitchFamily="18" charset="0"/>
                  </a:rPr>
                  <a:t>原始维度</a:t>
                </a:r>
                <a14:m>
                  <m:oMath xmlns:m="http://schemas.openxmlformats.org/officeDocument/2006/math">
                    <m:r>
                      <a:rPr lang="en-US" altLang="zh-CN" sz="1800" i="1">
                        <a:effectLst/>
                        <a:latin typeface="Cambria Math" panose="02040503050406030204" pitchFamily="18" charset="0"/>
                        <a:cs typeface="Times New Roman" panose="02020603050405020304" pitchFamily="18" charset="0"/>
                      </a:rPr>
                      <m:t>𝐴</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575</m:t>
                    </m:r>
                    <m:r>
                      <a:rPr lang="en-US" altLang="zh-CN" sz="1800">
                        <a:effectLst/>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1081</m:t>
                    </m:r>
                    <m:r>
                      <a:rPr lang="en-US" altLang="zh-CN" sz="1800">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3</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1864725</m:t>
                    </m:r>
                  </m:oMath>
                </a14:m>
                <a:endParaRPr lang="zh-CN" altLang="zh-CN" sz="1800" dirty="0">
                  <a:effectLst/>
                  <a:latin typeface="微软雅黑" panose="020B0503020204020204" pitchFamily="34" charset="-122"/>
                  <a:cs typeface="Times New Roman" panose="02020603050405020304" pitchFamily="18"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3798630" y="4221776"/>
                <a:ext cx="4545030" cy="369332"/>
              </a:xfrm>
              <a:prstGeom prst="rect">
                <a:avLst/>
              </a:prstGeom>
              <a:blipFill rotWithShape="1">
                <a:blip r:embed="rId2"/>
                <a:stretch>
                  <a:fillRect l="-1" t="-80" r="9"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246584" y="4690437"/>
                <a:ext cx="5388715" cy="369332"/>
              </a:xfrm>
              <a:prstGeom prst="rect">
                <a:avLst/>
              </a:prstGeom>
              <a:noFill/>
            </p:spPr>
            <p:txBody>
              <a:bodyPr wrap="square">
                <a:spAutoFit/>
              </a:bodyPr>
              <a:lstStyle/>
              <a:p>
                <a:pPr>
                  <a:spcBef>
                    <a:spcPts val="900"/>
                  </a:spcBef>
                  <a:spcAft>
                    <a:spcPts val="900"/>
                  </a:spcAft>
                </a:pPr>
                <a:r>
                  <a:rPr lang="zh-CN" altLang="zh-CN" sz="1800" dirty="0">
                    <a:effectLst/>
                    <a:latin typeface="微软雅黑" panose="020B0503020204020204" pitchFamily="34" charset="-122"/>
                    <a:cs typeface="Times New Roman" panose="02020603050405020304" pitchFamily="18" charset="0"/>
                  </a:rPr>
                  <a:t>设</a:t>
                </a:r>
                <a14:m>
                  <m:oMath xmlns:m="http://schemas.openxmlformats.org/officeDocument/2006/math">
                    <m:r>
                      <a:rPr lang="en-US" altLang="zh-CN" sz="1800" i="1">
                        <a:effectLst/>
                        <a:latin typeface="Cambria Math" panose="02040503050406030204" pitchFamily="18" charset="0"/>
                        <a:cs typeface="Times New Roman" panose="02020603050405020304" pitchFamily="18" charset="0"/>
                      </a:rPr>
                      <m:t>𝑘</m:t>
                    </m:r>
                    <m:r>
                      <a:rPr lang="en-US" altLang="zh-CN" sz="1800" i="1">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150</m:t>
                    </m:r>
                    <m:r>
                      <a:rPr lang="zh-CN" altLang="en-US" sz="1800" i="1">
                        <a:latin typeface="Cambria Math" panose="02040503050406030204" pitchFamily="18" charset="0"/>
                        <a:cs typeface="Times New Roman" panose="02020603050405020304" pitchFamily="18" charset="0"/>
                      </a:rPr>
                      <m:t>，</m:t>
                    </m:r>
                  </m:oMath>
                </a14:m>
                <a:r>
                  <a:rPr lang="zh-CN" altLang="en-US" sz="1800" dirty="0">
                    <a:effectLst/>
                    <a:latin typeface="微软雅黑" panose="020B0503020204020204" pitchFamily="34" charset="-122"/>
                    <a:cs typeface="Times New Roman" panose="02020603050405020304" pitchFamily="18" charset="0"/>
                  </a:rPr>
                  <a:t>则</a:t>
                </a:r>
                <a:r>
                  <a:rPr lang="zh-CN" altLang="zh-CN" sz="1800" dirty="0">
                    <a:latin typeface="微软雅黑" panose="020B0503020204020204" pitchFamily="34" charset="-122"/>
                    <a:cs typeface="Times New Roman" panose="02020603050405020304" pitchFamily="18" charset="0"/>
                  </a:rPr>
                  <a:t>经过</a:t>
                </a:r>
                <a:r>
                  <a:rPr lang="en-US" altLang="zh-CN" sz="1800" dirty="0">
                    <a:latin typeface="微软雅黑" panose="020B0503020204020204" pitchFamily="34" charset="-122"/>
                    <a:cs typeface="Times New Roman" panose="02020603050405020304" pitchFamily="18" charset="0"/>
                  </a:rPr>
                  <a:t>SVD</a:t>
                </a:r>
                <a:r>
                  <a:rPr lang="zh-CN" altLang="zh-CN" sz="1800" dirty="0">
                    <a:latin typeface="微软雅黑" panose="020B0503020204020204" pitchFamily="34" charset="-122"/>
                    <a:cs typeface="Times New Roman" panose="02020603050405020304" pitchFamily="18" charset="0"/>
                  </a:rPr>
                  <a:t>分解后的矩阵及维度：</a:t>
                </a:r>
                <a:r>
                  <a:rPr lang="en-US" altLang="zh-CN" sz="1800" dirty="0">
                    <a:effectLst/>
                    <a:latin typeface="Cambria" panose="02040503050406030204" pitchFamily="18" charset="0"/>
                    <a:cs typeface="Times New Roman" panose="02020603050405020304" pitchFamily="18" charset="0"/>
                  </a:rPr>
                  <a:t> </a:t>
                </a:r>
                <a:endParaRPr lang="zh-CN" altLang="zh-CN" sz="1800" dirty="0">
                  <a:effectLst/>
                  <a:latin typeface="Cambria" panose="02040503050406030204" pitchFamily="18" charset="0"/>
                  <a:cs typeface="Times New Roman" panose="020206030504050203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246584" y="4690437"/>
                <a:ext cx="5388715" cy="369332"/>
              </a:xfrm>
              <a:prstGeom prst="rect">
                <a:avLst/>
              </a:prstGeom>
              <a:blipFill rotWithShape="1">
                <a:blip r:embed="rId3"/>
                <a:stretch>
                  <a:fillRect l="-4" t="-89" r="6"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752671" y="5129650"/>
                <a:ext cx="6593941" cy="400050"/>
              </a:xfrm>
              <a:prstGeom prst="rect">
                <a:avLst/>
              </a:prstGeom>
              <a:noFill/>
            </p:spPr>
            <p:txBody>
              <a:bodyPr wrap="square">
                <a:spAutoFit/>
              </a:bodyPr>
              <a:lstStyle/>
              <a:p>
                <a:pPr>
                  <a:spcBef>
                    <a:spcPts val="900"/>
                  </a:spcBef>
                  <a:spcAft>
                    <a:spcPts val="900"/>
                  </a:spcAft>
                </a:pPr>
                <a14:m>
                  <m:oMath xmlns:m="http://schemas.openxmlformats.org/officeDocument/2006/math">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cs typeface="Times New Roman" panose="02020603050405020304" pitchFamily="18" charset="0"/>
                          </a:rPr>
                          <m:t>𝑈</m:t>
                        </m:r>
                      </m:e>
                      <m:sub>
                        <m:r>
                          <a:rPr lang="en-US" altLang="zh-CN" sz="1800" i="1">
                            <a:effectLst/>
                            <a:latin typeface="Cambria Math" panose="02040503050406030204" pitchFamily="18" charset="0"/>
                            <a:cs typeface="Times New Roman" panose="02020603050405020304" pitchFamily="18" charset="0"/>
                          </a:rPr>
                          <m:t>𝑚</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𝑘</m:t>
                        </m:r>
                      </m:sub>
                    </m:sSub>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575</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150</m:t>
                    </m:r>
                  </m:oMath>
                </a14:m>
                <a:r>
                  <a:rPr lang="zh-CN" altLang="en-US" sz="1800" dirty="0">
                    <a:effectLst/>
                    <a:latin typeface="微软雅黑" panose="020B0503020204020204" pitchFamily="34" charset="-122"/>
                    <a:cs typeface="Times New Roman" panose="02020603050405020304" pitchFamily="18" charset="0"/>
                  </a:rPr>
                  <a:t>，</a:t>
                </a:r>
                <a14:m>
                  <m:oMath xmlns:m="http://schemas.openxmlformats.org/officeDocument/2006/math">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cs typeface="Times New Roman" panose="02020603050405020304" pitchFamily="18" charset="0"/>
                          </a:rPr>
                          <m:t>​</m:t>
                        </m:r>
                      </m:sub>
                      <m:sup>
                        <m:r>
                          <a:rPr lang="en-US" altLang="zh-CN" sz="1800" i="1">
                            <a:effectLst/>
                            <a:latin typeface="Cambria Math" panose="02040503050406030204" pitchFamily="18" charset="0"/>
                            <a:cs typeface="Times New Roman" panose="02020603050405020304" pitchFamily="18" charset="0"/>
                          </a:rPr>
                          <m:t>​</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cs typeface="Times New Roman" panose="02020603050405020304" pitchFamily="18" charset="0"/>
                              </a:rPr>
                              <m:t>​</m:t>
                            </m:r>
                          </m:e>
                          <m:sub>
                            <m:r>
                              <a:rPr lang="en-US" altLang="zh-CN" sz="1800" i="1">
                                <a:effectLst/>
                                <a:latin typeface="Cambria Math" panose="02040503050406030204" pitchFamily="18" charset="0"/>
                                <a:cs typeface="Times New Roman" panose="02020603050405020304" pitchFamily="18" charset="0"/>
                              </a:rPr>
                              <m:t>𝑘</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𝑘</m:t>
                            </m:r>
                          </m:sub>
                        </m:sSub>
                      </m:e>
                    </m:nary>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150</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150</m:t>
                    </m:r>
                  </m:oMath>
                </a14:m>
                <a:r>
                  <a:rPr lang="zh-CN" altLang="en-US" sz="1800" dirty="0">
                    <a:effectLst/>
                    <a:latin typeface="微软雅黑" panose="020B0503020204020204" pitchFamily="34" charset="-122"/>
                    <a:cs typeface="Times New Roman" panose="02020603050405020304" pitchFamily="18" charset="0"/>
                  </a:rPr>
                  <a:t>，</a:t>
                </a:r>
                <a14:m>
                  <m:oMath xmlns:m="http://schemas.openxmlformats.org/officeDocument/2006/math">
                    <m:sSubSup>
                      <m:sSub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a:effectLst/>
                            <a:latin typeface="Cambria Math" panose="02040503050406030204" pitchFamily="18" charset="0"/>
                            <a:cs typeface="Times New Roman" panose="02020603050405020304" pitchFamily="18" charset="0"/>
                          </a:rPr>
                          <m:t>𝑉</m:t>
                        </m:r>
                      </m:e>
                      <m:sub>
                        <m:r>
                          <a:rPr lang="en-US" altLang="zh-CN" sz="1800" i="1">
                            <a:effectLst/>
                            <a:latin typeface="Cambria Math" panose="02040503050406030204" pitchFamily="18" charset="0"/>
                            <a:cs typeface="Times New Roman" panose="02020603050405020304" pitchFamily="18" charset="0"/>
                          </a:rPr>
                          <m:t>𝑘</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𝑛</m:t>
                        </m:r>
                      </m:sub>
                      <m:sup>
                        <m:r>
                          <m:rPr>
                            <m:sty m:val="p"/>
                          </m:rPr>
                          <a:rPr lang="en-US" altLang="zh-CN" sz="1800" i="0">
                            <a:effectLst/>
                            <a:latin typeface="Cambria Math" panose="02040503050406030204" pitchFamily="18" charset="0"/>
                            <a:cs typeface="Times New Roman" panose="02020603050405020304" pitchFamily="18" charset="0"/>
                          </a:rPr>
                          <m:t>T</m:t>
                        </m:r>
                      </m:sup>
                    </m:sSubSup>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150</m:t>
                    </m:r>
                    <m:r>
                      <a:rPr lang="en-US" altLang="zh-CN" sz="1800">
                        <a:effectLst/>
                        <a:latin typeface="Cambria Math" panose="02040503050406030204" pitchFamily="18" charset="0"/>
                        <a:ea typeface="MS Mincho" charset="0"/>
                        <a:cs typeface="Cambria Math" panose="02040503050406030204" pitchFamily="18" charset="0"/>
                      </a:rPr>
                      <m:t>×</m:t>
                    </m:r>
                    <m:r>
                      <a:rPr lang="en-US" altLang="zh-CN" sz="1800" i="1">
                        <a:effectLst/>
                        <a:latin typeface="Cambria Math" panose="02040503050406030204" pitchFamily="18" charset="0"/>
                        <a:cs typeface="Times New Roman" panose="02020603050405020304" pitchFamily="18" charset="0"/>
                      </a:rPr>
                      <m:t>1081</m:t>
                    </m:r>
                  </m:oMath>
                </a14:m>
                <a:endParaRPr lang="en-US" altLang="zh-CN" sz="1800" i="1" dirty="0">
                  <a:effectLst/>
                  <a:latin typeface="Cambria Math" panose="02040503050406030204" pitchFamily="18" charset="0"/>
                  <a:cs typeface="Times New Roman" panose="020206030504050203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1752671" y="5129650"/>
                <a:ext cx="6593941" cy="400050"/>
              </a:xfrm>
              <a:prstGeom prst="rect">
                <a:avLst/>
              </a:prstGeom>
              <a:blipFill rotWithShape="1">
                <a:blip r:embed="rId4"/>
                <a:stretch>
                  <a:fillRect l="-1" t="-30" r="3"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254473" y="5606704"/>
                <a:ext cx="10421848" cy="369332"/>
              </a:xfrm>
              <a:prstGeom prst="rect">
                <a:avLst/>
              </a:prstGeom>
              <a:noFill/>
            </p:spPr>
            <p:txBody>
              <a:bodyPr wrap="square">
                <a:spAutoFit/>
              </a:bodyPr>
              <a:lstStyle/>
              <a:p>
                <a:pPr>
                  <a:spcBef>
                    <a:spcPts val="900"/>
                  </a:spcBef>
                  <a:spcAft>
                    <a:spcPts val="900"/>
                  </a:spcAft>
                </a:pPr>
                <a:r>
                  <a:rPr lang="zh-CN" altLang="en-US" sz="1800" dirty="0">
                    <a:effectLst/>
                    <a:latin typeface="微软雅黑" panose="020B0503020204020204" pitchFamily="34" charset="-122"/>
                    <a:cs typeface="Times New Roman" panose="02020603050405020304" pitchFamily="18" charset="0"/>
                  </a:rPr>
                  <a:t>则原始图像经过</a:t>
                </a:r>
                <a:r>
                  <a:rPr lang="zh-CN" altLang="zh-CN" sz="1800" dirty="0">
                    <a:effectLst/>
                    <a:latin typeface="微软雅黑" panose="020B0503020204020204" pitchFamily="34" charset="-122"/>
                    <a:cs typeface="Times New Roman" panose="02020603050405020304" pitchFamily="18" charset="0"/>
                  </a:rPr>
                  <a:t>压缩后的维度：</a:t>
                </a:r>
                <a14:m>
                  <m:oMath xmlns:m="http://schemas.openxmlformats.org/officeDocument/2006/math">
                    <m:r>
                      <a:rPr lang="en-US" altLang="zh-CN" sz="1800" i="1">
                        <a:effectLst/>
                        <a:latin typeface="Cambria Math" panose="02040503050406030204" pitchFamily="18" charset="0"/>
                        <a:cs typeface="Times New Roman" panose="02020603050405020304" pitchFamily="18" charset="0"/>
                      </a:rPr>
                      <m:t>3</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575</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150</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150</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150</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1081</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150</m:t>
                    </m:r>
                    <m:r>
                      <a:rPr lang="en-US" altLang="zh-CN" sz="1800">
                        <a:effectLst/>
                        <a:latin typeface="Cambria Math" panose="02040503050406030204" pitchFamily="18" charset="0"/>
                        <a:cs typeface="Times New Roman" panose="02020603050405020304" pitchFamily="18" charset="0"/>
                      </a:rPr>
                      <m:t>)=</m:t>
                    </m:r>
                    <m:r>
                      <a:rPr lang="en-US" altLang="zh-CN" sz="1800" i="1">
                        <a:effectLst/>
                        <a:latin typeface="Cambria Math" panose="02040503050406030204" pitchFamily="18" charset="0"/>
                        <a:cs typeface="Times New Roman" panose="02020603050405020304" pitchFamily="18" charset="0"/>
                      </a:rPr>
                      <m:t>812700</m:t>
                    </m:r>
                  </m:oMath>
                </a14:m>
                <a:endParaRPr lang="zh-CN" altLang="zh-CN" sz="1800" dirty="0">
                  <a:effectLst/>
                  <a:latin typeface="微软雅黑" panose="020B0503020204020204" pitchFamily="34" charset="-122"/>
                  <a:cs typeface="Times New Roman" panose="02020603050405020304" pitchFamily="18" charset="0"/>
                </a:endParaRPr>
              </a:p>
            </p:txBody>
          </p:sp>
        </mc:Choice>
        <mc:Fallback>
          <p:sp>
            <p:nvSpPr>
              <p:cNvPr id="13" name="文本框 12"/>
              <p:cNvSpPr txBox="1">
                <a:spLocks noRot="1" noChangeAspect="1" noMove="1" noResize="1" noEditPoints="1" noAdjustHandles="1" noChangeArrowheads="1" noChangeShapeType="1" noTextEdit="1"/>
              </p:cNvSpPr>
              <p:nvPr/>
            </p:nvSpPr>
            <p:spPr>
              <a:xfrm>
                <a:off x="254473" y="5606704"/>
                <a:ext cx="10421848" cy="369332"/>
              </a:xfrm>
              <a:prstGeom prst="rect">
                <a:avLst/>
              </a:prstGeom>
              <a:blipFill rotWithShape="1">
                <a:blip r:embed="rId5"/>
                <a:stretch>
                  <a:fillRect l="-5" t="-78" r="1"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254473" y="4223688"/>
                <a:ext cx="6095144" cy="369332"/>
              </a:xfrm>
              <a:prstGeom prst="rect">
                <a:avLst/>
              </a:prstGeom>
              <a:noFill/>
            </p:spPr>
            <p:txBody>
              <a:bodyPr wrap="square">
                <a:spAutoFit/>
              </a:bodyPr>
              <a:lstStyle/>
              <a:p>
                <a14:m>
                  <m:oMath xmlns:m="http://schemas.openxmlformats.org/officeDocument/2006/math">
                    <m:r>
                      <a:rPr lang="en-US" altLang="zh-CN" sz="1800" i="1" smtClean="0">
                        <a:effectLst/>
                        <a:latin typeface="Cambria Math" panose="02040503050406030204" pitchFamily="18" charset="0"/>
                        <a:cs typeface="Times New Roman" panose="02020603050405020304" pitchFamily="18" charset="0"/>
                      </a:rPr>
                      <m:t>𝑚</m:t>
                    </m:r>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575</m:t>
                    </m:r>
                  </m:oMath>
                </a14:m>
                <a:r>
                  <a:rPr lang="zh-CN" altLang="en-US" sz="1800" dirty="0"/>
                  <a:t>，</a:t>
                </a:r>
                <a:r>
                  <a:rPr lang="en-US" altLang="zh-CN" sz="1800" dirty="0">
                    <a:cs typeface="Times New Roman" panose="02020603050405020304" pitchFamily="18" charset="0"/>
                  </a:rPr>
                  <a:t> </a:t>
                </a:r>
                <a14:m>
                  <m:oMath xmlns:m="http://schemas.openxmlformats.org/officeDocument/2006/math">
                    <m:r>
                      <a:rPr lang="en-US" altLang="zh-CN" sz="1800" i="1">
                        <a:latin typeface="Cambria Math" panose="02040503050406030204" pitchFamily="18" charset="0"/>
                        <a:cs typeface="Times New Roman" panose="02020603050405020304" pitchFamily="18" charset="0"/>
                      </a:rPr>
                      <m:t>𝑛</m:t>
                    </m:r>
                    <m:r>
                      <a:rPr lang="en-US" altLang="zh-CN" sz="180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1081</m:t>
                    </m:r>
                  </m:oMath>
                </a14:m>
                <a:r>
                  <a:rPr lang="zh-CN" altLang="en-US" sz="1800" dirty="0"/>
                  <a:t>，</a:t>
                </a:r>
                <a:r>
                  <a:rPr lang="en-US" altLang="zh-CN" sz="1800" dirty="0">
                    <a:cs typeface="Times New Roman" panose="02020603050405020304" pitchFamily="18" charset="0"/>
                  </a:rPr>
                  <a:t> </a:t>
                </a:r>
                <a14:m>
                  <m:oMath xmlns:m="http://schemas.openxmlformats.org/officeDocument/2006/math">
                    <m:r>
                      <a:rPr lang="en-US" altLang="zh-CN" sz="1800" i="1">
                        <a:latin typeface="Cambria Math" panose="02040503050406030204" pitchFamily="18" charset="0"/>
                        <a:cs typeface="Times New Roman" panose="02020603050405020304" pitchFamily="18" charset="0"/>
                      </a:rPr>
                      <m:t>𝑘</m:t>
                    </m:r>
                    <m:r>
                      <a:rPr lang="en-US" altLang="zh-CN" sz="1800" i="1">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150</m:t>
                    </m:r>
                  </m:oMath>
                </a14:m>
                <a:endParaRPr lang="zh-CN" altLang="en-US" sz="1800" dirty="0"/>
              </a:p>
            </p:txBody>
          </p:sp>
        </mc:Choice>
        <mc:Fallback>
          <p:sp>
            <p:nvSpPr>
              <p:cNvPr id="14" name="文本框 13"/>
              <p:cNvSpPr txBox="1">
                <a:spLocks noRot="1" noChangeAspect="1" noMove="1" noResize="1" noEditPoints="1" noAdjustHandles="1" noChangeArrowheads="1" noChangeShapeType="1" noTextEdit="1"/>
              </p:cNvSpPr>
              <p:nvPr/>
            </p:nvSpPr>
            <p:spPr>
              <a:xfrm>
                <a:off x="254473" y="4223688"/>
                <a:ext cx="6095144" cy="369332"/>
              </a:xfrm>
              <a:prstGeom prst="rect">
                <a:avLst/>
              </a:prstGeom>
              <a:blipFill rotWithShape="1">
                <a:blip r:embed="rId6"/>
                <a:stretch>
                  <a:fillRect l="-8" t="-82" r="4" b="18"/>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课堂作业：</a:t>
            </a:r>
            <a:r>
              <a:rPr lang="en-US" altLang="zh-CN"/>
              <a:t>SVD</a:t>
            </a:r>
            <a:r>
              <a:rPr lang="zh-CN" altLang="en-US"/>
              <a:t>在</a:t>
            </a:r>
            <a:r>
              <a:rPr lang="en-US" altLang="zh-CN"/>
              <a:t>NLP</a:t>
            </a:r>
            <a:r>
              <a:rPr lang="zh-CN" altLang="en-US"/>
              <a:t>中的应用</a:t>
            </a:r>
            <a:endParaRPr lang="zh-CN" altLang="en-US"/>
          </a:p>
        </p:txBody>
      </p:sp>
      <p:graphicFrame>
        <p:nvGraphicFramePr>
          <p:cNvPr id="6" name="内容占位符 5"/>
          <p:cNvGraphicFramePr/>
          <p:nvPr>
            <p:ph idx="1"/>
          </p:nvPr>
        </p:nvGraphicFramePr>
        <p:xfrm>
          <a:off x="607694" y="1484784"/>
          <a:ext cx="7759065" cy="2333625"/>
        </p:xfrm>
        <a:graphic>
          <a:graphicData uri="http://schemas.openxmlformats.org/drawingml/2006/table">
            <a:tbl>
              <a:tblPr firstRow="1" bandRow="1">
                <a:tableStyleId>{5C22544A-7EE6-4342-B048-85BDC9FD1C3A}</a:tableStyleId>
              </a:tblPr>
              <a:tblGrid>
                <a:gridCol w="901065"/>
                <a:gridCol w="685800"/>
                <a:gridCol w="685800"/>
                <a:gridCol w="685800"/>
                <a:gridCol w="685800"/>
                <a:gridCol w="685800"/>
                <a:gridCol w="685800"/>
                <a:gridCol w="685800"/>
                <a:gridCol w="685800"/>
                <a:gridCol w="685800"/>
                <a:gridCol w="685800"/>
              </a:tblGrid>
              <a:tr h="381000">
                <a:tc>
                  <a:txBody>
                    <a:bodyPr/>
                    <a:p>
                      <a:pPr algn="l">
                        <a:lnSpc>
                          <a:spcPts val="1875"/>
                        </a:lnSpc>
                      </a:pPr>
                      <a:r>
                        <a:rPr lang="zh-CN" altLang="en-US" sz="1100" b="0" i="0">
                          <a:solidFill>
                            <a:srgbClr val="0F1115"/>
                          </a:solidFill>
                          <a:latin typeface="+mj-ea"/>
                          <a:ea typeface="+mj-ea"/>
                          <a:cs typeface="+mj-ea"/>
                        </a:rPr>
                        <a:t>文档</a:t>
                      </a:r>
                      <a:r>
                        <a:rPr lang="en-US" altLang="zh-CN" sz="1100" b="0" i="0">
                          <a:solidFill>
                            <a:srgbClr val="0F1115"/>
                          </a:solidFill>
                          <a:latin typeface="+mj-ea"/>
                          <a:ea typeface="+mj-ea"/>
                          <a:cs typeface="+mj-ea"/>
                        </a:rPr>
                        <a:t>\</a:t>
                      </a:r>
                      <a:r>
                        <a:rPr lang="zh-CN" altLang="en-US" sz="1100" b="0" i="0">
                          <a:solidFill>
                            <a:srgbClr val="0F1115"/>
                          </a:solidFill>
                          <a:latin typeface="+mj-ea"/>
                          <a:ea typeface="+mj-ea"/>
                          <a:cs typeface="+mj-ea"/>
                        </a:rPr>
                        <a:t>词项</a:t>
                      </a:r>
                      <a:endParaRPr lang="zh-CN" altLang="en-US" sz="1100" b="0" i="0">
                        <a:solidFill>
                          <a:srgbClr val="0F1115"/>
                        </a:solidFill>
                        <a:latin typeface="+mj-ea"/>
                        <a:ea typeface="+mj-ea"/>
                        <a:cs typeface="+mj-ea"/>
                      </a:endParaRPr>
                    </a:p>
                  </a:txBody>
                  <a:tcPr marL="0" marR="152717" marT="95567" marB="95567" anchor="ctr" anchorCtr="0"/>
                </a:tc>
                <a:tc>
                  <a:txBody>
                    <a:bodyPr/>
                    <a:p>
                      <a:pPr algn="l">
                        <a:lnSpc>
                          <a:spcPts val="1875"/>
                        </a:lnSpc>
                      </a:pPr>
                      <a:r>
                        <a:rPr lang="zh-CN" altLang="en-US" sz="1100" b="0" i="0">
                          <a:solidFill>
                            <a:srgbClr val="0F1115"/>
                          </a:solidFill>
                          <a:latin typeface="+mj-ea"/>
                          <a:ea typeface="+mj-ea"/>
                        </a:rPr>
                        <a:t>算法</a:t>
                      </a:r>
                      <a:endParaRPr lang="zh-CN" altLang="en-US" sz="1100" b="0" i="0">
                        <a:solidFill>
                          <a:srgbClr val="0F1115"/>
                        </a:solidFill>
                        <a:latin typeface="+mj-ea"/>
                        <a:ea typeface="+mj-ea"/>
                      </a:endParaRPr>
                    </a:p>
                  </a:txBody>
                  <a:tcPr marL="152717" marR="152717" marT="95567" marB="95567" anchor="ctr" anchorCtr="0"/>
                </a:tc>
                <a:tc>
                  <a:txBody>
                    <a:bodyPr/>
                    <a:p>
                      <a:pPr algn="l">
                        <a:lnSpc>
                          <a:spcPts val="1875"/>
                        </a:lnSpc>
                      </a:pPr>
                      <a:r>
                        <a:rPr lang="zh-CN" altLang="en-US" sz="1100" b="0" i="0">
                          <a:solidFill>
                            <a:srgbClr val="0F1115"/>
                          </a:solidFill>
                          <a:latin typeface="+mj-ea"/>
                          <a:ea typeface="+mj-ea"/>
                        </a:rPr>
                        <a:t>数据</a:t>
                      </a:r>
                      <a:endParaRPr lang="zh-CN" altLang="en-US" sz="1100" b="0" i="0">
                        <a:solidFill>
                          <a:srgbClr val="0F1115"/>
                        </a:solidFill>
                        <a:latin typeface="+mj-ea"/>
                        <a:ea typeface="+mj-ea"/>
                      </a:endParaRPr>
                    </a:p>
                  </a:txBody>
                  <a:tcPr marL="152717" marR="152717" marT="95567" marB="95567" anchor="ctr" anchorCtr="0"/>
                </a:tc>
                <a:tc>
                  <a:txBody>
                    <a:bodyPr/>
                    <a:p>
                      <a:pPr algn="l">
                        <a:lnSpc>
                          <a:spcPts val="1875"/>
                        </a:lnSpc>
                      </a:pPr>
                      <a:r>
                        <a:rPr lang="zh-CN" altLang="en-US" sz="1100" b="0" i="0">
                          <a:solidFill>
                            <a:srgbClr val="0F1115"/>
                          </a:solidFill>
                          <a:latin typeface="+mj-ea"/>
                          <a:ea typeface="+mj-ea"/>
                        </a:rPr>
                        <a:t>挖掘</a:t>
                      </a:r>
                      <a:endParaRPr lang="zh-CN" altLang="en-US" sz="1100" b="0" i="0">
                        <a:solidFill>
                          <a:srgbClr val="0F1115"/>
                        </a:solidFill>
                        <a:latin typeface="+mj-ea"/>
                        <a:ea typeface="+mj-ea"/>
                      </a:endParaRPr>
                    </a:p>
                  </a:txBody>
                  <a:tcPr marL="152717" marR="152717" marT="95567" marB="95567" anchor="ctr" anchorCtr="0"/>
                </a:tc>
                <a:tc>
                  <a:txBody>
                    <a:bodyPr/>
                    <a:p>
                      <a:pPr algn="l">
                        <a:lnSpc>
                          <a:spcPts val="1875"/>
                        </a:lnSpc>
                      </a:pPr>
                      <a:r>
                        <a:rPr lang="zh-CN" altLang="en-US" sz="1100" b="0" i="0">
                          <a:solidFill>
                            <a:srgbClr val="0F1115"/>
                          </a:solidFill>
                          <a:latin typeface="+mj-ea"/>
                          <a:ea typeface="+mj-ea"/>
                        </a:rPr>
                        <a:t>学习</a:t>
                      </a:r>
                      <a:endParaRPr lang="zh-CN" altLang="en-US" sz="1100" b="0" i="0">
                        <a:solidFill>
                          <a:srgbClr val="0F1115"/>
                        </a:solidFill>
                        <a:latin typeface="+mj-ea"/>
                        <a:ea typeface="+mj-ea"/>
                      </a:endParaRPr>
                    </a:p>
                  </a:txBody>
                  <a:tcPr marL="152717" marR="152717" marT="95567" marB="95567" anchor="ctr" anchorCtr="0"/>
                </a:tc>
                <a:tc>
                  <a:txBody>
                    <a:bodyPr/>
                    <a:p>
                      <a:pPr algn="l">
                        <a:lnSpc>
                          <a:spcPts val="1875"/>
                        </a:lnSpc>
                      </a:pPr>
                      <a:r>
                        <a:rPr lang="zh-CN" altLang="en-US" sz="1100" b="0" i="0">
                          <a:solidFill>
                            <a:srgbClr val="0F1115"/>
                          </a:solidFill>
                          <a:latin typeface="+mj-ea"/>
                          <a:ea typeface="+mj-ea"/>
                        </a:rPr>
                        <a:t>模型</a:t>
                      </a:r>
                      <a:endParaRPr lang="zh-CN" altLang="en-US" sz="1100" b="0" i="0">
                        <a:solidFill>
                          <a:srgbClr val="0F1115"/>
                        </a:solidFill>
                        <a:latin typeface="+mj-ea"/>
                        <a:ea typeface="+mj-ea"/>
                      </a:endParaRPr>
                    </a:p>
                  </a:txBody>
                  <a:tcPr marL="152717" marR="152717" marT="95567" marB="95567" anchor="ctr" anchorCtr="0"/>
                </a:tc>
                <a:tc>
                  <a:txBody>
                    <a:bodyPr/>
                    <a:p>
                      <a:pPr algn="l">
                        <a:lnSpc>
                          <a:spcPts val="1875"/>
                        </a:lnSpc>
                      </a:pPr>
                      <a:r>
                        <a:rPr lang="zh-CN" altLang="en-US" sz="1100" b="0" i="0">
                          <a:solidFill>
                            <a:srgbClr val="0F1115"/>
                          </a:solidFill>
                          <a:latin typeface="+mj-ea"/>
                          <a:ea typeface="+mj-ea"/>
                        </a:rPr>
                        <a:t>训练</a:t>
                      </a:r>
                      <a:endParaRPr lang="zh-CN" altLang="en-US" sz="1100" b="0" i="0">
                        <a:solidFill>
                          <a:srgbClr val="0F1115"/>
                        </a:solidFill>
                        <a:latin typeface="+mj-ea"/>
                        <a:ea typeface="+mj-ea"/>
                      </a:endParaRPr>
                    </a:p>
                  </a:txBody>
                  <a:tcPr marL="152717" marR="152717" marT="95567" marB="95567" anchor="ctr" anchorCtr="0"/>
                </a:tc>
                <a:tc>
                  <a:txBody>
                    <a:bodyPr/>
                    <a:p>
                      <a:pPr algn="l">
                        <a:lnSpc>
                          <a:spcPts val="1875"/>
                        </a:lnSpc>
                      </a:pPr>
                      <a:r>
                        <a:rPr lang="zh-CN" altLang="en-US" sz="1100" b="0" i="0">
                          <a:solidFill>
                            <a:srgbClr val="0F1115"/>
                          </a:solidFill>
                          <a:latin typeface="+mj-ea"/>
                          <a:ea typeface="+mj-ea"/>
                        </a:rPr>
                        <a:t>特征</a:t>
                      </a:r>
                      <a:endParaRPr lang="zh-CN" altLang="en-US" sz="1100" b="0" i="0">
                        <a:solidFill>
                          <a:srgbClr val="0F1115"/>
                        </a:solidFill>
                        <a:latin typeface="+mj-ea"/>
                        <a:ea typeface="+mj-ea"/>
                      </a:endParaRPr>
                    </a:p>
                  </a:txBody>
                  <a:tcPr marL="152717" marR="152717" marT="95567" marB="95567" anchor="ctr" anchorCtr="0"/>
                </a:tc>
                <a:tc>
                  <a:txBody>
                    <a:bodyPr/>
                    <a:p>
                      <a:pPr algn="l">
                        <a:lnSpc>
                          <a:spcPts val="1875"/>
                        </a:lnSpc>
                      </a:pPr>
                      <a:r>
                        <a:rPr lang="zh-CN" altLang="en-US" sz="1100" b="0" i="0">
                          <a:solidFill>
                            <a:srgbClr val="0F1115"/>
                          </a:solidFill>
                          <a:latin typeface="+mj-ea"/>
                          <a:ea typeface="+mj-ea"/>
                        </a:rPr>
                        <a:t>分类</a:t>
                      </a:r>
                      <a:endParaRPr lang="zh-CN" altLang="en-US" sz="1100" b="0" i="0">
                        <a:solidFill>
                          <a:srgbClr val="0F1115"/>
                        </a:solidFill>
                        <a:latin typeface="+mj-ea"/>
                        <a:ea typeface="+mj-ea"/>
                      </a:endParaRPr>
                    </a:p>
                  </a:txBody>
                  <a:tcPr marL="152717" marR="152717" marT="95567" marB="95567" anchor="ctr" anchorCtr="0"/>
                </a:tc>
                <a:tc>
                  <a:txBody>
                    <a:bodyPr/>
                    <a:p>
                      <a:pPr algn="l">
                        <a:lnSpc>
                          <a:spcPts val="1875"/>
                        </a:lnSpc>
                      </a:pPr>
                      <a:r>
                        <a:rPr lang="zh-CN" altLang="en-US" sz="1100" b="0" i="0">
                          <a:solidFill>
                            <a:srgbClr val="0F1115"/>
                          </a:solidFill>
                          <a:latin typeface="+mj-ea"/>
                          <a:ea typeface="+mj-ea"/>
                        </a:rPr>
                        <a:t>聚类</a:t>
                      </a:r>
                      <a:endParaRPr lang="zh-CN" altLang="en-US" sz="1100" b="0" i="0">
                        <a:solidFill>
                          <a:srgbClr val="0F1115"/>
                        </a:solidFill>
                        <a:latin typeface="+mj-ea"/>
                        <a:ea typeface="+mj-ea"/>
                      </a:endParaRPr>
                    </a:p>
                  </a:txBody>
                  <a:tcPr marL="152717" marR="152717" marT="95567" marB="95567" anchor="ctr" anchorCtr="0"/>
                </a:tc>
                <a:tc>
                  <a:txBody>
                    <a:bodyPr/>
                    <a:p>
                      <a:pPr algn="l">
                        <a:lnSpc>
                          <a:spcPts val="1875"/>
                        </a:lnSpc>
                      </a:pPr>
                      <a:r>
                        <a:rPr lang="zh-CN" altLang="en-US" sz="1100" b="0" i="0">
                          <a:solidFill>
                            <a:srgbClr val="0F1115"/>
                          </a:solidFill>
                          <a:latin typeface="+mj-ea"/>
                          <a:ea typeface="+mj-ea"/>
                        </a:rPr>
                        <a:t>评估</a:t>
                      </a:r>
                      <a:endParaRPr lang="zh-CN" altLang="en-US" sz="1100" b="0" i="0">
                        <a:solidFill>
                          <a:srgbClr val="0F1115"/>
                        </a:solidFill>
                        <a:latin typeface="+mj-ea"/>
                        <a:ea typeface="+mj-ea"/>
                      </a:endParaRPr>
                    </a:p>
                  </a:txBody>
                  <a:tcPr marL="152717" marR="152717" marT="95567" marB="95567" anchor="ctr" anchorCtr="0"/>
                </a:tc>
              </a:tr>
              <a:tr h="381000">
                <a:tc>
                  <a:txBody>
                    <a:bodyPr/>
                    <a:p>
                      <a:pPr>
                        <a:lnSpc>
                          <a:spcPts val="1875"/>
                        </a:lnSpc>
                      </a:pPr>
                      <a:r>
                        <a:rPr lang="en-US" altLang="zh-CN" sz="1100" b="0" i="0">
                          <a:solidFill>
                            <a:srgbClr val="0F1115"/>
                          </a:solidFill>
                          <a:latin typeface="+mj-ea"/>
                          <a:ea typeface="+mj-ea"/>
                        </a:rPr>
                        <a:t>Doc1</a:t>
                      </a:r>
                      <a:endParaRPr lang="en-US" altLang="zh-CN" sz="1100" b="0" i="0">
                        <a:solidFill>
                          <a:srgbClr val="0F1115"/>
                        </a:solidFill>
                        <a:latin typeface="+mj-ea"/>
                        <a:ea typeface="+mj-ea"/>
                      </a:endParaRPr>
                    </a:p>
                  </a:txBody>
                  <a:tcPr marL="0" marR="152717" marT="95567" marB="95567" anchor="ctr" anchorCtr="0"/>
                </a:tc>
                <a:tc>
                  <a:txBody>
                    <a:bodyPr/>
                    <a:p>
                      <a:pPr>
                        <a:lnSpc>
                          <a:spcPts val="1875"/>
                        </a:lnSpc>
                      </a:pPr>
                      <a:r>
                        <a:rPr lang="en-US" altLang="zh-CN" sz="1100" b="0" i="0">
                          <a:solidFill>
                            <a:srgbClr val="0F1115"/>
                          </a:solidFill>
                          <a:latin typeface="+mj-ea"/>
                          <a:ea typeface="+mj-ea"/>
                        </a:rPr>
                        <a:t>5</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4</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3</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4</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2</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1</a:t>
                      </a:r>
                      <a:endParaRPr lang="en-US" altLang="zh-CN" sz="1100" b="0" i="0">
                        <a:solidFill>
                          <a:srgbClr val="0F1115"/>
                        </a:solidFill>
                        <a:latin typeface="+mj-ea"/>
                        <a:ea typeface="+mj-ea"/>
                      </a:endParaRPr>
                    </a:p>
                  </a:txBody>
                  <a:tcPr marL="152717" marR="0" marT="95567" marB="95567" anchor="ctr" anchorCtr="0"/>
                </a:tc>
              </a:tr>
              <a:tr h="381000">
                <a:tc>
                  <a:txBody>
                    <a:bodyPr/>
                    <a:p>
                      <a:pPr>
                        <a:lnSpc>
                          <a:spcPts val="1875"/>
                        </a:lnSpc>
                      </a:pPr>
                      <a:r>
                        <a:rPr lang="en-US" altLang="zh-CN" sz="1100" b="0" i="0">
                          <a:solidFill>
                            <a:srgbClr val="0F1115"/>
                          </a:solidFill>
                          <a:latin typeface="+mj-ea"/>
                          <a:ea typeface="+mj-ea"/>
                        </a:rPr>
                        <a:t>Doc2</a:t>
                      </a:r>
                      <a:endParaRPr lang="en-US" altLang="zh-CN" sz="1100" b="0" i="0">
                        <a:solidFill>
                          <a:srgbClr val="0F1115"/>
                        </a:solidFill>
                        <a:latin typeface="+mj-ea"/>
                        <a:ea typeface="+mj-ea"/>
                      </a:endParaRPr>
                    </a:p>
                  </a:txBody>
                  <a:tcPr marL="0" marR="152717" marT="95567" marB="95567" anchor="ctr" anchorCtr="0"/>
                </a:tc>
                <a:tc>
                  <a:txBody>
                    <a:bodyPr/>
                    <a:p>
                      <a:pPr>
                        <a:lnSpc>
                          <a:spcPts val="1875"/>
                        </a:lnSpc>
                      </a:pPr>
                      <a:r>
                        <a:rPr lang="en-US" altLang="zh-CN" sz="1100" b="0" i="0">
                          <a:solidFill>
                            <a:srgbClr val="0F1115"/>
                          </a:solidFill>
                          <a:latin typeface="+mj-ea"/>
                          <a:ea typeface="+mj-ea"/>
                        </a:rPr>
                        <a:t>4</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5</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4</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3</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3</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0" marT="95567" marB="95567" anchor="ctr" anchorCtr="0"/>
                </a:tc>
              </a:tr>
              <a:tr h="381000">
                <a:tc>
                  <a:txBody>
                    <a:bodyPr/>
                    <a:p>
                      <a:pPr>
                        <a:lnSpc>
                          <a:spcPts val="1875"/>
                        </a:lnSpc>
                      </a:pPr>
                      <a:r>
                        <a:rPr lang="en-US" altLang="zh-CN" sz="1100" b="0" i="0">
                          <a:solidFill>
                            <a:srgbClr val="0F1115"/>
                          </a:solidFill>
                          <a:latin typeface="+mj-ea"/>
                          <a:ea typeface="+mj-ea"/>
                        </a:rPr>
                        <a:t>Doc3</a:t>
                      </a:r>
                      <a:endParaRPr lang="en-US" altLang="zh-CN" sz="1100" b="0" i="0">
                        <a:solidFill>
                          <a:srgbClr val="0F1115"/>
                        </a:solidFill>
                        <a:latin typeface="+mj-ea"/>
                        <a:ea typeface="+mj-ea"/>
                      </a:endParaRPr>
                    </a:p>
                  </a:txBody>
                  <a:tcPr marL="0"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1</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5</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4</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3</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4</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2</a:t>
                      </a:r>
                      <a:endParaRPr lang="en-US" altLang="zh-CN" sz="1100" b="0" i="0">
                        <a:solidFill>
                          <a:srgbClr val="0F1115"/>
                        </a:solidFill>
                        <a:latin typeface="+mj-ea"/>
                        <a:ea typeface="+mj-ea"/>
                      </a:endParaRPr>
                    </a:p>
                  </a:txBody>
                  <a:tcPr marL="152717" marR="0" marT="95567" marB="95567" anchor="ctr" anchorCtr="0"/>
                </a:tc>
              </a:tr>
              <a:tr h="381000">
                <a:tc>
                  <a:txBody>
                    <a:bodyPr/>
                    <a:p>
                      <a:pPr>
                        <a:lnSpc>
                          <a:spcPts val="1875"/>
                        </a:lnSpc>
                      </a:pPr>
                      <a:r>
                        <a:rPr lang="en-US" altLang="zh-CN" sz="1100" b="0" i="0">
                          <a:solidFill>
                            <a:srgbClr val="0F1115"/>
                          </a:solidFill>
                          <a:latin typeface="+mj-ea"/>
                          <a:ea typeface="+mj-ea"/>
                        </a:rPr>
                        <a:t>Doc4</a:t>
                      </a:r>
                      <a:endParaRPr lang="en-US" altLang="zh-CN" sz="1100" b="0" i="0">
                        <a:solidFill>
                          <a:srgbClr val="0F1115"/>
                        </a:solidFill>
                        <a:latin typeface="+mj-ea"/>
                        <a:ea typeface="+mj-ea"/>
                      </a:endParaRPr>
                    </a:p>
                  </a:txBody>
                  <a:tcPr marL="0"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4</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5</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0</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4</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5</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1</a:t>
                      </a:r>
                      <a:endParaRPr lang="en-US" altLang="zh-CN" sz="1100" b="0" i="0">
                        <a:solidFill>
                          <a:srgbClr val="0F1115"/>
                        </a:solidFill>
                        <a:latin typeface="+mj-ea"/>
                        <a:ea typeface="+mj-ea"/>
                      </a:endParaRPr>
                    </a:p>
                  </a:txBody>
                  <a:tcPr marL="152717" marR="0" marT="95567" marB="95567" anchor="ctr" anchorCtr="0"/>
                </a:tc>
              </a:tr>
              <a:tr h="381000">
                <a:tc>
                  <a:txBody>
                    <a:bodyPr/>
                    <a:p>
                      <a:pPr>
                        <a:lnSpc>
                          <a:spcPts val="1875"/>
                        </a:lnSpc>
                      </a:pPr>
                      <a:r>
                        <a:rPr lang="en-US" altLang="zh-CN" sz="1100" b="0" i="0">
                          <a:solidFill>
                            <a:srgbClr val="0F1115"/>
                          </a:solidFill>
                          <a:latin typeface="+mj-ea"/>
                          <a:ea typeface="+mj-ea"/>
                        </a:rPr>
                        <a:t>Doc5</a:t>
                      </a:r>
                      <a:endParaRPr lang="en-US" altLang="zh-CN" sz="1100" b="0" i="0">
                        <a:solidFill>
                          <a:srgbClr val="0F1115"/>
                        </a:solidFill>
                        <a:latin typeface="+mj-ea"/>
                        <a:ea typeface="+mj-ea"/>
                      </a:endParaRPr>
                    </a:p>
                  </a:txBody>
                  <a:tcPr marL="0" marR="152717" marT="95567" marB="95567" anchor="ctr" anchorCtr="0"/>
                </a:tc>
                <a:tc>
                  <a:txBody>
                    <a:bodyPr/>
                    <a:p>
                      <a:pPr>
                        <a:lnSpc>
                          <a:spcPts val="1875"/>
                        </a:lnSpc>
                      </a:pPr>
                      <a:r>
                        <a:rPr lang="en-US" altLang="zh-CN" sz="1100" b="0" i="0">
                          <a:solidFill>
                            <a:srgbClr val="0F1115"/>
                          </a:solidFill>
                          <a:latin typeface="+mj-ea"/>
                          <a:ea typeface="+mj-ea"/>
                        </a:rPr>
                        <a:t>2</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2</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1</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2</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1</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2</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2</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1</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1</a:t>
                      </a:r>
                      <a:endParaRPr lang="en-US" altLang="zh-CN" sz="1100" b="0" i="0">
                        <a:solidFill>
                          <a:srgbClr val="0F1115"/>
                        </a:solidFill>
                        <a:latin typeface="+mj-ea"/>
                        <a:ea typeface="+mj-ea"/>
                      </a:endParaRPr>
                    </a:p>
                  </a:txBody>
                  <a:tcPr marL="152717" marR="152717" marT="95567" marB="95567" anchor="ctr" anchorCtr="0"/>
                </a:tc>
                <a:tc>
                  <a:txBody>
                    <a:bodyPr/>
                    <a:p>
                      <a:pPr>
                        <a:lnSpc>
                          <a:spcPts val="1875"/>
                        </a:lnSpc>
                      </a:pPr>
                      <a:r>
                        <a:rPr lang="en-US" altLang="zh-CN" sz="1100" b="0" i="0">
                          <a:solidFill>
                            <a:srgbClr val="0F1115"/>
                          </a:solidFill>
                          <a:latin typeface="+mj-ea"/>
                          <a:ea typeface="+mj-ea"/>
                        </a:rPr>
                        <a:t>3</a:t>
                      </a:r>
                      <a:endParaRPr lang="en-US" altLang="zh-CN" sz="1100" b="0" i="0">
                        <a:solidFill>
                          <a:srgbClr val="0F1115"/>
                        </a:solidFill>
                        <a:latin typeface="+mj-ea"/>
                        <a:ea typeface="+mj-ea"/>
                      </a:endParaRPr>
                    </a:p>
                  </a:txBody>
                  <a:tcPr marL="152717" marR="0" marT="95567" marB="95567" anchor="ctr" anchorCtr="0"/>
                </a:tc>
              </a:tr>
            </a:tbl>
          </a:graphicData>
        </a:graphic>
      </p:graphicFrame>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11" name="内容占位符 2"/>
          <p:cNvSpPr>
            <a:spLocks noGrp="1"/>
          </p:cNvSpPr>
          <p:nvPr/>
        </p:nvSpPr>
        <p:spPr>
          <a:xfrm>
            <a:off x="179705" y="4149090"/>
            <a:ext cx="8641080" cy="2148840"/>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latinLnBrk="0">
              <a:spcBef>
                <a:spcPts val="900"/>
              </a:spcBef>
              <a:spcAft>
                <a:spcPts val="100"/>
              </a:spcAft>
            </a:pPr>
            <a:r>
              <a:rPr lang="en-US" altLang="zh-CN" sz="1800" b="1">
                <a:solidFill>
                  <a:srgbClr val="FF0000"/>
                </a:solidFill>
              </a:rPr>
              <a:t> </a:t>
            </a:r>
            <a:r>
              <a:rPr lang="zh-CN" altLang="en-US" sz="1800" b="1">
                <a:solidFill>
                  <a:srgbClr val="FF0000"/>
                </a:solidFill>
              </a:rPr>
              <a:t>任务：</a:t>
            </a:r>
            <a:endParaRPr lang="zh-CN" altLang="en-US" sz="1800" b="1">
              <a:solidFill>
                <a:srgbClr val="FF0000"/>
              </a:solidFill>
            </a:endParaRPr>
          </a:p>
          <a:p>
            <a:pPr latinLnBrk="0">
              <a:spcBef>
                <a:spcPts val="900"/>
              </a:spcBef>
              <a:spcAft>
                <a:spcPts val="100"/>
              </a:spcAft>
              <a:buFont typeface="Wingdings" panose="05000000000000000000" charset="0"/>
              <a:buChar char="n"/>
            </a:pPr>
            <a:r>
              <a:rPr lang="zh-CN" altLang="en-US" sz="1800"/>
              <a:t>应用</a:t>
            </a:r>
            <a:r>
              <a:rPr lang="en-US" altLang="zh-CN" sz="1800"/>
              <a:t>SVD</a:t>
            </a:r>
            <a:r>
              <a:rPr lang="zh-CN" altLang="en-US" sz="1800"/>
              <a:t>对词项进行降维</a:t>
            </a:r>
            <a:endParaRPr lang="zh-CN" altLang="en-US" sz="1800"/>
          </a:p>
          <a:p>
            <a:pPr latinLnBrk="0">
              <a:spcBef>
                <a:spcPts val="900"/>
              </a:spcBef>
              <a:spcAft>
                <a:spcPts val="100"/>
              </a:spcAft>
              <a:buFont typeface="Wingdings" panose="05000000000000000000" charset="0"/>
              <a:buChar char="n"/>
            </a:pPr>
            <a:r>
              <a:rPr lang="zh-CN" altLang="en-US" sz="1800"/>
              <a:t>展示降维的词项结果，以及文档在新维度中的表示</a:t>
            </a:r>
            <a:endParaRPr lang="zh-CN" altLang="en-US" sz="1800"/>
          </a:p>
          <a:p>
            <a:pPr latinLnBrk="0">
              <a:spcBef>
                <a:spcPts val="900"/>
              </a:spcBef>
              <a:spcAft>
                <a:spcPts val="100"/>
              </a:spcAft>
              <a:buFont typeface="Wingdings" panose="05000000000000000000" charset="0"/>
              <a:buChar char="n"/>
            </a:pPr>
            <a:r>
              <a:rPr lang="zh-CN" altLang="en-US" sz="1800"/>
              <a:t>对降维结果进行解读</a:t>
            </a:r>
            <a:endParaRPr lang="zh-CN" altLang="en-US" sz="1800"/>
          </a:p>
          <a:p>
            <a:pPr latinLnBrk="0">
              <a:spcBef>
                <a:spcPts val="900"/>
              </a:spcBef>
              <a:spcAft>
                <a:spcPts val="100"/>
              </a:spcAft>
              <a:buFont typeface="Wingdings" panose="05000000000000000000" charset="0"/>
              <a:buChar char="n"/>
            </a:pPr>
            <a:endParaRPr lang="zh-CN" alt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eaLnBrk="1" fontAlgn="auto" hangingPunct="1">
              <a:lnSpc>
                <a:spcPct val="100000"/>
              </a:lnSpc>
              <a:spcAft>
                <a:spcPts val="0"/>
              </a:spcAft>
              <a:buClrTx/>
              <a:buSzTx/>
              <a:buFontTx/>
            </a:pPr>
            <a:r>
              <a:rPr kumimoji="1" lang="zh-CN" altLang="en-US" spc="-100" dirty="0">
                <a:solidFill>
                  <a:srgbClr val="D2533C"/>
                </a:solidFill>
                <a:latin typeface="Arial" panose="020B0604020202020204"/>
                <a:ea typeface="华文新魏" panose="02010800040101010101" pitchFamily="2" charset="-122"/>
              </a:rPr>
              <a:t>SVD应用场景</a:t>
            </a:r>
            <a:endParaRPr kumimoji="1"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p>
            <a:pPr>
              <a:buFont typeface="Wingdings" panose="05000000000000000000" charset="0"/>
              <a:buChar char="n"/>
            </a:pPr>
            <a:r>
              <a:rPr lang="zh-CN" altLang="en-US"/>
              <a:t>输入数据是数值型且最好是连续的</a:t>
            </a:r>
            <a:endParaRPr lang="zh-CN" altLang="en-US"/>
          </a:p>
          <a:p>
            <a:pPr marL="457200" lvl="1" indent="0">
              <a:buFont typeface="Wingdings" panose="05000000000000000000" charset="0"/>
              <a:buChar char="n"/>
            </a:pPr>
            <a:r>
              <a:rPr lang="zh-CN" altLang="en-US"/>
              <a:t>图像像素（0-255）、信号强度、词频（</a:t>
            </a:r>
            <a:r>
              <a:rPr lang="en-US" altLang="zh-CN"/>
              <a:t>TF-IDF</a:t>
            </a:r>
            <a:r>
              <a:rPr lang="zh-CN" altLang="en-US"/>
              <a:t>值）、评分（1-5分）</a:t>
            </a:r>
            <a:endParaRPr lang="zh-CN" altLang="en-US"/>
          </a:p>
          <a:p>
            <a:pPr marL="457200" lvl="1" indent="0">
              <a:buFont typeface="Wingdings" panose="05000000000000000000" charset="0"/>
              <a:buChar char="n"/>
            </a:pPr>
            <a:r>
              <a:rPr lang="zh-CN" altLang="en-US"/>
              <a:t>不适合纯粹的类别变量（如颜色：红/黄/蓝），除非先进行独热编码等数值化转换。</a:t>
            </a:r>
            <a:endParaRPr lang="zh-CN" altLang="en-US"/>
          </a:p>
          <a:p>
            <a:pPr marL="0" lvl="0" indent="0">
              <a:buFont typeface="Wingdings" panose="05000000000000000000" charset="0"/>
              <a:buChar char="n"/>
            </a:pPr>
            <a:r>
              <a:rPr lang="zh-CN" altLang="en-US"/>
              <a:t>变量之间存在较强的线性相关性</a:t>
            </a:r>
            <a:endParaRPr lang="zh-CN" altLang="en-US"/>
          </a:p>
          <a:p>
            <a:pPr marL="0" lvl="0" indent="0">
              <a:buFont typeface="Wingdings" panose="05000000000000000000" charset="0"/>
              <a:buChar char="n"/>
            </a:pPr>
            <a:r>
              <a:rPr lang="zh-CN" altLang="en-US"/>
              <a:t>不适合稀疏矩阵，或缺失值太多的矩阵</a:t>
            </a:r>
            <a:endParaRPr lang="zh-CN" altLang="en-US"/>
          </a:p>
          <a:p>
            <a:pPr marL="0" lvl="0" indent="0">
              <a:buFont typeface="Wingdings" panose="05000000000000000000" charset="0"/>
              <a:buChar char="n"/>
            </a:pPr>
            <a:r>
              <a:rPr lang="zh-CN" altLang="en-US"/>
              <a:t>可用于解决降维、主题建模、推荐、图像压缩等问题</a:t>
            </a:r>
            <a:endParaRPr lang="en-US" altLang="zh-CN"/>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降维分析</a:t>
            </a:r>
            <a:endParaRPr kumimoji="0" lang="en-US" altLang="zh-CN" kern="100" dirty="0">
              <a:latin typeface="Arial" panose="020B0604020202020204"/>
              <a:ea typeface="宋体" panose="02010600030101010101" pitchFamily="2" charset="-122"/>
            </a:endParaRPr>
          </a:p>
          <a:p>
            <a:pPr eaLnBrk="1" hangingPunct="1">
              <a:lnSpc>
                <a:spcPct val="90000"/>
              </a:lnSpc>
              <a:spcBef>
                <a:spcPct val="40000"/>
              </a:spcBef>
              <a:defRPr/>
            </a:pPr>
            <a:r>
              <a:rPr kumimoji="0" lang="zh-CN" altLang="en-US" kern="100" dirty="0">
                <a:latin typeface="Arial" panose="020B0604020202020204"/>
                <a:ea typeface="宋体" panose="02010600030101010101" pitchFamily="2" charset="-122"/>
              </a:rPr>
              <a:t>奇异值分解</a:t>
            </a:r>
            <a:endParaRPr kumimoji="0" lang="en-US" altLang="zh-CN" kern="100"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solidFill>
                  <a:srgbClr val="C00000"/>
                </a:solidFill>
                <a:latin typeface="Arial" panose="020B0604020202020204"/>
                <a:ea typeface="宋体" panose="02010600030101010101" pitchFamily="2" charset="-122"/>
              </a:rPr>
              <a:t>主成分分析</a:t>
            </a:r>
            <a:endParaRPr kumimoji="0" lang="en-US" altLang="zh-CN" kern="100" dirty="0">
              <a:solidFill>
                <a:srgbClr val="C00000"/>
              </a:solidFill>
              <a:latin typeface="Arial" panose="020B0604020202020204"/>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主成分分析</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9" name="矩形 3"/>
          <p:cNvSpPr>
            <a:spLocks noChangeArrowheads="1"/>
          </p:cNvSpPr>
          <p:nvPr/>
        </p:nvSpPr>
        <p:spPr bwMode="auto">
          <a:xfrm>
            <a:off x="971600" y="1283797"/>
            <a:ext cx="75438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lvl="0"/>
            <a:r>
              <a:rPr lang="zh-CN" altLang="en-US" sz="2000" dirty="0">
                <a:solidFill>
                  <a:srgbClr val="000000"/>
                </a:solidFill>
              </a:rPr>
              <a:t>主成分分析（</a:t>
            </a:r>
            <a:r>
              <a:rPr lang="en-US" altLang="zh-CN" sz="2000" dirty="0">
                <a:solidFill>
                  <a:srgbClr val="000000"/>
                </a:solidFill>
              </a:rPr>
              <a:t>Principal Component </a:t>
            </a:r>
            <a:r>
              <a:rPr lang="en-US" altLang="zh-CN" sz="2000" dirty="0" err="1">
                <a:solidFill>
                  <a:srgbClr val="000000"/>
                </a:solidFill>
              </a:rPr>
              <a:t>Analysis,PCA</a:t>
            </a:r>
            <a:r>
              <a:rPr lang="zh-CN" altLang="en-US" sz="2000" dirty="0">
                <a:solidFill>
                  <a:srgbClr val="000000"/>
                </a:solidFill>
              </a:rPr>
              <a:t>）通过将一个大的特征集转换成一个较小的特征集，这个特征集仍然包含了原始数据中的大部分信息，从而降低了原始数据的维数。</a:t>
            </a:r>
            <a:endParaRPr lang="zh-CN" altLang="en-US" sz="2000" dirty="0">
              <a:solidFill>
                <a:srgbClr val="000000"/>
              </a:solidFill>
            </a:endParaRPr>
          </a:p>
          <a:p>
            <a:pPr lvl="0"/>
            <a:r>
              <a:rPr lang="zh-CN" altLang="en-US" sz="2000" dirty="0">
                <a:solidFill>
                  <a:srgbClr val="000000"/>
                </a:solidFill>
              </a:rPr>
              <a:t>减少一个数据集的特征数量自然是以牺牲准确性为代价的，但降维的诀窍是用一点准确性换取简单性。因为更小的数据集更容易探索和可视化，并且对于机器学习算法来说，分析数据会更快、更容易，而不需要处理额外的特征。</a:t>
            </a:r>
            <a:endParaRPr lang="en-US" altLang="zh-CN" sz="2000" dirty="0">
              <a:solidFill>
                <a:srgbClr val="000000"/>
              </a:solidFill>
            </a:endParaRPr>
          </a:p>
          <a:p>
            <a:pPr lvl="0"/>
            <a:r>
              <a:rPr lang="zh-CN" altLang="en-US" sz="2000" dirty="0">
                <a:solidFill>
                  <a:srgbClr val="000000"/>
                </a:solidFill>
              </a:rPr>
              <a:t>主成分分析流程图：</a:t>
            </a:r>
            <a:endParaRPr lang="zh-CN" altLang="en-US" sz="2000" dirty="0">
              <a:solidFill>
                <a:srgbClr val="000000"/>
              </a:solidFill>
            </a:endParaRPr>
          </a:p>
        </p:txBody>
      </p:sp>
      <p:sp>
        <p:nvSpPr>
          <p:cNvPr id="3" name="内容占位符 5"/>
          <p:cNvSpPr>
            <a:spLocks noGrp="1"/>
          </p:cNvSpPr>
          <p:nvPr>
            <p:custDataLst>
              <p:tags r:id="rId1"/>
            </p:custDataLst>
          </p:nvPr>
        </p:nvSpPr>
        <p:spPr>
          <a:xfrm>
            <a:off x="744723" y="2612232"/>
            <a:ext cx="6798806" cy="3855924"/>
          </a:xfrm>
          <a:prstGeom prst="rect">
            <a:avLst/>
          </a:prstGeom>
        </p:spPr>
        <p:txBody>
          <a:bodyPr vert="horz" lIns="91440" tIns="45720" rIns="91440" bIns="45720" rtlCol="0">
            <a:normAutofit/>
          </a:bodyPr>
          <a:lstStyle>
            <a:lvl1pPr marL="357505" indent="-357505" algn="l" defTabSz="914400" rtl="0" eaLnBrk="1" latinLnBrk="0" hangingPunct="1">
              <a:lnSpc>
                <a:spcPct val="90000"/>
              </a:lnSpc>
              <a:spcBef>
                <a:spcPts val="1000"/>
              </a:spcBef>
              <a:buFontTx/>
              <a:buBlip>
                <a:blip r:embed="rId2"/>
              </a:buBlip>
              <a:defRPr sz="2400" kern="1200">
                <a:solidFill>
                  <a:srgbClr val="7F7F7F"/>
                </a:solidFill>
                <a:latin typeface="Arial" panose="020B0604020202020204" pitchFamily="34" charset="0"/>
                <a:ea typeface="黑体" panose="02010609060101010101" pitchFamily="2" charset="-122"/>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7F7F7F"/>
                </a:solidFill>
                <a:latin typeface="Arial" panose="020B0604020202020204" pitchFamily="34" charset="0"/>
                <a:ea typeface="黑体" panose="02010609060101010101" pitchFamily="2"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7F7F7F"/>
                </a:solidFill>
                <a:latin typeface="Arial" panose="020B0604020202020204" pitchFamily="34" charset="0"/>
                <a:ea typeface="黑体" panose="02010609060101010101" pitchFamily="2"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7F7F7F"/>
                </a:solidFill>
                <a:latin typeface="Arial" panose="020B0604020202020204" pitchFamily="34" charset="0"/>
                <a:ea typeface="黑体" panose="02010609060101010101" pitchFamily="2"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7F7F7F"/>
                </a:solidFill>
                <a:latin typeface="Arial" panose="020B0604020202020204" pitchFamily="34" charset="0"/>
                <a:ea typeface="黑体" panose="02010609060101010101" pitchFamily="2"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7F7F7F"/>
                </a:solidFill>
                <a:latin typeface="Arial" panose="020B0604020202020204" pitchFamily="34" charset="0"/>
                <a:ea typeface="黑体" panose="02010609060101010101" pitchFamily="2"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7F7F7F"/>
                </a:solidFill>
                <a:latin typeface="Arial" panose="020B0604020202020204" pitchFamily="34" charset="0"/>
                <a:ea typeface="黑体" panose="02010609060101010101" pitchFamily="2"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7F7F7F"/>
                </a:solidFill>
                <a:latin typeface="Arial" panose="020B0604020202020204" pitchFamily="34" charset="0"/>
                <a:ea typeface="黑体" panose="02010609060101010101" pitchFamily="2"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7F7F7F"/>
                </a:solidFill>
                <a:latin typeface="Arial" panose="020B0604020202020204" pitchFamily="34" charset="0"/>
                <a:ea typeface="黑体" panose="02010609060101010101" pitchFamily="2" charset="-122"/>
                <a:cs typeface="+mn-ea"/>
              </a:defRPr>
            </a:lvl9pPr>
          </a:lstStyle>
          <a:p>
            <a:pPr marL="0" indent="0">
              <a:buNone/>
            </a:pPr>
            <a:endParaRPr lang="zh-CN" altLang="en-US" sz="1600" dirty="0">
              <a:latin typeface="+mj-ea"/>
              <a:ea typeface="+mj-ea"/>
            </a:endParaRPr>
          </a:p>
          <a:p>
            <a:pPr marL="0" indent="0">
              <a:buNone/>
            </a:pPr>
            <a:endParaRPr lang="en-US" altLang="zh-CN" sz="1600" dirty="0">
              <a:solidFill>
                <a:srgbClr val="FF0000"/>
              </a:solidFill>
              <a:latin typeface="+mj-ea"/>
              <a:ea typeface="+mj-ea"/>
            </a:endParaRPr>
          </a:p>
        </p:txBody>
      </p:sp>
      <p:sp>
        <p:nvSpPr>
          <p:cNvPr id="5" name="流程图: 过程 4"/>
          <p:cNvSpPr/>
          <p:nvPr/>
        </p:nvSpPr>
        <p:spPr>
          <a:xfrm>
            <a:off x="3875375" y="4077836"/>
            <a:ext cx="1330612" cy="846998"/>
          </a:xfrm>
          <a:prstGeom prst="flowChartProcess">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1600" dirty="0">
                <a:solidFill>
                  <a:schemeClr val="bg1"/>
                </a:solidFill>
                <a:uFillTx/>
                <a:latin typeface="+mj-ea"/>
                <a:ea typeface="+mj-ea"/>
                <a:sym typeface="+mn-ea"/>
              </a:rPr>
              <a:t>原始指标的线性组合</a:t>
            </a:r>
            <a:endParaRPr lang="zh-CN" altLang="en-US" sz="1600" dirty="0">
              <a:solidFill>
                <a:schemeClr val="bg1"/>
              </a:solidFill>
              <a:uFillTx/>
              <a:latin typeface="+mj-ea"/>
              <a:ea typeface="+mj-ea"/>
              <a:sym typeface="+mn-ea"/>
            </a:endParaRPr>
          </a:p>
        </p:txBody>
      </p:sp>
      <p:cxnSp>
        <p:nvCxnSpPr>
          <p:cNvPr id="6" name="直接箭头连接符 5"/>
          <p:cNvCxnSpPr>
            <a:stCxn id="5" idx="3"/>
            <a:endCxn id="7" idx="1"/>
          </p:cNvCxnSpPr>
          <p:nvPr/>
        </p:nvCxnSpPr>
        <p:spPr>
          <a:xfrm>
            <a:off x="5205987" y="4501335"/>
            <a:ext cx="814595" cy="8237"/>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
        <p:nvSpPr>
          <p:cNvPr id="7" name="流程图: 决策 6"/>
          <p:cNvSpPr/>
          <p:nvPr/>
        </p:nvSpPr>
        <p:spPr>
          <a:xfrm>
            <a:off x="6020582" y="3861048"/>
            <a:ext cx="2808311" cy="1297047"/>
          </a:xfrm>
          <a:prstGeom prst="flowChartDecision">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dirty="0">
                <a:solidFill>
                  <a:schemeClr val="bg1"/>
                </a:solidFill>
                <a:uFillTx/>
                <a:latin typeface="+mj-ea"/>
                <a:ea typeface="+mj-ea"/>
                <a:sym typeface="+mn-ea"/>
              </a:rPr>
              <a:t>综合指标间不相关，且方差递减</a:t>
            </a:r>
            <a:endParaRPr lang="zh-CN" altLang="en-US" sz="1600" dirty="0">
              <a:solidFill>
                <a:schemeClr val="bg1"/>
              </a:solidFill>
              <a:uFillTx/>
              <a:latin typeface="+mj-ea"/>
              <a:ea typeface="+mj-ea"/>
              <a:sym typeface="+mn-ea"/>
            </a:endParaRPr>
          </a:p>
        </p:txBody>
      </p:sp>
      <p:cxnSp>
        <p:nvCxnSpPr>
          <p:cNvPr id="8" name="直接箭头连接符 7"/>
          <p:cNvCxnSpPr>
            <a:stCxn id="7" idx="2"/>
            <a:endCxn id="10" idx="0"/>
          </p:cNvCxnSpPr>
          <p:nvPr/>
        </p:nvCxnSpPr>
        <p:spPr>
          <a:xfrm>
            <a:off x="7424738" y="5158095"/>
            <a:ext cx="7259" cy="247974"/>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
        <p:nvSpPr>
          <p:cNvPr id="10" name="流程图: 过程 9"/>
          <p:cNvSpPr/>
          <p:nvPr/>
        </p:nvSpPr>
        <p:spPr>
          <a:xfrm>
            <a:off x="6289009" y="5406069"/>
            <a:ext cx="2285975" cy="772108"/>
          </a:xfrm>
          <a:prstGeom prst="flowChartProcess">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1600" dirty="0">
                <a:solidFill>
                  <a:schemeClr val="bg1"/>
                </a:solidFill>
                <a:uFillTx/>
                <a:latin typeface="+mj-ea"/>
                <a:ea typeface="+mj-ea"/>
              </a:rPr>
              <a:t>第一主成分，第二主成分，…第p主成分</a:t>
            </a:r>
            <a:endParaRPr lang="zh-CN" altLang="en-US" sz="1600" dirty="0">
              <a:solidFill>
                <a:schemeClr val="bg1"/>
              </a:solidFill>
              <a:uFillTx/>
              <a:latin typeface="+mj-ea"/>
              <a:ea typeface="+mj-ea"/>
            </a:endParaRPr>
          </a:p>
        </p:txBody>
      </p:sp>
      <p:sp>
        <p:nvSpPr>
          <p:cNvPr id="11" name="流程图: 过程 10"/>
          <p:cNvSpPr/>
          <p:nvPr/>
        </p:nvSpPr>
        <p:spPr>
          <a:xfrm>
            <a:off x="1297209" y="5356780"/>
            <a:ext cx="3202336" cy="821156"/>
          </a:xfrm>
          <a:prstGeom prst="flowChartProcess">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dirty="0">
                <a:solidFill>
                  <a:schemeClr val="bg1"/>
                </a:solidFill>
                <a:uFillTx/>
                <a:latin typeface="+mj-ea"/>
                <a:ea typeface="+mj-ea"/>
                <a:sym typeface="+mn-ea"/>
              </a:rPr>
              <a:t>选取前几个最大的主成分代替原来指标的信息</a:t>
            </a:r>
            <a:endParaRPr lang="zh-CN" altLang="en-US" sz="1600" dirty="0">
              <a:solidFill>
                <a:schemeClr val="bg1"/>
              </a:solidFill>
              <a:uFillTx/>
              <a:latin typeface="+mj-ea"/>
              <a:ea typeface="+mj-ea"/>
              <a:sym typeface="+mn-ea"/>
            </a:endParaRPr>
          </a:p>
        </p:txBody>
      </p:sp>
      <p:cxnSp>
        <p:nvCxnSpPr>
          <p:cNvPr id="12" name="直接箭头连接符 11"/>
          <p:cNvCxnSpPr>
            <a:stCxn id="10" idx="1"/>
            <a:endCxn id="11" idx="3"/>
          </p:cNvCxnSpPr>
          <p:nvPr/>
        </p:nvCxnSpPr>
        <p:spPr>
          <a:xfrm flipH="1" flipV="1">
            <a:off x="4499579" y="5767993"/>
            <a:ext cx="1789430" cy="24130"/>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13" name="直接箭头连接符 12"/>
          <p:cNvCxnSpPr>
            <a:stCxn id="14" idx="3"/>
            <a:endCxn id="5" idx="1"/>
          </p:cNvCxnSpPr>
          <p:nvPr/>
        </p:nvCxnSpPr>
        <p:spPr>
          <a:xfrm>
            <a:off x="2940512" y="4500808"/>
            <a:ext cx="934863" cy="527"/>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
        <p:nvSpPr>
          <p:cNvPr id="14" name="流程图: 过程 13"/>
          <p:cNvSpPr/>
          <p:nvPr/>
        </p:nvSpPr>
        <p:spPr>
          <a:xfrm>
            <a:off x="1295825" y="4076781"/>
            <a:ext cx="1644687" cy="848053"/>
          </a:xfrm>
          <a:prstGeom prst="flowChartProcess">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1600" dirty="0">
                <a:solidFill>
                  <a:schemeClr val="bg1"/>
                </a:solidFill>
                <a:uFillTx/>
                <a:latin typeface="+mj-ea"/>
                <a:ea typeface="+mj-ea"/>
                <a:sym typeface="+mn-ea"/>
              </a:rPr>
              <a:t>尽可能多地找出相关指标作为原始指标</a:t>
            </a:r>
            <a:endParaRPr lang="zh-CN" altLang="en-US" sz="1600" dirty="0">
              <a:solidFill>
                <a:schemeClr val="bg1"/>
              </a:solidFill>
              <a:uFillTx/>
              <a:latin typeface="+mj-ea"/>
              <a:ea typeface="+mj-ea"/>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主成分分析</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grpSp>
        <p:nvGrpSpPr>
          <p:cNvPr id="64" name="组合 63"/>
          <p:cNvGrpSpPr/>
          <p:nvPr/>
        </p:nvGrpSpPr>
        <p:grpSpPr>
          <a:xfrm>
            <a:off x="4388237" y="908720"/>
            <a:ext cx="4477978" cy="5437823"/>
            <a:chOff x="1982297" y="239713"/>
            <a:chExt cx="5486400" cy="6457950"/>
          </a:xfrm>
        </p:grpSpPr>
        <p:sp>
          <p:nvSpPr>
            <p:cNvPr id="15" name="Line 2"/>
            <p:cNvSpPr/>
            <p:nvPr/>
          </p:nvSpPr>
          <p:spPr>
            <a:xfrm flipV="1">
              <a:off x="3963497" y="921702"/>
              <a:ext cx="0" cy="5334000"/>
            </a:xfrm>
            <a:prstGeom prst="line">
              <a:avLst/>
            </a:prstGeom>
            <a:ln w="28575" cap="flat" cmpd="sng">
              <a:solidFill>
                <a:schemeClr val="tx1"/>
              </a:solidFill>
              <a:prstDash val="solid"/>
              <a:miter/>
              <a:headEnd type="none" w="med" len="med"/>
              <a:tailEnd type="triangle" w="med" len="med"/>
            </a:ln>
          </p:spPr>
          <p:txBody>
            <a:bodyPr/>
            <a:lstStyle/>
            <a:p>
              <a:endParaRPr lang="zh-CN" altLang="en-US"/>
            </a:p>
          </p:txBody>
        </p:sp>
        <p:sp>
          <p:nvSpPr>
            <p:cNvPr id="16" name="Oval 3"/>
            <p:cNvSpPr/>
            <p:nvPr/>
          </p:nvSpPr>
          <p:spPr>
            <a:xfrm rot="18850805">
              <a:off x="2058497" y="2286000"/>
              <a:ext cx="4876800" cy="2286000"/>
            </a:xfrm>
            <a:prstGeom prst="ellipse">
              <a:avLst/>
            </a:prstGeom>
            <a:noFill/>
            <a:ln w="2857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7" name="Line 4"/>
            <p:cNvSpPr/>
            <p:nvPr/>
          </p:nvSpPr>
          <p:spPr>
            <a:xfrm rot="18793590">
              <a:off x="1221885" y="3430588"/>
              <a:ext cx="6457950" cy="76200"/>
            </a:xfrm>
            <a:prstGeom prst="line">
              <a:avLst/>
            </a:prstGeom>
            <a:ln w="28575" cap="flat" cmpd="sng">
              <a:solidFill>
                <a:srgbClr val="CC3300"/>
              </a:solidFill>
              <a:prstDash val="solid"/>
              <a:miter/>
              <a:headEnd type="none" w="med" len="med"/>
              <a:tailEnd type="triangle" w="med" len="med"/>
            </a:ln>
          </p:spPr>
          <p:txBody>
            <a:bodyPr/>
            <a:lstStyle/>
            <a:p>
              <a:endParaRPr lang="zh-CN" altLang="en-US"/>
            </a:p>
          </p:txBody>
        </p:sp>
        <p:sp>
          <p:nvSpPr>
            <p:cNvPr id="18" name="Line 5"/>
            <p:cNvSpPr/>
            <p:nvPr/>
          </p:nvSpPr>
          <p:spPr>
            <a:xfrm>
              <a:off x="1982297" y="3924299"/>
              <a:ext cx="5486400" cy="0"/>
            </a:xfrm>
            <a:prstGeom prst="line">
              <a:avLst/>
            </a:prstGeom>
            <a:ln w="28575" cap="flat" cmpd="sng">
              <a:solidFill>
                <a:schemeClr val="tx1"/>
              </a:solidFill>
              <a:prstDash val="solid"/>
              <a:miter/>
              <a:headEnd type="none" w="med" len="med"/>
              <a:tailEnd type="triangle" w="med" len="med"/>
            </a:ln>
          </p:spPr>
          <p:txBody>
            <a:bodyPr/>
            <a:lstStyle/>
            <a:p>
              <a:endParaRPr lang="zh-CN" altLang="en-US"/>
            </a:p>
          </p:txBody>
        </p:sp>
        <p:sp>
          <p:nvSpPr>
            <p:cNvPr id="19" name="Line 6"/>
            <p:cNvSpPr/>
            <p:nvPr/>
          </p:nvSpPr>
          <p:spPr>
            <a:xfrm rot="18996666" flipV="1">
              <a:off x="4649297" y="1143000"/>
              <a:ext cx="1588" cy="5334000"/>
            </a:xfrm>
            <a:prstGeom prst="line">
              <a:avLst/>
            </a:prstGeom>
            <a:ln w="28575" cap="flat" cmpd="sng">
              <a:solidFill>
                <a:srgbClr val="CC3300"/>
              </a:solidFill>
              <a:prstDash val="solid"/>
              <a:miter/>
              <a:headEnd type="none" w="med" len="med"/>
              <a:tailEnd type="triangle" w="med" len="med"/>
            </a:ln>
          </p:spPr>
          <p:txBody>
            <a:bodyPr/>
            <a:lstStyle/>
            <a:p>
              <a:endParaRPr lang="zh-CN" altLang="en-US"/>
            </a:p>
          </p:txBody>
        </p:sp>
        <p:sp>
          <p:nvSpPr>
            <p:cNvPr id="20" name="Rectangle 7"/>
            <p:cNvSpPr/>
            <p:nvPr/>
          </p:nvSpPr>
          <p:spPr>
            <a:xfrm>
              <a:off x="4420697" y="26670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graphicFrame>
          <p:nvGraphicFramePr>
            <p:cNvPr id="21" name="Object 8"/>
            <p:cNvGraphicFramePr>
              <a:graphicFrameLocks noChangeAspect="1"/>
            </p:cNvGraphicFramePr>
            <p:nvPr/>
          </p:nvGraphicFramePr>
          <p:xfrm>
            <a:off x="4249247" y="990600"/>
            <a:ext cx="304800" cy="419100"/>
          </p:xfrm>
          <a:graphic>
            <a:graphicData uri="http://schemas.openxmlformats.org/presentationml/2006/ole">
              <mc:AlternateContent xmlns:mc="http://schemas.openxmlformats.org/markup-compatibility/2006">
                <mc:Choice xmlns:v="urn:schemas-microsoft-com:vml" Requires="v">
                  <p:oleObj spid="_x0000_s3" name="" r:id="rId1" imgW="301625" imgH="414655" progId="Equation.3">
                    <p:embed/>
                  </p:oleObj>
                </mc:Choice>
                <mc:Fallback>
                  <p:oleObj name="" r:id="rId1" imgW="301625" imgH="414655" progId="Equation.3">
                    <p:embed/>
                    <p:pic>
                      <p:nvPicPr>
                        <p:cNvPr id="0" name="Object 8"/>
                        <p:cNvPicPr/>
                        <p:nvPr/>
                      </p:nvPicPr>
                      <p:blipFill>
                        <a:blip r:embed="rId2">
                          <a:clrChange>
                            <a:clrFrom>
                              <a:srgbClr val="000000"/>
                            </a:clrFrom>
                            <a:clrTo>
                              <a:srgbClr val="000000"/>
                            </a:clrTo>
                          </a:clrChange>
                        </a:blip>
                        <a:stretch>
                          <a:fillRect/>
                        </a:stretch>
                      </p:blipFill>
                      <p:spPr>
                        <a:xfrm>
                          <a:off x="4249247" y="990600"/>
                          <a:ext cx="304800" cy="419100"/>
                        </a:xfrm>
                        <a:prstGeom prst="rect">
                          <a:avLst/>
                        </a:prstGeom>
                        <a:noFill/>
                        <a:ln w="38100">
                          <a:noFill/>
                          <a:miter/>
                        </a:ln>
                      </p:spPr>
                    </p:pic>
                  </p:oleObj>
                </mc:Fallback>
              </mc:AlternateContent>
            </a:graphicData>
          </a:graphic>
        </p:graphicFrame>
        <p:graphicFrame>
          <p:nvGraphicFramePr>
            <p:cNvPr id="22" name="Object 9"/>
            <p:cNvGraphicFramePr>
              <a:graphicFrameLocks noChangeAspect="1"/>
            </p:cNvGraphicFramePr>
            <p:nvPr/>
          </p:nvGraphicFramePr>
          <p:xfrm>
            <a:off x="7163897" y="3886200"/>
            <a:ext cx="266700" cy="419100"/>
          </p:xfrm>
          <a:graphic>
            <a:graphicData uri="http://schemas.openxmlformats.org/presentationml/2006/ole">
              <mc:AlternateContent xmlns:mc="http://schemas.openxmlformats.org/markup-compatibility/2006">
                <mc:Choice xmlns:v="urn:schemas-microsoft-com:vml" Requires="v">
                  <p:oleObj spid="_x0000_s5" name="" r:id="rId3" imgW="264160" imgH="414655" progId="Equation.3">
                    <p:embed/>
                  </p:oleObj>
                </mc:Choice>
                <mc:Fallback>
                  <p:oleObj name="" r:id="rId3" imgW="264160" imgH="414655" progId="Equation.3">
                    <p:embed/>
                    <p:pic>
                      <p:nvPicPr>
                        <p:cNvPr id="0" name="Object 9"/>
                        <p:cNvPicPr/>
                        <p:nvPr/>
                      </p:nvPicPr>
                      <p:blipFill>
                        <a:blip r:embed="rId4">
                          <a:clrChange>
                            <a:clrFrom>
                              <a:srgbClr val="000000"/>
                            </a:clrFrom>
                            <a:clrTo>
                              <a:srgbClr val="000000"/>
                            </a:clrTo>
                          </a:clrChange>
                        </a:blip>
                        <a:stretch>
                          <a:fillRect/>
                        </a:stretch>
                      </p:blipFill>
                      <p:spPr>
                        <a:xfrm>
                          <a:off x="7163897" y="3886200"/>
                          <a:ext cx="266700" cy="419100"/>
                        </a:xfrm>
                        <a:prstGeom prst="rect">
                          <a:avLst/>
                        </a:prstGeom>
                        <a:noFill/>
                        <a:ln w="38100">
                          <a:noFill/>
                          <a:miter/>
                        </a:ln>
                      </p:spPr>
                    </p:pic>
                  </p:oleObj>
                </mc:Fallback>
              </mc:AlternateContent>
            </a:graphicData>
          </a:graphic>
        </p:graphicFrame>
        <p:graphicFrame>
          <p:nvGraphicFramePr>
            <p:cNvPr id="23" name="Object 10"/>
            <p:cNvGraphicFramePr>
              <a:graphicFrameLocks noChangeAspect="1"/>
            </p:cNvGraphicFramePr>
            <p:nvPr/>
          </p:nvGraphicFramePr>
          <p:xfrm>
            <a:off x="6906739" y="921702"/>
            <a:ext cx="339090" cy="556895"/>
          </p:xfrm>
          <a:graphic>
            <a:graphicData uri="http://schemas.openxmlformats.org/presentationml/2006/ole">
              <mc:AlternateContent xmlns:mc="http://schemas.openxmlformats.org/markup-compatibility/2006">
                <mc:Choice xmlns:v="urn:schemas-microsoft-com:vml" Requires="v">
                  <p:oleObj spid="_x0000_s6" name="" r:id="rId5" imgW="139700" imgH="228600" progId="Equation.3">
                    <p:embed/>
                  </p:oleObj>
                </mc:Choice>
                <mc:Fallback>
                  <p:oleObj name="" r:id="rId5" imgW="139700" imgH="228600" progId="Equation.3">
                    <p:embed/>
                    <p:pic>
                      <p:nvPicPr>
                        <p:cNvPr id="0" name="Object 10"/>
                        <p:cNvPicPr/>
                        <p:nvPr/>
                      </p:nvPicPr>
                      <p:blipFill>
                        <a:blip r:embed="rId6"/>
                        <a:stretch>
                          <a:fillRect/>
                        </a:stretch>
                      </p:blipFill>
                      <p:spPr>
                        <a:xfrm>
                          <a:off x="6906739" y="921702"/>
                          <a:ext cx="339090" cy="556895"/>
                        </a:xfrm>
                        <a:prstGeom prst="rect">
                          <a:avLst/>
                        </a:prstGeom>
                        <a:noFill/>
                        <a:ln w="38100">
                          <a:noFill/>
                          <a:miter/>
                        </a:ln>
                      </p:spPr>
                    </p:pic>
                  </p:oleObj>
                </mc:Fallback>
              </mc:AlternateContent>
            </a:graphicData>
          </a:graphic>
        </p:graphicFrame>
        <p:graphicFrame>
          <p:nvGraphicFramePr>
            <p:cNvPr id="24" name="Object 11"/>
            <p:cNvGraphicFramePr>
              <a:graphicFrameLocks noChangeAspect="1"/>
            </p:cNvGraphicFramePr>
            <p:nvPr/>
          </p:nvGraphicFramePr>
          <p:xfrm>
            <a:off x="2607931" y="1413828"/>
            <a:ext cx="321945" cy="439420"/>
          </p:xfrm>
          <a:graphic>
            <a:graphicData uri="http://schemas.openxmlformats.org/presentationml/2006/ole">
              <mc:AlternateContent xmlns:mc="http://schemas.openxmlformats.org/markup-compatibility/2006">
                <mc:Choice xmlns:v="urn:schemas-microsoft-com:vml" Requires="v">
                  <p:oleObj spid="_x0000_s7" name="" r:id="rId7" imgW="165100" imgH="228600" progId="Equation.3">
                    <p:embed/>
                  </p:oleObj>
                </mc:Choice>
                <mc:Fallback>
                  <p:oleObj name="" r:id="rId7" imgW="165100" imgH="228600" progId="Equation.3">
                    <p:embed/>
                    <p:pic>
                      <p:nvPicPr>
                        <p:cNvPr id="0" name="Object 11"/>
                        <p:cNvPicPr/>
                        <p:nvPr/>
                      </p:nvPicPr>
                      <p:blipFill>
                        <a:blip r:embed="rId8"/>
                        <a:stretch>
                          <a:fillRect/>
                        </a:stretch>
                      </p:blipFill>
                      <p:spPr>
                        <a:xfrm>
                          <a:off x="2607931" y="1413828"/>
                          <a:ext cx="321945" cy="439420"/>
                        </a:xfrm>
                        <a:prstGeom prst="rect">
                          <a:avLst/>
                        </a:prstGeom>
                        <a:noFill/>
                        <a:ln w="38100">
                          <a:noFill/>
                          <a:miter/>
                        </a:ln>
                      </p:spPr>
                    </p:pic>
                  </p:oleObj>
                </mc:Fallback>
              </mc:AlternateContent>
            </a:graphicData>
          </a:graphic>
        </p:graphicFrame>
        <p:sp>
          <p:nvSpPr>
            <p:cNvPr id="25" name="Rectangle 12"/>
            <p:cNvSpPr/>
            <p:nvPr/>
          </p:nvSpPr>
          <p:spPr>
            <a:xfrm>
              <a:off x="4725497" y="23622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26" name="Rectangle 13"/>
            <p:cNvSpPr/>
            <p:nvPr/>
          </p:nvSpPr>
          <p:spPr>
            <a:xfrm>
              <a:off x="5030297" y="28194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27" name="Rectangle 14"/>
            <p:cNvSpPr/>
            <p:nvPr/>
          </p:nvSpPr>
          <p:spPr>
            <a:xfrm>
              <a:off x="4877897" y="20574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28" name="Rectangle 15"/>
            <p:cNvSpPr/>
            <p:nvPr/>
          </p:nvSpPr>
          <p:spPr>
            <a:xfrm>
              <a:off x="5335097" y="23622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29" name="Rectangle 16"/>
            <p:cNvSpPr/>
            <p:nvPr/>
          </p:nvSpPr>
          <p:spPr>
            <a:xfrm>
              <a:off x="5411297" y="19812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30" name="Rectangle 17"/>
            <p:cNvSpPr/>
            <p:nvPr/>
          </p:nvSpPr>
          <p:spPr>
            <a:xfrm>
              <a:off x="5487497" y="25908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31" name="Rectangle 18"/>
            <p:cNvSpPr/>
            <p:nvPr/>
          </p:nvSpPr>
          <p:spPr>
            <a:xfrm>
              <a:off x="5411297" y="34290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32" name="Rectangle 19"/>
            <p:cNvSpPr/>
            <p:nvPr/>
          </p:nvSpPr>
          <p:spPr>
            <a:xfrm>
              <a:off x="5716097" y="28194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33" name="Rectangle 20"/>
            <p:cNvSpPr/>
            <p:nvPr/>
          </p:nvSpPr>
          <p:spPr>
            <a:xfrm>
              <a:off x="4420697" y="31242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34" name="Rectangle 21"/>
            <p:cNvSpPr/>
            <p:nvPr/>
          </p:nvSpPr>
          <p:spPr>
            <a:xfrm>
              <a:off x="4725497" y="29718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35" name="Rectangle 22"/>
            <p:cNvSpPr/>
            <p:nvPr/>
          </p:nvSpPr>
          <p:spPr>
            <a:xfrm>
              <a:off x="4877897" y="31242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36" name="Rectangle 23"/>
            <p:cNvSpPr/>
            <p:nvPr/>
          </p:nvSpPr>
          <p:spPr>
            <a:xfrm>
              <a:off x="4725497" y="35814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37" name="Rectangle 24"/>
            <p:cNvSpPr/>
            <p:nvPr/>
          </p:nvSpPr>
          <p:spPr>
            <a:xfrm>
              <a:off x="5182697" y="34290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38" name="Rectangle 25"/>
            <p:cNvSpPr/>
            <p:nvPr/>
          </p:nvSpPr>
          <p:spPr>
            <a:xfrm>
              <a:off x="4039697" y="43434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39" name="Rectangle 26"/>
            <p:cNvSpPr/>
            <p:nvPr/>
          </p:nvSpPr>
          <p:spPr>
            <a:xfrm>
              <a:off x="5335097" y="35814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40" name="Rectangle 27"/>
            <p:cNvSpPr/>
            <p:nvPr/>
          </p:nvSpPr>
          <p:spPr>
            <a:xfrm>
              <a:off x="3049097" y="38100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41" name="Rectangle 28"/>
            <p:cNvSpPr/>
            <p:nvPr/>
          </p:nvSpPr>
          <p:spPr>
            <a:xfrm>
              <a:off x="4192097" y="23622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42" name="Rectangle 29"/>
            <p:cNvSpPr/>
            <p:nvPr/>
          </p:nvSpPr>
          <p:spPr>
            <a:xfrm>
              <a:off x="5258897" y="31242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43" name="Rectangle 30"/>
            <p:cNvSpPr/>
            <p:nvPr/>
          </p:nvSpPr>
          <p:spPr>
            <a:xfrm>
              <a:off x="3506297" y="32004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44" name="Rectangle 31"/>
            <p:cNvSpPr/>
            <p:nvPr/>
          </p:nvSpPr>
          <p:spPr>
            <a:xfrm>
              <a:off x="2896697" y="41910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45" name="Rectangle 32"/>
            <p:cNvSpPr/>
            <p:nvPr/>
          </p:nvSpPr>
          <p:spPr>
            <a:xfrm>
              <a:off x="3430097" y="40386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46" name="Rectangle 33"/>
            <p:cNvSpPr/>
            <p:nvPr/>
          </p:nvSpPr>
          <p:spPr>
            <a:xfrm>
              <a:off x="3049097" y="43434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47" name="Rectangle 34"/>
            <p:cNvSpPr/>
            <p:nvPr/>
          </p:nvSpPr>
          <p:spPr>
            <a:xfrm>
              <a:off x="3277697" y="49530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48" name="Rectangle 35"/>
            <p:cNvSpPr/>
            <p:nvPr/>
          </p:nvSpPr>
          <p:spPr>
            <a:xfrm>
              <a:off x="4420697" y="44958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49" name="Rectangle 36"/>
            <p:cNvSpPr/>
            <p:nvPr/>
          </p:nvSpPr>
          <p:spPr>
            <a:xfrm>
              <a:off x="4268297" y="38862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50" name="Rectangle 37"/>
            <p:cNvSpPr/>
            <p:nvPr/>
          </p:nvSpPr>
          <p:spPr>
            <a:xfrm>
              <a:off x="3582497" y="44958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51" name="Rectangle 38"/>
            <p:cNvSpPr/>
            <p:nvPr/>
          </p:nvSpPr>
          <p:spPr>
            <a:xfrm>
              <a:off x="2820497" y="44196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52" name="Rectangle 39"/>
            <p:cNvSpPr/>
            <p:nvPr/>
          </p:nvSpPr>
          <p:spPr>
            <a:xfrm>
              <a:off x="2972897" y="35814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53" name="Rectangle 40"/>
            <p:cNvSpPr/>
            <p:nvPr/>
          </p:nvSpPr>
          <p:spPr>
            <a:xfrm>
              <a:off x="3430097" y="38100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54" name="Rectangle 41"/>
            <p:cNvSpPr/>
            <p:nvPr/>
          </p:nvSpPr>
          <p:spPr>
            <a:xfrm>
              <a:off x="3201497" y="3200400"/>
              <a:ext cx="533400" cy="3810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55" name="Rectangle 42"/>
            <p:cNvSpPr/>
            <p:nvPr/>
          </p:nvSpPr>
          <p:spPr>
            <a:xfrm>
              <a:off x="2972897" y="48768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56" name="Rectangle 43"/>
            <p:cNvSpPr/>
            <p:nvPr/>
          </p:nvSpPr>
          <p:spPr>
            <a:xfrm>
              <a:off x="5944697" y="23622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57" name="Rectangle 44"/>
            <p:cNvSpPr/>
            <p:nvPr/>
          </p:nvSpPr>
          <p:spPr>
            <a:xfrm>
              <a:off x="5716097" y="18288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58" name="Rectangle 45"/>
            <p:cNvSpPr/>
            <p:nvPr/>
          </p:nvSpPr>
          <p:spPr>
            <a:xfrm>
              <a:off x="5182697" y="19050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59" name="Rectangle 46"/>
            <p:cNvSpPr/>
            <p:nvPr/>
          </p:nvSpPr>
          <p:spPr>
            <a:xfrm>
              <a:off x="4801697" y="19812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60" name="Rectangle 47"/>
            <p:cNvSpPr/>
            <p:nvPr/>
          </p:nvSpPr>
          <p:spPr>
            <a:xfrm>
              <a:off x="4039697" y="2667000"/>
              <a:ext cx="381000" cy="228600"/>
            </a:xfrm>
            <a:prstGeom prst="rect">
              <a:avLst/>
            </a:prstGeom>
            <a:noFill/>
            <a:ln w="9525">
              <a:noFill/>
            </a:ln>
          </p:spPr>
          <p:txBody>
            <a:bodyPr wrap="none" anchor="ctr"/>
            <a:lstStyle/>
            <a:p>
              <a:pPr lvl="0" indent="0" algn="ctr"/>
              <a:r>
                <a:rPr lang="en-US" altLang="zh-CN" sz="2800" b="0" dirty="0">
                  <a:latin typeface="Times New Roman" panose="02020603050405020304" pitchFamily="18" charset="0"/>
                  <a:ea typeface="Times New Roman" panose="02020603050405020304" pitchFamily="18" charset="0"/>
                </a:rPr>
                <a:t>•</a:t>
              </a:r>
              <a:endParaRPr lang="en-US" altLang="zh-CN" sz="2800" b="0" dirty="0">
                <a:latin typeface="Times New Roman" panose="02020603050405020304" pitchFamily="18" charset="0"/>
                <a:ea typeface="华文琥珀" panose="02010800040101010101" pitchFamily="2" charset="-122"/>
              </a:endParaRPr>
            </a:p>
          </p:txBody>
        </p:sp>
        <p:sp>
          <p:nvSpPr>
            <p:cNvPr id="62" name="Rectangle 49"/>
            <p:cNvSpPr/>
            <p:nvPr/>
          </p:nvSpPr>
          <p:spPr>
            <a:xfrm>
              <a:off x="4039304" y="5605754"/>
              <a:ext cx="2236510" cy="400110"/>
            </a:xfrm>
            <a:prstGeom prst="rect">
              <a:avLst/>
            </a:prstGeom>
            <a:noFill/>
            <a:ln w="9525">
              <a:noFill/>
            </a:ln>
          </p:spPr>
          <p:txBody>
            <a:bodyPr wrap="none" anchor="t">
              <a:spAutoFit/>
            </a:bodyPr>
            <a:lstStyle/>
            <a:p>
              <a:pPr lvl="0" indent="0"/>
              <a:r>
                <a:rPr lang="zh-CN" altLang="en-US" sz="2000" b="0" dirty="0">
                  <a:solidFill>
                    <a:srgbClr val="FF0066"/>
                  </a:solidFill>
                  <a:latin typeface="微软雅黑" panose="020B0503020204020204" pitchFamily="34" charset="-122"/>
                </a:rPr>
                <a:t>平移、旋转坐标轴</a:t>
              </a:r>
              <a:endParaRPr lang="zh-CN" altLang="en-US" sz="2000" b="0" dirty="0">
                <a:solidFill>
                  <a:srgbClr val="FF0066"/>
                </a:solidFill>
                <a:latin typeface="微软雅黑" panose="020B0503020204020204" pitchFamily="34" charset="-122"/>
              </a:endParaRPr>
            </a:p>
          </p:txBody>
        </p:sp>
      </p:grpSp>
      <p:sp>
        <p:nvSpPr>
          <p:cNvPr id="67" name="矩形 3"/>
          <p:cNvSpPr>
            <a:spLocks noChangeArrowheads="1"/>
          </p:cNvSpPr>
          <p:nvPr/>
        </p:nvSpPr>
        <p:spPr bwMode="auto">
          <a:xfrm>
            <a:off x="327660" y="1551940"/>
            <a:ext cx="4212590" cy="3661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lvl="0"/>
            <a:r>
              <a:rPr lang="zh-CN" altLang="en-US" sz="2000" dirty="0">
                <a:solidFill>
                  <a:srgbClr val="000000"/>
                </a:solidFill>
              </a:rPr>
              <a:t>主成分分析的几何解释：</a:t>
            </a:r>
            <a:endParaRPr lang="en-US" altLang="zh-CN" sz="2000" dirty="0">
              <a:solidFill>
                <a:srgbClr val="000000"/>
              </a:solidFill>
            </a:endParaRPr>
          </a:p>
          <a:p>
            <a:r>
              <a:rPr lang="zh-CN" altLang="en-US" sz="2000" dirty="0"/>
              <a:t>旋转变换的目的是为了使得</a:t>
            </a:r>
            <a:r>
              <a:rPr lang="en-US" altLang="zh-CN" sz="2000" dirty="0"/>
              <a:t>n</a:t>
            </a:r>
            <a:r>
              <a:rPr lang="zh-CN" altLang="en-US" sz="2000" dirty="0"/>
              <a:t>个样品点在</a:t>
            </a:r>
            <a:r>
              <a:rPr lang="en-US" altLang="zh-CN" sz="2000" dirty="0"/>
              <a:t>F</a:t>
            </a:r>
            <a:r>
              <a:rPr lang="en-US" altLang="zh-CN" sz="2000" baseline="-25000" dirty="0"/>
              <a:t>l</a:t>
            </a:r>
            <a:r>
              <a:rPr lang="zh-CN" altLang="en-US" sz="2000" dirty="0"/>
              <a:t>轴方向上的离散程度最大，即</a:t>
            </a:r>
            <a:r>
              <a:rPr lang="en-US" altLang="zh-CN" sz="2000" dirty="0"/>
              <a:t>F</a:t>
            </a:r>
            <a:r>
              <a:rPr lang="en-US" altLang="zh-CN" sz="2000" baseline="-25000" dirty="0"/>
              <a:t>l</a:t>
            </a:r>
            <a:r>
              <a:rPr lang="zh-CN" altLang="en-US" sz="2000" dirty="0"/>
              <a:t>的方差最大。变量</a:t>
            </a:r>
            <a:r>
              <a:rPr lang="en-US" altLang="zh-CN" sz="2000" dirty="0"/>
              <a:t>F</a:t>
            </a:r>
            <a:r>
              <a:rPr lang="en-US" altLang="zh-CN" sz="2000" baseline="-25000" dirty="0"/>
              <a:t>l</a:t>
            </a:r>
            <a:r>
              <a:rPr lang="zh-CN" altLang="en-US" sz="2000" dirty="0"/>
              <a:t>代表了原始数据的绝大部分信息，在研究某问题时，即使不考虑变量</a:t>
            </a:r>
            <a:r>
              <a:rPr lang="en-US" altLang="zh-CN" sz="2000" dirty="0"/>
              <a:t>F</a:t>
            </a:r>
            <a:r>
              <a:rPr lang="en-US" altLang="zh-CN" sz="2000" baseline="-25000" dirty="0"/>
              <a:t>2</a:t>
            </a:r>
            <a:r>
              <a:rPr lang="zh-CN" altLang="en-US" sz="2000" dirty="0"/>
              <a:t>也无损大局。</a:t>
            </a:r>
            <a:endParaRPr lang="en-US" altLang="zh-CN" sz="2000" dirty="0"/>
          </a:p>
          <a:p>
            <a:r>
              <a:rPr lang="zh-CN" altLang="en-US" sz="2000" dirty="0"/>
              <a:t>经过上述旋转变换原始数据的大部分信息集中到</a:t>
            </a:r>
            <a:r>
              <a:rPr lang="en-US" altLang="zh-CN" sz="2000" dirty="0"/>
              <a:t>F</a:t>
            </a:r>
            <a:r>
              <a:rPr lang="en-US" altLang="zh-CN" sz="2000" baseline="-25000" dirty="0"/>
              <a:t>l</a:t>
            </a:r>
            <a:r>
              <a:rPr lang="zh-CN" altLang="en-US" sz="2000" dirty="0"/>
              <a:t>轴上，对数据中包含的信息起到了浓缩作用。</a:t>
            </a:r>
            <a:endParaRPr lang="zh-CN" altLang="en-US" sz="2000" dirty="0"/>
          </a:p>
          <a:p>
            <a:pPr lvl="0"/>
            <a:endParaRPr lang="en-US" altLang="zh-CN" sz="2000" dirty="0">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a:t>
            </a:r>
            <a:endParaRPr lang="zh-CN" altLang="en-US"/>
          </a:p>
        </p:txBody>
      </p:sp>
      <p:pic>
        <p:nvPicPr>
          <p:cNvPr id="5" name="内容占位符 4"/>
          <p:cNvPicPr>
            <a:picLocks noChangeAspect="1"/>
          </p:cNvPicPr>
          <p:nvPr>
            <p:ph idx="1"/>
          </p:nvPr>
        </p:nvPicPr>
        <p:blipFill>
          <a:blip r:embed="rId1"/>
          <a:stretch>
            <a:fillRect/>
          </a:stretch>
        </p:blipFill>
        <p:spPr>
          <a:xfrm>
            <a:off x="1475740" y="1772920"/>
            <a:ext cx="5915025" cy="2905125"/>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a:t>
            </a:r>
            <a:endParaRPr lang="zh-CN" altLang="en-US"/>
          </a:p>
        </p:txBody>
      </p:sp>
      <p:pic>
        <p:nvPicPr>
          <p:cNvPr id="5" name="内容占位符 4"/>
          <p:cNvPicPr>
            <a:picLocks noChangeAspect="1"/>
          </p:cNvPicPr>
          <p:nvPr>
            <p:ph idx="1"/>
          </p:nvPr>
        </p:nvPicPr>
        <p:blipFill>
          <a:blip r:embed="rId1"/>
          <a:stretch>
            <a:fillRect/>
          </a:stretch>
        </p:blipFill>
        <p:spPr>
          <a:xfrm>
            <a:off x="1452245" y="1484630"/>
            <a:ext cx="5600700" cy="1971675"/>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67" name="矩形 3"/>
          <p:cNvSpPr>
            <a:spLocks noChangeArrowheads="1"/>
          </p:cNvSpPr>
          <p:nvPr/>
        </p:nvSpPr>
        <p:spPr bwMode="auto">
          <a:xfrm>
            <a:off x="327660" y="3281680"/>
            <a:ext cx="8425180" cy="291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lvl="0"/>
            <a:r>
              <a:rPr lang="zh-CN" sz="2000" dirty="0">
                <a:solidFill>
                  <a:srgbClr val="000000"/>
                </a:solidFill>
              </a:rPr>
              <a:t>如果变量之间存在相关性，可以用相关性降低数据的维度。</a:t>
            </a:r>
            <a:endParaRPr lang="zh-CN" sz="2000" dirty="0">
              <a:solidFill>
                <a:srgbClr val="000000"/>
              </a:solidFill>
            </a:endParaRPr>
          </a:p>
          <a:p>
            <a:pPr lvl="0"/>
            <a:r>
              <a:rPr lang="en-US" altLang="zh-CN" sz="2000" dirty="0">
                <a:solidFill>
                  <a:srgbClr val="000000"/>
                </a:solidFill>
              </a:rPr>
              <a:t>PCA</a:t>
            </a:r>
            <a:r>
              <a:rPr lang="zh-CN" altLang="en-US" sz="2000" dirty="0">
                <a:solidFill>
                  <a:srgbClr val="000000"/>
                </a:solidFill>
              </a:rPr>
              <a:t>可以用来去掉变量之间的线性相关性</a:t>
            </a:r>
            <a:endParaRPr lang="zh-CN" altLang="en-US" sz="2000" dirty="0">
              <a:solidFill>
                <a:srgbClr val="000000"/>
              </a:solidFill>
            </a:endParaRPr>
          </a:p>
          <a:p>
            <a:pPr lvl="0"/>
            <a:r>
              <a:rPr lang="zh-CN" altLang="en-US" sz="2000" dirty="0">
                <a:solidFill>
                  <a:srgbClr val="000000"/>
                </a:solidFill>
              </a:rPr>
              <a:t>降维肯定会有损失，但是</a:t>
            </a:r>
            <a:r>
              <a:rPr lang="en-US" altLang="zh-CN" sz="2000" dirty="0">
                <a:solidFill>
                  <a:srgbClr val="000000"/>
                </a:solidFill>
              </a:rPr>
              <a:t>y1</a:t>
            </a:r>
            <a:r>
              <a:rPr lang="zh-CN" altLang="en-US" sz="2000" dirty="0">
                <a:solidFill>
                  <a:srgbClr val="000000"/>
                </a:solidFill>
              </a:rPr>
              <a:t>方向的特征最大化的保留了原始数据的特征</a:t>
            </a:r>
            <a:endParaRPr lang="zh-CN" altLang="en-US" sz="2000" dirty="0">
              <a:solidFill>
                <a:srgbClr val="000000"/>
              </a:solidFill>
            </a:endParaRPr>
          </a:p>
          <a:p>
            <a:pPr lvl="0"/>
            <a:r>
              <a:rPr lang="en-US" altLang="zh-CN" sz="2000" dirty="0">
                <a:solidFill>
                  <a:srgbClr val="000000"/>
                </a:solidFill>
              </a:rPr>
              <a:t>PCA</a:t>
            </a:r>
            <a:r>
              <a:rPr lang="zh-CN" altLang="en-US" sz="2000" dirty="0">
                <a:solidFill>
                  <a:srgbClr val="000000"/>
                </a:solidFill>
              </a:rPr>
              <a:t>就是利用正交变换把由线性相关变量表示的观测数据转换为少数几个由线性无关变量表示的数据</a:t>
            </a:r>
            <a:endParaRPr lang="zh-CN" altLang="en-US" sz="2000" dirty="0">
              <a:solidFill>
                <a:srgbClr val="000000"/>
              </a:solidFill>
            </a:endParaRPr>
          </a:p>
          <a:p>
            <a:pPr lvl="0"/>
            <a:r>
              <a:rPr lang="zh-CN" altLang="en-US" sz="2000" dirty="0">
                <a:solidFill>
                  <a:srgbClr val="000000"/>
                </a:solidFill>
              </a:rPr>
              <a:t>线性无关的变量成为主成分</a:t>
            </a:r>
            <a:endParaRPr lang="zh-CN" altLang="en-US" sz="2000" dirty="0">
              <a:solidFill>
                <a:srgbClr val="000000"/>
              </a:solidFill>
            </a:endParaRPr>
          </a:p>
          <a:p>
            <a:pPr lvl="0"/>
            <a:r>
              <a:rPr lang="zh-CN" altLang="en-US" sz="2000" dirty="0">
                <a:solidFill>
                  <a:srgbClr val="000000"/>
                </a:solidFill>
              </a:rPr>
              <a:t>主成分的个数通常小于原始变量个数，所以</a:t>
            </a:r>
            <a:r>
              <a:rPr lang="en-US" altLang="zh-CN" sz="2000" dirty="0">
                <a:solidFill>
                  <a:srgbClr val="000000"/>
                </a:solidFill>
              </a:rPr>
              <a:t>PCA</a:t>
            </a:r>
            <a:r>
              <a:rPr lang="zh-CN" altLang="en-US" sz="2000" dirty="0">
                <a:solidFill>
                  <a:srgbClr val="000000"/>
                </a:solidFill>
              </a:rPr>
              <a:t>属于降维方法</a:t>
            </a:r>
            <a:endParaRPr lang="zh-CN" altLang="en-US" sz="2000" dirty="0">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主成分分析</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3" name="图片 2"/>
          <p:cNvPicPr>
            <a:picLocks noChangeAspect="1"/>
          </p:cNvPicPr>
          <p:nvPr/>
        </p:nvPicPr>
        <p:blipFill>
          <a:blip r:embed="rId1"/>
          <a:stretch>
            <a:fillRect/>
          </a:stretch>
        </p:blipFill>
        <p:spPr>
          <a:xfrm>
            <a:off x="510347" y="1279614"/>
            <a:ext cx="3760023" cy="3800526"/>
          </a:xfrm>
          <a:prstGeom prst="rect">
            <a:avLst/>
          </a:prstGeom>
        </p:spPr>
      </p:pic>
      <p:pic>
        <p:nvPicPr>
          <p:cNvPr id="5" name="图片 4"/>
          <p:cNvPicPr>
            <a:picLocks noChangeAspect="1"/>
          </p:cNvPicPr>
          <p:nvPr/>
        </p:nvPicPr>
        <p:blipFill>
          <a:blip r:embed="rId2"/>
          <a:stretch>
            <a:fillRect/>
          </a:stretch>
        </p:blipFill>
        <p:spPr>
          <a:xfrm>
            <a:off x="4427984" y="1421454"/>
            <a:ext cx="3846395" cy="3800527"/>
          </a:xfrm>
          <a:prstGeom prst="rect">
            <a:avLst/>
          </a:prstGeom>
        </p:spPr>
      </p:pic>
      <p:sp>
        <p:nvSpPr>
          <p:cNvPr id="6" name="文本框 5"/>
          <p:cNvSpPr txBox="1"/>
          <p:nvPr/>
        </p:nvSpPr>
        <p:spPr>
          <a:xfrm>
            <a:off x="1287623" y="5240877"/>
            <a:ext cx="7844049" cy="489686"/>
          </a:xfrm>
          <a:prstGeom prst="rect">
            <a:avLst/>
          </a:prstGeom>
          <a:noFill/>
        </p:spPr>
        <p:txBody>
          <a:bodyPr wrap="square">
            <a:spAutoFit/>
          </a:bodyPr>
          <a:lstStyle/>
          <a:p>
            <a:pPr>
              <a:lnSpc>
                <a:spcPct val="150000"/>
              </a:lnSpc>
            </a:pPr>
            <a:r>
              <a:rPr lang="zh-CN" altLang="en-US" sz="2000" dirty="0"/>
              <a:t>通过平移、旋转坐标轴，找到主成分</a:t>
            </a:r>
            <a:r>
              <a:rPr lang="en-US" altLang="zh-CN" sz="2000" dirty="0"/>
              <a:t>pc1</a:t>
            </a:r>
            <a:r>
              <a:rPr lang="zh-CN" altLang="en-US" sz="2000" dirty="0"/>
              <a:t>和</a:t>
            </a:r>
            <a:r>
              <a:rPr lang="en-US" altLang="zh-CN" sz="2000" dirty="0"/>
              <a:t>pc2</a:t>
            </a:r>
            <a:endParaRPr lang="zh-CN" alt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主成分分析</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a:xfrm>
            <a:off x="-2874396" y="6231716"/>
            <a:ext cx="984250" cy="365125"/>
          </a:xfrm>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4" name="矩形 13"/>
              <p:cNvSpPr/>
              <p:nvPr/>
            </p:nvSpPr>
            <p:spPr>
              <a:xfrm>
                <a:off x="871330" y="1108797"/>
                <a:ext cx="7527786" cy="1938020"/>
              </a:xfrm>
              <a:prstGeom prst="rect">
                <a:avLst/>
              </a:prstGeom>
            </p:spPr>
            <p:txBody>
              <a:bodyPr wrap="square">
                <a:spAutoFit/>
              </a:bodyPr>
              <a:lstStyle/>
              <a:p>
                <a:pPr>
                  <a:spcBef>
                    <a:spcPts val="900"/>
                  </a:spcBef>
                  <a:spcAft>
                    <a:spcPts val="900"/>
                  </a:spcAft>
                </a:pPr>
                <a:r>
                  <a:rPr lang="zh-CN" altLang="en-US" sz="1800" dirty="0">
                    <a:latin typeface="+mj-ea"/>
                    <a:ea typeface="+mj-ea"/>
                    <a:cs typeface="Times New Roman" panose="02020603050405020304" pitchFamily="18" charset="0"/>
                  </a:rPr>
                  <a:t>在图</a:t>
                </a:r>
                <a:r>
                  <a:rPr lang="en-US" altLang="zh-CN" sz="1800" dirty="0">
                    <a:latin typeface="+mj-ea"/>
                    <a:ea typeface="+mj-ea"/>
                    <a:cs typeface="Times New Roman" panose="02020603050405020304" pitchFamily="18" charset="0"/>
                  </a:rPr>
                  <a:t>1</a:t>
                </a:r>
                <a:r>
                  <a:rPr lang="zh-CN" altLang="en-US" sz="1800" dirty="0">
                    <a:latin typeface="+mj-ea"/>
                    <a:ea typeface="+mj-ea"/>
                    <a:cs typeface="Times New Roman" panose="02020603050405020304" pitchFamily="18" charset="0"/>
                  </a:rPr>
                  <a:t>中，</a:t>
                </a:r>
                <a:r>
                  <a:rPr lang="en-US" altLang="zh-CN" sz="1800" dirty="0">
                    <a:latin typeface="+mj-ea"/>
                    <a:ea typeface="+mj-ea"/>
                    <a:cs typeface="Times New Roman" panose="02020603050405020304" pitchFamily="18" charset="0"/>
                  </a:rPr>
                  <a:t>PCA</a:t>
                </a:r>
                <a:r>
                  <a:rPr lang="en-US" altLang="zh-CN" sz="1800" dirty="0">
                    <a:effectLst/>
                    <a:latin typeface="+mj-ea"/>
                    <a:ea typeface="+mj-ea"/>
                    <a:cs typeface="Times New Roman" panose="02020603050405020304" pitchFamily="18" charset="0"/>
                  </a:rPr>
                  <a:t>识别在训练集中占最大方差量的轴</a:t>
                </a:r>
                <a14:m>
                  <m:oMath xmlns:m="http://schemas.openxmlformats.org/officeDocument/2006/math">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𝑐</m:t>
                        </m:r>
                      </m:e>
                      <m:sub>
                        <m:r>
                          <a:rPr lang="en-US" altLang="zh-CN" sz="1800" i="1">
                            <a:latin typeface="Cambria Math" panose="02040503050406030204" pitchFamily="18" charset="0"/>
                            <a:cs typeface="Times New Roman" panose="02020603050405020304" pitchFamily="18" charset="0"/>
                          </a:rPr>
                          <m:t>1</m:t>
                        </m:r>
                      </m:sub>
                    </m:sSub>
                  </m:oMath>
                </a14:m>
                <a:r>
                  <a:rPr lang="en-US" altLang="zh-CN" sz="1800" dirty="0">
                    <a:latin typeface="Cambria" panose="02040503050406030204" pitchFamily="18" charset="0"/>
                    <a:cs typeface="Times New Roman" panose="02020603050405020304" pitchFamily="18" charset="0"/>
                    <a:sym typeface="+mn-ea"/>
                  </a:rPr>
                  <a:t> </a:t>
                </a:r>
                <a:r>
                  <a:rPr lang="en-US" altLang="zh-CN" sz="1800" dirty="0">
                    <a:latin typeface="+mj-ea"/>
                    <a:ea typeface="+mj-ea"/>
                    <a:cs typeface="Times New Roman" panose="02020603050405020304" pitchFamily="18" charset="0"/>
                  </a:rPr>
                  <a:t>,</a:t>
                </a:r>
                <a:r>
                  <a:rPr lang="en-US" altLang="zh-CN" sz="1800" dirty="0">
                    <a:effectLst/>
                    <a:latin typeface="+mj-ea"/>
                    <a:ea typeface="+mj-ea"/>
                    <a:cs typeface="Times New Roman" panose="02020603050405020304" pitchFamily="18" charset="0"/>
                  </a:rPr>
                  <a:t>它还找到与第一个轴正交的第二个轴</a:t>
                </a:r>
                <a14:m>
                  <m:oMath xmlns:m="http://schemas.openxmlformats.org/officeDocument/2006/math">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𝑐</m:t>
                        </m:r>
                      </m:e>
                      <m:sub>
                        <m:r>
                          <a:rPr lang="en-US" altLang="zh-CN" sz="1800" i="1">
                            <a:latin typeface="Cambria Math" panose="02040503050406030204" pitchFamily="18" charset="0"/>
                            <a:cs typeface="Times New Roman" panose="02020603050405020304" pitchFamily="18" charset="0"/>
                          </a:rPr>
                          <m:t>2</m:t>
                        </m:r>
                      </m:sub>
                    </m:sSub>
                  </m:oMath>
                </a14:m>
                <a:r>
                  <a:rPr lang="zh-CN" altLang="zh-CN" sz="1800" dirty="0">
                    <a:ea typeface="Cambria Math" panose="02040503050406030204" pitchFamily="18" charset="0"/>
                    <a:cs typeface="Times New Roman" panose="02020603050405020304" pitchFamily="18" charset="0"/>
                  </a:rPr>
                  <a:t> </a:t>
                </a:r>
                <a:r>
                  <a:rPr lang="en-US" altLang="zh-CN" sz="1800" dirty="0">
                    <a:effectLst/>
                    <a:latin typeface="+mj-ea"/>
                    <a:ea typeface="+mj-ea"/>
                    <a:cs typeface="Times New Roman" panose="02020603050405020304" pitchFamily="18" charset="0"/>
                  </a:rPr>
                  <a:t>，</a:t>
                </a:r>
                <a14:m>
                  <m:oMath xmlns:m="http://schemas.openxmlformats.org/officeDocument/2006/math">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𝑐</m:t>
                        </m:r>
                      </m:e>
                      <m:sub>
                        <m:r>
                          <a:rPr lang="en-US" altLang="zh-CN" sz="1800" i="1">
                            <a:latin typeface="Cambria Math" panose="02040503050406030204" pitchFamily="18" charset="0"/>
                            <a:cs typeface="Times New Roman" panose="02020603050405020304" pitchFamily="18" charset="0"/>
                          </a:rPr>
                          <m:t>2</m:t>
                        </m:r>
                      </m:sub>
                    </m:sSub>
                  </m:oMath>
                </a14:m>
                <a:r>
                  <a:rPr lang="en-US" altLang="zh-CN" sz="1800" dirty="0" err="1">
                    <a:effectLst/>
                    <a:latin typeface="+mj-ea"/>
                    <a:ea typeface="+mj-ea"/>
                    <a:cs typeface="Times New Roman" panose="02020603050405020304" pitchFamily="18" charset="0"/>
                  </a:rPr>
                  <a:t>考虑了剩余方差的最大量</a:t>
                </a:r>
                <a:r>
                  <a:rPr lang="en-US" altLang="zh-CN" sz="1800" dirty="0">
                    <a:effectLst/>
                    <a:latin typeface="+mj-ea"/>
                    <a:ea typeface="+mj-ea"/>
                    <a:cs typeface="Times New Roman" panose="02020603050405020304" pitchFamily="18" charset="0"/>
                  </a:rPr>
                  <a:t>。</a:t>
                </a:r>
                <a:endParaRPr lang="en-US" altLang="zh-CN" sz="1800" dirty="0">
                  <a:effectLst/>
                  <a:latin typeface="+mj-ea"/>
                  <a:ea typeface="+mj-ea"/>
                  <a:cs typeface="Times New Roman" panose="02020603050405020304" pitchFamily="18" charset="0"/>
                </a:endParaRPr>
              </a:p>
              <a:p>
                <a:pPr>
                  <a:spcBef>
                    <a:spcPts val="900"/>
                  </a:spcBef>
                  <a:spcAft>
                    <a:spcPts val="900"/>
                  </a:spcAft>
                </a:pPr>
                <a:r>
                  <a:rPr lang="zh-CN" altLang="en-US" sz="1800" dirty="0">
                    <a:latin typeface="+mj-ea"/>
                    <a:ea typeface="+mj-ea"/>
                    <a:cs typeface="Times New Roman" panose="02020603050405020304" pitchFamily="18" charset="0"/>
                  </a:rPr>
                  <a:t>对于</a:t>
                </a:r>
                <a:r>
                  <a:rPr lang="en-US" altLang="zh-CN" sz="1800" dirty="0" err="1">
                    <a:effectLst/>
                    <a:latin typeface="+mj-ea"/>
                    <a:ea typeface="+mj-ea"/>
                    <a:cs typeface="Times New Roman" panose="02020603050405020304" pitchFamily="18" charset="0"/>
                  </a:rPr>
                  <a:t>一个更高维的数据集，PCA还会找到与前两个轴正交的第三个轴，以及第四个，第五个等等</a:t>
                </a:r>
                <a:r>
                  <a:rPr lang="en-US" altLang="zh-CN" sz="1800" dirty="0">
                    <a:effectLst/>
                    <a:latin typeface="+mj-ea"/>
                    <a:ea typeface="+mj-ea"/>
                    <a:cs typeface="Times New Roman" panose="02020603050405020304" pitchFamily="18" charset="0"/>
                  </a:rPr>
                  <a:t> - </a:t>
                </a:r>
                <a:r>
                  <a:rPr lang="en-US" altLang="zh-CN" sz="1800" dirty="0" err="1">
                    <a:effectLst/>
                    <a:latin typeface="+mj-ea"/>
                    <a:ea typeface="+mj-ea"/>
                    <a:cs typeface="Times New Roman" panose="02020603050405020304" pitchFamily="18" charset="0"/>
                  </a:rPr>
                  <a:t>与数据集中的维数一样多的轴</a:t>
                </a:r>
                <a:r>
                  <a:rPr lang="en-US" altLang="zh-CN" sz="1800" dirty="0">
                    <a:effectLst/>
                    <a:latin typeface="+mj-ea"/>
                    <a:ea typeface="+mj-ea"/>
                    <a:cs typeface="Times New Roman" panose="02020603050405020304" pitchFamily="18" charset="0"/>
                  </a:rPr>
                  <a:t>。</a:t>
                </a:r>
                <a:endParaRPr lang="zh-CN" altLang="zh-CN" sz="1800" dirty="0">
                  <a:effectLst/>
                  <a:latin typeface="+mj-ea"/>
                  <a:ea typeface="+mj-ea"/>
                  <a:cs typeface="Times New Roman" panose="02020603050405020304" pitchFamily="18" charset="0"/>
                </a:endParaRPr>
              </a:p>
              <a:p>
                <a:pPr>
                  <a:spcBef>
                    <a:spcPts val="900"/>
                  </a:spcBef>
                  <a:spcAft>
                    <a:spcPts val="900"/>
                  </a:spcAft>
                </a:pPr>
                <a:r>
                  <a:rPr lang="en-US" altLang="zh-CN" sz="1800" b="1" dirty="0" err="1">
                    <a:effectLst/>
                    <a:latin typeface="+mj-ea"/>
                    <a:ea typeface="+mj-ea"/>
                    <a:cs typeface="Times New Roman" panose="02020603050405020304" pitchFamily="18" charset="0"/>
                  </a:rPr>
                  <a:t>定义第</a:t>
                </a:r>
                <a:r>
                  <a:rPr lang="en-US" altLang="zh-CN" sz="1800" b="1" dirty="0">
                    <a:effectLst/>
                    <a:latin typeface="+mj-ea"/>
                    <a:ea typeface="+mj-ea"/>
                    <a:cs typeface="Times New Roman" panose="02020603050405020304" pitchFamily="18" charset="0"/>
                  </a:rPr>
                  <a:t> </a:t>
                </a:r>
                <a14:m>
                  <m:oMath xmlns:m="http://schemas.openxmlformats.org/officeDocument/2006/math">
                    <m:r>
                      <a:rPr lang="en-US" altLang="zh-CN" sz="1800" b="1" i="1" smtClean="0">
                        <a:effectLst/>
                        <a:latin typeface="Cambria Math" panose="02040503050406030204" pitchFamily="18" charset="0"/>
                        <a:ea typeface="+mj-ea"/>
                        <a:cs typeface="Times New Roman" panose="02020603050405020304" pitchFamily="18" charset="0"/>
                      </a:rPr>
                      <m:t>𝒊</m:t>
                    </m:r>
                  </m:oMath>
                </a14:m>
                <a:r>
                  <a:rPr lang="en-US" altLang="zh-CN" sz="1800" b="1" dirty="0">
                    <a:effectLst/>
                    <a:latin typeface="+mj-ea"/>
                    <a:ea typeface="+mj-ea"/>
                    <a:cs typeface="Times New Roman" panose="02020603050405020304" pitchFamily="18" charset="0"/>
                  </a:rPr>
                  <a:t> 轴的单位</a:t>
                </a:r>
                <a:r>
                  <a:rPr lang="zh-CN" altLang="en-US" sz="1800" b="1" dirty="0">
                    <a:effectLst/>
                    <a:latin typeface="+mj-ea"/>
                    <a:ea typeface="+mj-ea"/>
                    <a:cs typeface="Times New Roman" panose="02020603050405020304" pitchFamily="18" charset="0"/>
                  </a:rPr>
                  <a:t>向</a:t>
                </a:r>
                <a:r>
                  <a:rPr lang="en-US" altLang="zh-CN" sz="1800" b="1" dirty="0">
                    <a:effectLst/>
                    <a:latin typeface="+mj-ea"/>
                    <a:ea typeface="+mj-ea"/>
                    <a:cs typeface="Times New Roman" panose="02020603050405020304" pitchFamily="18" charset="0"/>
                  </a:rPr>
                  <a:t>量称为第 </a:t>
                </a:r>
                <a14:m>
                  <m:oMath xmlns:m="http://schemas.openxmlformats.org/officeDocument/2006/math">
                    <m:r>
                      <a:rPr lang="en-US" altLang="zh-CN" sz="1800" b="1" i="1" smtClean="0">
                        <a:effectLst/>
                        <a:latin typeface="Cambria Math" panose="02040503050406030204" pitchFamily="18" charset="0"/>
                        <a:ea typeface="+mj-ea"/>
                        <a:cs typeface="Times New Roman" panose="02020603050405020304" pitchFamily="18" charset="0"/>
                      </a:rPr>
                      <m:t>𝒊</m:t>
                    </m:r>
                  </m:oMath>
                </a14:m>
                <a:r>
                  <a:rPr lang="en-US" altLang="zh-CN" sz="1800" b="1" dirty="0">
                    <a:effectLst/>
                    <a:latin typeface="+mj-ea"/>
                    <a:ea typeface="+mj-ea"/>
                    <a:cs typeface="Times New Roman" panose="02020603050405020304" pitchFamily="18" charset="0"/>
                  </a:rPr>
                  <a:t> </a:t>
                </a:r>
                <a:r>
                  <a:rPr lang="en-US" altLang="zh-CN" sz="1800" b="1" dirty="0" err="1">
                    <a:effectLst/>
                    <a:latin typeface="+mj-ea"/>
                    <a:ea typeface="+mj-ea"/>
                    <a:cs typeface="Times New Roman" panose="02020603050405020304" pitchFamily="18" charset="0"/>
                  </a:rPr>
                  <a:t>个主成分</a:t>
                </a:r>
                <a:r>
                  <a:rPr lang="en-US" altLang="zh-CN" sz="1800" b="1" dirty="0">
                    <a:effectLst/>
                    <a:latin typeface="+mj-ea"/>
                    <a:ea typeface="+mj-ea"/>
                    <a:cs typeface="Times New Roman" panose="02020603050405020304" pitchFamily="18" charset="0"/>
                  </a:rPr>
                  <a:t> (PC) 。</a:t>
                </a:r>
                <a:endParaRPr lang="zh-CN" altLang="zh-CN" sz="1800" b="1" dirty="0">
                  <a:effectLst/>
                  <a:latin typeface="+mj-ea"/>
                  <a:ea typeface="+mj-ea"/>
                  <a:cs typeface="Times New Roman" panose="02020603050405020304" pitchFamily="18" charset="0"/>
                </a:endParaRPr>
              </a:p>
            </p:txBody>
          </p:sp>
        </mc:Choice>
        <mc:Fallback>
          <p:sp>
            <p:nvSpPr>
              <p:cNvPr id="14" name="矩形 13"/>
              <p:cNvSpPr>
                <a:spLocks noRot="1" noChangeAspect="1" noMove="1" noResize="1" noEditPoints="1" noAdjustHandles="1" noChangeArrowheads="1" noChangeShapeType="1" noTextEdit="1"/>
              </p:cNvSpPr>
              <p:nvPr/>
            </p:nvSpPr>
            <p:spPr>
              <a:xfrm>
                <a:off x="871330" y="1108797"/>
                <a:ext cx="7527786" cy="1938020"/>
              </a:xfrm>
              <a:prstGeom prst="rect">
                <a:avLst/>
              </a:prstGeom>
              <a:blipFill rotWithShape="1">
                <a:blip r:embed="rId1"/>
                <a:stretch>
                  <a:fillRect l="-1" t="-4" r="8" b="4"/>
                </a:stretch>
              </a:blipFill>
            </p:spPr>
            <p:txBody>
              <a:bodyPr/>
              <a:lstStyle/>
              <a:p>
                <a:r>
                  <a:rPr lang="zh-CN" altLang="en-US">
                    <a:noFill/>
                  </a:rPr>
                  <a:t> </a:t>
                </a:r>
              </a:p>
            </p:txBody>
          </p:sp>
        </mc:Fallback>
      </mc:AlternateContent>
      <p:pic>
        <p:nvPicPr>
          <p:cNvPr id="15" name="图片 14"/>
          <p:cNvPicPr>
            <a:picLocks noChangeAspect="1"/>
          </p:cNvPicPr>
          <p:nvPr/>
        </p:nvPicPr>
        <p:blipFill rotWithShape="1">
          <a:blip r:embed="rId2">
            <a:extLst>
              <a:ext uri="{28A0092B-C50C-407E-A947-70E740481C1C}">
                <a14:useLocalDpi xmlns:a14="http://schemas.microsoft.com/office/drawing/2010/main" val="0"/>
              </a:ext>
            </a:extLst>
          </a:blip>
          <a:srcRect b="4840"/>
          <a:stretch>
            <a:fillRect/>
          </a:stretch>
        </p:blipFill>
        <p:spPr>
          <a:xfrm>
            <a:off x="27320" y="3891987"/>
            <a:ext cx="4198829" cy="2117787"/>
          </a:xfrm>
          <a:prstGeom prst="rect">
            <a:avLst/>
          </a:prstGeom>
        </p:spPr>
      </p:pic>
      <p:pic>
        <p:nvPicPr>
          <p:cNvPr id="16" name="图片 15"/>
          <p:cNvPicPr>
            <a:picLocks noChangeAspect="1"/>
          </p:cNvPicPr>
          <p:nvPr/>
        </p:nvPicPr>
        <p:blipFill>
          <a:blip r:embed="rId3">
            <a:extLst>
              <a:ext uri="{28A0092B-C50C-407E-A947-70E740481C1C}">
                <a14:useLocalDpi xmlns:a14="http://schemas.microsoft.com/office/drawing/2010/main" val="0"/>
              </a:ext>
            </a:extLst>
          </a:blip>
          <a:srcRect t="8876" b="2276"/>
          <a:stretch>
            <a:fillRect/>
          </a:stretch>
        </p:blipFill>
        <p:spPr>
          <a:xfrm>
            <a:off x="4169206" y="3654736"/>
            <a:ext cx="4520017" cy="2592288"/>
          </a:xfrm>
          <a:prstGeom prst="rect">
            <a:avLst/>
          </a:prstGeom>
        </p:spPr>
      </p:pic>
      <mc:AlternateContent xmlns:mc="http://schemas.openxmlformats.org/markup-compatibility/2006">
        <mc:Choice xmlns:a14="http://schemas.microsoft.com/office/drawing/2010/main" Requires="a14">
          <p:sp>
            <p:nvSpPr>
              <p:cNvPr id="17" name="矩形 16"/>
              <p:cNvSpPr/>
              <p:nvPr/>
            </p:nvSpPr>
            <p:spPr>
              <a:xfrm>
                <a:off x="937997" y="3082458"/>
                <a:ext cx="7751226" cy="369332"/>
              </a:xfrm>
              <a:prstGeom prst="rect">
                <a:avLst/>
              </a:prstGeom>
            </p:spPr>
            <p:txBody>
              <a:bodyPr wrap="square">
                <a:spAutoFit/>
              </a:bodyPr>
              <a:lstStyle/>
              <a:p>
                <a:pPr marL="342900" lvl="0" indent="-342900">
                  <a:spcAft>
                    <a:spcPts val="1000"/>
                  </a:spcAft>
                  <a:buFont typeface="Arial" panose="020B0604020202020204" pitchFamily="34" charset="0"/>
                  <a:buChar char="•"/>
                </a:pPr>
                <a:r>
                  <a:rPr lang="en-US" altLang="zh-CN" sz="1800" dirty="0" err="1">
                    <a:latin typeface="微软雅黑" panose="020B0503020204020204" pitchFamily="34" charset="-122"/>
                    <a:cs typeface="Times New Roman" panose="02020603050405020304" pitchFamily="18" charset="0"/>
                  </a:rPr>
                  <a:t>在图</a:t>
                </a:r>
                <a:r>
                  <a:rPr lang="en-US" altLang="zh-CN" sz="1800" dirty="0" err="1">
                    <a:effectLst/>
                    <a:latin typeface="Cambria" panose="02040503050406030204" pitchFamily="18" charset="0"/>
                    <a:cs typeface="Times New Roman" panose="02020603050405020304" pitchFamily="18" charset="0"/>
                  </a:rPr>
                  <a:t>1</a:t>
                </a:r>
                <a:r>
                  <a:rPr lang="en-US" altLang="zh-CN" sz="1800" dirty="0" err="1">
                    <a:effectLst/>
                    <a:latin typeface="微软雅黑" panose="020B0503020204020204" pitchFamily="34" charset="-122"/>
                    <a:cs typeface="Times New Roman" panose="02020603050405020304" pitchFamily="18" charset="0"/>
                  </a:rPr>
                  <a:t>中，第一个</a:t>
                </a:r>
                <a:r>
                  <a:rPr lang="en-US" altLang="zh-CN" sz="1800" dirty="0">
                    <a:effectLst/>
                    <a:latin typeface="Cambria" panose="02040503050406030204" pitchFamily="18" charset="0"/>
                    <a:cs typeface="Times New Roman" panose="02020603050405020304" pitchFamily="18" charset="0"/>
                  </a:rPr>
                  <a:t> </a:t>
                </a:r>
                <a:r>
                  <a:rPr lang="en-US" altLang="zh-CN" sz="1800" b="1" dirty="0" err="1">
                    <a:effectLst/>
                    <a:latin typeface="+mj-ea"/>
                    <a:ea typeface="+mj-ea"/>
                    <a:cs typeface="Times New Roman" panose="02020603050405020304" pitchFamily="18" charset="0"/>
                  </a:rPr>
                  <a:t>PC</a:t>
                </a:r>
                <a:r>
                  <a:rPr lang="en-US" altLang="zh-CN" sz="1800" dirty="0" err="1">
                    <a:effectLst/>
                    <a:latin typeface="微软雅黑" panose="020B0503020204020204" pitchFamily="34" charset="-122"/>
                    <a:cs typeface="Times New Roman" panose="02020603050405020304" pitchFamily="18" charset="0"/>
                  </a:rPr>
                  <a:t>为</a:t>
                </a:r>
                <a:r>
                  <a:rPr lang="en-US" altLang="zh-CN" sz="1800" dirty="0">
                    <a:effectLst/>
                    <a:latin typeface="Cambria" panose="02040503050406030204" pitchFamily="18" charset="0"/>
                    <a:cs typeface="Times New Roman" panose="02020603050405020304" pitchFamily="18" charset="0"/>
                  </a:rPr>
                  <a:t> </a:t>
                </a:r>
                <a14:m>
                  <m:oMath xmlns:m="http://schemas.openxmlformats.org/officeDocument/2006/math">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1</m:t>
                        </m:r>
                      </m:sub>
                    </m:sSub>
                  </m:oMath>
                </a14:m>
                <a:r>
                  <a:rPr lang="en-US" altLang="zh-CN" sz="1800" dirty="0">
                    <a:effectLst/>
                    <a:latin typeface="微软雅黑" panose="020B0503020204020204" pitchFamily="34" charset="-122"/>
                    <a:cs typeface="Times New Roman" panose="02020603050405020304" pitchFamily="18" charset="0"/>
                  </a:rPr>
                  <a:t>，</a:t>
                </a:r>
                <a:r>
                  <a:rPr lang="en-US" altLang="zh-CN" sz="1800" dirty="0" err="1">
                    <a:effectLst/>
                    <a:latin typeface="微软雅黑" panose="020B0503020204020204" pitchFamily="34" charset="-122"/>
                    <a:cs typeface="Times New Roman" panose="02020603050405020304" pitchFamily="18" charset="0"/>
                  </a:rPr>
                  <a:t>第二个</a:t>
                </a:r>
                <a:r>
                  <a:rPr lang="en-US" altLang="zh-CN" sz="1800" dirty="0">
                    <a:effectLst/>
                    <a:latin typeface="Cambria" panose="02040503050406030204" pitchFamily="18" charset="0"/>
                    <a:cs typeface="Times New Roman" panose="02020603050405020304" pitchFamily="18" charset="0"/>
                  </a:rPr>
                  <a:t> </a:t>
                </a:r>
                <a:r>
                  <a:rPr lang="en-US" altLang="zh-CN" sz="1800" b="1" dirty="0">
                    <a:effectLst/>
                    <a:latin typeface="Cambria" panose="02040503050406030204" pitchFamily="18" charset="0"/>
                    <a:cs typeface="Times New Roman" panose="02020603050405020304" pitchFamily="18" charset="0"/>
                  </a:rPr>
                  <a:t>PC</a:t>
                </a:r>
                <a:r>
                  <a:rPr lang="en-US" altLang="zh-CN" sz="1800" dirty="0">
                    <a:effectLst/>
                    <a:latin typeface="Cambria" panose="02040503050406030204" pitchFamily="18" charset="0"/>
                    <a:cs typeface="Times New Roman" panose="02020603050405020304" pitchFamily="18" charset="0"/>
                  </a:rPr>
                  <a:t> </a:t>
                </a:r>
                <a:r>
                  <a:rPr lang="en-US" altLang="zh-CN" sz="1800" dirty="0">
                    <a:effectLst/>
                    <a:latin typeface="微软雅黑" panose="020B0503020204020204" pitchFamily="34" charset="-122"/>
                    <a:cs typeface="Times New Roman" panose="02020603050405020304" pitchFamily="18" charset="0"/>
                  </a:rPr>
                  <a:t>为</a:t>
                </a:r>
                <a:r>
                  <a:rPr lang="en-US" altLang="zh-CN" sz="1800" dirty="0">
                    <a:effectLst/>
                    <a:latin typeface="Cambria" panose="02040503050406030204" pitchFamily="18" charset="0"/>
                    <a:cs typeface="Times New Roman" panose="02020603050405020304" pitchFamily="18" charset="0"/>
                  </a:rPr>
                  <a:t> </a:t>
                </a:r>
                <a14:m>
                  <m:oMath xmlns:m="http://schemas.openxmlformats.org/officeDocument/2006/math">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a:effectLst/>
                            <a:latin typeface="Cambria Math" panose="02040503050406030204" pitchFamily="18" charset="0"/>
                            <a:ea typeface="宋体" panose="02010600030101010101" pitchFamily="2" charset="-122"/>
                            <a:cs typeface="Times New Roman" panose="02020603050405020304" pitchFamily="18" charset="0"/>
                          </a:rPr>
                          <m:t>2</m:t>
                        </m:r>
                      </m:sub>
                    </m:sSub>
                  </m:oMath>
                </a14:m>
                <a:r>
                  <a:rPr lang="en-US" altLang="zh-CN" sz="1800" dirty="0">
                    <a:effectLst/>
                    <a:latin typeface="Cambria" panose="02040503050406030204" pitchFamily="18" charset="0"/>
                    <a:cs typeface="Times New Roman" panose="02020603050405020304" pitchFamily="18" charset="0"/>
                  </a:rPr>
                  <a:t> </a:t>
                </a:r>
                <a:r>
                  <a:rPr lang="en-US" altLang="zh-CN" sz="1800" dirty="0">
                    <a:effectLst/>
                    <a:latin typeface="微软雅黑" panose="020B0503020204020204" pitchFamily="34" charset="-122"/>
                    <a:cs typeface="Times New Roman" panose="02020603050405020304" pitchFamily="18" charset="0"/>
                  </a:rPr>
                  <a:t>。</a:t>
                </a:r>
                <a:endParaRPr lang="zh-CN" altLang="zh-CN" sz="1800" dirty="0">
                  <a:effectLst/>
                  <a:latin typeface="Cambria" panose="02040503050406030204" pitchFamily="18" charset="0"/>
                  <a:cs typeface="Times New Roman" panose="02020603050405020304" pitchFamily="18" charset="0"/>
                </a:endParaRPr>
              </a:p>
            </p:txBody>
          </p:sp>
        </mc:Choice>
        <mc:Fallback>
          <p:sp>
            <p:nvSpPr>
              <p:cNvPr id="17" name="矩形 16"/>
              <p:cNvSpPr>
                <a:spLocks noRot="1" noChangeAspect="1" noMove="1" noResize="1" noEditPoints="1" noAdjustHandles="1" noChangeArrowheads="1" noChangeShapeType="1" noTextEdit="1"/>
              </p:cNvSpPr>
              <p:nvPr/>
            </p:nvSpPr>
            <p:spPr>
              <a:xfrm>
                <a:off x="937997" y="3082458"/>
                <a:ext cx="7751226" cy="369332"/>
              </a:xfrm>
              <a:prstGeom prst="rect">
                <a:avLst/>
              </a:prstGeom>
              <a:blipFill rotWithShape="1">
                <a:blip r:embed="rId4"/>
                <a:stretch>
                  <a:fillRect l="-1" t="-45" r="7" b="153"/>
                </a:stretch>
              </a:blipFill>
            </p:spPr>
            <p:txBody>
              <a:bodyPr/>
              <a:lstStyle/>
              <a:p>
                <a:r>
                  <a:rPr lang="zh-CN" altLang="en-US">
                    <a:noFill/>
                  </a:rPr>
                  <a:t> </a:t>
                </a:r>
              </a:p>
            </p:txBody>
          </p:sp>
        </mc:Fallback>
      </mc:AlternateContent>
      <p:sp>
        <p:nvSpPr>
          <p:cNvPr id="18" name="矩形 17"/>
          <p:cNvSpPr/>
          <p:nvPr/>
        </p:nvSpPr>
        <p:spPr>
          <a:xfrm>
            <a:off x="937997" y="3497957"/>
            <a:ext cx="7527786" cy="368300"/>
          </a:xfrm>
          <a:prstGeom prst="rect">
            <a:avLst/>
          </a:prstGeom>
        </p:spPr>
        <p:txBody>
          <a:bodyPr wrap="square">
            <a:spAutoFit/>
          </a:bodyPr>
          <a:lstStyle/>
          <a:p>
            <a:pPr marL="342900" lvl="0" indent="-342900">
              <a:spcAft>
                <a:spcPts val="1000"/>
              </a:spcAft>
              <a:buFont typeface="Arial" panose="020B0604020202020204" pitchFamily="34" charset="0"/>
              <a:buChar char="•"/>
            </a:pPr>
            <a:r>
              <a:rPr lang="en-US" altLang="zh-CN" sz="1800" dirty="0">
                <a:latin typeface="+mj-ea"/>
                <a:ea typeface="+mj-ea"/>
                <a:cs typeface="Times New Roman" panose="02020603050405020304" pitchFamily="18" charset="0"/>
              </a:rPr>
              <a:t>在图2中，前两个</a:t>
            </a:r>
            <a:r>
              <a:rPr lang="en-US" altLang="zh-CN" sz="1800" b="1" dirty="0" err="1">
                <a:latin typeface="+mj-ea"/>
                <a:ea typeface="+mj-ea"/>
                <a:cs typeface="Times New Roman" panose="02020603050405020304" pitchFamily="18" charset="0"/>
              </a:rPr>
              <a:t>PC</a:t>
            </a:r>
            <a:r>
              <a:rPr lang="en-US" altLang="zh-CN" sz="1800" dirty="0" err="1">
                <a:latin typeface="+mj-ea"/>
                <a:ea typeface="+mj-ea"/>
                <a:cs typeface="Times New Roman" panose="02020603050405020304" pitchFamily="18" charset="0"/>
              </a:rPr>
              <a:t>由平面中的正交箭头表示，第三个PC与平面正交</a:t>
            </a:r>
            <a:endParaRPr lang="zh-CN" altLang="zh-CN" sz="1400" dirty="0">
              <a:effectLst/>
              <a:latin typeface="+mj-ea"/>
              <a:ea typeface="+mj-ea"/>
              <a:cs typeface="Times New Roman" panose="02020603050405020304" pitchFamily="18" charset="0"/>
            </a:endParaRPr>
          </a:p>
        </p:txBody>
      </p:sp>
      <p:sp>
        <p:nvSpPr>
          <p:cNvPr id="19" name="文本框 18"/>
          <p:cNvSpPr txBox="1"/>
          <p:nvPr/>
        </p:nvSpPr>
        <p:spPr>
          <a:xfrm>
            <a:off x="1052260" y="6042774"/>
            <a:ext cx="2637394" cy="338554"/>
          </a:xfrm>
          <a:prstGeom prst="rect">
            <a:avLst/>
          </a:prstGeom>
          <a:noFill/>
        </p:spPr>
        <p:txBody>
          <a:bodyPr wrap="square">
            <a:spAutoFit/>
          </a:bodyPr>
          <a:lstStyle/>
          <a:p>
            <a:r>
              <a:rPr lang="zh-CN" altLang="en-US" sz="1600" dirty="0">
                <a:latin typeface="微软雅黑" panose="020B0503020204020204" pitchFamily="34" charset="-122"/>
                <a:cs typeface="Times New Roman" panose="02020603050405020304" pitchFamily="18" charset="0"/>
              </a:rPr>
              <a:t>图</a:t>
            </a:r>
            <a:r>
              <a:rPr lang="en-US" altLang="zh-CN" sz="1600" dirty="0">
                <a:latin typeface="微软雅黑" panose="020B0503020204020204" pitchFamily="34" charset="-122"/>
                <a:cs typeface="Times New Roman" panose="02020603050405020304" pitchFamily="18" charset="0"/>
              </a:rPr>
              <a:t>1 </a:t>
            </a:r>
            <a:r>
              <a:rPr lang="zh-CN" altLang="en-US" sz="1600" dirty="0">
                <a:latin typeface="微软雅黑" panose="020B0503020204020204" pitchFamily="34" charset="-122"/>
                <a:cs typeface="Times New Roman" panose="02020603050405020304" pitchFamily="18" charset="0"/>
              </a:rPr>
              <a:t>选择要投影到的子空间</a:t>
            </a:r>
            <a:endParaRPr lang="zh-CN" altLang="en-US" sz="1600" dirty="0"/>
          </a:p>
        </p:txBody>
      </p:sp>
      <p:sp>
        <p:nvSpPr>
          <p:cNvPr id="20" name="文本框 19"/>
          <p:cNvSpPr txBox="1"/>
          <p:nvPr/>
        </p:nvSpPr>
        <p:spPr>
          <a:xfrm>
            <a:off x="6569786" y="6009774"/>
            <a:ext cx="2637394" cy="338554"/>
          </a:xfrm>
          <a:prstGeom prst="rect">
            <a:avLst/>
          </a:prstGeom>
          <a:noFill/>
        </p:spPr>
        <p:txBody>
          <a:bodyPr wrap="square">
            <a:spAutoFit/>
          </a:bodyPr>
          <a:lstStyle/>
          <a:p>
            <a:r>
              <a:rPr lang="zh-CN" altLang="en-US" sz="1600" dirty="0">
                <a:latin typeface="微软雅黑" panose="020B0503020204020204" pitchFamily="34" charset="-122"/>
                <a:cs typeface="Times New Roman" panose="02020603050405020304" pitchFamily="18" charset="0"/>
              </a:rPr>
              <a:t>图</a:t>
            </a:r>
            <a:r>
              <a:rPr lang="en-US" altLang="zh-CN" sz="1600" dirty="0">
                <a:latin typeface="微软雅黑" panose="020B0503020204020204" pitchFamily="34" charset="-122"/>
                <a:cs typeface="Times New Roman" panose="02020603050405020304" pitchFamily="18" charset="0"/>
              </a:rPr>
              <a:t>2</a:t>
            </a:r>
            <a:endParaRPr lang="zh-CN" alt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主成分分析</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9" name="矩形 3"/>
          <p:cNvSpPr>
            <a:spLocks noChangeArrowheads="1"/>
          </p:cNvSpPr>
          <p:nvPr/>
        </p:nvSpPr>
        <p:spPr bwMode="auto">
          <a:xfrm>
            <a:off x="971600" y="1283797"/>
            <a:ext cx="7543800"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如何得到这些包含最大差异性的主成分方向呢</a:t>
            </a:r>
            <a:r>
              <a:rPr lang="en-US" altLang="zh-CN" sz="2000" dirty="0">
                <a:solidFill>
                  <a:srgbClr val="000000"/>
                </a:solidFill>
              </a:rPr>
              <a:t>?</a:t>
            </a:r>
            <a:endParaRPr lang="en-US" altLang="zh-CN" sz="2000" dirty="0">
              <a:solidFill>
                <a:srgbClr val="000000"/>
              </a:solidFill>
            </a:endParaRPr>
          </a:p>
          <a:p>
            <a:pPr lvl="1"/>
            <a:r>
              <a:rPr lang="zh-CN" altLang="en-US" sz="2000" dirty="0">
                <a:solidFill>
                  <a:srgbClr val="000000"/>
                </a:solidFill>
              </a:rPr>
              <a:t>通过计算数据矩阵的协方差矩阵</a:t>
            </a:r>
            <a:endParaRPr lang="zh-CN" altLang="en-US" sz="2000" dirty="0">
              <a:solidFill>
                <a:srgbClr val="000000"/>
              </a:solidFill>
            </a:endParaRPr>
          </a:p>
          <a:p>
            <a:pPr lvl="1"/>
            <a:r>
              <a:rPr lang="zh-CN" altLang="en-US" sz="2000" dirty="0">
                <a:solidFill>
                  <a:srgbClr val="000000"/>
                </a:solidFill>
              </a:rPr>
              <a:t>然后得到协方差矩阵的特征值特征向量</a:t>
            </a:r>
            <a:endParaRPr lang="zh-CN" altLang="en-US" sz="2000" dirty="0">
              <a:solidFill>
                <a:srgbClr val="000000"/>
              </a:solidFill>
            </a:endParaRPr>
          </a:p>
          <a:p>
            <a:pPr lvl="1"/>
            <a:r>
              <a:rPr lang="zh-CN" altLang="en-US" sz="2000" dirty="0">
                <a:solidFill>
                  <a:srgbClr val="000000"/>
                </a:solidFill>
              </a:rPr>
              <a:t>选择特征值最大</a:t>
            </a:r>
            <a:r>
              <a:rPr lang="en-US" altLang="zh-CN" sz="2000" dirty="0">
                <a:solidFill>
                  <a:srgbClr val="000000"/>
                </a:solidFill>
              </a:rPr>
              <a:t>(</a:t>
            </a:r>
            <a:r>
              <a:rPr lang="zh-CN" altLang="en-US" sz="2000" dirty="0">
                <a:solidFill>
                  <a:srgbClr val="000000"/>
                </a:solidFill>
              </a:rPr>
              <a:t>即方差最大</a:t>
            </a:r>
            <a:r>
              <a:rPr lang="en-US" altLang="zh-CN" sz="2000" dirty="0">
                <a:solidFill>
                  <a:srgbClr val="000000"/>
                </a:solidFill>
              </a:rPr>
              <a:t>)</a:t>
            </a:r>
            <a:r>
              <a:rPr lang="zh-CN" altLang="en-US" sz="2000" dirty="0">
                <a:solidFill>
                  <a:srgbClr val="000000"/>
                </a:solidFill>
              </a:rPr>
              <a:t>的</a:t>
            </a:r>
            <a:r>
              <a:rPr lang="en-US" altLang="zh-CN" sz="2000" dirty="0">
                <a:solidFill>
                  <a:srgbClr val="000000"/>
                </a:solidFill>
              </a:rPr>
              <a:t>k</a:t>
            </a:r>
            <a:r>
              <a:rPr lang="zh-CN" altLang="en-US" sz="2000" dirty="0">
                <a:solidFill>
                  <a:srgbClr val="000000"/>
                </a:solidFill>
              </a:rPr>
              <a:t>个特征所对应的特征向量组成的矩阵，这样就可以将数据矩阵转换到新的空间当中，实现数据特征的降维。</a:t>
            </a:r>
            <a:endParaRPr lang="en-US" altLang="zh-CN" sz="2000" dirty="0">
              <a:solidFill>
                <a:srgbClr val="000000"/>
              </a:solidFill>
            </a:endParaRPr>
          </a:p>
          <a:p>
            <a:pPr lvl="1"/>
            <a:endParaRPr lang="en-US" altLang="zh-CN" sz="2000" dirty="0">
              <a:solidFill>
                <a:srgbClr val="000000"/>
              </a:solidFill>
            </a:endParaRPr>
          </a:p>
          <a:p>
            <a:r>
              <a:rPr lang="en-US" altLang="zh-CN" sz="2000" dirty="0">
                <a:latin typeface="Cambria" panose="02040503050406030204" pitchFamily="18" charset="0"/>
                <a:cs typeface="Times New Roman" panose="02020603050405020304" pitchFamily="18" charset="0"/>
              </a:rPr>
              <a:t>PCA</a:t>
            </a:r>
            <a:r>
              <a:rPr lang="zh-CN" altLang="en-US" sz="2000" dirty="0">
                <a:latin typeface="Cambria" panose="02040503050406030204" pitchFamily="18" charset="0"/>
                <a:cs typeface="Times New Roman" panose="02020603050405020304" pitchFamily="18" charset="0"/>
              </a:rPr>
              <a:t>的算法两种实现方法</a:t>
            </a:r>
            <a:endParaRPr lang="en-US" altLang="zh-CN" sz="2000" dirty="0">
              <a:latin typeface="Cambria" panose="02040503050406030204" pitchFamily="18" charset="0"/>
              <a:cs typeface="Times New Roman" panose="02020603050405020304" pitchFamily="18" charset="0"/>
            </a:endParaRPr>
          </a:p>
          <a:p>
            <a:pPr lvl="1"/>
            <a:r>
              <a:rPr lang="en-US" altLang="zh-CN" sz="2000" dirty="0">
                <a:latin typeface="Cambria" panose="02040503050406030204" pitchFamily="18" charset="0"/>
                <a:cs typeface="Times New Roman" panose="02020603050405020304" pitchFamily="18" charset="0"/>
              </a:rPr>
              <a:t> </a:t>
            </a:r>
            <a:r>
              <a:rPr lang="zh-CN" altLang="en-US" sz="2000" dirty="0">
                <a:latin typeface="Cambria" panose="02040503050406030204" pitchFamily="18" charset="0"/>
                <a:cs typeface="Times New Roman" panose="02020603050405020304" pitchFamily="18" charset="0"/>
              </a:rPr>
              <a:t>基于</a:t>
            </a:r>
            <a:r>
              <a:rPr lang="en-US" altLang="zh-CN" sz="2000" dirty="0">
                <a:latin typeface="Cambria" panose="02040503050406030204" pitchFamily="18" charset="0"/>
                <a:cs typeface="Times New Roman" panose="02020603050405020304" pitchFamily="18" charset="0"/>
              </a:rPr>
              <a:t>SVD</a:t>
            </a:r>
            <a:r>
              <a:rPr lang="zh-CN" altLang="en-US" sz="2000" dirty="0">
                <a:latin typeface="Cambria" panose="02040503050406030204" pitchFamily="18" charset="0"/>
                <a:cs typeface="Times New Roman" panose="02020603050405020304" pitchFamily="18" charset="0"/>
              </a:rPr>
              <a:t>分解协方差矩阵实现</a:t>
            </a:r>
            <a:r>
              <a:rPr lang="en-US" altLang="zh-CN" sz="2000" dirty="0">
                <a:latin typeface="Cambria" panose="02040503050406030204" pitchFamily="18" charset="0"/>
                <a:cs typeface="Times New Roman" panose="02020603050405020304" pitchFamily="18" charset="0"/>
              </a:rPr>
              <a:t>PCA</a:t>
            </a:r>
            <a:r>
              <a:rPr lang="zh-CN" altLang="en-US" sz="2000" dirty="0">
                <a:latin typeface="Cambria" panose="02040503050406030204" pitchFamily="18" charset="0"/>
                <a:cs typeface="Times New Roman" panose="02020603050405020304" pitchFamily="18" charset="0"/>
              </a:rPr>
              <a:t>算法</a:t>
            </a:r>
            <a:endParaRPr lang="zh-CN" altLang="en-US" sz="2000" dirty="0">
              <a:latin typeface="Cambria" panose="02040503050406030204" pitchFamily="18" charset="0"/>
              <a:cs typeface="Times New Roman" panose="02020603050405020304" pitchFamily="18" charset="0"/>
            </a:endParaRPr>
          </a:p>
          <a:p>
            <a:pPr lvl="1"/>
            <a:r>
              <a:rPr lang="en-US" altLang="zh-CN" sz="2000" dirty="0">
                <a:latin typeface="Cambria" panose="02040503050406030204" pitchFamily="18" charset="0"/>
                <a:cs typeface="Times New Roman" panose="02020603050405020304" pitchFamily="18" charset="0"/>
              </a:rPr>
              <a:t> </a:t>
            </a:r>
            <a:r>
              <a:rPr lang="zh-CN" altLang="en-US" sz="2000" dirty="0">
                <a:latin typeface="Cambria" panose="02040503050406030204" pitchFamily="18" charset="0"/>
                <a:cs typeface="Times New Roman" panose="02020603050405020304" pitchFamily="18" charset="0"/>
              </a:rPr>
              <a:t>基于特征值分解协方差矩阵实现</a:t>
            </a:r>
            <a:r>
              <a:rPr lang="en-US" altLang="zh-CN" sz="2000" dirty="0">
                <a:latin typeface="Cambria" panose="02040503050406030204" pitchFamily="18" charset="0"/>
                <a:cs typeface="Times New Roman" panose="02020603050405020304" pitchFamily="18" charset="0"/>
              </a:rPr>
              <a:t>PCA</a:t>
            </a:r>
            <a:r>
              <a:rPr lang="zh-CN" altLang="en-US" sz="2000" dirty="0">
                <a:latin typeface="Cambria" panose="02040503050406030204" pitchFamily="18" charset="0"/>
                <a:cs typeface="Times New Roman" panose="02020603050405020304" pitchFamily="18" charset="0"/>
              </a:rPr>
              <a:t>算法</a:t>
            </a:r>
            <a:endParaRPr lang="zh-CN" altLang="en-US" sz="2000" dirty="0">
              <a:latin typeface="Cambria" panose="02040503050406030204" pitchFamily="18" charset="0"/>
              <a:cs typeface="Times New Roman" panose="02020603050405020304" pitchFamily="18" charset="0"/>
            </a:endParaRPr>
          </a:p>
          <a:p>
            <a:pPr lvl="1"/>
            <a:endParaRPr lang="zh-CN" altLang="zh-CN" sz="2000" dirty="0">
              <a:latin typeface="Cambria" panose="02040503050406030204" pitchFamily="18" charset="0"/>
              <a:cs typeface="Times New Roman" panose="02020603050405020304" pitchFamily="18" charset="0"/>
            </a:endParaRPr>
          </a:p>
          <a:p>
            <a:pPr marL="0" indent="0">
              <a:buNone/>
            </a:pPr>
            <a:endParaRPr lang="zh-CN" altLang="en-US" sz="2000" dirty="0">
              <a:solidFill>
                <a:srgbClr val="000000"/>
              </a:solidFill>
            </a:endParaRPr>
          </a:p>
          <a:p>
            <a:endParaRPr lang="zh-CN" altLang="zh-CN" sz="2000" dirty="0">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9" name="图片 8"/>
          <p:cNvPicPr>
            <a:picLocks noChangeAspect="1"/>
          </p:cNvPicPr>
          <p:nvPr/>
        </p:nvPicPr>
        <p:blipFill>
          <a:blip r:embed="rId1"/>
          <a:stretch>
            <a:fillRect/>
          </a:stretch>
        </p:blipFill>
        <p:spPr>
          <a:xfrm>
            <a:off x="1691640" y="5288915"/>
            <a:ext cx="5086350" cy="752475"/>
          </a:xfrm>
          <a:prstGeom prst="rect">
            <a:avLst/>
          </a:prstGeom>
        </p:spPr>
      </p:pic>
      <p:pic>
        <p:nvPicPr>
          <p:cNvPr id="10" name="图片 9"/>
          <p:cNvPicPr>
            <a:picLocks noChangeAspect="1"/>
          </p:cNvPicPr>
          <p:nvPr/>
        </p:nvPicPr>
        <p:blipFill>
          <a:blip r:embed="rId2"/>
          <a:stretch>
            <a:fillRect/>
          </a:stretch>
        </p:blipFill>
        <p:spPr>
          <a:xfrm>
            <a:off x="5412740" y="2680970"/>
            <a:ext cx="1062355" cy="445770"/>
          </a:xfrm>
          <a:prstGeom prst="rect">
            <a:avLst/>
          </a:prstGeom>
        </p:spPr>
      </p:pic>
      <p:pic>
        <p:nvPicPr>
          <p:cNvPr id="12" name="图片 11"/>
          <p:cNvPicPr>
            <a:picLocks noChangeAspect="1"/>
          </p:cNvPicPr>
          <p:nvPr/>
        </p:nvPicPr>
        <p:blipFill>
          <a:blip r:embed="rId3"/>
          <a:stretch>
            <a:fillRect/>
          </a:stretch>
        </p:blipFill>
        <p:spPr>
          <a:xfrm>
            <a:off x="1483360" y="3850640"/>
            <a:ext cx="4991735" cy="1240790"/>
          </a:xfrm>
          <a:prstGeom prst="rect">
            <a:avLst/>
          </a:prstGeom>
        </p:spPr>
      </p:pic>
      <p:sp>
        <p:nvSpPr>
          <p:cNvPr id="13" name="文本框 12"/>
          <p:cNvSpPr txBox="1"/>
          <p:nvPr/>
        </p:nvSpPr>
        <p:spPr>
          <a:xfrm>
            <a:off x="1188085" y="3284855"/>
            <a:ext cx="4305935" cy="368300"/>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D</a:t>
            </a:r>
            <a:r>
              <a:rPr lang="zh-CN" altLang="en-US" sz="1800">
                <a:latin typeface="Arial" panose="020B0604020202020204" pitchFamily="34" charset="0"/>
                <a:ea typeface="微软雅黑" panose="020B0503020204020204" pitchFamily="34" charset="-122"/>
              </a:rPr>
              <a:t>维随机变量的协方差矩阵：</a:t>
            </a:r>
            <a:endParaRPr lang="zh-CN" altLang="en-US" sz="1800">
              <a:latin typeface="Arial" panose="020B0604020202020204" pitchFamily="34" charset="0"/>
              <a:ea typeface="微软雅黑" panose="020B0503020204020204" pitchFamily="34" charset="-122"/>
            </a:endParaRPr>
          </a:p>
        </p:txBody>
      </p:sp>
      <p:pic>
        <p:nvPicPr>
          <p:cNvPr id="15" name="内容占位符 14"/>
          <p:cNvPicPr>
            <a:picLocks noChangeAspect="1"/>
          </p:cNvPicPr>
          <p:nvPr>
            <p:ph idx="1"/>
          </p:nvPr>
        </p:nvPicPr>
        <p:blipFill>
          <a:blip r:embed="rId4"/>
          <a:stretch>
            <a:fillRect/>
          </a:stretch>
        </p:blipFill>
        <p:spPr>
          <a:xfrm>
            <a:off x="2555875" y="1988820"/>
            <a:ext cx="4318000" cy="1109980"/>
          </a:xfrm>
          <a:prstGeom prst="rect">
            <a:avLst/>
          </a:prstGeom>
        </p:spPr>
      </p:pic>
      <p:sp>
        <p:nvSpPr>
          <p:cNvPr id="16" name="文本框 15"/>
          <p:cNvSpPr txBox="1"/>
          <p:nvPr/>
        </p:nvSpPr>
        <p:spPr>
          <a:xfrm>
            <a:off x="971550" y="1484630"/>
            <a:ext cx="8043545" cy="368300"/>
          </a:xfrm>
          <a:prstGeom prst="rect">
            <a:avLst/>
          </a:prstGeom>
        </p:spPr>
        <p:txBody>
          <a:bodyPr wrap="square">
            <a:spAutoFit/>
            <a:extLst>
              <a:ext uri="{4A0BC546-FE56-4ADE-93B0-CB8AF2F6F144}">
                <wpsdc:textFrameExt xmlns:wpsdc="http://www.wps.cn/officeDocument/2022/drawingmlCustomData" type="text"/>
              </a:ext>
            </a:extLst>
          </a:bodyPr>
          <a:p>
            <a:pPr algn="l"/>
            <a:r>
              <a:rPr lang="zh-CN" sz="1800">
                <a:latin typeface="Arial" panose="020B0604020202020204" pitchFamily="34" charset="0"/>
                <a:ea typeface="微软雅黑" panose="020B0503020204020204" pitchFamily="34" charset="-122"/>
              </a:rPr>
              <a:t>假设对</a:t>
            </a:r>
            <a:r>
              <a:rPr lang="en-US" altLang="zh-CN" sz="1800">
                <a:latin typeface="Arial" panose="020B0604020202020204" pitchFamily="34" charset="0"/>
                <a:ea typeface="微软雅黑" panose="020B0503020204020204" pitchFamily="34" charset="-122"/>
              </a:rPr>
              <a:t>D</a:t>
            </a:r>
            <a:r>
              <a:rPr lang="zh-CN" altLang="en-US" sz="1800">
                <a:latin typeface="Arial" panose="020B0604020202020204" pitchFamily="34" charset="0"/>
                <a:ea typeface="微软雅黑" panose="020B0503020204020204" pitchFamily="34" charset="-122"/>
              </a:rPr>
              <a:t>维随机变量</a:t>
            </a:r>
            <a:r>
              <a:rPr lang="en-US" altLang="zh-CN" sz="1800">
                <a:latin typeface="Arial" panose="020B0604020202020204" pitchFamily="34" charset="0"/>
                <a:ea typeface="微软雅黑" panose="020B0503020204020204" pitchFamily="34" charset="-122"/>
              </a:rPr>
              <a:t>X</a:t>
            </a:r>
            <a:r>
              <a:rPr lang="zh-CN" altLang="en-US" sz="1800">
                <a:latin typeface="Arial" panose="020B0604020202020204" pitchFamily="34" charset="0"/>
                <a:ea typeface="微软雅黑" panose="020B0503020204020204" pitchFamily="34" charset="-122"/>
              </a:rPr>
              <a:t>进行</a:t>
            </a:r>
            <a:r>
              <a:rPr lang="en-US" altLang="zh-CN" sz="1800">
                <a:latin typeface="Arial" panose="020B0604020202020204" pitchFamily="34" charset="0"/>
                <a:ea typeface="微软雅黑" panose="020B0503020204020204" pitchFamily="34" charset="-122"/>
              </a:rPr>
              <a:t>n</a:t>
            </a:r>
            <a:r>
              <a:rPr lang="zh-CN" altLang="en-US" sz="1800">
                <a:latin typeface="Arial" panose="020B0604020202020204" pitchFamily="34" charset="0"/>
                <a:ea typeface="微软雅黑" panose="020B0503020204020204" pitchFamily="34" charset="-122"/>
              </a:rPr>
              <a:t>次独立观测：</a:t>
            </a:r>
            <a:r>
              <a:rPr lang="en-US" altLang="zh-CN" sz="1800">
                <a:latin typeface="Arial" panose="020B0604020202020204" pitchFamily="34" charset="0"/>
                <a:ea typeface="微软雅黑" panose="020B0503020204020204" pitchFamily="34" charset="-122"/>
              </a:rPr>
              <a:t>                       </a:t>
            </a:r>
            <a:r>
              <a:rPr lang="zh-CN" altLang="en-US" sz="1800">
                <a:latin typeface="Arial" panose="020B0604020202020204" pitchFamily="34" charset="0"/>
                <a:ea typeface="微软雅黑" panose="020B0503020204020204" pitchFamily="34" charset="-122"/>
              </a:rPr>
              <a:t>表示观测变量</a:t>
            </a:r>
            <a:endParaRPr lang="zh-CN" altLang="en-US" sz="1800">
              <a:latin typeface="Arial" panose="020B0604020202020204" pitchFamily="34" charset="0"/>
              <a:ea typeface="微软雅黑" panose="020B0503020204020204" pitchFamily="34" charset="-122"/>
            </a:endParaRPr>
          </a:p>
        </p:txBody>
      </p:sp>
      <p:pic>
        <p:nvPicPr>
          <p:cNvPr id="17" name="图片 16"/>
          <p:cNvPicPr>
            <a:picLocks noChangeAspect="1"/>
          </p:cNvPicPr>
          <p:nvPr/>
        </p:nvPicPr>
        <p:blipFill>
          <a:blip r:embed="rId5"/>
          <a:stretch>
            <a:fillRect/>
          </a:stretch>
        </p:blipFill>
        <p:spPr>
          <a:xfrm>
            <a:off x="5076190" y="1513205"/>
            <a:ext cx="1533525" cy="3524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000" fill="hold">
                                          <p:stCondLst>
                                            <p:cond delay="0"/>
                                          </p:stCondLst>
                                        </p:cTn>
                                        <p:tgtEl>
                                          <p:spTgt spid="9"/>
                                        </p:tgtEl>
                                        <p:attrNameLst>
                                          <p:attrName>style.visibility</p:attrName>
                                        </p:attrNameLst>
                                      </p:cBhvr>
                                      <p:to>
                                        <p:strVal val="visible"/>
                                      </p:to>
                                    </p:set>
                                    <p:animEffect transition="in" filter="box(in)">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11" name="文本框 10"/>
          <p:cNvSpPr txBox="1"/>
          <p:nvPr/>
        </p:nvSpPr>
        <p:spPr>
          <a:xfrm>
            <a:off x="3204210" y="3497580"/>
            <a:ext cx="4724400" cy="6451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将所有数据点投影到 </a:t>
            </a:r>
            <a:r>
              <a:rPr lang="en-US" altLang="zh-CN" sz="1800">
                <a:latin typeface="Arial" panose="020B0604020202020204" pitchFamily="34" charset="0"/>
                <a:ea typeface="微软雅黑" panose="020B0503020204020204" pitchFamily="34" charset="-122"/>
              </a:rPr>
              <a:t>W，</a:t>
            </a:r>
            <a:r>
              <a:rPr lang="zh-CN" altLang="en-US" sz="1800">
                <a:latin typeface="Arial" panose="020B0604020202020204" pitchFamily="34" charset="0"/>
                <a:ea typeface="微软雅黑" panose="020B0503020204020204" pitchFamily="34" charset="-122"/>
              </a:rPr>
              <a:t>获得一个投影点的集合 </a:t>
            </a:r>
            <a:r>
              <a:rPr lang="en-US" altLang="zh-CN" sz="1800">
                <a:latin typeface="Arial" panose="020B0604020202020204" pitchFamily="34" charset="0"/>
                <a:ea typeface="微软雅黑" panose="020B0503020204020204" pitchFamily="34" charset="-122"/>
              </a:rPr>
              <a:t>Z，</a:t>
            </a:r>
            <a:r>
              <a:rPr lang="zh-CN" altLang="en-US" sz="1800">
                <a:latin typeface="Arial" panose="020B0604020202020204" pitchFamily="34" charset="0"/>
                <a:ea typeface="微软雅黑" panose="020B0503020204020204" pitchFamily="34" charset="-122"/>
              </a:rPr>
              <a:t>我们期望 </a:t>
            </a:r>
            <a:r>
              <a:rPr lang="en-US" altLang="zh-CN" sz="1800">
                <a:latin typeface="Arial" panose="020B0604020202020204" pitchFamily="34" charset="0"/>
                <a:ea typeface="微软雅黑" panose="020B0503020204020204" pitchFamily="34" charset="-122"/>
              </a:rPr>
              <a:t>Z </a:t>
            </a:r>
            <a:r>
              <a:rPr lang="zh-CN" altLang="en-US" sz="1800">
                <a:latin typeface="Arial" panose="020B0604020202020204" pitchFamily="34" charset="0"/>
                <a:ea typeface="微软雅黑" panose="020B0503020204020204" pitchFamily="34" charset="-122"/>
              </a:rPr>
              <a:t>的方差尽可能的大：</a:t>
            </a:r>
            <a:endParaRPr lang="zh-CN" altLang="en-US" sz="1800">
              <a:latin typeface="Arial" panose="020B0604020202020204" pitchFamily="34" charset="0"/>
              <a:ea typeface="微软雅黑" panose="020B0503020204020204" pitchFamily="34" charset="-122"/>
            </a:endParaRPr>
          </a:p>
        </p:txBody>
      </p:sp>
      <p:sp>
        <p:nvSpPr>
          <p:cNvPr id="12" name="文本框 11"/>
          <p:cNvSpPr txBox="1"/>
          <p:nvPr/>
        </p:nvSpPr>
        <p:spPr>
          <a:xfrm>
            <a:off x="539750" y="3501305"/>
            <a:ext cx="3048000" cy="368300"/>
          </a:xfrm>
          <a:prstGeom prst="rect">
            <a:avLst/>
          </a:prstGeom>
        </p:spPr>
        <p:txBody>
          <a:bodyPr>
            <a:spAutoFit/>
            <a:extLst>
              <a:ext uri="{4A0BC546-FE56-4ADE-93B0-CB8AF2F6F144}">
                <wpsdc:textFrameExt xmlns:wpsdc="http://www.wps.cn/officeDocument/2022/drawingmlCustomData" type="text"/>
              </a:ext>
            </a:extLst>
          </a:bodyPr>
          <a:p>
            <a:pPr algn="l"/>
            <a:r>
              <a:rPr lang="zh-CN" altLang="en-US" sz="1800">
                <a:sym typeface="+mn-ea"/>
              </a:rPr>
              <a:t>假设降维到 </a:t>
            </a:r>
            <a:r>
              <a:rPr lang="en-US" altLang="zh-CN" sz="1800">
                <a:sym typeface="+mn-ea"/>
              </a:rPr>
              <a:t>K=1</a:t>
            </a:r>
            <a:r>
              <a:rPr lang="zh-CN" altLang="en-US" sz="1800">
                <a:sym typeface="+mn-ea"/>
              </a:rPr>
              <a:t>：</a:t>
            </a:r>
            <a:endParaRPr lang="zh-CN" altLang="en-US" sz="1800">
              <a:latin typeface="Arial" panose="020B0604020202020204" pitchFamily="34" charset="0"/>
              <a:ea typeface="微软雅黑" panose="020B0503020204020204" pitchFamily="34" charset="-122"/>
              <a:sym typeface="+mn-ea"/>
            </a:endParaRPr>
          </a:p>
        </p:txBody>
      </p:sp>
      <p:pic>
        <p:nvPicPr>
          <p:cNvPr id="14" name="图片 13"/>
          <p:cNvPicPr>
            <a:picLocks noChangeAspect="1"/>
          </p:cNvPicPr>
          <p:nvPr/>
        </p:nvPicPr>
        <p:blipFill>
          <a:blip r:embed="rId1"/>
          <a:stretch>
            <a:fillRect/>
          </a:stretch>
        </p:blipFill>
        <p:spPr>
          <a:xfrm>
            <a:off x="1043305" y="1452245"/>
            <a:ext cx="6517640" cy="842010"/>
          </a:xfrm>
          <a:prstGeom prst="rect">
            <a:avLst/>
          </a:prstGeom>
        </p:spPr>
      </p:pic>
      <p:pic>
        <p:nvPicPr>
          <p:cNvPr id="16" name="图片 15"/>
          <p:cNvPicPr>
            <a:picLocks noChangeAspect="1"/>
          </p:cNvPicPr>
          <p:nvPr/>
        </p:nvPicPr>
        <p:blipFill>
          <a:blip r:embed="rId2"/>
          <a:stretch>
            <a:fillRect/>
          </a:stretch>
        </p:blipFill>
        <p:spPr>
          <a:xfrm>
            <a:off x="6362700" y="1814830"/>
            <a:ext cx="1207770" cy="445770"/>
          </a:xfrm>
          <a:prstGeom prst="rect">
            <a:avLst/>
          </a:prstGeom>
        </p:spPr>
      </p:pic>
      <p:pic>
        <p:nvPicPr>
          <p:cNvPr id="17" name="图片 16"/>
          <p:cNvPicPr>
            <a:picLocks noChangeAspect="1"/>
          </p:cNvPicPr>
          <p:nvPr/>
        </p:nvPicPr>
        <p:blipFill>
          <a:blip r:embed="rId3"/>
          <a:stretch>
            <a:fillRect/>
          </a:stretch>
        </p:blipFill>
        <p:spPr>
          <a:xfrm>
            <a:off x="3779520" y="4437380"/>
            <a:ext cx="3081020" cy="831215"/>
          </a:xfrm>
          <a:prstGeom prst="rect">
            <a:avLst/>
          </a:prstGeom>
        </p:spPr>
      </p:pic>
      <p:pic>
        <p:nvPicPr>
          <p:cNvPr id="18" name="图片 17"/>
          <p:cNvPicPr>
            <a:picLocks noChangeAspect="1"/>
          </p:cNvPicPr>
          <p:nvPr/>
        </p:nvPicPr>
        <p:blipFill>
          <a:blip r:embed="rId2"/>
          <a:stretch>
            <a:fillRect/>
          </a:stretch>
        </p:blipFill>
        <p:spPr>
          <a:xfrm>
            <a:off x="6012180" y="5013325"/>
            <a:ext cx="1207770" cy="445770"/>
          </a:xfrm>
          <a:prstGeom prst="rect">
            <a:avLst/>
          </a:prstGeom>
        </p:spPr>
      </p:pic>
      <p:pic>
        <p:nvPicPr>
          <p:cNvPr id="20" name="图片 19"/>
          <p:cNvPicPr>
            <a:picLocks noChangeAspect="1"/>
          </p:cNvPicPr>
          <p:nvPr/>
        </p:nvPicPr>
        <p:blipFill>
          <a:blip r:embed="rId4"/>
          <a:stretch>
            <a:fillRect/>
          </a:stretch>
        </p:blipFill>
        <p:spPr>
          <a:xfrm>
            <a:off x="2525395" y="2360930"/>
            <a:ext cx="4526280" cy="657860"/>
          </a:xfrm>
          <a:prstGeom prst="rect">
            <a:avLst/>
          </a:prstGeom>
        </p:spPr>
      </p:pic>
      <p:pic>
        <p:nvPicPr>
          <p:cNvPr id="21" name="图片 20"/>
          <p:cNvPicPr>
            <a:picLocks noChangeAspect="1"/>
          </p:cNvPicPr>
          <p:nvPr/>
        </p:nvPicPr>
        <p:blipFill>
          <a:blip r:embed="rId2"/>
          <a:stretch>
            <a:fillRect/>
          </a:stretch>
        </p:blipFill>
        <p:spPr>
          <a:xfrm>
            <a:off x="6083935" y="2810510"/>
            <a:ext cx="1207770" cy="445770"/>
          </a:xfrm>
          <a:prstGeom prst="rect">
            <a:avLst/>
          </a:prstGeom>
        </p:spPr>
      </p:pic>
      <p:pic>
        <p:nvPicPr>
          <p:cNvPr id="22" name="图片 21"/>
          <p:cNvPicPr>
            <a:picLocks noChangeAspect="1"/>
          </p:cNvPicPr>
          <p:nvPr/>
        </p:nvPicPr>
        <p:blipFill>
          <a:blip r:embed="rId5"/>
          <a:stretch>
            <a:fillRect/>
          </a:stretch>
        </p:blipFill>
        <p:spPr>
          <a:xfrm>
            <a:off x="683260" y="3896995"/>
            <a:ext cx="1775460" cy="20808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000" fill="hold">
                                          <p:stCondLst>
                                            <p:cond delay="0"/>
                                          </p:stCondLst>
                                        </p:cTn>
                                        <p:tgtEl>
                                          <p:spTgt spid="14"/>
                                        </p:tgtEl>
                                        <p:attrNameLst>
                                          <p:attrName>style.visibility</p:attrName>
                                        </p:attrNameLst>
                                      </p:cBhvr>
                                      <p:to>
                                        <p:strVal val="visible"/>
                                      </p:to>
                                    </p:set>
                                    <p:animEffect transition="in" filter="box(in)">
                                      <p:cBhvr>
                                        <p:cTn id="7" dur="1000"/>
                                        <p:tgtEl>
                                          <p:spTgt spid="14"/>
                                        </p:tgtEl>
                                      </p:cBhvr>
                                    </p:animEffect>
                                  </p:childTnLst>
                                </p:cTn>
                              </p:par>
                              <p:par>
                                <p:cTn id="8" presetID="4" presetClass="entr" presetSubtype="16" fill="hold" nodeType="withEffect">
                                  <p:stCondLst>
                                    <p:cond delay="0"/>
                                  </p:stCondLst>
                                  <p:childTnLst>
                                    <p:set>
                                      <p:cBhvr>
                                        <p:cTn id="9" dur="1000" fill="hold">
                                          <p:stCondLst>
                                            <p:cond delay="0"/>
                                          </p:stCondLst>
                                        </p:cTn>
                                        <p:tgtEl>
                                          <p:spTgt spid="16"/>
                                        </p:tgtEl>
                                        <p:attrNameLst>
                                          <p:attrName>style.visibility</p:attrName>
                                        </p:attrNameLst>
                                      </p:cBhvr>
                                      <p:to>
                                        <p:strVal val="visible"/>
                                      </p:to>
                                    </p:set>
                                    <p:animEffect transition="in" filter="box(in)">
                                      <p:cBhvr>
                                        <p:cTn id="10" dur="1000"/>
                                        <p:tgtEl>
                                          <p:spTgt spid="16"/>
                                        </p:tgtEl>
                                      </p:cBhvr>
                                    </p:animEffect>
                                  </p:childTnLst>
                                </p:cTn>
                              </p:par>
                              <p:par>
                                <p:cTn id="11" presetID="4" presetClass="entr" presetSubtype="16" fill="hold" nodeType="withEffect">
                                  <p:stCondLst>
                                    <p:cond delay="0"/>
                                  </p:stCondLst>
                                  <p:childTnLst>
                                    <p:set>
                                      <p:cBhvr>
                                        <p:cTn id="12" dur="1000" fill="hold">
                                          <p:stCondLst>
                                            <p:cond delay="0"/>
                                          </p:stCondLst>
                                        </p:cTn>
                                        <p:tgtEl>
                                          <p:spTgt spid="20"/>
                                        </p:tgtEl>
                                        <p:attrNameLst>
                                          <p:attrName>style.visibility</p:attrName>
                                        </p:attrNameLst>
                                      </p:cBhvr>
                                      <p:to>
                                        <p:strVal val="visible"/>
                                      </p:to>
                                    </p:set>
                                    <p:animEffect transition="in" filter="box(in)">
                                      <p:cBhvr>
                                        <p:cTn id="13" dur="1000"/>
                                        <p:tgtEl>
                                          <p:spTgt spid="20"/>
                                        </p:tgtEl>
                                      </p:cBhvr>
                                    </p:animEffect>
                                  </p:childTnLst>
                                </p:cTn>
                              </p:par>
                              <p:par>
                                <p:cTn id="14" presetID="4" presetClass="entr" presetSubtype="16" fill="hold" nodeType="withEffect">
                                  <p:stCondLst>
                                    <p:cond delay="0"/>
                                  </p:stCondLst>
                                  <p:childTnLst>
                                    <p:set>
                                      <p:cBhvr>
                                        <p:cTn id="15" dur="1000" fill="hold">
                                          <p:stCondLst>
                                            <p:cond delay="0"/>
                                          </p:stCondLst>
                                        </p:cTn>
                                        <p:tgtEl>
                                          <p:spTgt spid="21"/>
                                        </p:tgtEl>
                                        <p:attrNameLst>
                                          <p:attrName>style.visibility</p:attrName>
                                        </p:attrNameLst>
                                      </p:cBhvr>
                                      <p:to>
                                        <p:strVal val="visible"/>
                                      </p:to>
                                    </p:set>
                                    <p:animEffect transition="in" filter="box(in)">
                                      <p:cBhvr>
                                        <p:cTn id="16" dur="10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000" fill="hold">
                                          <p:stCondLst>
                                            <p:cond delay="0"/>
                                          </p:stCondLst>
                                        </p:cTn>
                                        <p:tgtEl>
                                          <p:spTgt spid="12"/>
                                        </p:tgtEl>
                                        <p:attrNameLst>
                                          <p:attrName>style.visibility</p:attrName>
                                        </p:attrNameLst>
                                      </p:cBhvr>
                                      <p:to>
                                        <p:strVal val="visible"/>
                                      </p:to>
                                    </p:set>
                                    <p:animEffect transition="in" filter="box(in)">
                                      <p:cBhvr>
                                        <p:cTn id="21" dur="1000"/>
                                        <p:tgtEl>
                                          <p:spTgt spid="12"/>
                                        </p:tgtEl>
                                      </p:cBhvr>
                                    </p:animEffect>
                                  </p:childTnLst>
                                </p:cTn>
                              </p:par>
                              <p:par>
                                <p:cTn id="22" presetID="4" presetClass="entr" presetSubtype="16" fill="hold" nodeType="withEffect">
                                  <p:stCondLst>
                                    <p:cond delay="0"/>
                                  </p:stCondLst>
                                  <p:childTnLst>
                                    <p:set>
                                      <p:cBhvr>
                                        <p:cTn id="23" dur="1000" fill="hold">
                                          <p:stCondLst>
                                            <p:cond delay="0"/>
                                          </p:stCondLst>
                                        </p:cTn>
                                        <p:tgtEl>
                                          <p:spTgt spid="22"/>
                                        </p:tgtEl>
                                        <p:attrNameLst>
                                          <p:attrName>style.visibility</p:attrName>
                                        </p:attrNameLst>
                                      </p:cBhvr>
                                      <p:to>
                                        <p:strVal val="visible"/>
                                      </p:to>
                                    </p:set>
                                    <p:animEffect transition="in" filter="box(in)">
                                      <p:cBhvr>
                                        <p:cTn id="24" dur="10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000" fill="hold">
                                          <p:stCondLst>
                                            <p:cond delay="0"/>
                                          </p:stCondLst>
                                        </p:cTn>
                                        <p:tgtEl>
                                          <p:spTgt spid="11"/>
                                        </p:tgtEl>
                                        <p:attrNameLst>
                                          <p:attrName>style.visibility</p:attrName>
                                        </p:attrNameLst>
                                      </p:cBhvr>
                                      <p:to>
                                        <p:strVal val="visible"/>
                                      </p:to>
                                    </p:set>
                                    <p:animEffect transition="in" filter="box(in)">
                                      <p:cBhvr>
                                        <p:cTn id="29" dur="10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000" fill="hold">
                                          <p:stCondLst>
                                            <p:cond delay="0"/>
                                          </p:stCondLst>
                                        </p:cTn>
                                        <p:tgtEl>
                                          <p:spTgt spid="17"/>
                                        </p:tgtEl>
                                        <p:attrNameLst>
                                          <p:attrName>style.visibility</p:attrName>
                                        </p:attrNameLst>
                                      </p:cBhvr>
                                      <p:to>
                                        <p:strVal val="visible"/>
                                      </p:to>
                                    </p:set>
                                    <p:animEffect transition="in" filter="box(in)">
                                      <p:cBhvr>
                                        <p:cTn id="34" dur="1000"/>
                                        <p:tgtEl>
                                          <p:spTgt spid="17"/>
                                        </p:tgtEl>
                                      </p:cBhvr>
                                    </p:animEffect>
                                  </p:childTnLst>
                                </p:cTn>
                              </p:par>
                              <p:par>
                                <p:cTn id="35" presetID="4" presetClass="entr" presetSubtype="16" fill="hold" nodeType="withEffect">
                                  <p:stCondLst>
                                    <p:cond delay="0"/>
                                  </p:stCondLst>
                                  <p:childTnLst>
                                    <p:set>
                                      <p:cBhvr>
                                        <p:cTn id="36" dur="1000" fill="hold">
                                          <p:stCondLst>
                                            <p:cond delay="0"/>
                                          </p:stCondLst>
                                        </p:cTn>
                                        <p:tgtEl>
                                          <p:spTgt spid="18"/>
                                        </p:tgtEl>
                                        <p:attrNameLst>
                                          <p:attrName>style.visibility</p:attrName>
                                        </p:attrNameLst>
                                      </p:cBhvr>
                                      <p:to>
                                        <p:strVal val="visible"/>
                                      </p:to>
                                    </p:set>
                                    <p:animEffect transition="in" filter="box(in)">
                                      <p:cBhvr>
                                        <p:cTn id="3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1" grpId="0"/>
      <p:bldP spid="11"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 name="图片 20"/>
          <p:cNvPicPr>
            <a:picLocks noChangeAspect="1"/>
          </p:cNvPicPr>
          <p:nvPr/>
        </p:nvPicPr>
        <p:blipFill>
          <a:blip r:embed="rId1"/>
          <a:stretch>
            <a:fillRect/>
          </a:stretch>
        </p:blipFill>
        <p:spPr>
          <a:xfrm>
            <a:off x="2555240" y="2071370"/>
            <a:ext cx="4059555" cy="782955"/>
          </a:xfrm>
          <a:prstGeom prst="rect">
            <a:avLst/>
          </a:prstGeom>
        </p:spPr>
      </p:pic>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sp>
        <p:nvSpPr>
          <p:cNvPr id="4" name="灯片编号占位符 3"/>
          <p:cNvSpPr>
            <a:spLocks noGrp="1"/>
          </p:cNvSpPr>
          <p:nvPr>
            <p:ph type="sldNum" sz="quarter" idx="10"/>
          </p:nvPr>
        </p:nvSpPr>
        <p:spPr>
          <a:xfrm>
            <a:off x="7424738" y="6326188"/>
            <a:ext cx="984250" cy="365125"/>
          </a:xfrm>
        </p:spPr>
        <p:txBody>
          <a:bodyPr/>
          <a:p>
            <a:pPr>
              <a:defRPr/>
            </a:pPr>
            <a:fld id="{F6DA434B-3FE0-453D-8E32-922B8A93A0FC}" type="slidenum">
              <a:rPr lang="en-US" altLang="zh-CN"/>
            </a:fld>
            <a:endParaRPr lang="en-US" altLang="zh-CN"/>
          </a:p>
        </p:txBody>
      </p:sp>
      <p:sp>
        <p:nvSpPr>
          <p:cNvPr id="13" name="内容占位符 12"/>
          <p:cNvSpPr/>
          <p:nvPr>
            <p:ph idx="1"/>
          </p:nvPr>
        </p:nvSpPr>
        <p:spPr>
          <a:xfrm>
            <a:off x="822960" y="1207135"/>
            <a:ext cx="7543800" cy="556260"/>
          </a:xfrm>
        </p:spPr>
        <p:txBody>
          <a:bodyPr/>
          <a:p>
            <a:r>
              <a:rPr lang="zh-CN" altLang="en-US"/>
              <a:t>假设降维到 </a:t>
            </a:r>
            <a:r>
              <a:rPr lang="en-US" altLang="zh-CN"/>
              <a:t>K=2:</a:t>
            </a:r>
            <a:endParaRPr lang="en-US" altLang="zh-CN"/>
          </a:p>
        </p:txBody>
      </p:sp>
      <p:sp>
        <p:nvSpPr>
          <p:cNvPr id="14" name="文本框 13"/>
          <p:cNvSpPr txBox="1"/>
          <p:nvPr/>
        </p:nvSpPr>
        <p:spPr>
          <a:xfrm>
            <a:off x="3412490" y="3007360"/>
            <a:ext cx="4954270" cy="92202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sym typeface="+mn-ea"/>
              </a:rPr>
              <a:t>将所有数据点投影到</a:t>
            </a:r>
            <a:r>
              <a:rPr lang="en-US" sz="1800">
                <a:latin typeface="Arial" panose="020B0604020202020204" pitchFamily="34" charset="0"/>
                <a:ea typeface="微软雅黑" panose="020B0503020204020204" pitchFamily="34" charset="-122"/>
                <a:sym typeface="+mn-ea"/>
              </a:rPr>
              <a:t>w</a:t>
            </a:r>
            <a:r>
              <a:rPr lang="en-US" sz="1800" baseline="30000">
                <a:latin typeface="Arial" panose="020B0604020202020204" pitchFamily="34" charset="0"/>
                <a:ea typeface="微软雅黑" panose="020B0503020204020204" pitchFamily="34" charset="-122"/>
                <a:sym typeface="+mn-ea"/>
              </a:rPr>
              <a:t>1</a:t>
            </a:r>
            <a:r>
              <a:rPr lang="en-US" altLang="zh-CN" sz="1800">
                <a:latin typeface="Arial" panose="020B0604020202020204" pitchFamily="34" charset="0"/>
                <a:ea typeface="微软雅黑" panose="020B0503020204020204" pitchFamily="34" charset="-122"/>
                <a:sym typeface="+mn-ea"/>
              </a:rPr>
              <a:t>，</a:t>
            </a:r>
            <a:r>
              <a:rPr lang="zh-CN" altLang="en-US" sz="1800">
                <a:latin typeface="Arial" panose="020B0604020202020204" pitchFamily="34" charset="0"/>
                <a:ea typeface="微软雅黑" panose="020B0503020204020204" pitchFamily="34" charset="-122"/>
                <a:sym typeface="+mn-ea"/>
              </a:rPr>
              <a:t>获得一个投影点的集合 </a:t>
            </a:r>
            <a:r>
              <a:rPr lang="en-US" altLang="zh-CN" sz="1800">
                <a:latin typeface="Arial" panose="020B0604020202020204" pitchFamily="34" charset="0"/>
                <a:ea typeface="微软雅黑" panose="020B0503020204020204" pitchFamily="34" charset="-122"/>
                <a:sym typeface="+mn-ea"/>
              </a:rPr>
              <a:t>{z</a:t>
            </a:r>
            <a:r>
              <a:rPr lang="en-US" altLang="zh-CN" sz="1800" baseline="-25000">
                <a:latin typeface="Arial" panose="020B0604020202020204" pitchFamily="34" charset="0"/>
                <a:ea typeface="微软雅黑" panose="020B0503020204020204" pitchFamily="34" charset="-122"/>
                <a:sym typeface="+mn-ea"/>
              </a:rPr>
              <a:t>i1</a:t>
            </a:r>
            <a:r>
              <a:rPr lang="en-US" altLang="zh-CN" sz="1800">
                <a:latin typeface="Arial" panose="020B0604020202020204" pitchFamily="34" charset="0"/>
                <a:ea typeface="微软雅黑" panose="020B0503020204020204" pitchFamily="34" charset="-122"/>
                <a:sym typeface="+mn-ea"/>
              </a:rPr>
              <a:t>}，</a:t>
            </a:r>
            <a:r>
              <a:rPr lang="zh-CN" altLang="en-US" sz="1800">
                <a:latin typeface="Arial" panose="020B0604020202020204" pitchFamily="34" charset="0"/>
                <a:ea typeface="微软雅黑" panose="020B0503020204020204" pitchFamily="34" charset="-122"/>
                <a:sym typeface="+mn-ea"/>
              </a:rPr>
              <a:t>我们期望 </a:t>
            </a:r>
            <a:r>
              <a:rPr lang="en-US" altLang="zh-CN" sz="1800">
                <a:latin typeface="Arial" panose="020B0604020202020204" pitchFamily="34" charset="0"/>
                <a:ea typeface="微软雅黑" panose="020B0503020204020204" pitchFamily="34" charset="-122"/>
                <a:sym typeface="+mn-ea"/>
              </a:rPr>
              <a:t>{z</a:t>
            </a:r>
            <a:r>
              <a:rPr lang="en-US" altLang="zh-CN" sz="1800" baseline="-25000">
                <a:latin typeface="Arial" panose="020B0604020202020204" pitchFamily="34" charset="0"/>
                <a:ea typeface="微软雅黑" panose="020B0503020204020204" pitchFamily="34" charset="-122"/>
                <a:sym typeface="+mn-ea"/>
              </a:rPr>
              <a:t>i1</a:t>
            </a:r>
            <a:r>
              <a:rPr lang="en-US" altLang="zh-CN" sz="1800">
                <a:latin typeface="Arial" panose="020B0604020202020204" pitchFamily="34" charset="0"/>
                <a:ea typeface="微软雅黑" panose="020B0503020204020204" pitchFamily="34" charset="-122"/>
                <a:sym typeface="+mn-ea"/>
              </a:rPr>
              <a:t>}</a:t>
            </a:r>
            <a:r>
              <a:rPr lang="zh-CN" altLang="en-US" sz="1800">
                <a:latin typeface="Arial" panose="020B0604020202020204" pitchFamily="34" charset="0"/>
                <a:ea typeface="微软雅黑" panose="020B0503020204020204" pitchFamily="34" charset="-122"/>
                <a:sym typeface="+mn-ea"/>
              </a:rPr>
              <a:t>的方差尽可能的大</a:t>
            </a:r>
            <a:r>
              <a:rPr lang="en-US" altLang="zh-CN" sz="1800">
                <a:latin typeface="Arial" panose="020B0604020202020204" pitchFamily="34" charset="0"/>
                <a:ea typeface="微软雅黑" panose="020B0503020204020204" pitchFamily="34" charset="-122"/>
                <a:sym typeface="+mn-ea"/>
              </a:rPr>
              <a:t>:</a:t>
            </a:r>
            <a:endParaRPr lang="zh-CN" altLang="en-US" sz="1800">
              <a:latin typeface="Arial" panose="020B0604020202020204" pitchFamily="34" charset="0"/>
              <a:ea typeface="微软雅黑" panose="020B0503020204020204" pitchFamily="34" charset="-122"/>
            </a:endParaRPr>
          </a:p>
          <a:p>
            <a:pPr algn="l"/>
            <a:endParaRPr lang="zh-CN" altLang="en-US" sz="1800">
              <a:latin typeface="Arial" panose="020B0604020202020204" pitchFamily="34" charset="0"/>
              <a:ea typeface="微软雅黑" panose="020B0503020204020204" pitchFamily="34" charset="-122"/>
            </a:endParaRPr>
          </a:p>
        </p:txBody>
      </p:sp>
      <p:sp>
        <p:nvSpPr>
          <p:cNvPr id="16" name="文本框 15"/>
          <p:cNvSpPr txBox="1"/>
          <p:nvPr/>
        </p:nvSpPr>
        <p:spPr>
          <a:xfrm>
            <a:off x="3564255" y="4730115"/>
            <a:ext cx="4290695" cy="6451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sym typeface="+mn-ea"/>
              </a:rPr>
              <a:t>我们期望 </a:t>
            </a:r>
            <a:r>
              <a:rPr lang="en-US" altLang="zh-CN" sz="1800">
                <a:latin typeface="Arial" panose="020B0604020202020204" pitchFamily="34" charset="0"/>
                <a:ea typeface="微软雅黑" panose="020B0503020204020204" pitchFamily="34" charset="-122"/>
                <a:sym typeface="+mn-ea"/>
              </a:rPr>
              <a:t>{z</a:t>
            </a:r>
            <a:r>
              <a:rPr lang="en-US" altLang="zh-CN" sz="1800" baseline="-25000">
                <a:latin typeface="Arial" panose="020B0604020202020204" pitchFamily="34" charset="0"/>
                <a:ea typeface="微软雅黑" panose="020B0503020204020204" pitchFamily="34" charset="-122"/>
                <a:sym typeface="+mn-ea"/>
              </a:rPr>
              <a:t>i2</a:t>
            </a:r>
            <a:r>
              <a:rPr lang="en-US" altLang="zh-CN" sz="1800">
                <a:latin typeface="Arial" panose="020B0604020202020204" pitchFamily="34" charset="0"/>
                <a:ea typeface="微软雅黑" panose="020B0503020204020204" pitchFamily="34" charset="-122"/>
                <a:sym typeface="+mn-ea"/>
              </a:rPr>
              <a:t>}</a:t>
            </a:r>
            <a:r>
              <a:rPr lang="zh-CN" altLang="en-US" sz="1800">
                <a:latin typeface="Arial" panose="020B0604020202020204" pitchFamily="34" charset="0"/>
                <a:ea typeface="微软雅黑" panose="020B0503020204020204" pitchFamily="34" charset="-122"/>
                <a:sym typeface="+mn-ea"/>
              </a:rPr>
              <a:t>的方差尽可能的大</a:t>
            </a:r>
            <a:r>
              <a:rPr lang="en-US" altLang="zh-CN" sz="1800">
                <a:latin typeface="Arial" panose="020B0604020202020204" pitchFamily="34" charset="0"/>
                <a:ea typeface="微软雅黑" panose="020B0503020204020204" pitchFamily="34" charset="-122"/>
                <a:sym typeface="+mn-ea"/>
              </a:rPr>
              <a:t>:</a:t>
            </a:r>
            <a:endParaRPr lang="zh-CN" altLang="en-US" sz="1800">
              <a:latin typeface="Arial" panose="020B0604020202020204" pitchFamily="34" charset="0"/>
              <a:ea typeface="微软雅黑" panose="020B0503020204020204" pitchFamily="34" charset="-122"/>
            </a:endParaRPr>
          </a:p>
          <a:p>
            <a:pPr algn="l"/>
            <a:endParaRPr lang="zh-CN" altLang="en-US" sz="1800">
              <a:latin typeface="Arial" panose="020B0604020202020204" pitchFamily="34" charset="0"/>
              <a:ea typeface="微软雅黑" panose="020B0503020204020204" pitchFamily="34" charset="-122"/>
            </a:endParaRPr>
          </a:p>
        </p:txBody>
      </p:sp>
      <p:pic>
        <p:nvPicPr>
          <p:cNvPr id="26" name="图片 25"/>
          <p:cNvPicPr>
            <a:picLocks noChangeAspect="1"/>
          </p:cNvPicPr>
          <p:nvPr/>
        </p:nvPicPr>
        <p:blipFill>
          <a:blip r:embed="rId2"/>
          <a:stretch>
            <a:fillRect/>
          </a:stretch>
        </p:blipFill>
        <p:spPr>
          <a:xfrm>
            <a:off x="251460" y="3007360"/>
            <a:ext cx="2980055" cy="1182370"/>
          </a:xfrm>
          <a:prstGeom prst="rect">
            <a:avLst/>
          </a:prstGeom>
        </p:spPr>
      </p:pic>
      <p:pic>
        <p:nvPicPr>
          <p:cNvPr id="28" name="图片 27"/>
          <p:cNvPicPr>
            <a:picLocks noChangeAspect="1"/>
          </p:cNvPicPr>
          <p:nvPr/>
        </p:nvPicPr>
        <p:blipFill>
          <a:blip r:embed="rId3"/>
          <a:stretch>
            <a:fillRect/>
          </a:stretch>
        </p:blipFill>
        <p:spPr>
          <a:xfrm>
            <a:off x="6069965" y="4558030"/>
            <a:ext cx="1207770" cy="167005"/>
          </a:xfrm>
          <a:prstGeom prst="rect">
            <a:avLst/>
          </a:prstGeom>
        </p:spPr>
      </p:pic>
      <p:pic>
        <p:nvPicPr>
          <p:cNvPr id="30" name="图片 29"/>
          <p:cNvPicPr>
            <a:picLocks noChangeAspect="1"/>
          </p:cNvPicPr>
          <p:nvPr/>
        </p:nvPicPr>
        <p:blipFill>
          <a:blip r:embed="rId4"/>
          <a:stretch>
            <a:fillRect/>
          </a:stretch>
        </p:blipFill>
        <p:spPr>
          <a:xfrm>
            <a:off x="4211955" y="3655695"/>
            <a:ext cx="2813685" cy="599440"/>
          </a:xfrm>
          <a:prstGeom prst="rect">
            <a:avLst/>
          </a:prstGeom>
        </p:spPr>
      </p:pic>
      <p:pic>
        <p:nvPicPr>
          <p:cNvPr id="31" name="图片 30"/>
          <p:cNvPicPr>
            <a:picLocks noChangeAspect="1"/>
          </p:cNvPicPr>
          <p:nvPr/>
        </p:nvPicPr>
        <p:blipFill>
          <a:blip r:embed="rId3"/>
          <a:stretch>
            <a:fillRect/>
          </a:stretch>
        </p:blipFill>
        <p:spPr>
          <a:xfrm>
            <a:off x="6647180" y="4125595"/>
            <a:ext cx="1207770" cy="316230"/>
          </a:xfrm>
          <a:prstGeom prst="rect">
            <a:avLst/>
          </a:prstGeom>
        </p:spPr>
      </p:pic>
      <p:pic>
        <p:nvPicPr>
          <p:cNvPr id="32" name="图片 31"/>
          <p:cNvPicPr>
            <a:picLocks noChangeAspect="1"/>
          </p:cNvPicPr>
          <p:nvPr/>
        </p:nvPicPr>
        <p:blipFill>
          <a:blip r:embed="rId5"/>
          <a:stretch>
            <a:fillRect/>
          </a:stretch>
        </p:blipFill>
        <p:spPr>
          <a:xfrm>
            <a:off x="6732270" y="4104005"/>
            <a:ext cx="1284605" cy="407670"/>
          </a:xfrm>
          <a:prstGeom prst="rect">
            <a:avLst/>
          </a:prstGeom>
        </p:spPr>
      </p:pic>
      <p:pic>
        <p:nvPicPr>
          <p:cNvPr id="33" name="图片 32"/>
          <p:cNvPicPr>
            <a:picLocks noChangeAspect="1"/>
          </p:cNvPicPr>
          <p:nvPr/>
        </p:nvPicPr>
        <p:blipFill>
          <a:blip r:embed="rId6"/>
          <a:stretch>
            <a:fillRect/>
          </a:stretch>
        </p:blipFill>
        <p:spPr>
          <a:xfrm>
            <a:off x="467360" y="4519930"/>
            <a:ext cx="2622550" cy="988695"/>
          </a:xfrm>
          <a:prstGeom prst="rect">
            <a:avLst/>
          </a:prstGeom>
        </p:spPr>
      </p:pic>
      <p:pic>
        <p:nvPicPr>
          <p:cNvPr id="34" name="图片 33"/>
          <p:cNvPicPr>
            <a:picLocks noChangeAspect="1"/>
          </p:cNvPicPr>
          <p:nvPr/>
        </p:nvPicPr>
        <p:blipFill>
          <a:blip r:embed="rId3"/>
          <a:stretch>
            <a:fillRect/>
          </a:stretch>
        </p:blipFill>
        <p:spPr>
          <a:xfrm>
            <a:off x="395605" y="4519930"/>
            <a:ext cx="1999615" cy="316230"/>
          </a:xfrm>
          <a:prstGeom prst="rect">
            <a:avLst/>
          </a:prstGeom>
        </p:spPr>
      </p:pic>
      <p:pic>
        <p:nvPicPr>
          <p:cNvPr id="35" name="图片 34"/>
          <p:cNvPicPr>
            <a:picLocks noChangeAspect="1"/>
          </p:cNvPicPr>
          <p:nvPr/>
        </p:nvPicPr>
        <p:blipFill>
          <a:blip r:embed="rId7"/>
          <a:stretch>
            <a:fillRect/>
          </a:stretch>
        </p:blipFill>
        <p:spPr>
          <a:xfrm>
            <a:off x="3996055" y="5095875"/>
            <a:ext cx="3799840" cy="695325"/>
          </a:xfrm>
          <a:prstGeom prst="rect">
            <a:avLst/>
          </a:prstGeom>
        </p:spPr>
      </p:pic>
      <p:pic>
        <p:nvPicPr>
          <p:cNvPr id="36" name="图片 35"/>
          <p:cNvPicPr>
            <a:picLocks noChangeAspect="1"/>
          </p:cNvPicPr>
          <p:nvPr/>
        </p:nvPicPr>
        <p:blipFill>
          <a:blip r:embed="rId8"/>
          <a:stretch>
            <a:fillRect/>
          </a:stretch>
        </p:blipFill>
        <p:spPr>
          <a:xfrm>
            <a:off x="6647180" y="5455920"/>
            <a:ext cx="1295400" cy="438150"/>
          </a:xfrm>
          <a:prstGeom prst="rect">
            <a:avLst/>
          </a:prstGeom>
        </p:spPr>
      </p:pic>
      <p:pic>
        <p:nvPicPr>
          <p:cNvPr id="37" name="图片 36"/>
          <p:cNvPicPr>
            <a:picLocks noChangeAspect="1"/>
          </p:cNvPicPr>
          <p:nvPr/>
        </p:nvPicPr>
        <p:blipFill>
          <a:blip r:embed="rId9"/>
          <a:stretch>
            <a:fillRect/>
          </a:stretch>
        </p:blipFill>
        <p:spPr>
          <a:xfrm>
            <a:off x="3862070" y="1718310"/>
            <a:ext cx="1639570" cy="236855"/>
          </a:xfrm>
          <a:prstGeom prst="rect">
            <a:avLst/>
          </a:prstGeom>
        </p:spPr>
      </p:pic>
      <p:pic>
        <p:nvPicPr>
          <p:cNvPr id="38" name="图片 37"/>
          <p:cNvPicPr>
            <a:picLocks noChangeAspect="1"/>
          </p:cNvPicPr>
          <p:nvPr/>
        </p:nvPicPr>
        <p:blipFill>
          <a:blip r:embed="rId10"/>
          <a:stretch>
            <a:fillRect/>
          </a:stretch>
        </p:blipFill>
        <p:spPr>
          <a:xfrm>
            <a:off x="3089910" y="1623695"/>
            <a:ext cx="715645" cy="346710"/>
          </a:xfrm>
          <a:prstGeom prst="rect">
            <a:avLst/>
          </a:prstGeom>
        </p:spPr>
      </p:pic>
      <p:pic>
        <p:nvPicPr>
          <p:cNvPr id="40" name="图片 39"/>
          <p:cNvPicPr>
            <a:picLocks noChangeAspect="1"/>
          </p:cNvPicPr>
          <p:nvPr/>
        </p:nvPicPr>
        <p:blipFill>
          <a:blip r:embed="rId11"/>
          <a:stretch>
            <a:fillRect/>
          </a:stretch>
        </p:blipFill>
        <p:spPr>
          <a:xfrm>
            <a:off x="3231515" y="2143760"/>
            <a:ext cx="3544570" cy="628015"/>
          </a:xfrm>
          <a:prstGeom prst="rect">
            <a:avLst/>
          </a:prstGeom>
        </p:spPr>
      </p:pic>
      <p:sp>
        <p:nvSpPr>
          <p:cNvPr id="41" name="内容占位符 12"/>
          <p:cNvSpPr/>
          <p:nvPr/>
        </p:nvSpPr>
        <p:spPr>
          <a:xfrm>
            <a:off x="4643755" y="5850255"/>
            <a:ext cx="3540125" cy="499110"/>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altLang="zh-CN" sz="3200" b="1" i="1">
                <a:solidFill>
                  <a:srgbClr val="FF0000"/>
                </a:solidFill>
              </a:rPr>
              <a:t>w</a:t>
            </a:r>
            <a:r>
              <a:rPr lang="en-US" altLang="zh-CN" sz="3200" b="1" baseline="30000">
                <a:solidFill>
                  <a:srgbClr val="FF0000"/>
                </a:solidFill>
              </a:rPr>
              <a:t>1</a:t>
            </a:r>
            <a:r>
              <a:rPr lang="en-US" altLang="zh-CN" sz="3200" b="1">
                <a:solidFill>
                  <a:srgbClr val="FF0000"/>
                </a:solidFill>
              </a:rPr>
              <a:t> </a:t>
            </a:r>
            <a:r>
              <a:rPr lang="en-US" altLang="zh-CN" sz="3200" b="1">
                <a:solidFill>
                  <a:srgbClr val="FF0000"/>
                </a:solidFill>
              </a:rPr>
              <a:t>. </a:t>
            </a:r>
            <a:r>
              <a:rPr lang="en-US" altLang="zh-CN" sz="3200" b="1" i="1">
                <a:solidFill>
                  <a:srgbClr val="FF0000"/>
                </a:solidFill>
              </a:rPr>
              <a:t>w</a:t>
            </a:r>
            <a:r>
              <a:rPr lang="en-US" altLang="zh-CN" sz="3200" b="1" baseline="30000">
                <a:solidFill>
                  <a:srgbClr val="FF0000"/>
                </a:solidFill>
              </a:rPr>
              <a:t>2</a:t>
            </a:r>
            <a:r>
              <a:rPr lang="en-US" altLang="zh-CN" sz="3200" b="1">
                <a:solidFill>
                  <a:srgbClr val="FF0000"/>
                </a:solidFill>
              </a:rPr>
              <a:t>=0</a:t>
            </a:r>
            <a:endParaRPr lang="en-US" altLang="zh-CN" sz="3200" b="1">
              <a:solidFill>
                <a:srgbClr val="FF0000"/>
              </a:solidFill>
            </a:endParaRPr>
          </a:p>
        </p:txBody>
      </p:sp>
    </p:spTree>
  </p:cSld>
  <p:clrMapOvr>
    <a:masterClrMapping/>
  </p:clrMapOvr>
  <p:timing>
    <p:tnLst>
      <p:par>
        <p:cTn id="1" dur="indefinite" restart="never" nodeType="tmRoot"/>
      </p:par>
    </p:tnLst>
    <p:bldLst>
      <p:bldP spid="14" grpId="1"/>
      <p:bldP spid="16" grpId="1"/>
      <p:bldP spid="13" grpI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7" name="内容占位符 6"/>
          <p:cNvPicPr>
            <a:picLocks noChangeAspect="1"/>
          </p:cNvPicPr>
          <p:nvPr>
            <p:ph idx="1"/>
          </p:nvPr>
        </p:nvPicPr>
        <p:blipFill>
          <a:blip r:embed="rId1"/>
          <a:stretch>
            <a:fillRect/>
          </a:stretch>
        </p:blipFill>
        <p:spPr>
          <a:xfrm>
            <a:off x="1770380" y="1484630"/>
            <a:ext cx="5648325" cy="4384675"/>
          </a:xfrm>
          <a:prstGeom prst="rect">
            <a:avLst/>
          </a:prstGeom>
        </p:spPr>
      </p:pic>
      <p:pic>
        <p:nvPicPr>
          <p:cNvPr id="8" name="图片 7"/>
          <p:cNvPicPr>
            <a:picLocks noChangeAspect="1"/>
          </p:cNvPicPr>
          <p:nvPr/>
        </p:nvPicPr>
        <p:blipFill>
          <a:blip r:embed="rId2"/>
          <a:stretch>
            <a:fillRect/>
          </a:stretch>
        </p:blipFill>
        <p:spPr>
          <a:xfrm>
            <a:off x="6304280" y="5573395"/>
            <a:ext cx="1114425" cy="323850"/>
          </a:xfrm>
          <a:prstGeom prst="rect">
            <a:avLst/>
          </a:prstGeom>
        </p:spPr>
      </p:pic>
      <p:pic>
        <p:nvPicPr>
          <p:cNvPr id="9" name="图片 8"/>
          <p:cNvPicPr>
            <a:picLocks noChangeAspect="1"/>
          </p:cNvPicPr>
          <p:nvPr/>
        </p:nvPicPr>
        <p:blipFill>
          <a:blip r:embed="rId2"/>
          <a:stretch>
            <a:fillRect/>
          </a:stretch>
        </p:blipFill>
        <p:spPr>
          <a:xfrm>
            <a:off x="1907540" y="5661660"/>
            <a:ext cx="1114425" cy="3238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pic>
        <p:nvPicPr>
          <p:cNvPr id="5" name="内容占位符 4"/>
          <p:cNvPicPr>
            <a:picLocks noChangeAspect="1"/>
          </p:cNvPicPr>
          <p:nvPr>
            <p:ph idx="1"/>
          </p:nvPr>
        </p:nvPicPr>
        <p:blipFill>
          <a:blip r:embed="rId1"/>
          <a:stretch>
            <a:fillRect/>
          </a:stretch>
        </p:blipFill>
        <p:spPr>
          <a:xfrm>
            <a:off x="1259840" y="1412875"/>
            <a:ext cx="6496050" cy="4384675"/>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8" name="图片 7"/>
          <p:cNvPicPr>
            <a:picLocks noChangeAspect="1"/>
          </p:cNvPicPr>
          <p:nvPr/>
        </p:nvPicPr>
        <p:blipFill>
          <a:blip r:embed="rId2"/>
          <a:stretch>
            <a:fillRect/>
          </a:stretch>
        </p:blipFill>
        <p:spPr>
          <a:xfrm>
            <a:off x="6805295" y="5473700"/>
            <a:ext cx="1114425" cy="323850"/>
          </a:xfrm>
          <a:prstGeom prst="rect">
            <a:avLst/>
          </a:prstGeom>
        </p:spPr>
      </p:pic>
      <p:pic>
        <p:nvPicPr>
          <p:cNvPr id="6" name="图片 5"/>
          <p:cNvPicPr>
            <a:picLocks noChangeAspect="1"/>
          </p:cNvPicPr>
          <p:nvPr/>
        </p:nvPicPr>
        <p:blipFill>
          <a:blip r:embed="rId2"/>
          <a:stretch>
            <a:fillRect/>
          </a:stretch>
        </p:blipFill>
        <p:spPr>
          <a:xfrm>
            <a:off x="7164070" y="1341120"/>
            <a:ext cx="1114425" cy="588010"/>
          </a:xfrm>
          <a:prstGeom prst="rect">
            <a:avLst/>
          </a:prstGeom>
        </p:spPr>
      </p:pic>
      <p:pic>
        <p:nvPicPr>
          <p:cNvPr id="7" name="图片 6"/>
          <p:cNvPicPr>
            <a:picLocks noChangeAspect="1"/>
          </p:cNvPicPr>
          <p:nvPr/>
        </p:nvPicPr>
        <p:blipFill>
          <a:blip r:embed="rId2"/>
          <a:stretch>
            <a:fillRect/>
          </a:stretch>
        </p:blipFill>
        <p:spPr>
          <a:xfrm>
            <a:off x="1043305" y="5690235"/>
            <a:ext cx="1714500" cy="3238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pic>
        <p:nvPicPr>
          <p:cNvPr id="5" name="内容占位符 4"/>
          <p:cNvPicPr>
            <a:picLocks noChangeAspect="1"/>
          </p:cNvPicPr>
          <p:nvPr>
            <p:ph idx="1"/>
          </p:nvPr>
        </p:nvPicPr>
        <p:blipFill>
          <a:blip r:embed="rId1"/>
          <a:stretch>
            <a:fillRect/>
          </a:stretch>
        </p:blipFill>
        <p:spPr>
          <a:xfrm>
            <a:off x="1259840" y="1196975"/>
            <a:ext cx="5883275" cy="4587240"/>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pic>
        <p:nvPicPr>
          <p:cNvPr id="5" name="内容占位符 4"/>
          <p:cNvPicPr>
            <a:picLocks noChangeAspect="1"/>
          </p:cNvPicPr>
          <p:nvPr>
            <p:ph idx="1"/>
          </p:nvPr>
        </p:nvPicPr>
        <p:blipFill>
          <a:blip r:embed="rId1"/>
          <a:stretch>
            <a:fillRect/>
          </a:stretch>
        </p:blipFill>
        <p:spPr>
          <a:xfrm>
            <a:off x="1955800" y="1484630"/>
            <a:ext cx="5277485" cy="4384675"/>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6" name="图片 5"/>
          <p:cNvPicPr>
            <a:picLocks noChangeAspect="1"/>
          </p:cNvPicPr>
          <p:nvPr/>
        </p:nvPicPr>
        <p:blipFill>
          <a:blip r:embed="rId2"/>
          <a:stretch>
            <a:fillRect/>
          </a:stretch>
        </p:blipFill>
        <p:spPr>
          <a:xfrm>
            <a:off x="5436235" y="5373370"/>
            <a:ext cx="2219325" cy="552450"/>
          </a:xfrm>
          <a:prstGeom prst="rect">
            <a:avLst/>
          </a:prstGeom>
        </p:spPr>
      </p:pic>
      <p:pic>
        <p:nvPicPr>
          <p:cNvPr id="7" name="图片 6"/>
          <p:cNvPicPr>
            <a:picLocks noChangeAspect="1"/>
          </p:cNvPicPr>
          <p:nvPr/>
        </p:nvPicPr>
        <p:blipFill>
          <a:blip r:embed="rId3"/>
          <a:stretch>
            <a:fillRect/>
          </a:stretch>
        </p:blipFill>
        <p:spPr>
          <a:xfrm>
            <a:off x="6786880" y="1557020"/>
            <a:ext cx="638175" cy="323850"/>
          </a:xfrm>
          <a:prstGeom prst="rect">
            <a:avLst/>
          </a:prstGeom>
        </p:spPr>
      </p:pic>
      <p:pic>
        <p:nvPicPr>
          <p:cNvPr id="8" name="图片 7"/>
          <p:cNvPicPr>
            <a:picLocks noChangeAspect="1"/>
          </p:cNvPicPr>
          <p:nvPr/>
        </p:nvPicPr>
        <p:blipFill>
          <a:blip r:embed="rId3"/>
          <a:stretch>
            <a:fillRect/>
          </a:stretch>
        </p:blipFill>
        <p:spPr>
          <a:xfrm flipH="1">
            <a:off x="4573905" y="4383405"/>
            <a:ext cx="240665" cy="323850"/>
          </a:xfrm>
          <a:prstGeom prst="rect">
            <a:avLst/>
          </a:prstGeom>
        </p:spPr>
      </p:pic>
      <p:sp>
        <p:nvSpPr>
          <p:cNvPr id="9" name="文本框 8"/>
          <p:cNvSpPr txBox="1"/>
          <p:nvPr/>
        </p:nvSpPr>
        <p:spPr>
          <a:xfrm>
            <a:off x="4527550" y="4137660"/>
            <a:ext cx="443865" cy="583565"/>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3200" b="1">
                <a:latin typeface="Arial" panose="020B0604020202020204" pitchFamily="34" charset="0"/>
                <a:ea typeface="微软雅黑" panose="020B0503020204020204" pitchFamily="34" charset="-122"/>
              </a:rPr>
              <a:t>.</a:t>
            </a:r>
            <a:endParaRPr lang="en-US" altLang="zh-CN" sz="3200" b="1">
              <a:latin typeface="Arial" panose="020B0604020202020204" pitchFamily="34" charset="0"/>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pic>
        <p:nvPicPr>
          <p:cNvPr id="5" name="内容占位符 4"/>
          <p:cNvPicPr>
            <a:picLocks noChangeAspect="1"/>
          </p:cNvPicPr>
          <p:nvPr>
            <p:ph idx="1"/>
          </p:nvPr>
        </p:nvPicPr>
        <p:blipFill>
          <a:blip r:embed="rId1"/>
          <a:stretch>
            <a:fillRect/>
          </a:stretch>
        </p:blipFill>
        <p:spPr>
          <a:xfrm>
            <a:off x="934085" y="1097280"/>
            <a:ext cx="6427470" cy="5044440"/>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7" name="图片 6"/>
          <p:cNvPicPr>
            <a:picLocks noChangeAspect="1"/>
          </p:cNvPicPr>
          <p:nvPr/>
        </p:nvPicPr>
        <p:blipFill>
          <a:blip r:embed="rId2"/>
          <a:stretch>
            <a:fillRect/>
          </a:stretch>
        </p:blipFill>
        <p:spPr>
          <a:xfrm>
            <a:off x="6156325" y="1052830"/>
            <a:ext cx="2021840" cy="1155700"/>
          </a:xfrm>
          <a:prstGeom prst="rect">
            <a:avLst/>
          </a:prstGeom>
        </p:spPr>
      </p:pic>
      <p:pic>
        <p:nvPicPr>
          <p:cNvPr id="6" name="图片 5"/>
          <p:cNvPicPr>
            <a:picLocks noChangeAspect="1"/>
          </p:cNvPicPr>
          <p:nvPr/>
        </p:nvPicPr>
        <p:blipFill>
          <a:blip r:embed="rId2"/>
          <a:stretch>
            <a:fillRect/>
          </a:stretch>
        </p:blipFill>
        <p:spPr>
          <a:xfrm>
            <a:off x="4140200" y="4414520"/>
            <a:ext cx="1011555" cy="34099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7" name="内容占位符 6"/>
          <p:cNvPicPr>
            <a:picLocks noChangeAspect="1"/>
          </p:cNvPicPr>
          <p:nvPr>
            <p:ph idx="1"/>
          </p:nvPr>
        </p:nvPicPr>
        <p:blipFill>
          <a:blip r:embed="rId1"/>
          <a:stretch>
            <a:fillRect/>
          </a:stretch>
        </p:blipFill>
        <p:spPr>
          <a:xfrm>
            <a:off x="938530" y="1484630"/>
            <a:ext cx="7311390" cy="4384675"/>
          </a:xfrm>
          <a:prstGeom prst="rect">
            <a:avLst/>
          </a:prstGeom>
        </p:spPr>
      </p:pic>
      <p:pic>
        <p:nvPicPr>
          <p:cNvPr id="8" name="图片 7"/>
          <p:cNvPicPr>
            <a:picLocks noChangeAspect="1"/>
          </p:cNvPicPr>
          <p:nvPr/>
        </p:nvPicPr>
        <p:blipFill>
          <a:blip r:embed="rId2"/>
          <a:stretch>
            <a:fillRect/>
          </a:stretch>
        </p:blipFill>
        <p:spPr>
          <a:xfrm>
            <a:off x="6659880" y="1412875"/>
            <a:ext cx="2021840" cy="1155700"/>
          </a:xfrm>
          <a:prstGeom prst="rect">
            <a:avLst/>
          </a:prstGeom>
        </p:spPr>
      </p:pic>
      <p:pic>
        <p:nvPicPr>
          <p:cNvPr id="9" name="图片 8"/>
          <p:cNvPicPr>
            <a:picLocks noChangeAspect="1"/>
          </p:cNvPicPr>
          <p:nvPr/>
        </p:nvPicPr>
        <p:blipFill>
          <a:blip r:embed="rId2"/>
          <a:stretch>
            <a:fillRect/>
          </a:stretch>
        </p:blipFill>
        <p:spPr>
          <a:xfrm>
            <a:off x="6732270" y="5085080"/>
            <a:ext cx="2021840" cy="11557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pic>
        <p:nvPicPr>
          <p:cNvPr id="5" name="内容占位符 4"/>
          <p:cNvPicPr>
            <a:picLocks noChangeAspect="1"/>
          </p:cNvPicPr>
          <p:nvPr>
            <p:ph idx="1"/>
          </p:nvPr>
        </p:nvPicPr>
        <p:blipFill>
          <a:blip r:embed="rId1"/>
          <a:stretch>
            <a:fillRect/>
          </a:stretch>
        </p:blipFill>
        <p:spPr>
          <a:xfrm>
            <a:off x="1202055" y="1484630"/>
            <a:ext cx="6784340" cy="4384675"/>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8" name="图片 7"/>
          <p:cNvPicPr>
            <a:picLocks noChangeAspect="1"/>
          </p:cNvPicPr>
          <p:nvPr/>
        </p:nvPicPr>
        <p:blipFill>
          <a:blip r:embed="rId2"/>
          <a:stretch>
            <a:fillRect/>
          </a:stretch>
        </p:blipFill>
        <p:spPr>
          <a:xfrm>
            <a:off x="6659880" y="1412875"/>
            <a:ext cx="2021840" cy="1155700"/>
          </a:xfrm>
          <a:prstGeom prst="rect">
            <a:avLst/>
          </a:prstGeom>
        </p:spPr>
      </p:pic>
      <p:pic>
        <p:nvPicPr>
          <p:cNvPr id="6" name="图片 5"/>
          <p:cNvPicPr>
            <a:picLocks noChangeAspect="1"/>
          </p:cNvPicPr>
          <p:nvPr/>
        </p:nvPicPr>
        <p:blipFill>
          <a:blip r:embed="rId2"/>
          <a:stretch>
            <a:fillRect/>
          </a:stretch>
        </p:blipFill>
        <p:spPr>
          <a:xfrm>
            <a:off x="6228080" y="4796790"/>
            <a:ext cx="2021840" cy="1155700"/>
          </a:xfrm>
          <a:prstGeom prst="rect">
            <a:avLst/>
          </a:prstGeom>
        </p:spPr>
      </p:pic>
      <p:pic>
        <p:nvPicPr>
          <p:cNvPr id="7" name="图片 6"/>
          <p:cNvPicPr>
            <a:picLocks noChangeAspect="1"/>
          </p:cNvPicPr>
          <p:nvPr/>
        </p:nvPicPr>
        <p:blipFill>
          <a:blip r:embed="rId3"/>
          <a:stretch>
            <a:fillRect/>
          </a:stretch>
        </p:blipFill>
        <p:spPr>
          <a:xfrm>
            <a:off x="5436235" y="4796790"/>
            <a:ext cx="2047240" cy="78486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pic>
        <p:nvPicPr>
          <p:cNvPr id="5" name="内容占位符 4"/>
          <p:cNvPicPr>
            <a:picLocks noChangeAspect="1"/>
          </p:cNvPicPr>
          <p:nvPr>
            <p:ph idx="1"/>
          </p:nvPr>
        </p:nvPicPr>
        <p:blipFill>
          <a:blip r:embed="rId1"/>
          <a:stretch>
            <a:fillRect/>
          </a:stretch>
        </p:blipFill>
        <p:spPr>
          <a:xfrm>
            <a:off x="1760855" y="1828800"/>
            <a:ext cx="5667375" cy="3695700"/>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8" name="图片 7"/>
          <p:cNvPicPr>
            <a:picLocks noChangeAspect="1"/>
          </p:cNvPicPr>
          <p:nvPr/>
        </p:nvPicPr>
        <p:blipFill>
          <a:blip r:embed="rId2"/>
          <a:stretch>
            <a:fillRect/>
          </a:stretch>
        </p:blipFill>
        <p:spPr>
          <a:xfrm>
            <a:off x="6443980" y="1628775"/>
            <a:ext cx="2021840" cy="11557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主成分分析原理</a:t>
            </a:r>
            <a:endParaRPr lang="zh-CN" altLang="en-US"/>
          </a:p>
        </p:txBody>
      </p:sp>
      <p:pic>
        <p:nvPicPr>
          <p:cNvPr id="5" name="内容占位符 4"/>
          <p:cNvPicPr>
            <a:picLocks noChangeAspect="1"/>
          </p:cNvPicPr>
          <p:nvPr>
            <p:ph idx="1"/>
          </p:nvPr>
        </p:nvPicPr>
        <p:blipFill>
          <a:blip r:embed="rId1"/>
          <a:stretch>
            <a:fillRect/>
          </a:stretch>
        </p:blipFill>
        <p:spPr>
          <a:xfrm>
            <a:off x="1619250" y="1628775"/>
            <a:ext cx="5541010" cy="3680460"/>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8" name="图片 7"/>
          <p:cNvPicPr>
            <a:picLocks noChangeAspect="1"/>
          </p:cNvPicPr>
          <p:nvPr/>
        </p:nvPicPr>
        <p:blipFill>
          <a:blip r:embed="rId2"/>
          <a:stretch>
            <a:fillRect/>
          </a:stretch>
        </p:blipFill>
        <p:spPr>
          <a:xfrm>
            <a:off x="6228080" y="1268730"/>
            <a:ext cx="2021840" cy="11557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主成分分析</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9" name="矩形 3"/>
          <p:cNvSpPr>
            <a:spLocks noChangeArrowheads="1"/>
          </p:cNvSpPr>
          <p:nvPr/>
        </p:nvSpPr>
        <p:spPr bwMode="auto">
          <a:xfrm>
            <a:off x="755700" y="1189817"/>
            <a:ext cx="7543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FF0000"/>
                </a:solidFill>
                <a:sym typeface="+mn-ea"/>
              </a:rPr>
              <a:t>传统的特征值分解方法实现</a:t>
            </a:r>
            <a:r>
              <a:rPr lang="en-US" altLang="zh-CN" sz="2000" b="1" dirty="0">
                <a:solidFill>
                  <a:srgbClr val="FF0000"/>
                </a:solidFill>
                <a:sym typeface="+mn-ea"/>
              </a:rPr>
              <a:t>PCA</a:t>
            </a:r>
            <a:r>
              <a:rPr lang="zh-CN" altLang="en-US" sz="2000" b="1" dirty="0">
                <a:solidFill>
                  <a:srgbClr val="FF0000"/>
                </a:solidFill>
                <a:sym typeface="+mn-ea"/>
              </a:rPr>
              <a:t>算法</a:t>
            </a:r>
            <a:endParaRPr lang="zh-CN" altLang="zh-CN" sz="2000" dirty="0">
              <a:solidFill>
                <a:srgbClr val="000000"/>
              </a:solidFill>
            </a:endParaRPr>
          </a:p>
        </p:txBody>
      </p:sp>
      <mc:AlternateContent xmlns:mc="http://schemas.openxmlformats.org/markup-compatibility/2006">
        <mc:Choice xmlns:a14="http://schemas.microsoft.com/office/drawing/2010/main" Requires="a14">
          <p:sp>
            <p:nvSpPr>
              <p:cNvPr id="3" name="文本框 2"/>
              <p:cNvSpPr txBox="1"/>
              <p:nvPr/>
            </p:nvSpPr>
            <p:spPr>
              <a:xfrm>
                <a:off x="381000" y="1588770"/>
                <a:ext cx="8535035" cy="4535170"/>
              </a:xfrm>
              <a:prstGeom prst="rect">
                <a:avLst/>
              </a:prstGeom>
              <a:noFill/>
            </p:spPr>
            <p:txBody>
              <a:bodyPr wrap="square">
                <a:spAutoFit/>
              </a:bodyPr>
              <a:lstStyle/>
              <a:p>
                <a:pPr marL="0" indent="0" latinLnBrk="0">
                  <a:lnSpc>
                    <a:spcPct val="125000"/>
                  </a:lnSpc>
                  <a:spcBef>
                    <a:spcPts val="400"/>
                  </a:spcBef>
                </a:pPr>
                <a:r>
                  <a:rPr lang="zh-CN" altLang="en-US" sz="2000" dirty="0">
                    <a:latin typeface="+mj-ea"/>
                  </a:rPr>
                  <a:t>设有</a:t>
                </a:r>
                <a14:m>
                  <m:oMath xmlns:m="http://schemas.openxmlformats.org/officeDocument/2006/math">
                    <m:r>
                      <a:rPr lang="en-US" altLang="zh-CN" sz="2000" i="1">
                        <a:latin typeface="Cambria Math" panose="02040503050406030204" pitchFamily="18" charset="0"/>
                        <a:cs typeface="Euclid" panose="02020503060505020303" pitchFamily="18" charset="0"/>
                      </a:rPr>
                      <m:t>𝑚</m:t>
                    </m:r>
                  </m:oMath>
                </a14:m>
                <a:r>
                  <a:rPr lang="zh-CN" altLang="en-US" sz="2000" dirty="0">
                    <a:latin typeface="+mj-ea"/>
                  </a:rPr>
                  <a:t>条</a:t>
                </a:r>
                <a14:m>
                  <m:oMath xmlns:m="http://schemas.openxmlformats.org/officeDocument/2006/math">
                    <m:r>
                      <a:rPr lang="en-US" altLang="zh-CN" sz="2000" i="1">
                        <a:latin typeface="Cambria Math" panose="02040503050406030204" pitchFamily="18" charset="0"/>
                        <a:cs typeface="Euclid" panose="02020503060505020303" pitchFamily="18" charset="0"/>
                      </a:rPr>
                      <m:t>𝑛</m:t>
                    </m:r>
                  </m:oMath>
                </a14:m>
                <a:r>
                  <a:rPr lang="zh-CN" altLang="en-US" sz="2000" dirty="0">
                    <a:latin typeface="+mj-ea"/>
                  </a:rPr>
                  <a:t>维数据，将原始数据按列组成</a:t>
                </a:r>
                <a14:m>
                  <m:oMath xmlns:m="http://schemas.openxmlformats.org/officeDocument/2006/math">
                    <m:r>
                      <a:rPr lang="en-US" altLang="zh-CN" sz="2000" i="1">
                        <a:latin typeface="Cambria Math" panose="02040503050406030204" pitchFamily="18" charset="0"/>
                        <a:cs typeface="Euclid" panose="02020503060505020303" pitchFamily="18" charset="0"/>
                      </a:rPr>
                      <m:t>𝑛</m:t>
                    </m:r>
                  </m:oMath>
                </a14:m>
                <a:r>
                  <a:rPr lang="zh-CN" altLang="en-US" sz="2000" dirty="0">
                    <a:latin typeface="+mj-ea"/>
                  </a:rPr>
                  <a:t>行</a:t>
                </a:r>
                <a14:m>
                  <m:oMath xmlns:m="http://schemas.openxmlformats.org/officeDocument/2006/math">
                    <m:r>
                      <a:rPr lang="en-US" altLang="zh-CN" sz="2000" i="1">
                        <a:latin typeface="Cambria Math" panose="02040503050406030204" pitchFamily="18" charset="0"/>
                        <a:cs typeface="Euclid" panose="02020503060505020303" pitchFamily="18" charset="0"/>
                      </a:rPr>
                      <m:t>𝑚</m:t>
                    </m:r>
                  </m:oMath>
                </a14:m>
                <a:r>
                  <a:rPr lang="zh-CN" altLang="en-US" sz="2000" dirty="0">
                    <a:latin typeface="+mj-ea"/>
                  </a:rPr>
                  <a:t>列矩阵</a:t>
                </a:r>
                <a14:m>
                  <m:oMath xmlns:m="http://schemas.openxmlformats.org/officeDocument/2006/math">
                    <m:r>
                      <a:rPr lang="en-US" altLang="zh-CN" sz="2000" i="1">
                        <a:latin typeface="Cambria Math" panose="02040503050406030204" pitchFamily="18" charset="0"/>
                      </a:rPr>
                      <m:t>𝑋</m:t>
                    </m:r>
                  </m:oMath>
                </a14:m>
                <a:endParaRPr lang="en-US" altLang="zh-CN" sz="2000" dirty="0">
                  <a:latin typeface="+mj-ea"/>
                  <a:cs typeface="Euclid" panose="02020503060505020303" pitchFamily="18" charset="0"/>
                </a:endParaRPr>
              </a:p>
              <a:p>
                <a:pPr marL="0" indent="0" latinLnBrk="0">
                  <a:lnSpc>
                    <a:spcPct val="125000"/>
                  </a:lnSpc>
                  <a:spcBef>
                    <a:spcPts val="400"/>
                  </a:spcBef>
                </a:pPr>
                <a:r>
                  <a:rPr lang="en-US" altLang="zh-CN" sz="2000" dirty="0">
                    <a:latin typeface="+mj-ea"/>
                    <a:cs typeface="Euclid" panose="02020503060505020303" pitchFamily="18" charset="0"/>
                  </a:rPr>
                  <a:t>1</a:t>
                </a:r>
                <a:r>
                  <a:rPr lang="zh-CN" altLang="en-US" sz="2000" dirty="0">
                    <a:latin typeface="+mj-ea"/>
                    <a:cs typeface="Euclid" panose="02020503060505020303" pitchFamily="18" charset="0"/>
                  </a:rPr>
                  <a:t>）</a:t>
                </a:r>
                <a:r>
                  <a:rPr lang="zh-CN" altLang="zh-CN" sz="2000" dirty="0">
                    <a:latin typeface="+mj-ea"/>
                    <a:cs typeface="Euclid" panose="02020503060505020303" pitchFamily="18" charset="0"/>
                  </a:rPr>
                  <a:t>均值归一化。我们需要计算出所有特征的均值，然后令 </a:t>
                </a:r>
                <a14:m>
                  <m:oMath xmlns:m="http://schemas.openxmlformats.org/officeDocument/2006/math">
                    <m:sSub>
                      <m:sSubPr>
                        <m:ctrlPr>
                          <a:rPr lang="zh-CN" altLang="zh-CN" sz="2000" i="1">
                            <a:latin typeface="Cambria Math" panose="02040503050406030204" pitchFamily="18" charset="0"/>
                            <a:cs typeface="Euclid" panose="02020503060505020303" pitchFamily="18" charset="0"/>
                          </a:rPr>
                        </m:ctrlPr>
                      </m:sSubPr>
                      <m:e>
                        <m:r>
                          <a:rPr lang="en-US" altLang="zh-CN" sz="2000" i="1">
                            <a:latin typeface="Cambria Math" panose="02040503050406030204" pitchFamily="18" charset="0"/>
                            <a:cs typeface="Euclid" panose="02020503060505020303" pitchFamily="18" charset="0"/>
                          </a:rPr>
                          <m:t>𝑥</m:t>
                        </m:r>
                      </m:e>
                      <m:sub>
                        <m:r>
                          <a:rPr lang="en-US" altLang="zh-CN" sz="2000" i="1">
                            <a:latin typeface="Cambria Math" panose="02040503050406030204" pitchFamily="18" charset="0"/>
                            <a:cs typeface="Euclid" panose="02020503060505020303" pitchFamily="18" charset="0"/>
                          </a:rPr>
                          <m:t>𝑗</m:t>
                        </m:r>
                      </m:sub>
                    </m:sSub>
                    <m:r>
                      <a:rPr lang="en-US" altLang="zh-CN" sz="2000" i="1">
                        <a:latin typeface="Cambria Math" panose="02040503050406030204" pitchFamily="18" charset="0"/>
                        <a:cs typeface="Euclid" panose="02020503060505020303" pitchFamily="18" charset="0"/>
                      </a:rPr>
                      <m:t>=</m:t>
                    </m:r>
                    <m:sSub>
                      <m:sSubPr>
                        <m:ctrlPr>
                          <a:rPr lang="zh-CN" altLang="zh-CN" sz="2000" i="1">
                            <a:latin typeface="Cambria Math" panose="02040503050406030204" pitchFamily="18" charset="0"/>
                            <a:cs typeface="Euclid" panose="02020503060505020303" pitchFamily="18" charset="0"/>
                          </a:rPr>
                        </m:ctrlPr>
                      </m:sSubPr>
                      <m:e>
                        <m:r>
                          <a:rPr lang="en-US" altLang="zh-CN" sz="2000" i="1">
                            <a:latin typeface="Cambria Math" panose="02040503050406030204" pitchFamily="18" charset="0"/>
                            <a:cs typeface="Euclid" panose="02020503060505020303" pitchFamily="18" charset="0"/>
                          </a:rPr>
                          <m:t>𝑥</m:t>
                        </m:r>
                      </m:e>
                      <m:sub>
                        <m:r>
                          <a:rPr lang="en-US" altLang="zh-CN" sz="2000" i="1">
                            <a:latin typeface="Cambria Math" panose="02040503050406030204" pitchFamily="18" charset="0"/>
                            <a:cs typeface="Euclid" panose="02020503060505020303" pitchFamily="18" charset="0"/>
                          </a:rPr>
                          <m:t>𝑗</m:t>
                        </m:r>
                      </m:sub>
                    </m:sSub>
                    <m:r>
                      <a:rPr lang="en-US" altLang="zh-CN" sz="2000" i="1">
                        <a:latin typeface="Cambria Math" panose="02040503050406030204" pitchFamily="18" charset="0"/>
                        <a:cs typeface="Euclid" panose="02020503060505020303" pitchFamily="18" charset="0"/>
                      </a:rPr>
                      <m:t>−</m:t>
                    </m:r>
                    <m:sSub>
                      <m:sSubPr>
                        <m:ctrlPr>
                          <a:rPr lang="zh-CN" altLang="zh-CN" sz="2000" i="1">
                            <a:latin typeface="Cambria Math" panose="02040503050406030204" pitchFamily="18" charset="0"/>
                            <a:cs typeface="Euclid" panose="02020503060505020303" pitchFamily="18" charset="0"/>
                          </a:rPr>
                        </m:ctrlPr>
                      </m:sSubPr>
                      <m:e>
                        <m:r>
                          <a:rPr lang="en-US" altLang="zh-CN" sz="2000" i="1">
                            <a:latin typeface="Cambria Math" panose="02040503050406030204" pitchFamily="18" charset="0"/>
                            <a:cs typeface="Euclid" panose="02020503060505020303" pitchFamily="18" charset="0"/>
                          </a:rPr>
                          <m:t>𝜇</m:t>
                        </m:r>
                      </m:e>
                      <m:sub>
                        <m:r>
                          <a:rPr lang="en-US" altLang="zh-CN" sz="2000" i="1">
                            <a:latin typeface="Cambria Math" panose="02040503050406030204" pitchFamily="18" charset="0"/>
                            <a:cs typeface="Euclid" panose="02020503060505020303" pitchFamily="18" charset="0"/>
                          </a:rPr>
                          <m:t>𝑗</m:t>
                        </m:r>
                      </m:sub>
                    </m:sSub>
                  </m:oMath>
                </a14:m>
                <a:r>
                  <a:rPr lang="zh-CN" altLang="zh-CN" sz="2000" dirty="0">
                    <a:latin typeface="+mj-ea"/>
                    <a:cs typeface="Euclid" panose="02020503060505020303" pitchFamily="18" charset="0"/>
                  </a:rPr>
                  <a:t>。</a:t>
                </a:r>
                <a:r>
                  <a:rPr lang="zh-CN" altLang="en-US" sz="2000" dirty="0">
                    <a:latin typeface="+mj-ea"/>
                    <a:cs typeface="Euclid" panose="02020503060505020303" pitchFamily="18" charset="0"/>
                  </a:rPr>
                  <a:t>（</a:t>
                </a:r>
                <a14:m>
                  <m:oMath xmlns:m="http://schemas.openxmlformats.org/officeDocument/2006/math">
                    <m:sSub>
                      <m:sSubPr>
                        <m:ctrlPr>
                          <a:rPr lang="zh-CN" altLang="zh-CN" sz="2000" i="1">
                            <a:latin typeface="Cambria Math" panose="02040503050406030204" pitchFamily="18" charset="0"/>
                            <a:cs typeface="Euclid" panose="02020503060505020303" pitchFamily="18" charset="0"/>
                          </a:rPr>
                        </m:ctrlPr>
                      </m:sSubPr>
                      <m:e>
                        <m:r>
                          <a:rPr lang="en-US" altLang="zh-CN" sz="2000" i="1">
                            <a:latin typeface="Cambria Math" panose="02040503050406030204" pitchFamily="18" charset="0"/>
                            <a:cs typeface="Euclid" panose="02020503060505020303" pitchFamily="18" charset="0"/>
                          </a:rPr>
                          <m:t>𝜇</m:t>
                        </m:r>
                      </m:e>
                      <m:sub>
                        <m:r>
                          <a:rPr lang="en-US" altLang="zh-CN" sz="2000" i="1">
                            <a:latin typeface="Cambria Math" panose="02040503050406030204" pitchFamily="18" charset="0"/>
                            <a:cs typeface="Euclid" panose="02020503060505020303" pitchFamily="18" charset="0"/>
                          </a:rPr>
                          <m:t>𝑗</m:t>
                        </m:r>
                      </m:sub>
                    </m:sSub>
                  </m:oMath>
                </a14:m>
                <a:r>
                  <a:rPr lang="zh-CN" altLang="en-US" sz="2000" dirty="0">
                    <a:latin typeface="+mj-ea"/>
                    <a:cs typeface="Euclid" panose="02020503060505020303" pitchFamily="18" charset="0"/>
                  </a:rPr>
                  <a:t>为均值）。</a:t>
                </a:r>
                <a:r>
                  <a:rPr lang="zh-CN" altLang="zh-CN" sz="2000" dirty="0">
                    <a:latin typeface="+mj-ea"/>
                    <a:cs typeface="Euclid" panose="02020503060505020303" pitchFamily="18" charset="0"/>
                  </a:rPr>
                  <a:t>如果特征是在不同的数量级上，我们还需要将其除以标准差 </a:t>
                </a:r>
                <a14:m>
                  <m:oMath xmlns:m="http://schemas.openxmlformats.org/officeDocument/2006/math">
                    <m:sSup>
                      <m:sSupPr>
                        <m:ctrlPr>
                          <a:rPr lang="zh-CN" altLang="zh-CN" sz="2000" i="1">
                            <a:latin typeface="Cambria Math" panose="02040503050406030204" pitchFamily="18" charset="0"/>
                            <a:cs typeface="Euclid" panose="02020503060505020303" pitchFamily="18" charset="0"/>
                          </a:rPr>
                        </m:ctrlPr>
                      </m:sSupPr>
                      <m:e>
                        <m:r>
                          <a:rPr lang="en-US" altLang="zh-CN" sz="2000" i="1">
                            <a:latin typeface="Cambria Math" panose="02040503050406030204" pitchFamily="18" charset="0"/>
                            <a:cs typeface="Euclid" panose="02020503060505020303" pitchFamily="18" charset="0"/>
                          </a:rPr>
                          <m:t>𝜎</m:t>
                        </m:r>
                      </m:e>
                      <m:sup>
                        <m:r>
                          <a:rPr lang="en-US" altLang="zh-CN" sz="2000" i="1">
                            <a:latin typeface="Cambria Math" panose="02040503050406030204" pitchFamily="18" charset="0"/>
                            <a:cs typeface="Euclid" panose="02020503060505020303" pitchFamily="18" charset="0"/>
                          </a:rPr>
                          <m:t>2</m:t>
                        </m:r>
                      </m:sup>
                    </m:sSup>
                  </m:oMath>
                </a14:m>
                <a:r>
                  <a:rPr lang="zh-CN" altLang="zh-CN" sz="2000" dirty="0">
                    <a:latin typeface="+mj-ea"/>
                    <a:cs typeface="Euclid" panose="02020503060505020303" pitchFamily="18" charset="0"/>
                  </a:rPr>
                  <a:t>。</a:t>
                </a:r>
                <a:endParaRPr lang="zh-CN" altLang="zh-CN" sz="2000" dirty="0">
                  <a:latin typeface="+mj-ea"/>
                  <a:cs typeface="Euclid" panose="02020503060505020303" pitchFamily="18" charset="0"/>
                </a:endParaRPr>
              </a:p>
              <a:p>
                <a:pPr marL="0" indent="0" latinLnBrk="0">
                  <a:lnSpc>
                    <a:spcPct val="125000"/>
                  </a:lnSpc>
                  <a:spcBef>
                    <a:spcPts val="400"/>
                  </a:spcBef>
                </a:pPr>
                <a:r>
                  <a:rPr lang="en-US" altLang="zh-CN" sz="2000" dirty="0">
                    <a:latin typeface="+mj-ea"/>
                    <a:cs typeface="Euclid" panose="02020503060505020303" pitchFamily="18" charset="0"/>
                  </a:rPr>
                  <a:t>2</a:t>
                </a:r>
                <a:r>
                  <a:rPr lang="zh-CN" altLang="en-US" sz="2000" dirty="0">
                    <a:latin typeface="+mj-ea"/>
                    <a:cs typeface="Euclid" panose="02020503060505020303" pitchFamily="18" charset="0"/>
                  </a:rPr>
                  <a:t>）</a:t>
                </a:r>
                <a:r>
                  <a:rPr lang="en-US" altLang="zh-CN" sz="2000" dirty="0" err="1">
                    <a:latin typeface="+mj-ea"/>
                    <a:cs typeface="Euclid" panose="02020503060505020303" pitchFamily="18" charset="0"/>
                  </a:rPr>
                  <a:t>计算协方差矩阵</a:t>
                </a:r>
                <a14:m>
                  <m:oMath xmlns:m="http://schemas.openxmlformats.org/officeDocument/2006/math">
                    <m:r>
                      <a:rPr lang="en-US" altLang="zh-CN" sz="2000" i="1">
                        <a:latin typeface="Cambria Math" panose="02040503050406030204" pitchFamily="18" charset="0"/>
                        <a:cs typeface="Euclid" panose="02020503060505020303" pitchFamily="18" charset="0"/>
                      </a:rPr>
                      <m:t>𝛴</m:t>
                    </m:r>
                    <m:r>
                      <a:rPr lang="zh-CN" altLang="en-US" sz="2000" i="1">
                        <a:latin typeface="Cambria Math" panose="02040503050406030204" pitchFamily="18" charset="0"/>
                        <a:cs typeface="Euclid" panose="02020503060505020303" pitchFamily="18" charset="0"/>
                      </a:rPr>
                      <m:t>。</m:t>
                    </m:r>
                  </m:oMath>
                </a14:m>
                <a:endParaRPr lang="en-US" altLang="zh-CN" sz="2000" dirty="0">
                  <a:latin typeface="+mj-ea"/>
                  <a:cs typeface="Euclid" panose="02020503060505020303" pitchFamily="18" charset="0"/>
                </a:endParaRPr>
              </a:p>
              <a:p>
                <a:pPr marL="0" indent="0" algn="ctr" latinLnBrk="0">
                  <a:lnSpc>
                    <a:spcPct val="125000"/>
                  </a:lnSpc>
                  <a:spcBef>
                    <a:spcPts val="400"/>
                  </a:spcBef>
                </a:pPr>
                <a:r>
                  <a:rPr lang="en-US" altLang="zh-CN" sz="2000" dirty="0">
                    <a:latin typeface="+mj-ea"/>
                    <a:cs typeface="Euclid" panose="02020503060505020303" pitchFamily="18" charset="0"/>
                  </a:rPr>
                  <a:t> </a:t>
                </a:r>
                <a14:m>
                  <m:oMath xmlns:m="http://schemas.openxmlformats.org/officeDocument/2006/math">
                    <m:r>
                      <a:rPr lang="en-US" altLang="zh-CN" sz="2000" i="1">
                        <a:latin typeface="Cambria Math" panose="02040503050406030204" pitchFamily="18" charset="0"/>
                        <a:cs typeface="Euclid" panose="02020503060505020303" pitchFamily="18" charset="0"/>
                      </a:rPr>
                      <m:t>∑=</m:t>
                    </m:r>
                    <m:f>
                      <m:fPr>
                        <m:ctrlPr>
                          <a:rPr lang="zh-CN" altLang="zh-CN" sz="2000" i="1">
                            <a:latin typeface="Cambria Math" panose="02040503050406030204" pitchFamily="18" charset="0"/>
                            <a:cs typeface="Euclid" panose="02020503060505020303" pitchFamily="18" charset="0"/>
                          </a:rPr>
                        </m:ctrlPr>
                      </m:fPr>
                      <m:num>
                        <m:r>
                          <a:rPr lang="en-US" altLang="zh-CN" sz="2000" i="1">
                            <a:latin typeface="Cambria Math" panose="02040503050406030204" pitchFamily="18" charset="0"/>
                            <a:cs typeface="Euclid" panose="02020503060505020303" pitchFamily="18" charset="0"/>
                          </a:rPr>
                          <m:t>1</m:t>
                        </m:r>
                      </m:num>
                      <m:den>
                        <m:r>
                          <a:rPr lang="en-US" altLang="zh-CN" sz="2000" i="1">
                            <a:latin typeface="Cambria Math" panose="02040503050406030204" pitchFamily="18" charset="0"/>
                            <a:cs typeface="Euclid" panose="02020503060505020303" pitchFamily="18" charset="0"/>
                          </a:rPr>
                          <m:t>𝑚</m:t>
                        </m:r>
                      </m:den>
                    </m:f>
                    <m:nary>
                      <m:naryPr>
                        <m:chr m:val="∑"/>
                        <m:limLoc m:val="undOvr"/>
                        <m:ctrlPr>
                          <a:rPr lang="zh-CN" altLang="zh-CN" sz="2000" i="1">
                            <a:latin typeface="Cambria Math" panose="02040503050406030204" pitchFamily="18" charset="0"/>
                            <a:cs typeface="Euclid" panose="02020503060505020303" pitchFamily="18" charset="0"/>
                          </a:rPr>
                        </m:ctrlPr>
                      </m:naryPr>
                      <m:sub>
                        <m:r>
                          <a:rPr lang="en-US" altLang="zh-CN" sz="2000" i="1">
                            <a:latin typeface="Cambria Math" panose="02040503050406030204" pitchFamily="18" charset="0"/>
                            <a:cs typeface="Euclid" panose="02020503060505020303" pitchFamily="18" charset="0"/>
                          </a:rPr>
                          <m:t>𝑖</m:t>
                        </m:r>
                        <m:r>
                          <a:rPr lang="en-US" altLang="zh-CN" sz="2000" i="1">
                            <a:latin typeface="Cambria Math" panose="02040503050406030204" pitchFamily="18" charset="0"/>
                            <a:cs typeface="Euclid" panose="02020503060505020303" pitchFamily="18" charset="0"/>
                          </a:rPr>
                          <m:t>=</m:t>
                        </m:r>
                        <m:r>
                          <a:rPr lang="en-US" altLang="zh-CN" sz="2000" i="1">
                            <a:latin typeface="Cambria Math" panose="02040503050406030204" pitchFamily="18" charset="0"/>
                            <a:cs typeface="Euclid" panose="02020503060505020303" pitchFamily="18" charset="0"/>
                          </a:rPr>
                          <m:t>1</m:t>
                        </m:r>
                      </m:sub>
                      <m:sup>
                        <m:r>
                          <a:rPr lang="en-US" altLang="zh-CN" sz="2000" i="1">
                            <a:latin typeface="Cambria Math" panose="02040503050406030204" pitchFamily="18" charset="0"/>
                            <a:cs typeface="Euclid" panose="02020503060505020303" pitchFamily="18" charset="0"/>
                          </a:rPr>
                          <m:t>𝑛</m:t>
                        </m:r>
                      </m:sup>
                      <m:e>
                        <m:d>
                          <m:dPr>
                            <m:ctrlPr>
                              <a:rPr lang="zh-CN" altLang="zh-CN" sz="2000" i="1">
                                <a:latin typeface="Cambria Math" panose="02040503050406030204" pitchFamily="18" charset="0"/>
                                <a:cs typeface="Euclid" panose="02020503060505020303" pitchFamily="18" charset="0"/>
                              </a:rPr>
                            </m:ctrlPr>
                          </m:dPr>
                          <m:e>
                            <m:sSup>
                              <m:sSupPr>
                                <m:ctrlPr>
                                  <a:rPr lang="zh-CN" altLang="zh-CN" sz="2000" i="1">
                                    <a:latin typeface="Cambria Math" panose="02040503050406030204" pitchFamily="18" charset="0"/>
                                    <a:cs typeface="Euclid" panose="02020503060505020303" pitchFamily="18" charset="0"/>
                                  </a:rPr>
                                </m:ctrlPr>
                              </m:sSupPr>
                              <m:e>
                                <m:r>
                                  <a:rPr lang="en-US" altLang="zh-CN" sz="2000" i="1">
                                    <a:latin typeface="Cambria Math" panose="02040503050406030204" pitchFamily="18" charset="0"/>
                                    <a:cs typeface="Euclid" panose="02020503060505020303" pitchFamily="18" charset="0"/>
                                  </a:rPr>
                                  <m:t>𝑥</m:t>
                                </m:r>
                              </m:e>
                              <m:sup>
                                <m:r>
                                  <a:rPr lang="en-US" altLang="zh-CN" sz="2000" i="1">
                                    <a:latin typeface="Cambria Math" panose="02040503050406030204" pitchFamily="18" charset="0"/>
                                    <a:cs typeface="Euclid" panose="02020503060505020303" pitchFamily="18" charset="0"/>
                                  </a:rPr>
                                  <m:t>(</m:t>
                                </m:r>
                                <m:r>
                                  <a:rPr lang="en-US" altLang="zh-CN" sz="2000" i="1">
                                    <a:latin typeface="Cambria Math" panose="02040503050406030204" pitchFamily="18" charset="0"/>
                                    <a:cs typeface="Euclid" panose="02020503060505020303" pitchFamily="18" charset="0"/>
                                  </a:rPr>
                                  <m:t>𝑖</m:t>
                                </m:r>
                                <m:r>
                                  <a:rPr lang="en-US" altLang="zh-CN" sz="2000" i="1">
                                    <a:latin typeface="Cambria Math" panose="02040503050406030204" pitchFamily="18" charset="0"/>
                                    <a:cs typeface="Euclid" panose="02020503060505020303" pitchFamily="18" charset="0"/>
                                  </a:rPr>
                                  <m:t>)</m:t>
                                </m:r>
                              </m:sup>
                            </m:sSup>
                          </m:e>
                        </m:d>
                      </m:e>
                    </m:nary>
                    <m:sSup>
                      <m:sSupPr>
                        <m:ctrlPr>
                          <a:rPr lang="zh-CN" altLang="zh-CN" sz="2000" i="1">
                            <a:latin typeface="Cambria Math" panose="02040503050406030204" pitchFamily="18" charset="0"/>
                            <a:cs typeface="Euclid" panose="02020503060505020303" pitchFamily="18" charset="0"/>
                          </a:rPr>
                        </m:ctrlPr>
                      </m:sSupPr>
                      <m:e>
                        <m:d>
                          <m:dPr>
                            <m:ctrlPr>
                              <a:rPr lang="zh-CN" altLang="zh-CN" sz="2000" i="1">
                                <a:latin typeface="Cambria Math" panose="02040503050406030204" pitchFamily="18" charset="0"/>
                                <a:cs typeface="Euclid" panose="02020503060505020303" pitchFamily="18" charset="0"/>
                              </a:rPr>
                            </m:ctrlPr>
                          </m:dPr>
                          <m:e>
                            <m:sSup>
                              <m:sSupPr>
                                <m:ctrlPr>
                                  <a:rPr lang="zh-CN" altLang="zh-CN" sz="2000" i="1">
                                    <a:latin typeface="Cambria Math" panose="02040503050406030204" pitchFamily="18" charset="0"/>
                                    <a:cs typeface="Euclid" panose="02020503060505020303" pitchFamily="18" charset="0"/>
                                  </a:rPr>
                                </m:ctrlPr>
                              </m:sSupPr>
                              <m:e>
                                <m:r>
                                  <a:rPr lang="en-US" altLang="zh-CN" sz="2000" i="1">
                                    <a:latin typeface="Cambria Math" panose="02040503050406030204" pitchFamily="18" charset="0"/>
                                    <a:cs typeface="Euclid" panose="02020503060505020303" pitchFamily="18" charset="0"/>
                                  </a:rPr>
                                  <m:t>𝑥</m:t>
                                </m:r>
                              </m:e>
                              <m:sup>
                                <m:r>
                                  <a:rPr lang="en-US" altLang="zh-CN" sz="2000" i="1">
                                    <a:latin typeface="Cambria Math" panose="02040503050406030204" pitchFamily="18" charset="0"/>
                                    <a:cs typeface="Euclid" panose="02020503060505020303" pitchFamily="18" charset="0"/>
                                  </a:rPr>
                                  <m:t>(</m:t>
                                </m:r>
                                <m:r>
                                  <a:rPr lang="en-US" altLang="zh-CN" sz="2000" i="1">
                                    <a:latin typeface="Cambria Math" panose="02040503050406030204" pitchFamily="18" charset="0"/>
                                    <a:cs typeface="Euclid" panose="02020503060505020303" pitchFamily="18" charset="0"/>
                                  </a:rPr>
                                  <m:t>𝑖</m:t>
                                </m:r>
                                <m:r>
                                  <a:rPr lang="en-US" altLang="zh-CN" sz="2000" i="1">
                                    <a:latin typeface="Cambria Math" panose="02040503050406030204" pitchFamily="18" charset="0"/>
                                    <a:cs typeface="Euclid" panose="02020503060505020303" pitchFamily="18" charset="0"/>
                                  </a:rPr>
                                  <m:t>)</m:t>
                                </m:r>
                              </m:sup>
                            </m:sSup>
                          </m:e>
                        </m:d>
                      </m:e>
                      <m:sup>
                        <m:r>
                          <a:rPr lang="en-US" altLang="zh-CN" sz="2000" i="1">
                            <a:latin typeface="Cambria Math" panose="02040503050406030204" pitchFamily="18" charset="0"/>
                            <a:cs typeface="Euclid" panose="02020503060505020303" pitchFamily="18" charset="0"/>
                          </a:rPr>
                          <m:t>𝑇</m:t>
                        </m:r>
                      </m:sup>
                    </m:sSup>
                  </m:oMath>
                </a14:m>
                <a:endParaRPr lang="zh-CN" altLang="zh-CN" sz="2000" dirty="0">
                  <a:latin typeface="+mj-ea"/>
                  <a:cs typeface="Euclid" panose="02020503060505020303" pitchFamily="18" charset="0"/>
                </a:endParaRPr>
              </a:p>
              <a:p>
                <a:pPr marL="0" indent="0" latinLnBrk="0">
                  <a:lnSpc>
                    <a:spcPct val="125000"/>
                  </a:lnSpc>
                  <a:spcBef>
                    <a:spcPts val="400"/>
                  </a:spcBef>
                </a:pPr>
                <a:r>
                  <a:rPr lang="en-US" altLang="zh-CN" sz="2000" kern="100" dirty="0">
                    <a:latin typeface="+mj-ea"/>
                    <a:cs typeface="Times New Roman" panose="02020603050405020304" pitchFamily="18" charset="0"/>
                  </a:rPr>
                  <a:t>3</a:t>
                </a:r>
                <a:r>
                  <a:rPr lang="zh-CN" altLang="en-US" sz="2000" kern="100" dirty="0">
                    <a:latin typeface="+mj-ea"/>
                    <a:cs typeface="Times New Roman" panose="02020603050405020304" pitchFamily="18" charset="0"/>
                  </a:rPr>
                  <a:t>）用</a:t>
                </a:r>
                <a:r>
                  <a:rPr lang="zh-CN" altLang="en-US" sz="2000" dirty="0">
                    <a:latin typeface="+mj-ea"/>
                  </a:rPr>
                  <a:t>特征值分解方法</a:t>
                </a:r>
                <a:r>
                  <a:rPr lang="zh-CN" altLang="zh-CN" sz="2000" kern="100" dirty="0">
                    <a:latin typeface="+mj-ea"/>
                    <a:cs typeface="Times New Roman" panose="02020603050405020304" pitchFamily="18" charset="0"/>
                  </a:rPr>
                  <a:t>计算协方差矩阵</a:t>
                </a:r>
                <a14:m>
                  <m:oMath xmlns:m="http://schemas.openxmlformats.org/officeDocument/2006/math">
                    <m:r>
                      <a:rPr lang="en-US" altLang="zh-CN" sz="2000" i="1">
                        <a:latin typeface="Cambria Math" panose="02040503050406030204" pitchFamily="18" charset="0"/>
                        <a:cs typeface="Euclid" panose="02020503060505020303" pitchFamily="18" charset="0"/>
                      </a:rPr>
                      <m:t>𝛴</m:t>
                    </m:r>
                  </m:oMath>
                </a14:m>
                <a:r>
                  <a:rPr lang="zh-CN" altLang="zh-CN" sz="2000" kern="100" dirty="0">
                    <a:latin typeface="+mj-ea"/>
                    <a:cs typeface="Times New Roman" panose="02020603050405020304" pitchFamily="18" charset="0"/>
                  </a:rPr>
                  <a:t>的</a:t>
                </a:r>
                <a:r>
                  <a:rPr lang="zh-CN" altLang="en-US" sz="2000" kern="100" dirty="0">
                    <a:latin typeface="+mj-ea"/>
                    <a:cs typeface="Times New Roman" panose="02020603050405020304" pitchFamily="18" charset="0"/>
                  </a:rPr>
                  <a:t>特征值和</a:t>
                </a:r>
                <a:r>
                  <a:rPr lang="zh-CN" altLang="zh-CN" sz="2000" kern="100" dirty="0">
                    <a:latin typeface="+mj-ea"/>
                    <a:cs typeface="Times New Roman" panose="02020603050405020304" pitchFamily="18" charset="0"/>
                  </a:rPr>
                  <a:t>特征向量</a:t>
                </a:r>
                <a:r>
                  <a:rPr lang="zh-CN" altLang="en-US" sz="2000" kern="100" dirty="0">
                    <a:latin typeface="+mj-ea"/>
                    <a:cs typeface="Times New Roman" panose="02020603050405020304" pitchFamily="18" charset="0"/>
                  </a:rPr>
                  <a:t>。</a:t>
                </a:r>
                <a:endParaRPr lang="en-US" altLang="zh-CN" sz="2000" kern="100" dirty="0">
                  <a:latin typeface="+mj-ea"/>
                  <a:cs typeface="Times New Roman" panose="02020603050405020304" pitchFamily="18" charset="0"/>
                </a:endParaRPr>
              </a:p>
              <a:p>
                <a:pPr marL="0" indent="0" latinLnBrk="0">
                  <a:lnSpc>
                    <a:spcPct val="125000"/>
                  </a:lnSpc>
                  <a:spcBef>
                    <a:spcPts val="400"/>
                  </a:spcBef>
                </a:pPr>
                <a:r>
                  <a:rPr lang="en-US" altLang="zh-CN" sz="2000" dirty="0">
                    <a:latin typeface="+mj-ea"/>
                  </a:rPr>
                  <a:t>4</a:t>
                </a:r>
                <a:r>
                  <a:rPr lang="zh-CN" altLang="en-US" sz="2000" dirty="0">
                    <a:latin typeface="+mj-ea"/>
                  </a:rPr>
                  <a:t>）对特征值从大到小排序，选择其中最大的</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𝑘</m:t>
                    </m:r>
                  </m:oMath>
                </a14:m>
                <a:r>
                  <a:rPr lang="zh-CN" altLang="en-US" sz="2000" dirty="0">
                    <a:latin typeface="+mj-ea"/>
                  </a:rPr>
                  <a:t>个。然后将其对应的</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𝑘</m:t>
                    </m:r>
                  </m:oMath>
                </a14:m>
                <a:r>
                  <a:rPr lang="zh-CN" altLang="en-US" sz="2000" dirty="0">
                    <a:latin typeface="+mj-ea"/>
                  </a:rPr>
                  <a:t>个特征向量分别作为行向量组成特征向量矩阵</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𝑃</m:t>
                    </m:r>
                  </m:oMath>
                </a14:m>
                <a:r>
                  <a:rPr lang="zh-CN" altLang="en-US" sz="2000" dirty="0">
                    <a:latin typeface="+mj-ea"/>
                  </a:rPr>
                  <a:t>。</a:t>
                </a:r>
                <a:endParaRPr lang="zh-CN" altLang="en-US" sz="2000" dirty="0">
                  <a:latin typeface="+mj-ea"/>
                </a:endParaRPr>
              </a:p>
              <a:p>
                <a:pPr marL="0" indent="0" latinLnBrk="0">
                  <a:lnSpc>
                    <a:spcPct val="125000"/>
                  </a:lnSpc>
                  <a:spcBef>
                    <a:spcPts val="400"/>
                  </a:spcBef>
                </a:pPr>
                <a:r>
                  <a:rPr lang="en-US" altLang="zh-CN" sz="2000" dirty="0">
                    <a:latin typeface="+mj-ea"/>
                  </a:rPr>
                  <a:t>5</a:t>
                </a:r>
                <a:r>
                  <a:rPr lang="zh-CN" altLang="en-US" sz="2000" dirty="0">
                    <a:latin typeface="+mj-ea"/>
                  </a:rPr>
                  <a:t>）将数据转换到</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𝑘</m:t>
                    </m:r>
                  </m:oMath>
                </a14:m>
                <a:r>
                  <a:rPr lang="zh-CN" altLang="en-US" sz="2000" dirty="0">
                    <a:latin typeface="+mj-ea"/>
                  </a:rPr>
                  <a:t>个特征向量构建的新空间中，即 </a:t>
                </a:r>
                <a14:m>
                  <m:oMath xmlns:m="http://schemas.openxmlformats.org/officeDocument/2006/math">
                    <m:r>
                      <a:rPr lang="en-US" altLang="zh-CN" sz="2000" i="1">
                        <a:latin typeface="Cambria Math" panose="02040503050406030204" pitchFamily="18" charset="0"/>
                      </a:rPr>
                      <m:t>𝑌</m:t>
                    </m:r>
                    <m:r>
                      <a:rPr lang="en-US" altLang="zh-CN" sz="2000" i="1">
                        <a:latin typeface="Cambria Math" panose="02040503050406030204" pitchFamily="18" charset="0"/>
                      </a:rPr>
                      <m:t>=</m:t>
                    </m:r>
                    <m:r>
                      <a:rPr lang="en-US" altLang="zh-CN" sz="2000" i="1">
                        <a:latin typeface="Cambria Math" panose="02040503050406030204" pitchFamily="18" charset="0"/>
                      </a:rPr>
                      <m:t>𝑃𝑋</m:t>
                    </m:r>
                  </m:oMath>
                </a14:m>
                <a:r>
                  <a:rPr lang="zh-CN" altLang="en-US" sz="2000" dirty="0">
                    <a:latin typeface="+mj-ea"/>
                  </a:rPr>
                  <a:t>。</a:t>
                </a:r>
                <a:endParaRPr lang="zh-CN" altLang="en-US" sz="2000" dirty="0">
                  <a:latin typeface="+mj-ea"/>
                </a:endParaRPr>
              </a:p>
            </p:txBody>
          </p:sp>
        </mc:Choice>
        <mc:Fallback>
          <p:sp>
            <p:nvSpPr>
              <p:cNvPr id="3" name="文本框 2"/>
              <p:cNvSpPr txBox="1">
                <a:spLocks noRot="1" noChangeAspect="1" noMove="1" noResize="1" noEditPoints="1" noAdjustHandles="1" noChangeArrowheads="1" noChangeShapeType="1" noTextEdit="1"/>
              </p:cNvSpPr>
              <p:nvPr/>
            </p:nvSpPr>
            <p:spPr>
              <a:xfrm>
                <a:off x="381000" y="1588770"/>
                <a:ext cx="8535035" cy="453517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79705" y="1292860"/>
                <a:ext cx="8850630" cy="2886710"/>
              </a:xfrm>
            </p:spPr>
            <p:txBody>
              <a:bodyPr/>
              <a:p>
                <a:pPr latinLnBrk="0">
                  <a:lnSpc>
                    <a:spcPct val="125000"/>
                  </a:lnSpc>
                  <a:spcBef>
                    <a:spcPts val="200"/>
                  </a:spcBef>
                  <a:buFont typeface="Wingdings" panose="05000000000000000000" charset="0"/>
                  <a:buChar char="l"/>
                </a:pPr>
                <a:r>
                  <a:rPr lang="zh-CN" altLang="en-US" dirty="0">
                    <a:sym typeface="+mn-ea"/>
                  </a:rPr>
                  <a:t>基于</a:t>
                </a:r>
                <a:r>
                  <a:rPr lang="en-US" altLang="zh-CN" dirty="0">
                    <a:sym typeface="+mn-ea"/>
                  </a:rPr>
                  <a:t>SVD</a:t>
                </a:r>
                <a:r>
                  <a:rPr lang="zh-CN" altLang="en-US" dirty="0">
                    <a:sym typeface="+mn-ea"/>
                  </a:rPr>
                  <a:t>分解协方差矩阵实现</a:t>
                </a:r>
                <a:r>
                  <a:rPr lang="en-US" altLang="zh-CN" dirty="0">
                    <a:sym typeface="+mn-ea"/>
                  </a:rPr>
                  <a:t>PCA</a:t>
                </a:r>
                <a:r>
                  <a:rPr lang="zh-CN" altLang="en-US" dirty="0">
                    <a:sym typeface="+mn-ea"/>
                  </a:rPr>
                  <a:t>算法、</a:t>
                </a:r>
                <a:endParaRPr lang="zh-CN" altLang="en-US" dirty="0">
                  <a:sym typeface="+mn-ea"/>
                </a:endParaRPr>
              </a:p>
              <a:p>
                <a:pPr latinLnBrk="0">
                  <a:lnSpc>
                    <a:spcPct val="125000"/>
                  </a:lnSpc>
                  <a:spcBef>
                    <a:spcPts val="200"/>
                  </a:spcBef>
                </a:pPr>
                <a:r>
                  <a:rPr lang="zh-CN" altLang="en-US" dirty="0">
                    <a:latin typeface="+mj-ea"/>
                    <a:sym typeface="+mn-ea"/>
                  </a:rPr>
                  <a:t>设有</a:t>
                </a:r>
                <a14:m>
                  <m:oMath xmlns:m="http://schemas.openxmlformats.org/officeDocument/2006/math">
                    <m:r>
                      <a:rPr lang="en-US" altLang="zh-CN" i="1">
                        <a:latin typeface="Cambria Math" panose="02040503050406030204" pitchFamily="18" charset="0"/>
                        <a:cs typeface="Euclid" panose="02020503060505020303" pitchFamily="18" charset="0"/>
                      </a:rPr>
                      <m:t>𝑚</m:t>
                    </m:r>
                  </m:oMath>
                </a14:m>
                <a:r>
                  <a:rPr lang="zh-CN" altLang="en-US" dirty="0">
                    <a:latin typeface="+mj-ea"/>
                    <a:sym typeface="+mn-ea"/>
                  </a:rPr>
                  <a:t>条</a:t>
                </a:r>
                <a14:m>
                  <m:oMath xmlns:m="http://schemas.openxmlformats.org/officeDocument/2006/math">
                    <m:r>
                      <a:rPr lang="en-US" altLang="zh-CN" i="1">
                        <a:latin typeface="Cambria Math" panose="02040503050406030204" pitchFamily="18" charset="0"/>
                        <a:cs typeface="Euclid" panose="02020503060505020303" pitchFamily="18" charset="0"/>
                      </a:rPr>
                      <m:t>𝑛</m:t>
                    </m:r>
                  </m:oMath>
                </a14:m>
                <a:r>
                  <a:rPr lang="zh-CN" altLang="en-US" dirty="0">
                    <a:latin typeface="+mj-ea"/>
                    <a:sym typeface="+mn-ea"/>
                  </a:rPr>
                  <a:t>维数据，将原始数据按列组成</a:t>
                </a:r>
                <a14:m>
                  <m:oMath xmlns:m="http://schemas.openxmlformats.org/officeDocument/2006/math">
                    <m:r>
                      <a:rPr lang="en-US" altLang="zh-CN" i="1">
                        <a:latin typeface="Cambria Math" panose="02040503050406030204" pitchFamily="18" charset="0"/>
                        <a:cs typeface="Euclid" panose="02020503060505020303" pitchFamily="18" charset="0"/>
                      </a:rPr>
                      <m:t>𝑛</m:t>
                    </m:r>
                  </m:oMath>
                </a14:m>
                <a:r>
                  <a:rPr lang="zh-CN" altLang="en-US" dirty="0">
                    <a:latin typeface="+mj-ea"/>
                    <a:sym typeface="+mn-ea"/>
                  </a:rPr>
                  <a:t>行</a:t>
                </a:r>
                <a14:m>
                  <m:oMath xmlns:m="http://schemas.openxmlformats.org/officeDocument/2006/math">
                    <m:r>
                      <a:rPr lang="en-US" altLang="zh-CN" i="1">
                        <a:latin typeface="Cambria Math" panose="02040503050406030204" pitchFamily="18" charset="0"/>
                        <a:cs typeface="Euclid" panose="02020503060505020303" pitchFamily="18" charset="0"/>
                      </a:rPr>
                      <m:t>𝑚</m:t>
                    </m:r>
                  </m:oMath>
                </a14:m>
                <a:r>
                  <a:rPr lang="zh-CN" altLang="en-US" dirty="0">
                    <a:latin typeface="+mj-ea"/>
                    <a:sym typeface="+mn-ea"/>
                  </a:rPr>
                  <a:t>列矩阵</a:t>
                </a:r>
                <a14:m>
                  <m:oMath xmlns:m="http://schemas.openxmlformats.org/officeDocument/2006/math">
                    <m:r>
                      <a:rPr lang="en-US" altLang="zh-CN" i="1">
                        <a:latin typeface="Cambria Math" panose="02040503050406030204" pitchFamily="18" charset="0"/>
                      </a:rPr>
                      <m:t>𝑋</m:t>
                    </m:r>
                  </m:oMath>
                </a14:m>
                <a:endParaRPr lang="en-US" altLang="zh-CN" dirty="0">
                  <a:latin typeface="+mj-ea"/>
                  <a:cs typeface="Euclid" panose="02020503060505020303" pitchFamily="18" charset="0"/>
                </a:endParaRPr>
              </a:p>
              <a:p>
                <a:pPr latinLnBrk="0">
                  <a:lnSpc>
                    <a:spcPct val="125000"/>
                  </a:lnSpc>
                  <a:spcBef>
                    <a:spcPts val="200"/>
                  </a:spcBef>
                </a:pPr>
                <a:r>
                  <a:rPr lang="en-US" altLang="zh-CN" dirty="0">
                    <a:latin typeface="+mj-ea"/>
                    <a:cs typeface="Euclid" panose="02020503060505020303" pitchFamily="18" charset="0"/>
                    <a:sym typeface="+mn-ea"/>
                  </a:rPr>
                  <a:t>1</a:t>
                </a:r>
                <a:r>
                  <a:rPr lang="zh-CN" altLang="en-US" dirty="0">
                    <a:latin typeface="+mj-ea"/>
                    <a:cs typeface="Euclid" panose="02020503060505020303" pitchFamily="18" charset="0"/>
                    <a:sym typeface="+mn-ea"/>
                  </a:rPr>
                  <a:t>）</a:t>
                </a:r>
                <a:r>
                  <a:rPr lang="zh-CN" altLang="zh-CN" dirty="0">
                    <a:latin typeface="+mj-ea"/>
                    <a:cs typeface="Euclid" panose="02020503060505020303" pitchFamily="18" charset="0"/>
                    <a:sym typeface="+mn-ea"/>
                  </a:rPr>
                  <a:t>均值归一化。我们需要计算出所有特征的均值，然后令 </a:t>
                </a:r>
                <a14:m>
                  <m:oMath xmlns:m="http://schemas.openxmlformats.org/officeDocument/2006/math">
                    <m:sSub>
                      <m:sSubPr>
                        <m:ctrlPr>
                          <a:rPr lang="zh-CN" altLang="zh-CN" i="1">
                            <a:latin typeface="Cambria Math" panose="02040503050406030204" pitchFamily="18" charset="0"/>
                            <a:cs typeface="Euclid" panose="02020503060505020303" pitchFamily="18" charset="0"/>
                          </a:rPr>
                        </m:ctrlPr>
                      </m:sSubPr>
                      <m:e>
                        <m:r>
                          <a:rPr lang="en-US" altLang="zh-CN" i="1">
                            <a:latin typeface="Cambria Math" panose="02040503050406030204" pitchFamily="18" charset="0"/>
                            <a:cs typeface="Euclid" panose="02020503060505020303" pitchFamily="18" charset="0"/>
                          </a:rPr>
                          <m:t>𝑥</m:t>
                        </m:r>
                      </m:e>
                      <m:sub>
                        <m:r>
                          <a:rPr lang="en-US" altLang="zh-CN" i="1">
                            <a:latin typeface="Cambria Math" panose="02040503050406030204" pitchFamily="18" charset="0"/>
                            <a:cs typeface="Euclid" panose="02020503060505020303" pitchFamily="18" charset="0"/>
                          </a:rPr>
                          <m:t>𝑗</m:t>
                        </m:r>
                      </m:sub>
                    </m:sSub>
                    <m:r>
                      <a:rPr lang="en-US" altLang="zh-CN" i="1">
                        <a:latin typeface="Cambria Math" panose="02040503050406030204" pitchFamily="18" charset="0"/>
                        <a:cs typeface="Euclid" panose="02020503060505020303" pitchFamily="18" charset="0"/>
                      </a:rPr>
                      <m:t>=</m:t>
                    </m:r>
                    <m:sSub>
                      <m:sSubPr>
                        <m:ctrlPr>
                          <a:rPr lang="zh-CN" altLang="zh-CN" i="1">
                            <a:latin typeface="Cambria Math" panose="02040503050406030204" pitchFamily="18" charset="0"/>
                            <a:cs typeface="Euclid" panose="02020503060505020303" pitchFamily="18" charset="0"/>
                          </a:rPr>
                        </m:ctrlPr>
                      </m:sSubPr>
                      <m:e>
                        <m:r>
                          <a:rPr lang="en-US" altLang="zh-CN" i="1">
                            <a:latin typeface="Cambria Math" panose="02040503050406030204" pitchFamily="18" charset="0"/>
                            <a:cs typeface="Euclid" panose="02020503060505020303" pitchFamily="18" charset="0"/>
                          </a:rPr>
                          <m:t>𝑥</m:t>
                        </m:r>
                      </m:e>
                      <m:sub>
                        <m:r>
                          <a:rPr lang="en-US" altLang="zh-CN" i="1">
                            <a:latin typeface="Cambria Math" panose="02040503050406030204" pitchFamily="18" charset="0"/>
                            <a:cs typeface="Euclid" panose="02020503060505020303" pitchFamily="18" charset="0"/>
                          </a:rPr>
                          <m:t>𝑗</m:t>
                        </m:r>
                      </m:sub>
                    </m:sSub>
                    <m:r>
                      <a:rPr lang="en-US" altLang="zh-CN" i="1">
                        <a:latin typeface="Cambria Math" panose="02040503050406030204" pitchFamily="18" charset="0"/>
                        <a:cs typeface="Euclid" panose="02020503060505020303" pitchFamily="18" charset="0"/>
                      </a:rPr>
                      <m:t>−</m:t>
                    </m:r>
                    <m:sSub>
                      <m:sSubPr>
                        <m:ctrlPr>
                          <a:rPr lang="zh-CN" altLang="zh-CN" i="1">
                            <a:latin typeface="Cambria Math" panose="02040503050406030204" pitchFamily="18" charset="0"/>
                            <a:cs typeface="Euclid" panose="02020503060505020303" pitchFamily="18" charset="0"/>
                          </a:rPr>
                        </m:ctrlPr>
                      </m:sSubPr>
                      <m:e>
                        <m:r>
                          <a:rPr lang="en-US" altLang="zh-CN" i="1">
                            <a:latin typeface="Cambria Math" panose="02040503050406030204" pitchFamily="18" charset="0"/>
                            <a:cs typeface="Euclid" panose="02020503060505020303" pitchFamily="18" charset="0"/>
                          </a:rPr>
                          <m:t>𝜇</m:t>
                        </m:r>
                      </m:e>
                      <m:sub>
                        <m:r>
                          <a:rPr lang="en-US" altLang="zh-CN" i="1">
                            <a:latin typeface="Cambria Math" panose="02040503050406030204" pitchFamily="18" charset="0"/>
                            <a:cs typeface="Euclid" panose="02020503060505020303" pitchFamily="18" charset="0"/>
                          </a:rPr>
                          <m:t>𝑗</m:t>
                        </m:r>
                      </m:sub>
                    </m:sSub>
                  </m:oMath>
                </a14:m>
                <a:r>
                  <a:rPr lang="zh-CN" altLang="zh-CN" dirty="0">
                    <a:latin typeface="+mj-ea"/>
                    <a:cs typeface="Euclid" panose="02020503060505020303" pitchFamily="18" charset="0"/>
                    <a:sym typeface="+mn-ea"/>
                  </a:rPr>
                  <a:t>。</a:t>
                </a:r>
                <a:r>
                  <a:rPr lang="zh-CN" altLang="en-US" dirty="0">
                    <a:latin typeface="+mj-ea"/>
                    <a:cs typeface="Euclid" panose="02020503060505020303" pitchFamily="18" charset="0"/>
                    <a:sym typeface="+mn-ea"/>
                  </a:rPr>
                  <a:t>（</a:t>
                </a:r>
                <a14:m>
                  <m:oMath xmlns:m="http://schemas.openxmlformats.org/officeDocument/2006/math">
                    <m:sSub>
                      <m:sSubPr>
                        <m:ctrlPr>
                          <a:rPr lang="zh-CN" altLang="zh-CN" i="1">
                            <a:latin typeface="Cambria Math" panose="02040503050406030204" pitchFamily="18" charset="0"/>
                            <a:cs typeface="Euclid" panose="02020503060505020303" pitchFamily="18" charset="0"/>
                          </a:rPr>
                        </m:ctrlPr>
                      </m:sSubPr>
                      <m:e>
                        <m:r>
                          <a:rPr lang="en-US" altLang="zh-CN" i="1">
                            <a:latin typeface="Cambria Math" panose="02040503050406030204" pitchFamily="18" charset="0"/>
                            <a:cs typeface="Euclid" panose="02020503060505020303" pitchFamily="18" charset="0"/>
                          </a:rPr>
                          <m:t>𝜇</m:t>
                        </m:r>
                      </m:e>
                      <m:sub>
                        <m:r>
                          <a:rPr lang="en-US" altLang="zh-CN" i="1">
                            <a:latin typeface="Cambria Math" panose="02040503050406030204" pitchFamily="18" charset="0"/>
                            <a:cs typeface="Euclid" panose="02020503060505020303" pitchFamily="18" charset="0"/>
                          </a:rPr>
                          <m:t>𝑗</m:t>
                        </m:r>
                      </m:sub>
                    </m:sSub>
                  </m:oMath>
                </a14:m>
                <a:r>
                  <a:rPr lang="zh-CN" altLang="en-US" dirty="0">
                    <a:latin typeface="+mj-ea"/>
                    <a:cs typeface="Euclid" panose="02020503060505020303" pitchFamily="18" charset="0"/>
                    <a:sym typeface="+mn-ea"/>
                  </a:rPr>
                  <a:t>为均值）。</a:t>
                </a:r>
                <a:r>
                  <a:rPr lang="zh-CN" altLang="zh-CN" dirty="0">
                    <a:latin typeface="+mj-ea"/>
                    <a:cs typeface="Euclid" panose="02020503060505020303" pitchFamily="18" charset="0"/>
                    <a:sym typeface="+mn-ea"/>
                  </a:rPr>
                  <a:t>如果特征是在不同的数量级上，我们还需要将其除以标准差 </a:t>
                </a:r>
                <a14:m>
                  <m:oMath xmlns:m="http://schemas.openxmlformats.org/officeDocument/2006/math">
                    <m:sSup>
                      <m:sSupPr>
                        <m:ctrlPr>
                          <a:rPr lang="zh-CN" altLang="zh-CN" i="1">
                            <a:latin typeface="Cambria Math" panose="02040503050406030204" pitchFamily="18" charset="0"/>
                            <a:cs typeface="Euclid" panose="02020503060505020303" pitchFamily="18" charset="0"/>
                          </a:rPr>
                        </m:ctrlPr>
                      </m:sSupPr>
                      <m:e>
                        <m:r>
                          <a:rPr lang="en-US" altLang="zh-CN" i="1">
                            <a:latin typeface="Cambria Math" panose="02040503050406030204" pitchFamily="18" charset="0"/>
                            <a:cs typeface="Euclid" panose="02020503060505020303" pitchFamily="18" charset="0"/>
                          </a:rPr>
                          <m:t>𝜎</m:t>
                        </m:r>
                      </m:e>
                      <m:sup>
                        <m:r>
                          <a:rPr lang="en-US" altLang="zh-CN" i="1">
                            <a:latin typeface="Cambria Math" panose="02040503050406030204" pitchFamily="18" charset="0"/>
                            <a:cs typeface="Euclid" panose="02020503060505020303" pitchFamily="18" charset="0"/>
                          </a:rPr>
                          <m:t>2</m:t>
                        </m:r>
                      </m:sup>
                    </m:sSup>
                  </m:oMath>
                </a14:m>
                <a:r>
                  <a:rPr lang="zh-CN" altLang="zh-CN" dirty="0">
                    <a:latin typeface="+mj-ea"/>
                    <a:cs typeface="Euclid" panose="02020503060505020303" pitchFamily="18" charset="0"/>
                    <a:sym typeface="+mn-ea"/>
                  </a:rPr>
                  <a:t>。</a:t>
                </a:r>
                <a:endParaRPr lang="zh-CN" altLang="zh-CN" dirty="0">
                  <a:latin typeface="+mj-ea"/>
                  <a:cs typeface="Euclid" panose="02020503060505020303" pitchFamily="18" charset="0"/>
                  <a:sym typeface="+mn-ea"/>
                </a:endParaRPr>
              </a:p>
              <a:p>
                <a:pPr latinLnBrk="0">
                  <a:lnSpc>
                    <a:spcPct val="125000"/>
                  </a:lnSpc>
                  <a:spcBef>
                    <a:spcPts val="200"/>
                  </a:spcBef>
                </a:pPr>
                <a:r>
                  <a:rPr lang="en-US" altLang="zh-CN" dirty="0">
                    <a:latin typeface="+mj-ea"/>
                    <a:cs typeface="Euclid" panose="02020503060505020303" pitchFamily="18" charset="0"/>
                    <a:sym typeface="+mn-ea"/>
                  </a:rPr>
                  <a:t>2</a:t>
                </a:r>
                <a:r>
                  <a:rPr lang="zh-CN" altLang="en-US" dirty="0">
                    <a:latin typeface="+mj-ea"/>
                    <a:cs typeface="Euclid" panose="02020503060505020303" pitchFamily="18" charset="0"/>
                    <a:sym typeface="+mn-ea"/>
                  </a:rPr>
                  <a:t>）直接对中心化后的</a:t>
                </a:r>
                <a:r>
                  <a:rPr lang="en-US" altLang="zh-CN" dirty="0">
                    <a:latin typeface="+mj-ea"/>
                    <a:cs typeface="Euclid" panose="02020503060505020303" pitchFamily="18" charset="0"/>
                    <a:sym typeface="+mn-ea"/>
                  </a:rPr>
                  <a:t>X</a:t>
                </a:r>
                <a:r>
                  <a:rPr lang="zh-CN" altLang="en-US" dirty="0">
                    <a:latin typeface="+mj-ea"/>
                    <a:cs typeface="Euclid" panose="02020503060505020303" pitchFamily="18" charset="0"/>
                    <a:sym typeface="+mn-ea"/>
                  </a:rPr>
                  <a:t>做</a:t>
                </a:r>
                <a:r>
                  <a:rPr lang="en-US" altLang="zh-CN" dirty="0">
                    <a:latin typeface="+mj-ea"/>
                    <a:cs typeface="Euclid" panose="02020503060505020303" pitchFamily="18" charset="0"/>
                    <a:sym typeface="+mn-ea"/>
                  </a:rPr>
                  <a:t>SVD</a:t>
                </a:r>
                <a:r>
                  <a:rPr lang="zh-CN" altLang="en-US" dirty="0">
                    <a:latin typeface="+mj-ea"/>
                    <a:cs typeface="Euclid" panose="02020503060505020303" pitchFamily="18" charset="0"/>
                    <a:sym typeface="+mn-ea"/>
                  </a:rPr>
                  <a:t>分解：</a:t>
                </a:r>
                <a:r>
                  <a:rPr lang="en-US" altLang="zh-CN" dirty="0">
                    <a:latin typeface="+mj-ea"/>
                    <a:cs typeface="Euclid" panose="02020503060505020303" pitchFamily="18" charset="0"/>
                  </a:rPr>
                  <a:t>X=UΣV</a:t>
                </a:r>
                <a:r>
                  <a:rPr lang="en-US" altLang="zh-CN" baseline="30000" dirty="0">
                    <a:latin typeface="+mj-ea"/>
                    <a:cs typeface="Euclid" panose="02020503060505020303" pitchFamily="18" charset="0"/>
                  </a:rPr>
                  <a:t>T</a:t>
                </a:r>
                <a:endParaRPr lang="en-US" altLang="zh-CN" baseline="30000" dirty="0">
                  <a:latin typeface="+mj-ea"/>
                  <a:cs typeface="Euclid" panose="02020503060505020303" pitchFamily="18" charset="0"/>
                </a:endParaRPr>
              </a:p>
              <a:p>
                <a:pPr algn="l" latinLnBrk="0">
                  <a:lnSpc>
                    <a:spcPct val="125000"/>
                  </a:lnSpc>
                  <a:spcBef>
                    <a:spcPts val="200"/>
                  </a:spcBef>
                  <a:buSzTx/>
                </a:pPr>
                <a:r>
                  <a:rPr lang="en-US" altLang="zh-CN" dirty="0">
                    <a:latin typeface="+mj-ea"/>
                    <a:cs typeface="Euclid" panose="02020503060505020303" pitchFamily="18" charset="0"/>
                  </a:rPr>
                  <a:t>3）</a:t>
                </a:r>
                <a:r>
                  <a:rPr lang="zh-CN" altLang="en-US" dirty="0">
                    <a:latin typeface="+mj-ea"/>
                    <a:cs typeface="Euclid" panose="02020503060505020303" pitchFamily="18" charset="0"/>
                  </a:rPr>
                  <a:t>取左奇异矩阵</a:t>
                </a:r>
                <a:r>
                  <a:rPr lang="en-US" altLang="zh-CN" dirty="0">
                    <a:latin typeface="+mj-ea"/>
                    <a:cs typeface="Euclid" panose="02020503060505020303" pitchFamily="18" charset="0"/>
                  </a:rPr>
                  <a:t>U</a:t>
                </a:r>
                <a:r>
                  <a:rPr lang="zh-CN" altLang="en-US" dirty="0">
                    <a:latin typeface="+mj-ea"/>
                    <a:cs typeface="Euclid" panose="02020503060505020303" pitchFamily="18" charset="0"/>
                  </a:rPr>
                  <a:t>的前</a:t>
                </a:r>
                <a:r>
                  <a:rPr lang="en-US" altLang="zh-CN" i="1" dirty="0">
                    <a:latin typeface="+mj-ea"/>
                    <a:cs typeface="Euclid" panose="02020503060505020303" pitchFamily="18" charset="0"/>
                  </a:rPr>
                  <a:t>k</a:t>
                </a:r>
                <a:r>
                  <a:rPr lang="zh-CN" altLang="en-US" dirty="0">
                    <a:latin typeface="+mj-ea"/>
                    <a:cs typeface="Euclid" panose="02020503060505020303" pitchFamily="18" charset="0"/>
                  </a:rPr>
                  <a:t>列组成降维矩阵</a:t>
                </a:r>
                <a:r>
                  <a:rPr lang="en-US" altLang="zh-CN" dirty="0">
                    <a:latin typeface="+mj-ea"/>
                    <a:cs typeface="Euclid" panose="02020503060505020303" pitchFamily="18" charset="0"/>
                  </a:rPr>
                  <a:t>P</a:t>
                </a:r>
                <a:endParaRPr lang="en-US" altLang="zh-CN" dirty="0">
                  <a:latin typeface="+mj-ea"/>
                  <a:cs typeface="Euclid" panose="02020503060505020303" pitchFamily="18" charset="0"/>
                </a:endParaRPr>
              </a:p>
              <a:p>
                <a:pPr algn="l" latinLnBrk="0">
                  <a:lnSpc>
                    <a:spcPct val="125000"/>
                  </a:lnSpc>
                  <a:spcBef>
                    <a:spcPts val="200"/>
                  </a:spcBef>
                  <a:buSzTx/>
                </a:pPr>
                <a:r>
                  <a:rPr lang="en-US" altLang="zh-CN" dirty="0">
                    <a:latin typeface="+mj-ea"/>
                    <a:cs typeface="Euclid" panose="02020503060505020303" pitchFamily="18" charset="0"/>
                  </a:rPr>
                  <a:t>4</a:t>
                </a:r>
                <a:r>
                  <a:rPr lang="zh-CN" altLang="en-US" dirty="0">
                    <a:latin typeface="+mj-ea"/>
                    <a:cs typeface="Euclid" panose="02020503060505020303" pitchFamily="18" charset="0"/>
                  </a:rPr>
                  <a:t>）降维结果：</a:t>
                </a:r>
                <a:r>
                  <a:rPr lang="en-US" altLang="zh-CN" dirty="0">
                    <a:latin typeface="+mj-ea"/>
                    <a:cs typeface="Euclid" panose="02020503060505020303" pitchFamily="18" charset="0"/>
                  </a:rPr>
                  <a:t>Y=P</a:t>
                </a:r>
                <a:r>
                  <a:rPr lang="en-US" altLang="zh-CN" baseline="30000" dirty="0">
                    <a:latin typeface="+mj-ea"/>
                    <a:cs typeface="Euclid" panose="02020503060505020303" pitchFamily="18" charset="0"/>
                  </a:rPr>
                  <a:t>T</a:t>
                </a:r>
                <a:r>
                  <a:rPr lang="en-US" altLang="zh-CN" dirty="0">
                    <a:latin typeface="+mj-ea"/>
                    <a:cs typeface="Euclid" panose="02020503060505020303" pitchFamily="18" charset="0"/>
                  </a:rPr>
                  <a:t>X</a:t>
                </a:r>
                <a:endParaRPr lang="en-US" altLang="zh-CN" dirty="0">
                  <a:latin typeface="+mj-ea"/>
                  <a:cs typeface="Euclid" panose="02020503060505020303" pitchFamily="18" charset="0"/>
                </a:endParaRPr>
              </a:p>
              <a:p>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xfrm>
                <a:off x="179705" y="1292860"/>
                <a:ext cx="8850630" cy="2886710"/>
              </a:xfrm>
              <a:blipFill rotWithShape="1">
                <a:blip r:embed="rId1"/>
                <a:stretch>
                  <a:fillRect b="-20612"/>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5" name="文本框 4"/>
          <p:cNvSpPr txBox="1"/>
          <p:nvPr/>
        </p:nvSpPr>
        <p:spPr>
          <a:xfrm>
            <a:off x="539750" y="5229225"/>
            <a:ext cx="8006080" cy="918210"/>
          </a:xfrm>
          <a:prstGeom prst="rect">
            <a:avLst/>
          </a:prstGeom>
        </p:spPr>
        <p:txBody>
          <a:bodyPr wrap="square">
            <a:noAutofit/>
          </a:bodyPr>
          <a:p>
            <a:r>
              <a:rPr lang="en-US" altLang="zh-CN" sz="2000" b="1">
                <a:solidFill>
                  <a:srgbClr val="00B0F0"/>
                </a:solidFill>
              </a:rPr>
              <a:t>PCA </a:t>
            </a:r>
            <a:r>
              <a:rPr lang="zh-CN" altLang="en-US" sz="2000" b="1">
                <a:solidFill>
                  <a:srgbClr val="00B0F0"/>
                </a:solidFill>
              </a:rPr>
              <a:t>和用 </a:t>
            </a:r>
            <a:r>
              <a:rPr lang="en-US" altLang="zh-CN" sz="2000" b="1">
                <a:solidFill>
                  <a:srgbClr val="00B0F0"/>
                </a:solidFill>
              </a:rPr>
              <a:t>SVD </a:t>
            </a:r>
            <a:r>
              <a:rPr lang="zh-CN" altLang="en-US" sz="2000" b="1">
                <a:solidFill>
                  <a:srgbClr val="00B0F0"/>
                </a:solidFill>
              </a:rPr>
              <a:t>降维，思路本质上是同一个：找协方差矩阵的特征向量做投影。</a:t>
            </a:r>
            <a:endParaRPr lang="zh-CN" altLang="en-US" sz="2000" b="1">
              <a:solidFill>
                <a:srgbClr val="00B0F0"/>
              </a:solidFill>
            </a:endParaRPr>
          </a:p>
        </p:txBody>
      </p:sp>
      <p:sp>
        <p:nvSpPr>
          <p:cNvPr id="6" name="矩形 3"/>
          <p:cNvSpPr>
            <a:spLocks noChangeArrowheads="1"/>
          </p:cNvSpPr>
          <p:nvPr/>
        </p:nvSpPr>
        <p:spPr bwMode="auto">
          <a:xfrm>
            <a:off x="539165" y="4508962"/>
            <a:ext cx="75438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indent="0">
              <a:buNone/>
            </a:pPr>
            <a:r>
              <a:rPr lang="zh-CN" altLang="en-US" sz="2000" b="1" dirty="0">
                <a:solidFill>
                  <a:srgbClr val="FF0000"/>
                </a:solidFill>
              </a:rPr>
              <a:t>用</a:t>
            </a:r>
            <a:r>
              <a:rPr lang="en-US" altLang="zh-CN" sz="2000" b="1" dirty="0">
                <a:solidFill>
                  <a:srgbClr val="FF0000"/>
                </a:solidFill>
              </a:rPr>
              <a:t>SVD</a:t>
            </a:r>
            <a:r>
              <a:rPr lang="zh-CN" altLang="en-US" sz="2000" b="1" dirty="0">
                <a:solidFill>
                  <a:srgbClr val="FF0000"/>
                </a:solidFill>
              </a:rPr>
              <a:t>实现</a:t>
            </a:r>
            <a:r>
              <a:rPr lang="en-US" altLang="zh-CN" sz="2000" b="1" dirty="0">
                <a:solidFill>
                  <a:srgbClr val="FF0000"/>
                </a:solidFill>
              </a:rPr>
              <a:t>PCA</a:t>
            </a:r>
            <a:r>
              <a:rPr lang="zh-CN" altLang="en-US" sz="2000" b="1" dirty="0">
                <a:solidFill>
                  <a:srgbClr val="FF0000"/>
                </a:solidFill>
              </a:rPr>
              <a:t>的本质：</a:t>
            </a:r>
            <a:r>
              <a:rPr lang="en-US" altLang="zh-CN" sz="2000" b="1" dirty="0">
                <a:solidFill>
                  <a:srgbClr val="FF0000"/>
                </a:solidFill>
              </a:rPr>
              <a:t>SVD</a:t>
            </a:r>
            <a:r>
              <a:rPr lang="zh-CN" altLang="en-US" sz="2000" b="1" dirty="0">
                <a:solidFill>
                  <a:srgbClr val="FF0000"/>
                </a:solidFill>
              </a:rPr>
              <a:t>中的</a:t>
            </a:r>
            <a:r>
              <a:rPr lang="en-US" altLang="zh-CN" sz="2000" b="1" dirty="0">
                <a:solidFill>
                  <a:srgbClr val="FF0000"/>
                </a:solidFill>
              </a:rPr>
              <a:t>V</a:t>
            </a:r>
            <a:r>
              <a:rPr lang="zh-CN" altLang="en-US" sz="2000" b="1" dirty="0">
                <a:solidFill>
                  <a:srgbClr val="FF0000"/>
                </a:solidFill>
              </a:rPr>
              <a:t>实际上是原始矩阵</a:t>
            </a:r>
            <a:r>
              <a:rPr lang="en-US" altLang="zh-CN" sz="2000" b="1" dirty="0">
                <a:solidFill>
                  <a:srgbClr val="FF0000"/>
                </a:solidFill>
              </a:rPr>
              <a:t>A</a:t>
            </a:r>
            <a:r>
              <a:rPr lang="zh-CN" altLang="en-US" sz="2000" b="1" dirty="0">
                <a:solidFill>
                  <a:srgbClr val="FF0000"/>
                </a:solidFill>
              </a:rPr>
              <a:t>的协方差矩阵的特征向量</a:t>
            </a:r>
            <a:endParaRPr lang="zh-CN" altLang="en-US" sz="2000" b="1" dirty="0">
              <a:solidFill>
                <a:srgbClr val="FF0000"/>
              </a:solidFill>
            </a:endParaRPr>
          </a:p>
          <a:p>
            <a:endParaRPr lang="zh-CN" altLang="en-US" sz="2000" b="1"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主成分分析</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9" name="矩形 3"/>
          <p:cNvSpPr>
            <a:spLocks noChangeArrowheads="1"/>
          </p:cNvSpPr>
          <p:nvPr/>
        </p:nvSpPr>
        <p:spPr bwMode="auto">
          <a:xfrm>
            <a:off x="971600" y="1283797"/>
            <a:ext cx="7543800"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t>基于</a:t>
            </a:r>
            <a:r>
              <a:rPr lang="en-US" altLang="zh-CN" sz="2000" dirty="0"/>
              <a:t>SVD</a:t>
            </a:r>
            <a:r>
              <a:rPr lang="zh-CN" altLang="en-US" sz="2000" dirty="0"/>
              <a:t>分解协方差矩阵实现</a:t>
            </a:r>
            <a:r>
              <a:rPr lang="en-US" altLang="zh-CN" sz="2000" dirty="0"/>
              <a:t>PCA</a:t>
            </a:r>
            <a:r>
              <a:rPr lang="zh-CN" altLang="en-US" sz="2000" dirty="0"/>
              <a:t>算法</a:t>
            </a:r>
            <a:endParaRPr lang="zh-CN" altLang="zh-CN" sz="2000" dirty="0">
              <a:latin typeface="Cambria" panose="02040503050406030204" pitchFamily="18" charset="0"/>
              <a:cs typeface="Times New Roman" panose="02020603050405020304" pitchFamily="18" charset="0"/>
            </a:endParaRPr>
          </a:p>
          <a:p>
            <a:pPr marL="0" indent="0">
              <a:buNone/>
            </a:pPr>
            <a:endParaRPr lang="zh-CN" altLang="en-US" sz="2000" dirty="0">
              <a:solidFill>
                <a:srgbClr val="000000"/>
              </a:solidFill>
            </a:endParaRPr>
          </a:p>
          <a:p>
            <a:endParaRPr lang="zh-CN" altLang="zh-CN" sz="2000" dirty="0">
              <a:solidFill>
                <a:srgbClr val="000000"/>
              </a:solidFill>
            </a:endParaRPr>
          </a:p>
        </p:txBody>
      </p:sp>
      <mc:AlternateContent xmlns:mc="http://schemas.openxmlformats.org/markup-compatibility/2006">
        <mc:Choice xmlns:a14="http://schemas.microsoft.com/office/drawing/2010/main" Requires="a14">
          <p:sp>
            <p:nvSpPr>
              <p:cNvPr id="3" name="文本框 2"/>
              <p:cNvSpPr txBox="1"/>
              <p:nvPr/>
            </p:nvSpPr>
            <p:spPr>
              <a:xfrm>
                <a:off x="971600" y="1772816"/>
                <a:ext cx="7886800" cy="707886"/>
              </a:xfrm>
              <a:prstGeom prst="rect">
                <a:avLst/>
              </a:prstGeom>
              <a:noFill/>
            </p:spPr>
            <p:txBody>
              <a:bodyPr wrap="square">
                <a:spAutoFit/>
              </a:bodyPr>
              <a:lstStyle/>
              <a:p>
                <a:r>
                  <a:rPr lang="en-US" altLang="zh-CN" sz="2000" dirty="0">
                    <a:latin typeface="+mj-ea"/>
                    <a:cs typeface="Times New Roman" panose="02020603050405020304" pitchFamily="18" charset="0"/>
                  </a:rPr>
                  <a:t>奇异值分解（SVD）</a:t>
                </a:r>
                <a:r>
                  <a:rPr lang="en-US" altLang="zh-CN" sz="2000" dirty="0" err="1">
                    <a:latin typeface="+mj-ea"/>
                    <a:cs typeface="Times New Roman" panose="02020603050405020304" pitchFamily="18" charset="0"/>
                  </a:rPr>
                  <a:t>的标准矩阵分解技术可以将训练集矩阵</a:t>
                </a:r>
                <a:r>
                  <a:rPr lang="en-US" altLang="zh-CN" sz="2000" dirty="0">
                    <a:latin typeface="+mj-ea"/>
                    <a:cs typeface="Times New Roman" panose="02020603050405020304" pitchFamily="18" charset="0"/>
                  </a:rPr>
                  <a:t> </a:t>
                </a:r>
                <a14:m>
                  <m:oMath xmlns:m="http://schemas.openxmlformats.org/officeDocument/2006/math">
                    <m:r>
                      <a:rPr lang="en-US" altLang="zh-CN" sz="2000" b="0" i="1">
                        <a:latin typeface="Cambria Math" panose="02040503050406030204" pitchFamily="18" charset="0"/>
                        <a:cs typeface="Times New Roman" panose="02020603050405020304" pitchFamily="18" charset="0"/>
                      </a:rPr>
                      <m:t>𝐴</m:t>
                    </m:r>
                  </m:oMath>
                </a14:m>
                <a:r>
                  <a:rPr lang="en-US" altLang="zh-CN" sz="2000" dirty="0">
                    <a:latin typeface="+mj-ea"/>
                    <a:cs typeface="Times New Roman" panose="02020603050405020304" pitchFamily="18" charset="0"/>
                  </a:rPr>
                  <a:t> </a:t>
                </a:r>
                <a:r>
                  <a:rPr lang="en-US" altLang="zh-CN" sz="2000" dirty="0" err="1">
                    <a:latin typeface="+mj-ea"/>
                    <a:cs typeface="Times New Roman" panose="02020603050405020304" pitchFamily="18" charset="0"/>
                  </a:rPr>
                  <a:t>分解为三个矩阵</a:t>
                </a:r>
                <a:r>
                  <a:rPr lang="en-US" altLang="zh-CN" sz="2000" dirty="0">
                    <a:latin typeface="+mj-ea"/>
                    <a:cs typeface="Times New Roman" panose="02020603050405020304" pitchFamily="18" charset="0"/>
                  </a:rPr>
                  <a:t> </a:t>
                </a:r>
                <a14:m>
                  <m:oMath xmlns:m="http://schemas.openxmlformats.org/officeDocument/2006/math">
                    <m:r>
                      <a:rPr lang="en-US" altLang="zh-CN" sz="2000" b="0" i="1">
                        <a:latin typeface="Cambria Math" panose="02040503050406030204" pitchFamily="18" charset="0"/>
                        <a:cs typeface="Times New Roman" panose="02020603050405020304" pitchFamily="18" charset="0"/>
                      </a:rPr>
                      <m:t>𝑈</m:t>
                    </m:r>
                    <m:r>
                      <a:rPr lang="en-US" altLang="zh-CN" sz="2000" b="0" i="1">
                        <a:latin typeface="Cambria Math" panose="02040503050406030204" pitchFamily="18" charset="0"/>
                        <a:cs typeface="Times New Roman" panose="02020603050405020304" pitchFamily="18" charset="0"/>
                      </a:rPr>
                      <m:t>·</m:t>
                    </m:r>
                    <m:r>
                      <a:rPr lang="en-US" altLang="zh-CN" sz="2000" b="0" i="1">
                        <a:latin typeface="Cambria Math" panose="02040503050406030204" pitchFamily="18" charset="0"/>
                        <a:cs typeface="Times New Roman" panose="02020603050405020304" pitchFamily="18" charset="0"/>
                      </a:rPr>
                      <m:t>𝛴</m:t>
                    </m:r>
                    <m:r>
                      <a:rPr lang="en-US" altLang="zh-CN" sz="2000" b="0" i="1">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rPr>
                        </m:ctrlPr>
                      </m:sSupPr>
                      <m:e>
                        <m:r>
                          <a:rPr lang="en-US" altLang="zh-CN" sz="2000" b="0" i="1">
                            <a:latin typeface="Cambria Math" panose="02040503050406030204" pitchFamily="18" charset="0"/>
                            <a:cs typeface="Times New Roman" panose="02020603050405020304" pitchFamily="18" charset="0"/>
                          </a:rPr>
                          <m:t>𝑉</m:t>
                        </m:r>
                      </m:e>
                      <m:sup>
                        <m:r>
                          <a:rPr lang="en-US" altLang="zh-CN" sz="2000" b="0" i="1">
                            <a:latin typeface="Cambria Math" panose="02040503050406030204" pitchFamily="18" charset="0"/>
                            <a:cs typeface="Times New Roman" panose="02020603050405020304" pitchFamily="18" charset="0"/>
                          </a:rPr>
                          <m:t>𝑇</m:t>
                        </m:r>
                      </m:sup>
                    </m:sSup>
                  </m:oMath>
                </a14:m>
                <a:r>
                  <a:rPr lang="en-US" altLang="zh-CN" sz="2000" dirty="0">
                    <a:latin typeface="+mj-ea"/>
                    <a:cs typeface="Times New Roman" panose="02020603050405020304" pitchFamily="18" charset="0"/>
                  </a:rPr>
                  <a:t> </a:t>
                </a:r>
                <a:r>
                  <a:rPr lang="en-US" altLang="zh-CN" sz="2000" dirty="0" err="1">
                    <a:latin typeface="+mj-ea"/>
                    <a:cs typeface="Times New Roman" panose="02020603050405020304" pitchFamily="18" charset="0"/>
                  </a:rPr>
                  <a:t>的点积，其中</a:t>
                </a:r>
                <a:r>
                  <a:rPr lang="en-US" altLang="zh-CN" sz="2000" dirty="0">
                    <a:latin typeface="+mj-ea"/>
                    <a:cs typeface="Times New Roman" panose="02020603050405020304" pitchFamily="18" charset="0"/>
                  </a:rPr>
                  <a:t> </a:t>
                </a:r>
                <a14:m>
                  <m:oMath xmlns:m="http://schemas.openxmlformats.org/officeDocument/2006/math">
                    <m:sSup>
                      <m:sSupPr>
                        <m:ctrlPr>
                          <a:rPr lang="zh-CN" altLang="zh-CN" sz="2000" i="1">
                            <a:latin typeface="Cambria Math" panose="02040503050406030204" pitchFamily="18" charset="0"/>
                          </a:rPr>
                        </m:ctrlPr>
                      </m:sSupPr>
                      <m:e>
                        <m:r>
                          <a:rPr lang="en-US" altLang="zh-CN" sz="2000" b="0" i="1">
                            <a:latin typeface="Cambria Math" panose="02040503050406030204" pitchFamily="18" charset="0"/>
                            <a:cs typeface="Times New Roman" panose="02020603050405020304" pitchFamily="18" charset="0"/>
                          </a:rPr>
                          <m:t>𝑉</m:t>
                        </m:r>
                      </m:e>
                      <m:sup>
                        <m:r>
                          <a:rPr lang="en-US" altLang="zh-CN" sz="2000" b="0" i="1">
                            <a:latin typeface="Cambria Math" panose="02040503050406030204" pitchFamily="18" charset="0"/>
                            <a:cs typeface="Times New Roman" panose="02020603050405020304" pitchFamily="18" charset="0"/>
                          </a:rPr>
                          <m:t>𝑇</m:t>
                        </m:r>
                      </m:sup>
                    </m:sSup>
                  </m:oMath>
                </a14:m>
                <a:r>
                  <a:rPr lang="en-US" altLang="zh-CN" sz="2000" dirty="0">
                    <a:latin typeface="+mj-ea"/>
                    <a:cs typeface="Times New Roman" panose="02020603050405020304" pitchFamily="18" charset="0"/>
                  </a:rPr>
                  <a:t> 包含所有主成分</a:t>
                </a:r>
                <a:r>
                  <a:rPr lang="zh-CN" altLang="en-US" sz="2000" dirty="0">
                    <a:latin typeface="+mj-ea"/>
                    <a:cs typeface="Times New Roman" panose="02020603050405020304" pitchFamily="18" charset="0"/>
                  </a:rPr>
                  <a:t>。</a:t>
                </a:r>
                <a:endParaRPr lang="en-US" altLang="zh-CN" sz="2000" dirty="0">
                  <a:latin typeface="+mj-ea"/>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971600" y="1772816"/>
                <a:ext cx="7886800" cy="707886"/>
              </a:xfrm>
              <a:prstGeom prst="rect">
                <a:avLst/>
              </a:prstGeom>
              <a:blipFill rotWithShape="1">
                <a:blip r:embed="rId1"/>
                <a:stretch>
                  <a:fillRect l="-1" t="-75" r="2" b="55"/>
                </a:stretch>
              </a:blipFill>
            </p:spPr>
            <p:txBody>
              <a:bodyPr/>
              <a:lstStyle/>
              <a:p>
                <a:r>
                  <a:rPr lang="zh-CN" altLang="en-US">
                    <a:noFill/>
                  </a:rPr>
                  <a:t> </a:t>
                </a:r>
              </a:p>
            </p:txBody>
          </p:sp>
        </mc:Fallback>
      </mc:AlternateContent>
      <p:grpSp>
        <p:nvGrpSpPr>
          <p:cNvPr id="5" name="组合 4"/>
          <p:cNvGrpSpPr/>
          <p:nvPr/>
        </p:nvGrpSpPr>
        <p:grpSpPr>
          <a:xfrm>
            <a:off x="1191745" y="2636912"/>
            <a:ext cx="6806229" cy="3169238"/>
            <a:chOff x="2129358" y="3424232"/>
            <a:chExt cx="6478684" cy="2773201"/>
          </a:xfrm>
        </p:grpSpPr>
        <mc:AlternateContent xmlns:mc="http://schemas.openxmlformats.org/markup-compatibility/2006">
          <mc:Choice xmlns:a14="http://schemas.microsoft.com/office/drawing/2010/main" Requires="a14">
            <p:sp>
              <p:nvSpPr>
                <p:cNvPr id="6" name="Google Shape;3543;p58"/>
                <p:cNvSpPr/>
                <p:nvPr/>
              </p:nvSpPr>
              <p:spPr>
                <a:xfrm>
                  <a:off x="2168993" y="3992204"/>
                  <a:ext cx="997800" cy="1883401"/>
                </a:xfrm>
                <a:prstGeom prst="rect">
                  <a:avLst/>
                </a:prstGeom>
                <a:solidFill>
                  <a:schemeClr val="bg2">
                    <a:lumMod val="40000"/>
                    <a:lumOff val="6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2400" i="1" smtClean="0">
                            <a:effectLst/>
                            <a:latin typeface="Cambria Math" panose="02040503050406030204" pitchFamily="18" charset="0"/>
                            <a:ea typeface="+mj-ea"/>
                            <a:cs typeface="Times New Roman" panose="02020603050405020304" pitchFamily="18" charset="0"/>
                          </a:rPr>
                          <m:t>𝐴</m:t>
                        </m:r>
                      </m:oMath>
                    </m:oMathPara>
                  </a14:m>
                  <a:endParaRPr dirty="0">
                    <a:latin typeface="Consolas" panose="020B0609020204030204"/>
                    <a:ea typeface="Consolas" panose="020B0609020204030204"/>
                    <a:cs typeface="Consolas" panose="020B0609020204030204"/>
                    <a:sym typeface="Consolas" panose="020B0609020204030204"/>
                  </a:endParaRPr>
                </a:p>
              </p:txBody>
            </p:sp>
          </mc:Choice>
          <mc:Fallback>
            <p:sp>
              <p:nvSpPr>
                <p:cNvPr id="6" name="Google Shape;3543;p58"/>
                <p:cNvSpPr>
                  <a:spLocks noRot="1" noChangeAspect="1" noMove="1" noResize="1" noEditPoints="1" noAdjustHandles="1" noChangeArrowheads="1" noChangeShapeType="1" noTextEdit="1"/>
                </p:cNvSpPr>
                <p:nvPr/>
              </p:nvSpPr>
              <p:spPr>
                <a:xfrm>
                  <a:off x="2168993" y="3992204"/>
                  <a:ext cx="997800" cy="1883401"/>
                </a:xfrm>
                <a:prstGeom prst="rect">
                  <a:avLst/>
                </a:prstGeom>
                <a:blipFill rotWithShape="1">
                  <a:blip r:embed="rId2"/>
                </a:blipFill>
                <a:ln w="9525" cap="flat" cmpd="sng">
                  <a:solidFill>
                    <a:schemeClr val="dk2"/>
                  </a:solidFill>
                  <a:prstDash val="solid"/>
                  <a:round/>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Google Shape;3544;p58"/>
                <p:cNvSpPr/>
                <p:nvPr/>
              </p:nvSpPr>
              <p:spPr>
                <a:xfrm>
                  <a:off x="7610242" y="3961972"/>
                  <a:ext cx="997800" cy="10041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zh-CN" altLang="zh-CN" sz="2400" i="1" smtClean="0">
                                <a:effectLst/>
                                <a:latin typeface="Cambria Math" panose="02040503050406030204" pitchFamily="18" charset="0"/>
                                <a:ea typeface="+mj-ea"/>
                                <a:cs typeface="Times New Roman" panose="02020603050405020304" pitchFamily="18" charset="0"/>
                              </a:rPr>
                            </m:ctrlPr>
                          </m:sSupPr>
                          <m:e>
                            <m:r>
                              <a:rPr lang="en-US" altLang="zh-CN" sz="2400" i="1">
                                <a:effectLst/>
                                <a:latin typeface="Cambria Math" panose="02040503050406030204" pitchFamily="18" charset="0"/>
                                <a:ea typeface="+mj-ea"/>
                                <a:cs typeface="Times New Roman" panose="02020603050405020304" pitchFamily="18" charset="0"/>
                              </a:rPr>
                              <m:t>𝑉</m:t>
                            </m:r>
                          </m:e>
                          <m:sup>
                            <m:r>
                              <m:rPr>
                                <m:sty m:val="p"/>
                              </m:rPr>
                              <a:rPr lang="en-US" altLang="zh-CN" sz="2400" i="0">
                                <a:effectLst/>
                                <a:latin typeface="Cambria Math" panose="02040503050406030204" pitchFamily="18" charset="0"/>
                                <a:ea typeface="+mj-ea"/>
                                <a:cs typeface="Times New Roman" panose="02020603050405020304" pitchFamily="18" charset="0"/>
                              </a:rPr>
                              <m:t>T</m:t>
                            </m:r>
                          </m:sup>
                        </m:sSup>
                      </m:oMath>
                    </m:oMathPara>
                  </a14:m>
                  <a:endParaRPr dirty="0"/>
                </a:p>
              </p:txBody>
            </p:sp>
          </mc:Choice>
          <mc:Fallback>
            <p:sp>
              <p:nvSpPr>
                <p:cNvPr id="7" name="Google Shape;3544;p58"/>
                <p:cNvSpPr>
                  <a:spLocks noRot="1" noChangeAspect="1" noMove="1" noResize="1" noEditPoints="1" noAdjustHandles="1" noChangeArrowheads="1" noChangeShapeType="1" noTextEdit="1"/>
                </p:cNvSpPr>
                <p:nvPr/>
              </p:nvSpPr>
              <p:spPr>
                <a:xfrm>
                  <a:off x="7610242" y="3961972"/>
                  <a:ext cx="997800" cy="1004100"/>
                </a:xfrm>
                <a:prstGeom prst="rect">
                  <a:avLst/>
                </a:prstGeom>
                <a:blipFill rotWithShape="1">
                  <a:blip r:embed="rId3"/>
                </a:blipFill>
                <a:ln w="9525" cap="flat" cmpd="sng">
                  <a:solidFill>
                    <a:schemeClr val="dk2"/>
                  </a:solidFill>
                  <a:prstDash val="solid"/>
                  <a:round/>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Google Shape;3545;p58"/>
                <p:cNvSpPr/>
                <p:nvPr/>
              </p:nvSpPr>
              <p:spPr>
                <a:xfrm>
                  <a:off x="6232711" y="3966415"/>
                  <a:ext cx="997800" cy="1883401"/>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2400" i="1" smtClean="0">
                            <a:effectLst/>
                            <a:latin typeface="Cambria Math" panose="02040503050406030204" pitchFamily="18" charset="0"/>
                            <a:ea typeface="+mj-ea"/>
                            <a:cs typeface="Times New Roman" panose="02020603050405020304" pitchFamily="18" charset="0"/>
                          </a:rPr>
                          <m:t>𝛴</m:t>
                        </m:r>
                      </m:oMath>
                    </m:oMathPara>
                  </a14:m>
                  <a:endParaRPr dirty="0"/>
                </a:p>
              </p:txBody>
            </p:sp>
          </mc:Choice>
          <mc:Fallback>
            <p:sp>
              <p:nvSpPr>
                <p:cNvPr id="8" name="Google Shape;3545;p58"/>
                <p:cNvSpPr>
                  <a:spLocks noRot="1" noChangeAspect="1" noMove="1" noResize="1" noEditPoints="1" noAdjustHandles="1" noChangeArrowheads="1" noChangeShapeType="1" noTextEdit="1"/>
                </p:cNvSpPr>
                <p:nvPr/>
              </p:nvSpPr>
              <p:spPr>
                <a:xfrm>
                  <a:off x="6232711" y="3966415"/>
                  <a:ext cx="997800" cy="1883401"/>
                </a:xfrm>
                <a:prstGeom prst="rect">
                  <a:avLst/>
                </a:prstGeom>
                <a:blipFill rotWithShape="1">
                  <a:blip r:embed="rId4"/>
                </a:blipFill>
                <a:ln w="9525" cap="flat" cmpd="sng">
                  <a:solidFill>
                    <a:schemeClr val="dk2"/>
                  </a:solidFill>
                  <a:prstDash val="solid"/>
                  <a:round/>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Google Shape;3546;p58"/>
                <p:cNvSpPr/>
                <p:nvPr/>
              </p:nvSpPr>
              <p:spPr>
                <a:xfrm>
                  <a:off x="3985953" y="3966416"/>
                  <a:ext cx="1831822" cy="1883401"/>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2400" i="1" smtClean="0">
                            <a:effectLst/>
                            <a:latin typeface="Cambria Math" panose="02040503050406030204" pitchFamily="18" charset="0"/>
                            <a:ea typeface="+mj-ea"/>
                            <a:cs typeface="Times New Roman" panose="02020603050405020304" pitchFamily="18" charset="0"/>
                          </a:rPr>
                          <m:t>𝑈</m:t>
                        </m:r>
                      </m:oMath>
                    </m:oMathPara>
                  </a14:m>
                  <a:endParaRPr dirty="0">
                    <a:latin typeface="Consolas" panose="020B0609020204030204"/>
                    <a:ea typeface="Consolas" panose="020B0609020204030204"/>
                    <a:cs typeface="Consolas" panose="020B0609020204030204"/>
                    <a:sym typeface="Consolas" panose="020B0609020204030204"/>
                  </a:endParaRPr>
                </a:p>
              </p:txBody>
            </p:sp>
          </mc:Choice>
          <mc:Fallback>
            <p:sp>
              <p:nvSpPr>
                <p:cNvPr id="10" name="Google Shape;3546;p58"/>
                <p:cNvSpPr>
                  <a:spLocks noRot="1" noChangeAspect="1" noMove="1" noResize="1" noEditPoints="1" noAdjustHandles="1" noChangeArrowheads="1" noChangeShapeType="1" noTextEdit="1"/>
                </p:cNvSpPr>
                <p:nvPr/>
              </p:nvSpPr>
              <p:spPr>
                <a:xfrm>
                  <a:off x="3985953" y="3966416"/>
                  <a:ext cx="1831822" cy="1883401"/>
                </a:xfrm>
                <a:prstGeom prst="rect">
                  <a:avLst/>
                </a:prstGeom>
                <a:blipFill rotWithShape="1">
                  <a:blip r:embed="rId5"/>
                </a:blipFill>
                <a:ln w="9525" cap="flat" cmpd="sng">
                  <a:solidFill>
                    <a:schemeClr val="dk2"/>
                  </a:solidFill>
                  <a:prstDash val="solid"/>
                  <a:round/>
                  <a:headEnd type="none" w="sm" len="sm"/>
                  <a:tailEnd type="none" w="sm" len="sm"/>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6232711" y="5828101"/>
                  <a:ext cx="997800" cy="369332"/>
                </a:xfrm>
                <a:prstGeom prst="rect">
                  <a:avLst/>
                </a:prstGeom>
                <a:noFill/>
              </p:spPr>
              <p:txBody>
                <a:bodyPr wrap="square">
                  <a:sp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zh-CN" altLang="en-US" sz="1800" i="1" smtClean="0">
                            <a:effectLst/>
                            <a:latin typeface="Cambria Math" panose="02040503050406030204" pitchFamily="18" charset="0"/>
                            <a:ea typeface="+mj-ea"/>
                            <a:cs typeface="Times New Roman" panose="02020603050405020304" pitchFamily="18" charset="0"/>
                          </a:rPr>
                          <m:t>𝑚</m:t>
                        </m:r>
                        <m:r>
                          <a:rPr lang="en-US" altLang="zh-CN" sz="1800">
                            <a:effectLst/>
                            <a:latin typeface="Cambria Math" panose="02040503050406030204" pitchFamily="18" charset="0"/>
                            <a:ea typeface="+mj-ea"/>
                            <a:cs typeface="Times New Roman" panose="02020603050405020304" pitchFamily="18" charset="0"/>
                          </a:rPr>
                          <m:t>×</m:t>
                        </m:r>
                        <m:r>
                          <a:rPr lang="zh-CN" altLang="en-US" sz="1800" i="1">
                            <a:effectLst/>
                            <a:latin typeface="Cambria Math" panose="02040503050406030204" pitchFamily="18" charset="0"/>
                            <a:ea typeface="+mj-ea"/>
                            <a:cs typeface="Times New Roman" panose="02020603050405020304" pitchFamily="18" charset="0"/>
                          </a:rPr>
                          <m:t>𝑛</m:t>
                        </m:r>
                      </m:oMath>
                    </m:oMathPara>
                  </a14:m>
                  <a:endParaRPr lang="en-US" altLang="zh-CN" sz="1800" dirty="0"/>
                </a:p>
              </p:txBody>
            </p:sp>
          </mc:Choice>
          <mc:Fallback>
            <p:sp>
              <p:nvSpPr>
                <p:cNvPr id="11" name="文本框 10"/>
                <p:cNvSpPr txBox="1">
                  <a:spLocks noRot="1" noChangeAspect="1" noMove="1" noResize="1" noEditPoints="1" noAdjustHandles="1" noChangeArrowheads="1" noChangeShapeType="1" noTextEdit="1"/>
                </p:cNvSpPr>
                <p:nvPr/>
              </p:nvSpPr>
              <p:spPr>
                <a:xfrm>
                  <a:off x="6232711" y="5828101"/>
                  <a:ext cx="997800"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2129358" y="5828101"/>
                  <a:ext cx="997800" cy="369332"/>
                </a:xfrm>
                <a:prstGeom prst="rect">
                  <a:avLst/>
                </a:prstGeom>
                <a:noFill/>
              </p:spPr>
              <p:txBody>
                <a:bodyPr wrap="square">
                  <a:sp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zh-CN" altLang="en-US" sz="1800" i="1" smtClean="0">
                            <a:effectLst/>
                            <a:latin typeface="Cambria Math" panose="02040503050406030204" pitchFamily="18" charset="0"/>
                            <a:ea typeface="+mj-ea"/>
                            <a:cs typeface="Times New Roman" panose="02020603050405020304" pitchFamily="18" charset="0"/>
                          </a:rPr>
                          <m:t>𝑚</m:t>
                        </m:r>
                        <m:r>
                          <a:rPr lang="en-US" altLang="zh-CN" sz="1800">
                            <a:effectLst/>
                            <a:latin typeface="Cambria Math" panose="02040503050406030204" pitchFamily="18" charset="0"/>
                            <a:ea typeface="+mj-ea"/>
                            <a:cs typeface="Times New Roman" panose="02020603050405020304" pitchFamily="18" charset="0"/>
                          </a:rPr>
                          <m:t>×</m:t>
                        </m:r>
                        <m:r>
                          <a:rPr lang="zh-CN" altLang="en-US" sz="1800" i="1">
                            <a:effectLst/>
                            <a:latin typeface="Cambria Math" panose="02040503050406030204" pitchFamily="18" charset="0"/>
                            <a:ea typeface="+mj-ea"/>
                            <a:cs typeface="Times New Roman" panose="02020603050405020304" pitchFamily="18" charset="0"/>
                          </a:rPr>
                          <m:t>𝑛</m:t>
                        </m:r>
                      </m:oMath>
                    </m:oMathPara>
                  </a14:m>
                  <a:endParaRPr lang="en-US" altLang="zh-CN" sz="1800" dirty="0"/>
                </a:p>
              </p:txBody>
            </p:sp>
          </mc:Choice>
          <mc:Fallback>
            <p:sp>
              <p:nvSpPr>
                <p:cNvPr id="12" name="文本框 11"/>
                <p:cNvSpPr txBox="1">
                  <a:spLocks noRot="1" noChangeAspect="1" noMove="1" noResize="1" noEditPoints="1" noAdjustHandles="1" noChangeArrowheads="1" noChangeShapeType="1" noTextEdit="1"/>
                </p:cNvSpPr>
                <p:nvPr/>
              </p:nvSpPr>
              <p:spPr>
                <a:xfrm>
                  <a:off x="2129358" y="5828101"/>
                  <a:ext cx="997800"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4402964" y="5828101"/>
                  <a:ext cx="997800" cy="369332"/>
                </a:xfrm>
                <a:prstGeom prst="rect">
                  <a:avLst/>
                </a:prstGeom>
                <a:noFill/>
              </p:spPr>
              <p:txBody>
                <a:bodyPr wrap="square">
                  <a:spAutoFit/>
                </a:bodyPr>
                <a:lstStyle/>
                <a:p>
                  <a:pPr lvl="0" algn="ctr">
                    <a:spcBef>
                      <a:spcPts val="0"/>
                    </a:spcBef>
                    <a:spcAft>
                      <a:spcPts val="0"/>
                    </a:spcAft>
                  </a:pPr>
                  <a14:m>
                    <m:oMathPara xmlns:m="http://schemas.openxmlformats.org/officeDocument/2006/math">
                      <m:oMathParaPr>
                        <m:jc m:val="centerGroup"/>
                      </m:oMathParaPr>
                      <m:oMath xmlns:m="http://schemas.openxmlformats.org/officeDocument/2006/math">
                        <m:r>
                          <a:rPr lang="zh-CN" altLang="en-US" sz="1800" i="1" smtClean="0">
                            <a:effectLst/>
                            <a:latin typeface="Cambria Math" panose="02040503050406030204" pitchFamily="18" charset="0"/>
                            <a:ea typeface="+mj-ea"/>
                            <a:cs typeface="Times New Roman" panose="02020603050405020304" pitchFamily="18" charset="0"/>
                          </a:rPr>
                          <m:t>𝑚</m:t>
                        </m:r>
                        <m:r>
                          <a:rPr lang="en-US" altLang="zh-CN" sz="1800">
                            <a:effectLst/>
                            <a:latin typeface="Cambria Math" panose="02040503050406030204" pitchFamily="18" charset="0"/>
                            <a:ea typeface="+mj-ea"/>
                            <a:cs typeface="Times New Roman" panose="02020603050405020304" pitchFamily="18" charset="0"/>
                          </a:rPr>
                          <m:t>×</m:t>
                        </m:r>
                        <m:r>
                          <a:rPr lang="zh-CN" altLang="en-US" sz="1800" i="1">
                            <a:latin typeface="Cambria Math" panose="02040503050406030204" pitchFamily="18" charset="0"/>
                            <a:cs typeface="Times New Roman" panose="02020603050405020304" pitchFamily="18" charset="0"/>
                          </a:rPr>
                          <m:t>𝑚</m:t>
                        </m:r>
                      </m:oMath>
                    </m:oMathPara>
                  </a14:m>
                  <a:endParaRPr lang="en-US" altLang="zh-CN" sz="1800" dirty="0"/>
                </a:p>
              </p:txBody>
            </p:sp>
          </mc:Choice>
          <mc:Fallback>
            <p:sp>
              <p:nvSpPr>
                <p:cNvPr id="13" name="文本框 12"/>
                <p:cNvSpPr txBox="1">
                  <a:spLocks noRot="1" noChangeAspect="1" noMove="1" noResize="1" noEditPoints="1" noAdjustHandles="1" noChangeArrowheads="1" noChangeShapeType="1" noTextEdit="1"/>
                </p:cNvSpPr>
                <p:nvPr/>
              </p:nvSpPr>
              <p:spPr>
                <a:xfrm>
                  <a:off x="4402964" y="5828101"/>
                  <a:ext cx="997800" cy="369332"/>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7610242" y="4929461"/>
                  <a:ext cx="997800" cy="369332"/>
                </a:xfrm>
                <a:prstGeom prst="rect">
                  <a:avLst/>
                </a:prstGeom>
                <a:noFill/>
              </p:spPr>
              <p:txBody>
                <a:bodyPr wrap="square">
                  <a:spAutoFit/>
                </a:bodyPr>
                <a:lstStyle/>
                <a:p>
                  <a:pPr lvl="0" algn="ctr">
                    <a:spcBef>
                      <a:spcPts val="0"/>
                    </a:spcBef>
                    <a:spcAft>
                      <a:spcPts val="0"/>
                    </a:spcAft>
                  </a:pPr>
                  <a14:m>
                    <m:oMathPara xmlns:m="http://schemas.openxmlformats.org/officeDocument/2006/math">
                      <m:oMathParaPr>
                        <m:jc m:val="centerGroup"/>
                      </m:oMathParaPr>
                      <m:oMath xmlns:m="http://schemas.openxmlformats.org/officeDocument/2006/math">
                        <m:r>
                          <a:rPr lang="zh-CN" altLang="en-US" sz="1800" i="1">
                            <a:latin typeface="Cambria Math" panose="02040503050406030204" pitchFamily="18" charset="0"/>
                            <a:cs typeface="Times New Roman" panose="02020603050405020304" pitchFamily="18" charset="0"/>
                          </a:rPr>
                          <m:t>𝑛</m:t>
                        </m:r>
                        <m:r>
                          <a:rPr lang="en-US" altLang="zh-CN" sz="1800">
                            <a:effectLst/>
                            <a:latin typeface="Cambria Math" panose="02040503050406030204" pitchFamily="18" charset="0"/>
                            <a:ea typeface="+mj-ea"/>
                            <a:cs typeface="Times New Roman" panose="02020603050405020304" pitchFamily="18" charset="0"/>
                          </a:rPr>
                          <m:t>×</m:t>
                        </m:r>
                        <m:r>
                          <a:rPr lang="zh-CN" altLang="en-US" sz="1800" i="1">
                            <a:effectLst/>
                            <a:latin typeface="Cambria Math" panose="02040503050406030204" pitchFamily="18" charset="0"/>
                            <a:ea typeface="+mj-ea"/>
                            <a:cs typeface="Times New Roman" panose="02020603050405020304" pitchFamily="18" charset="0"/>
                          </a:rPr>
                          <m:t>𝑛</m:t>
                        </m:r>
                      </m:oMath>
                    </m:oMathPara>
                  </a14:m>
                  <a:endParaRPr lang="en-US" altLang="zh-CN" sz="1800" dirty="0"/>
                </a:p>
              </p:txBody>
            </p:sp>
          </mc:Choice>
          <mc:Fallback>
            <p:sp>
              <p:nvSpPr>
                <p:cNvPr id="14" name="文本框 13"/>
                <p:cNvSpPr txBox="1">
                  <a:spLocks noRot="1" noChangeAspect="1" noMove="1" noResize="1" noEditPoints="1" noAdjustHandles="1" noChangeArrowheads="1" noChangeShapeType="1" noTextEdit="1"/>
                </p:cNvSpPr>
                <p:nvPr/>
              </p:nvSpPr>
              <p:spPr>
                <a:xfrm>
                  <a:off x="7610242" y="4929461"/>
                  <a:ext cx="997800" cy="369332"/>
                </a:xfrm>
                <a:prstGeom prst="rect">
                  <a:avLst/>
                </a:prstGeom>
                <a:blipFill rotWithShape="1">
                  <a:blip r:embed="rId8"/>
                </a:blipFill>
              </p:spPr>
              <p:txBody>
                <a:bodyPr/>
                <a:lstStyle/>
                <a:p>
                  <a:r>
                    <a:rPr lang="zh-CN" altLang="en-US">
                      <a:noFill/>
                    </a:rPr>
                    <a:t> </a:t>
                  </a:r>
                </a:p>
              </p:txBody>
            </p:sp>
          </mc:Fallback>
        </mc:AlternateContent>
        <p:cxnSp>
          <p:nvCxnSpPr>
            <p:cNvPr id="15" name="直接连接符 14"/>
            <p:cNvCxnSpPr/>
            <p:nvPr/>
          </p:nvCxnSpPr>
          <p:spPr>
            <a:xfrm>
              <a:off x="3301218" y="4900246"/>
              <a:ext cx="412653"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6" name="直接连接符 15"/>
            <p:cNvCxnSpPr/>
            <p:nvPr/>
          </p:nvCxnSpPr>
          <p:spPr>
            <a:xfrm>
              <a:off x="3301218" y="5052646"/>
              <a:ext cx="412653"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7" name="直接连接符 16"/>
            <p:cNvCxnSpPr/>
            <p:nvPr/>
          </p:nvCxnSpPr>
          <p:spPr>
            <a:xfrm>
              <a:off x="6232711" y="3966415"/>
              <a:ext cx="541383" cy="624342"/>
            </a:xfrm>
            <a:prstGeom prst="line">
              <a:avLst/>
            </a:prstGeom>
          </p:spPr>
          <p:style>
            <a:lnRef idx="1">
              <a:schemeClr val="accent4"/>
            </a:lnRef>
            <a:fillRef idx="0">
              <a:schemeClr val="accent4"/>
            </a:fillRef>
            <a:effectRef idx="0">
              <a:schemeClr val="accent4"/>
            </a:effectRef>
            <a:fontRef idx="minor">
              <a:schemeClr val="tx1"/>
            </a:fontRef>
          </p:style>
        </p:cxnSp>
        <p:cxnSp>
          <p:nvCxnSpPr>
            <p:cNvPr id="18" name="直接连接符 17"/>
            <p:cNvCxnSpPr/>
            <p:nvPr/>
          </p:nvCxnSpPr>
          <p:spPr>
            <a:xfrm flipH="1">
              <a:off x="6232711" y="4590757"/>
              <a:ext cx="541383" cy="0"/>
            </a:xfrm>
            <a:prstGeom prst="line">
              <a:avLst/>
            </a:prstGeom>
            <a:ln>
              <a:prstDash val="dash"/>
            </a:ln>
          </p:spPr>
          <p:style>
            <a:lnRef idx="1">
              <a:schemeClr val="accent4"/>
            </a:lnRef>
            <a:fillRef idx="0">
              <a:schemeClr val="accent4"/>
            </a:fillRef>
            <a:effectRef idx="0">
              <a:schemeClr val="accent4"/>
            </a:effectRef>
            <a:fontRef idx="minor">
              <a:schemeClr val="tx1"/>
            </a:fontRef>
          </p:style>
        </p:cxnSp>
        <p:cxnSp>
          <p:nvCxnSpPr>
            <p:cNvPr id="19" name="直接连接符 18"/>
            <p:cNvCxnSpPr/>
            <p:nvPr/>
          </p:nvCxnSpPr>
          <p:spPr>
            <a:xfrm flipV="1">
              <a:off x="6774094" y="3966415"/>
              <a:ext cx="0" cy="624342"/>
            </a:xfrm>
            <a:prstGeom prst="line">
              <a:avLst/>
            </a:prstGeom>
            <a:ln>
              <a:prstDash val="dash"/>
            </a:ln>
          </p:spPr>
          <p:style>
            <a:lnRef idx="1">
              <a:schemeClr val="accent4"/>
            </a:lnRef>
            <a:fillRef idx="0">
              <a:schemeClr val="accent4"/>
            </a:fillRef>
            <a:effectRef idx="0">
              <a:schemeClr val="accent4"/>
            </a:effectRef>
            <a:fontRef idx="minor">
              <a:schemeClr val="tx1"/>
            </a:fontRef>
          </p:style>
        </p:cxnSp>
        <p:sp>
          <p:nvSpPr>
            <p:cNvPr id="20" name="Google Shape;1444;p42"/>
            <p:cNvSpPr/>
            <p:nvPr/>
          </p:nvSpPr>
          <p:spPr>
            <a:xfrm>
              <a:off x="6459475" y="4226949"/>
              <a:ext cx="87855" cy="93702"/>
            </a:xfrm>
            <a:prstGeom prst="rect">
              <a:avLst/>
            </a:prstGeom>
            <a:solidFill>
              <a:srgbClr val="FCFC7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1" name="直接箭头连接符 20"/>
            <p:cNvCxnSpPr>
              <a:endCxn id="20" idx="0"/>
            </p:cNvCxnSpPr>
            <p:nvPr/>
          </p:nvCxnSpPr>
          <p:spPr>
            <a:xfrm>
              <a:off x="6503403" y="3718560"/>
              <a:ext cx="0" cy="50838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mc:Choice xmlns:a14="http://schemas.microsoft.com/office/drawing/2010/main" Requires="a14">
            <p:sp>
              <p:nvSpPr>
                <p:cNvPr id="22" name="文本框 21"/>
                <p:cNvSpPr txBox="1"/>
                <p:nvPr/>
              </p:nvSpPr>
              <p:spPr>
                <a:xfrm>
                  <a:off x="6608971" y="3506686"/>
                  <a:ext cx="459545"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𝑟</m:t>
                        </m:r>
                      </m:oMath>
                    </m:oMathPara>
                  </a14:m>
                  <a:endParaRPr lang="zh-CN" altLang="en-US" dirty="0"/>
                </a:p>
              </p:txBody>
            </p:sp>
          </mc:Choice>
          <mc:Fallback>
            <p:sp>
              <p:nvSpPr>
                <p:cNvPr id="22" name="文本框 21"/>
                <p:cNvSpPr txBox="1">
                  <a:spLocks noRot="1" noChangeAspect="1" noMove="1" noResize="1" noEditPoints="1" noAdjustHandles="1" noChangeArrowheads="1" noChangeShapeType="1" noTextEdit="1"/>
                </p:cNvSpPr>
                <p:nvPr/>
              </p:nvSpPr>
              <p:spPr>
                <a:xfrm>
                  <a:off x="6608971" y="3506686"/>
                  <a:ext cx="459545" cy="461665"/>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6151732" y="4191489"/>
                  <a:ext cx="459545"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𝑟</m:t>
                        </m:r>
                      </m:oMath>
                    </m:oMathPara>
                  </a14:m>
                  <a:endParaRPr lang="zh-CN" altLang="en-US" dirty="0"/>
                </a:p>
              </p:txBody>
            </p:sp>
          </mc:Choice>
          <mc:Fallback>
            <p:sp>
              <p:nvSpPr>
                <p:cNvPr id="23" name="文本框 22"/>
                <p:cNvSpPr txBox="1">
                  <a:spLocks noRot="1" noChangeAspect="1" noMove="1" noResize="1" noEditPoints="1" noAdjustHandles="1" noChangeArrowheads="1" noChangeShapeType="1" noTextEdit="1"/>
                </p:cNvSpPr>
                <p:nvPr/>
              </p:nvSpPr>
              <p:spPr>
                <a:xfrm>
                  <a:off x="6151732" y="4191489"/>
                  <a:ext cx="459545" cy="461665"/>
                </a:xfrm>
                <a:prstGeom prst="rect">
                  <a:avLst/>
                </a:prstGeom>
                <a:blipFill rotWithShape="1">
                  <a:blip r:embed="rId9"/>
                </a:blipFill>
              </p:spPr>
              <p:txBody>
                <a:bodyPr/>
                <a:lstStyle/>
                <a:p>
                  <a:r>
                    <a:rPr lang="zh-CN" altLang="en-US">
                      <a:noFill/>
                    </a:rPr>
                    <a:t> </a:t>
                  </a:r>
                </a:p>
              </p:txBody>
            </p:sp>
          </mc:Fallback>
        </mc:AlternateContent>
        <p:sp>
          <p:nvSpPr>
            <p:cNvPr id="24" name="文本框 23"/>
            <p:cNvSpPr txBox="1"/>
            <p:nvPr/>
          </p:nvSpPr>
          <p:spPr>
            <a:xfrm>
              <a:off x="6151732" y="3424232"/>
              <a:ext cx="791196" cy="307777"/>
            </a:xfrm>
            <a:prstGeom prst="rect">
              <a:avLst/>
            </a:prstGeom>
            <a:noFill/>
          </p:spPr>
          <p:txBody>
            <a:bodyPr wrap="square" rtlCol="0">
              <a:spAutoFit/>
            </a:bodyPr>
            <a:lstStyle/>
            <a:p>
              <a:r>
                <a:rPr lang="zh-CN" altLang="en-US" sz="1400" dirty="0"/>
                <a:t>奇异值</a:t>
              </a:r>
              <a:endParaRPr lang="zh-CN" altLang="en-US" sz="1400" dirty="0"/>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主成分分析</a:t>
            </a:r>
            <a:endParaRPr lang="zh-CN" altLang="en-US"/>
          </a:p>
        </p:txBody>
      </p:sp>
      <p:sp>
        <p:nvSpPr>
          <p:cNvPr id="3" name="内容占位符 2"/>
          <p:cNvSpPr>
            <a:spLocks noGrp="1"/>
          </p:cNvSpPr>
          <p:nvPr>
            <p:ph idx="1"/>
          </p:nvPr>
        </p:nvSpPr>
        <p:spPr>
          <a:xfrm>
            <a:off x="323850" y="1485265"/>
            <a:ext cx="8547735" cy="4384040"/>
          </a:xfrm>
        </p:spPr>
        <p:txBody>
          <a:bodyPr/>
          <a:p>
            <a:r>
              <a:rPr lang="zh-CN" altLang="en-US" b="1">
                <a:solidFill>
                  <a:srgbClr val="C00000"/>
                </a:solidFill>
              </a:rPr>
              <a:t>注意原始矩阵</a:t>
            </a:r>
            <a:r>
              <a:rPr lang="en-US" altLang="zh-CN" b="1">
                <a:solidFill>
                  <a:srgbClr val="C00000"/>
                </a:solidFill>
              </a:rPr>
              <a:t>A</a:t>
            </a:r>
            <a:r>
              <a:rPr lang="zh-CN" altLang="en-US" b="1">
                <a:solidFill>
                  <a:srgbClr val="C00000"/>
                </a:solidFill>
              </a:rPr>
              <a:t>的行、列含义：</a:t>
            </a:r>
            <a:endParaRPr lang="zh-CN" altLang="en-US" b="1">
              <a:solidFill>
                <a:srgbClr val="C00000"/>
              </a:solidFill>
            </a:endParaRPr>
          </a:p>
          <a:p>
            <a:r>
              <a:rPr lang="en-US" altLang="zh-CN"/>
              <a:t>1</a:t>
            </a:r>
            <a:r>
              <a:rPr lang="zh-CN" altLang="en-US"/>
              <a:t>、如果原始矩阵</a:t>
            </a:r>
            <a:r>
              <a:rPr lang="en-US" altLang="zh-CN"/>
              <a:t>A</a:t>
            </a:r>
            <a:r>
              <a:rPr lang="zh-CN" altLang="en-US"/>
              <a:t>的</a:t>
            </a:r>
            <a:r>
              <a:rPr lang="zh-CN" altLang="en-US" b="1">
                <a:solidFill>
                  <a:srgbClr val="C00000"/>
                </a:solidFill>
              </a:rPr>
              <a:t>行是样本</a:t>
            </a:r>
            <a:r>
              <a:rPr lang="zh-CN" altLang="en-US"/>
              <a:t>，</a:t>
            </a:r>
            <a:r>
              <a:rPr lang="zh-CN" altLang="en-US" b="1">
                <a:solidFill>
                  <a:srgbClr val="C00000"/>
                </a:solidFill>
              </a:rPr>
              <a:t>列是特征</a:t>
            </a:r>
            <a:r>
              <a:rPr lang="zh-CN" altLang="en-US"/>
              <a:t>，则：</a:t>
            </a:r>
            <a:endParaRPr lang="zh-CN" altLang="en-US"/>
          </a:p>
          <a:p>
            <a:pPr marL="0" indent="0">
              <a:buNone/>
            </a:pPr>
            <a:r>
              <a:rPr lang="en-US" altLang="zh-CN"/>
              <a:t>                                         A= U*Σ *V</a:t>
            </a:r>
            <a:r>
              <a:rPr lang="en-US" altLang="zh-CN" baseline="30000"/>
              <a:t>T</a:t>
            </a:r>
            <a:endParaRPr lang="en-US" altLang="zh-CN" baseline="30000"/>
          </a:p>
          <a:p>
            <a:pPr marL="0" indent="0">
              <a:buNone/>
            </a:pPr>
            <a:r>
              <a:rPr lang="en-US" altLang="zh-CN"/>
              <a:t>         </a:t>
            </a:r>
            <a:r>
              <a:rPr lang="zh-CN" altLang="en-US"/>
              <a:t>右奇异矩阵</a:t>
            </a:r>
            <a:r>
              <a:rPr lang="en-US" altLang="zh-CN"/>
              <a:t>V</a:t>
            </a:r>
            <a:r>
              <a:rPr lang="zh-CN" altLang="en-US"/>
              <a:t>的本质就是原始矩阵</a:t>
            </a:r>
            <a:r>
              <a:rPr lang="en-US" altLang="zh-CN"/>
              <a:t>A</a:t>
            </a:r>
            <a:r>
              <a:rPr lang="zh-CN" altLang="en-US"/>
              <a:t>的协方差矩阵的特征向量所构成的矩阵，所以</a:t>
            </a:r>
            <a:r>
              <a:rPr lang="en-US" altLang="zh-CN"/>
              <a:t>V</a:t>
            </a:r>
            <a:r>
              <a:rPr lang="zh-CN" altLang="en-US"/>
              <a:t>的列就是降维用的主成分方向（投影向量），那么降维后的数据</a:t>
            </a:r>
            <a:r>
              <a:rPr lang="en-US" altLang="zh-CN"/>
              <a:t>A</a:t>
            </a:r>
            <a:r>
              <a:rPr lang="en-US" altLang="zh-CN" baseline="30000"/>
              <a:t>’</a:t>
            </a:r>
            <a:r>
              <a:rPr lang="en-US" altLang="zh-CN"/>
              <a:t>=A*V</a:t>
            </a:r>
            <a:r>
              <a:rPr lang="en-US" altLang="zh-CN" baseline="-25000"/>
              <a:t>K</a:t>
            </a:r>
            <a:endParaRPr lang="en-US" altLang="zh-CN" baseline="-25000"/>
          </a:p>
          <a:p>
            <a:pPr marL="0" indent="0">
              <a:buNone/>
            </a:pPr>
            <a:endParaRPr lang="en-US" altLang="zh-CN" baseline="-25000"/>
          </a:p>
          <a:p>
            <a:pPr marL="0" indent="0">
              <a:buNone/>
            </a:pPr>
            <a:r>
              <a:rPr lang="en-US" altLang="zh-CN"/>
              <a:t>2</a:t>
            </a:r>
            <a:r>
              <a:rPr lang="zh-CN" altLang="en-US"/>
              <a:t>、如果原始矩阵</a:t>
            </a:r>
            <a:r>
              <a:rPr lang="en-US" altLang="zh-CN"/>
              <a:t>A</a:t>
            </a:r>
            <a:r>
              <a:rPr lang="zh-CN" altLang="en-US"/>
              <a:t>的</a:t>
            </a:r>
            <a:r>
              <a:rPr lang="zh-CN" altLang="en-US" b="1">
                <a:solidFill>
                  <a:srgbClr val="0070C0"/>
                </a:solidFill>
              </a:rPr>
              <a:t>行是特征</a:t>
            </a:r>
            <a:r>
              <a:rPr lang="zh-CN" altLang="en-US"/>
              <a:t>，</a:t>
            </a:r>
            <a:r>
              <a:rPr lang="zh-CN" altLang="en-US" b="1">
                <a:solidFill>
                  <a:srgbClr val="0070C0"/>
                </a:solidFill>
              </a:rPr>
              <a:t>列是样本</a:t>
            </a:r>
            <a:r>
              <a:rPr lang="zh-CN" altLang="en-US"/>
              <a:t>，则：</a:t>
            </a:r>
            <a:endParaRPr lang="zh-CN" altLang="en-US"/>
          </a:p>
          <a:p>
            <a:pPr marL="0" indent="0">
              <a:buNone/>
            </a:pPr>
            <a:r>
              <a:rPr lang="en-US" altLang="zh-CN">
                <a:sym typeface="+mn-ea"/>
              </a:rPr>
              <a:t>                                           A= U*Σ *V</a:t>
            </a:r>
            <a:r>
              <a:rPr lang="en-US" altLang="zh-CN" baseline="30000">
                <a:sym typeface="+mn-ea"/>
              </a:rPr>
              <a:t>T</a:t>
            </a:r>
            <a:endParaRPr lang="en-US" altLang="zh-CN" baseline="30000">
              <a:sym typeface="+mn-ea"/>
            </a:endParaRPr>
          </a:p>
          <a:p>
            <a:pPr marL="0" indent="0">
              <a:buNone/>
            </a:pPr>
            <a:r>
              <a:rPr lang="en-US" altLang="zh-CN"/>
              <a:t>       </a:t>
            </a:r>
            <a:r>
              <a:rPr lang="zh-CN" altLang="en-US"/>
              <a:t>此时左奇异矩阵</a:t>
            </a:r>
            <a:r>
              <a:rPr lang="en-US" altLang="zh-CN"/>
              <a:t>U</a:t>
            </a:r>
            <a:r>
              <a:rPr lang="zh-CN" altLang="en-US"/>
              <a:t>是原始矩阵</a:t>
            </a:r>
            <a:r>
              <a:rPr lang="en-US" altLang="zh-CN"/>
              <a:t>A</a:t>
            </a:r>
            <a:r>
              <a:rPr lang="zh-CN" altLang="en-US"/>
              <a:t>的协方差矩阵的特征向量所构成的矩阵，所以</a:t>
            </a:r>
            <a:r>
              <a:rPr lang="en-US" altLang="zh-CN"/>
              <a:t>U</a:t>
            </a:r>
            <a:r>
              <a:rPr lang="zh-CN" altLang="en-US"/>
              <a:t>的列就是降维矩阵，那么降维后的数据</a:t>
            </a:r>
            <a:r>
              <a:rPr lang="en-US" altLang="zh-CN">
                <a:sym typeface="+mn-ea"/>
              </a:rPr>
              <a:t>A</a:t>
            </a:r>
            <a:r>
              <a:rPr lang="en-US" altLang="zh-CN" baseline="30000">
                <a:sym typeface="+mn-ea"/>
              </a:rPr>
              <a:t>’</a:t>
            </a:r>
            <a:r>
              <a:rPr lang="en-US" altLang="zh-CN">
                <a:sym typeface="+mn-ea"/>
              </a:rPr>
              <a:t>=(</a:t>
            </a:r>
            <a:r>
              <a:rPr lang="en-US" altLang="zh-CN">
                <a:sym typeface="+mn-ea"/>
              </a:rPr>
              <a:t>U</a:t>
            </a:r>
            <a:r>
              <a:rPr lang="en-US" altLang="zh-CN" baseline="-25000">
                <a:sym typeface="+mn-ea"/>
              </a:rPr>
              <a:t>k</a:t>
            </a:r>
            <a:r>
              <a:rPr lang="en-US" altLang="zh-CN">
                <a:sym typeface="+mn-ea"/>
              </a:rPr>
              <a:t>)</a:t>
            </a:r>
            <a:r>
              <a:rPr lang="en-US" altLang="zh-CN" baseline="30000">
                <a:sym typeface="+mn-ea"/>
              </a:rPr>
              <a:t>T</a:t>
            </a:r>
            <a:r>
              <a:rPr lang="en-US" altLang="zh-CN">
                <a:sym typeface="+mn-ea"/>
              </a:rPr>
              <a:t>*A</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课堂作业：</a:t>
            </a:r>
            <a:r>
              <a:rPr lang="en-US" altLang="zh-CN"/>
              <a:t>PCA</a:t>
            </a:r>
            <a:r>
              <a:rPr lang="zh-CN" altLang="en-US"/>
              <a:t>在</a:t>
            </a:r>
            <a:r>
              <a:rPr lang="en-US" altLang="zh-CN"/>
              <a:t>NLP</a:t>
            </a:r>
            <a:r>
              <a:rPr lang="zh-CN" altLang="en-US"/>
              <a:t>中的应用</a:t>
            </a:r>
            <a:endParaRPr lang="zh-CN" altLang="en-US"/>
          </a:p>
        </p:txBody>
      </p:sp>
      <p:graphicFrame>
        <p:nvGraphicFramePr>
          <p:cNvPr id="6" name="内容占位符 5"/>
          <p:cNvGraphicFramePr/>
          <p:nvPr>
            <p:ph idx="1"/>
          </p:nvPr>
        </p:nvGraphicFramePr>
        <p:xfrm>
          <a:off x="607694" y="1484784"/>
          <a:ext cx="7759065" cy="2333625"/>
        </p:xfrm>
        <a:graphic>
          <a:graphicData uri="http://schemas.openxmlformats.org/drawingml/2006/table">
            <a:tbl>
              <a:tblPr firstRow="1" bandRow="1">
                <a:tableStyleId>{5C22544A-7EE6-4342-B048-85BDC9FD1C3A}</a:tableStyleId>
              </a:tblPr>
              <a:tblGrid>
                <a:gridCol w="901065"/>
                <a:gridCol w="685800"/>
                <a:gridCol w="685800"/>
                <a:gridCol w="685800"/>
                <a:gridCol w="685800"/>
                <a:gridCol w="685800"/>
                <a:gridCol w="685800"/>
                <a:gridCol w="685800"/>
                <a:gridCol w="685800"/>
                <a:gridCol w="685800"/>
                <a:gridCol w="685800"/>
              </a:tblGrid>
              <a:tr h="381000">
                <a:tc>
                  <a:txBody>
                    <a:bodyPr/>
                    <a:p>
                      <a:pPr algn="l">
                        <a:lnSpc>
                          <a:spcPts val="1875"/>
                        </a:lnSpc>
                      </a:pPr>
                      <a:r>
                        <a:rPr lang="zh-CN" altLang="en-US" sz="1100" b="0" i="0">
                          <a:solidFill>
                            <a:srgbClr val="0F1115"/>
                          </a:solidFill>
                          <a:latin typeface="quote-cjk-patch"/>
                          <a:ea typeface="quote-cjk-patch"/>
                        </a:rPr>
                        <a:t>文档</a:t>
                      </a:r>
                      <a:r>
                        <a:rPr lang="en-US" altLang="zh-CN" sz="1100" b="0" i="0">
                          <a:solidFill>
                            <a:srgbClr val="0F1115"/>
                          </a:solidFill>
                          <a:latin typeface="quote-cjk-patch"/>
                          <a:ea typeface="quote-cjk-patch"/>
                        </a:rPr>
                        <a:t>\</a:t>
                      </a:r>
                      <a:r>
                        <a:rPr lang="zh-CN" altLang="en-US" sz="1100" b="0" i="0">
                          <a:solidFill>
                            <a:srgbClr val="0F1115"/>
                          </a:solidFill>
                          <a:latin typeface="quote-cjk-patch"/>
                          <a:ea typeface="quote-cjk-patch"/>
                        </a:rPr>
                        <a:t>词项</a:t>
                      </a:r>
                      <a:endParaRPr lang="zh-CN" altLang="en-US" sz="1100" b="0" i="0">
                        <a:solidFill>
                          <a:srgbClr val="0F1115"/>
                        </a:solidFill>
                        <a:latin typeface="quote-cjk-patch"/>
                        <a:ea typeface="quote-cjk-patch"/>
                      </a:endParaRPr>
                    </a:p>
                  </a:txBody>
                  <a:tcPr marL="0" marR="152717" marT="95567" marB="95567" anchor="ctr" anchorCtr="0"/>
                </a:tc>
                <a:tc>
                  <a:txBody>
                    <a:bodyPr/>
                    <a:p>
                      <a:pPr algn="l">
                        <a:lnSpc>
                          <a:spcPts val="1875"/>
                        </a:lnSpc>
                      </a:pPr>
                      <a:r>
                        <a:rPr lang="zh-CN" altLang="en-US" sz="1100" b="0" i="0">
                          <a:solidFill>
                            <a:srgbClr val="0F1115"/>
                          </a:solidFill>
                          <a:latin typeface="quote-cjk-patch"/>
                          <a:ea typeface="quote-cjk-patch"/>
                        </a:rPr>
                        <a:t>算法</a:t>
                      </a:r>
                      <a:endParaRPr lang="zh-CN" altLang="en-US" sz="1100" b="0" i="0">
                        <a:solidFill>
                          <a:srgbClr val="0F1115"/>
                        </a:solidFill>
                        <a:latin typeface="quote-cjk-patch"/>
                        <a:ea typeface="quote-cjk-patch"/>
                      </a:endParaRPr>
                    </a:p>
                  </a:txBody>
                  <a:tcPr marL="152717" marR="152717" marT="95567" marB="95567" anchor="ctr" anchorCtr="0"/>
                </a:tc>
                <a:tc>
                  <a:txBody>
                    <a:bodyPr/>
                    <a:p>
                      <a:pPr algn="l">
                        <a:lnSpc>
                          <a:spcPts val="1875"/>
                        </a:lnSpc>
                      </a:pPr>
                      <a:r>
                        <a:rPr lang="zh-CN" altLang="en-US" sz="1100" b="0" i="0">
                          <a:solidFill>
                            <a:srgbClr val="0F1115"/>
                          </a:solidFill>
                          <a:latin typeface="quote-cjk-patch"/>
                          <a:ea typeface="quote-cjk-patch"/>
                        </a:rPr>
                        <a:t>数据</a:t>
                      </a:r>
                      <a:endParaRPr lang="zh-CN" altLang="en-US" sz="1100" b="0" i="0">
                        <a:solidFill>
                          <a:srgbClr val="0F1115"/>
                        </a:solidFill>
                        <a:latin typeface="quote-cjk-patch"/>
                        <a:ea typeface="quote-cjk-patch"/>
                      </a:endParaRPr>
                    </a:p>
                  </a:txBody>
                  <a:tcPr marL="152717" marR="152717" marT="95567" marB="95567" anchor="ctr" anchorCtr="0"/>
                </a:tc>
                <a:tc>
                  <a:txBody>
                    <a:bodyPr/>
                    <a:p>
                      <a:pPr algn="l">
                        <a:lnSpc>
                          <a:spcPts val="1875"/>
                        </a:lnSpc>
                      </a:pPr>
                      <a:r>
                        <a:rPr lang="zh-CN" altLang="en-US" sz="1100" b="0" i="0">
                          <a:solidFill>
                            <a:srgbClr val="0F1115"/>
                          </a:solidFill>
                          <a:latin typeface="quote-cjk-patch"/>
                          <a:ea typeface="quote-cjk-patch"/>
                        </a:rPr>
                        <a:t>挖掘</a:t>
                      </a:r>
                      <a:endParaRPr lang="zh-CN" altLang="en-US" sz="1100" b="0" i="0">
                        <a:solidFill>
                          <a:srgbClr val="0F1115"/>
                        </a:solidFill>
                        <a:latin typeface="quote-cjk-patch"/>
                        <a:ea typeface="quote-cjk-patch"/>
                      </a:endParaRPr>
                    </a:p>
                  </a:txBody>
                  <a:tcPr marL="152717" marR="152717" marT="95567" marB="95567" anchor="ctr" anchorCtr="0"/>
                </a:tc>
                <a:tc>
                  <a:txBody>
                    <a:bodyPr/>
                    <a:p>
                      <a:pPr algn="l">
                        <a:lnSpc>
                          <a:spcPts val="1875"/>
                        </a:lnSpc>
                      </a:pPr>
                      <a:r>
                        <a:rPr lang="zh-CN" altLang="en-US" sz="1100" b="0" i="0">
                          <a:solidFill>
                            <a:srgbClr val="0F1115"/>
                          </a:solidFill>
                          <a:latin typeface="quote-cjk-patch"/>
                          <a:ea typeface="quote-cjk-patch"/>
                        </a:rPr>
                        <a:t>学习</a:t>
                      </a:r>
                      <a:endParaRPr lang="zh-CN" altLang="en-US" sz="1100" b="0" i="0">
                        <a:solidFill>
                          <a:srgbClr val="0F1115"/>
                        </a:solidFill>
                        <a:latin typeface="quote-cjk-patch"/>
                        <a:ea typeface="quote-cjk-patch"/>
                      </a:endParaRPr>
                    </a:p>
                  </a:txBody>
                  <a:tcPr marL="152717" marR="152717" marT="95567" marB="95567" anchor="ctr" anchorCtr="0"/>
                </a:tc>
                <a:tc>
                  <a:txBody>
                    <a:bodyPr/>
                    <a:p>
                      <a:pPr algn="l">
                        <a:lnSpc>
                          <a:spcPts val="1875"/>
                        </a:lnSpc>
                      </a:pPr>
                      <a:r>
                        <a:rPr lang="zh-CN" altLang="en-US" sz="1100" b="0" i="0">
                          <a:solidFill>
                            <a:srgbClr val="0F1115"/>
                          </a:solidFill>
                          <a:latin typeface="quote-cjk-patch"/>
                          <a:ea typeface="quote-cjk-patch"/>
                        </a:rPr>
                        <a:t>模型</a:t>
                      </a:r>
                      <a:endParaRPr lang="zh-CN" altLang="en-US" sz="1100" b="0" i="0">
                        <a:solidFill>
                          <a:srgbClr val="0F1115"/>
                        </a:solidFill>
                        <a:latin typeface="quote-cjk-patch"/>
                        <a:ea typeface="quote-cjk-patch"/>
                      </a:endParaRPr>
                    </a:p>
                  </a:txBody>
                  <a:tcPr marL="152717" marR="152717" marT="95567" marB="95567" anchor="ctr" anchorCtr="0"/>
                </a:tc>
                <a:tc>
                  <a:txBody>
                    <a:bodyPr/>
                    <a:p>
                      <a:pPr algn="l">
                        <a:lnSpc>
                          <a:spcPts val="1875"/>
                        </a:lnSpc>
                      </a:pPr>
                      <a:r>
                        <a:rPr lang="zh-CN" altLang="en-US" sz="1100" b="0" i="0">
                          <a:solidFill>
                            <a:srgbClr val="0F1115"/>
                          </a:solidFill>
                          <a:latin typeface="quote-cjk-patch"/>
                          <a:ea typeface="quote-cjk-patch"/>
                        </a:rPr>
                        <a:t>训练</a:t>
                      </a:r>
                      <a:endParaRPr lang="zh-CN" altLang="en-US" sz="1100" b="0" i="0">
                        <a:solidFill>
                          <a:srgbClr val="0F1115"/>
                        </a:solidFill>
                        <a:latin typeface="quote-cjk-patch"/>
                        <a:ea typeface="quote-cjk-patch"/>
                      </a:endParaRPr>
                    </a:p>
                  </a:txBody>
                  <a:tcPr marL="152717" marR="152717" marT="95567" marB="95567" anchor="ctr" anchorCtr="0"/>
                </a:tc>
                <a:tc>
                  <a:txBody>
                    <a:bodyPr/>
                    <a:p>
                      <a:pPr algn="l">
                        <a:lnSpc>
                          <a:spcPts val="1875"/>
                        </a:lnSpc>
                      </a:pPr>
                      <a:r>
                        <a:rPr lang="zh-CN" altLang="en-US" sz="1100" b="0" i="0">
                          <a:solidFill>
                            <a:srgbClr val="0F1115"/>
                          </a:solidFill>
                          <a:latin typeface="quote-cjk-patch"/>
                          <a:ea typeface="quote-cjk-patch"/>
                        </a:rPr>
                        <a:t>特征</a:t>
                      </a:r>
                      <a:endParaRPr lang="zh-CN" altLang="en-US" sz="1100" b="0" i="0">
                        <a:solidFill>
                          <a:srgbClr val="0F1115"/>
                        </a:solidFill>
                        <a:latin typeface="quote-cjk-patch"/>
                        <a:ea typeface="quote-cjk-patch"/>
                      </a:endParaRPr>
                    </a:p>
                  </a:txBody>
                  <a:tcPr marL="152717" marR="152717" marT="95567" marB="95567" anchor="ctr" anchorCtr="0"/>
                </a:tc>
                <a:tc>
                  <a:txBody>
                    <a:bodyPr/>
                    <a:p>
                      <a:pPr algn="l">
                        <a:lnSpc>
                          <a:spcPts val="1875"/>
                        </a:lnSpc>
                      </a:pPr>
                      <a:r>
                        <a:rPr lang="zh-CN" altLang="en-US" sz="1100" b="0" i="0">
                          <a:solidFill>
                            <a:srgbClr val="0F1115"/>
                          </a:solidFill>
                          <a:latin typeface="quote-cjk-patch"/>
                          <a:ea typeface="quote-cjk-patch"/>
                        </a:rPr>
                        <a:t>分类</a:t>
                      </a:r>
                      <a:endParaRPr lang="zh-CN" altLang="en-US" sz="1100" b="0" i="0">
                        <a:solidFill>
                          <a:srgbClr val="0F1115"/>
                        </a:solidFill>
                        <a:latin typeface="quote-cjk-patch"/>
                        <a:ea typeface="quote-cjk-patch"/>
                      </a:endParaRPr>
                    </a:p>
                  </a:txBody>
                  <a:tcPr marL="152717" marR="152717" marT="95567" marB="95567" anchor="ctr" anchorCtr="0"/>
                </a:tc>
                <a:tc>
                  <a:txBody>
                    <a:bodyPr/>
                    <a:p>
                      <a:pPr algn="l">
                        <a:lnSpc>
                          <a:spcPts val="1875"/>
                        </a:lnSpc>
                      </a:pPr>
                      <a:r>
                        <a:rPr lang="zh-CN" altLang="en-US" sz="1100" b="0" i="0">
                          <a:solidFill>
                            <a:srgbClr val="0F1115"/>
                          </a:solidFill>
                          <a:latin typeface="quote-cjk-patch"/>
                          <a:ea typeface="quote-cjk-patch"/>
                        </a:rPr>
                        <a:t>聚类</a:t>
                      </a:r>
                      <a:endParaRPr lang="zh-CN" altLang="en-US" sz="1100" b="0" i="0">
                        <a:solidFill>
                          <a:srgbClr val="0F1115"/>
                        </a:solidFill>
                        <a:latin typeface="quote-cjk-patch"/>
                        <a:ea typeface="quote-cjk-patch"/>
                      </a:endParaRPr>
                    </a:p>
                  </a:txBody>
                  <a:tcPr marL="152717" marR="152717" marT="95567" marB="95567" anchor="ctr" anchorCtr="0"/>
                </a:tc>
                <a:tc>
                  <a:txBody>
                    <a:bodyPr/>
                    <a:p>
                      <a:pPr algn="l">
                        <a:lnSpc>
                          <a:spcPts val="1875"/>
                        </a:lnSpc>
                      </a:pPr>
                      <a:r>
                        <a:rPr lang="zh-CN" altLang="en-US" sz="1100" b="0" i="0">
                          <a:solidFill>
                            <a:srgbClr val="0F1115"/>
                          </a:solidFill>
                          <a:latin typeface="quote-cjk-patch"/>
                          <a:ea typeface="quote-cjk-patch"/>
                        </a:rPr>
                        <a:t>评估</a:t>
                      </a:r>
                      <a:endParaRPr lang="zh-CN" altLang="en-US" sz="1100" b="0" i="0">
                        <a:solidFill>
                          <a:srgbClr val="0F1115"/>
                        </a:solidFill>
                        <a:latin typeface="quote-cjk-patch"/>
                        <a:ea typeface="quote-cjk-patch"/>
                      </a:endParaRPr>
                    </a:p>
                  </a:txBody>
                  <a:tcPr marL="152717" marR="152717" marT="95567" marB="95567" anchor="ctr" anchorCtr="0"/>
                </a:tc>
              </a:tr>
              <a:tr h="381000">
                <a:tc>
                  <a:txBody>
                    <a:bodyPr/>
                    <a:p>
                      <a:pPr>
                        <a:lnSpc>
                          <a:spcPts val="1875"/>
                        </a:lnSpc>
                      </a:pPr>
                      <a:r>
                        <a:rPr lang="en-US" altLang="zh-CN" sz="1100" b="0" i="0">
                          <a:solidFill>
                            <a:srgbClr val="0F1115"/>
                          </a:solidFill>
                          <a:latin typeface="quote-cjk-patch"/>
                          <a:ea typeface="quote-cjk-patch"/>
                        </a:rPr>
                        <a:t>Doc1</a:t>
                      </a:r>
                      <a:endParaRPr lang="en-US" altLang="zh-CN" sz="1100" b="0" i="0">
                        <a:solidFill>
                          <a:srgbClr val="0F1115"/>
                        </a:solidFill>
                        <a:latin typeface="quote-cjk-patch"/>
                        <a:ea typeface="quote-cjk-patch"/>
                      </a:endParaRPr>
                    </a:p>
                  </a:txBody>
                  <a:tcPr marL="0" marR="152717" marT="95567" marB="95567" anchor="ctr" anchorCtr="0"/>
                </a:tc>
                <a:tc>
                  <a:txBody>
                    <a:bodyPr/>
                    <a:p>
                      <a:pPr>
                        <a:lnSpc>
                          <a:spcPts val="1875"/>
                        </a:lnSpc>
                      </a:pPr>
                      <a:r>
                        <a:rPr lang="en-US" altLang="zh-CN" sz="1100" b="0" i="0">
                          <a:solidFill>
                            <a:srgbClr val="0F1115"/>
                          </a:solidFill>
                          <a:latin typeface="quote-cjk-patch"/>
                          <a:ea typeface="quote-cjk-patch"/>
                        </a:rPr>
                        <a:t>5</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4</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3</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4</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2</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1</a:t>
                      </a:r>
                      <a:endParaRPr lang="en-US" altLang="zh-CN" sz="1100" b="0" i="0">
                        <a:solidFill>
                          <a:srgbClr val="0F1115"/>
                        </a:solidFill>
                        <a:latin typeface="quote-cjk-patch"/>
                        <a:ea typeface="quote-cjk-patch"/>
                      </a:endParaRPr>
                    </a:p>
                  </a:txBody>
                  <a:tcPr marL="152717" marR="0" marT="95567" marB="95567" anchor="ctr" anchorCtr="0"/>
                </a:tc>
              </a:tr>
              <a:tr h="381000">
                <a:tc>
                  <a:txBody>
                    <a:bodyPr/>
                    <a:p>
                      <a:pPr>
                        <a:lnSpc>
                          <a:spcPts val="1875"/>
                        </a:lnSpc>
                      </a:pPr>
                      <a:r>
                        <a:rPr lang="en-US" altLang="zh-CN" sz="1100" b="0" i="0">
                          <a:solidFill>
                            <a:srgbClr val="0F1115"/>
                          </a:solidFill>
                          <a:latin typeface="quote-cjk-patch"/>
                          <a:ea typeface="quote-cjk-patch"/>
                        </a:rPr>
                        <a:t>Doc2</a:t>
                      </a:r>
                      <a:endParaRPr lang="en-US" altLang="zh-CN" sz="1100" b="0" i="0">
                        <a:solidFill>
                          <a:srgbClr val="0F1115"/>
                        </a:solidFill>
                        <a:latin typeface="quote-cjk-patch"/>
                        <a:ea typeface="quote-cjk-patch"/>
                      </a:endParaRPr>
                    </a:p>
                  </a:txBody>
                  <a:tcPr marL="0" marR="152717" marT="95567" marB="95567" anchor="ctr" anchorCtr="0"/>
                </a:tc>
                <a:tc>
                  <a:txBody>
                    <a:bodyPr/>
                    <a:p>
                      <a:pPr>
                        <a:lnSpc>
                          <a:spcPts val="1875"/>
                        </a:lnSpc>
                      </a:pPr>
                      <a:r>
                        <a:rPr lang="en-US" altLang="zh-CN" sz="1100" b="0" i="0">
                          <a:solidFill>
                            <a:srgbClr val="0F1115"/>
                          </a:solidFill>
                          <a:latin typeface="quote-cjk-patch"/>
                          <a:ea typeface="quote-cjk-patch"/>
                        </a:rPr>
                        <a:t>4</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5</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4</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3</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3</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0" marT="95567" marB="95567" anchor="ctr" anchorCtr="0"/>
                </a:tc>
              </a:tr>
              <a:tr h="381000">
                <a:tc>
                  <a:txBody>
                    <a:bodyPr/>
                    <a:p>
                      <a:pPr>
                        <a:lnSpc>
                          <a:spcPts val="1875"/>
                        </a:lnSpc>
                      </a:pPr>
                      <a:r>
                        <a:rPr lang="en-US" altLang="zh-CN" sz="1100" b="0" i="0">
                          <a:solidFill>
                            <a:srgbClr val="0F1115"/>
                          </a:solidFill>
                          <a:latin typeface="quote-cjk-patch"/>
                          <a:ea typeface="quote-cjk-patch"/>
                        </a:rPr>
                        <a:t>Doc3</a:t>
                      </a:r>
                      <a:endParaRPr lang="en-US" altLang="zh-CN" sz="1100" b="0" i="0">
                        <a:solidFill>
                          <a:srgbClr val="0F1115"/>
                        </a:solidFill>
                        <a:latin typeface="quote-cjk-patch"/>
                        <a:ea typeface="quote-cjk-patch"/>
                      </a:endParaRPr>
                    </a:p>
                  </a:txBody>
                  <a:tcPr marL="0"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1</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5</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4</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3</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4</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2</a:t>
                      </a:r>
                      <a:endParaRPr lang="en-US" altLang="zh-CN" sz="1100" b="0" i="0">
                        <a:solidFill>
                          <a:srgbClr val="0F1115"/>
                        </a:solidFill>
                        <a:latin typeface="quote-cjk-patch"/>
                        <a:ea typeface="quote-cjk-patch"/>
                      </a:endParaRPr>
                    </a:p>
                  </a:txBody>
                  <a:tcPr marL="152717" marR="0" marT="95567" marB="95567" anchor="ctr" anchorCtr="0"/>
                </a:tc>
              </a:tr>
              <a:tr h="381000">
                <a:tc>
                  <a:txBody>
                    <a:bodyPr/>
                    <a:p>
                      <a:pPr>
                        <a:lnSpc>
                          <a:spcPts val="1875"/>
                        </a:lnSpc>
                      </a:pPr>
                      <a:r>
                        <a:rPr lang="en-US" altLang="zh-CN" sz="1100" b="0" i="0">
                          <a:solidFill>
                            <a:srgbClr val="0F1115"/>
                          </a:solidFill>
                          <a:latin typeface="quote-cjk-patch"/>
                          <a:ea typeface="quote-cjk-patch"/>
                        </a:rPr>
                        <a:t>Doc4</a:t>
                      </a:r>
                      <a:endParaRPr lang="en-US" altLang="zh-CN" sz="1100" b="0" i="0">
                        <a:solidFill>
                          <a:srgbClr val="0F1115"/>
                        </a:solidFill>
                        <a:latin typeface="quote-cjk-patch"/>
                        <a:ea typeface="quote-cjk-patch"/>
                      </a:endParaRPr>
                    </a:p>
                  </a:txBody>
                  <a:tcPr marL="0"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4</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5</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0</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4</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5</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1</a:t>
                      </a:r>
                      <a:endParaRPr lang="en-US" altLang="zh-CN" sz="1100" b="0" i="0">
                        <a:solidFill>
                          <a:srgbClr val="0F1115"/>
                        </a:solidFill>
                        <a:latin typeface="quote-cjk-patch"/>
                        <a:ea typeface="quote-cjk-patch"/>
                      </a:endParaRPr>
                    </a:p>
                  </a:txBody>
                  <a:tcPr marL="152717" marR="0" marT="95567" marB="95567" anchor="ctr" anchorCtr="0"/>
                </a:tc>
              </a:tr>
              <a:tr h="381000">
                <a:tc>
                  <a:txBody>
                    <a:bodyPr/>
                    <a:p>
                      <a:pPr>
                        <a:lnSpc>
                          <a:spcPts val="1875"/>
                        </a:lnSpc>
                      </a:pPr>
                      <a:r>
                        <a:rPr lang="en-US" altLang="zh-CN" sz="1100" b="0" i="0">
                          <a:solidFill>
                            <a:srgbClr val="0F1115"/>
                          </a:solidFill>
                          <a:latin typeface="quote-cjk-patch"/>
                          <a:ea typeface="quote-cjk-patch"/>
                        </a:rPr>
                        <a:t>Doc5</a:t>
                      </a:r>
                      <a:endParaRPr lang="en-US" altLang="zh-CN" sz="1100" b="0" i="0">
                        <a:solidFill>
                          <a:srgbClr val="0F1115"/>
                        </a:solidFill>
                        <a:latin typeface="quote-cjk-patch"/>
                        <a:ea typeface="quote-cjk-patch"/>
                      </a:endParaRPr>
                    </a:p>
                  </a:txBody>
                  <a:tcPr marL="0" marR="152717" marT="95567" marB="95567" anchor="ctr" anchorCtr="0"/>
                </a:tc>
                <a:tc>
                  <a:txBody>
                    <a:bodyPr/>
                    <a:p>
                      <a:pPr>
                        <a:lnSpc>
                          <a:spcPts val="1875"/>
                        </a:lnSpc>
                      </a:pPr>
                      <a:r>
                        <a:rPr lang="en-US" altLang="zh-CN" sz="1100" b="0" i="0">
                          <a:solidFill>
                            <a:srgbClr val="0F1115"/>
                          </a:solidFill>
                          <a:latin typeface="quote-cjk-patch"/>
                          <a:ea typeface="quote-cjk-patch"/>
                        </a:rPr>
                        <a:t>2</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2</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1</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2</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1</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2</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2</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1</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1</a:t>
                      </a:r>
                      <a:endParaRPr lang="en-US" altLang="zh-CN" sz="1100" b="0" i="0">
                        <a:solidFill>
                          <a:srgbClr val="0F1115"/>
                        </a:solidFill>
                        <a:latin typeface="quote-cjk-patch"/>
                        <a:ea typeface="quote-cjk-patch"/>
                      </a:endParaRPr>
                    </a:p>
                  </a:txBody>
                  <a:tcPr marL="152717" marR="152717" marT="95567" marB="95567" anchor="ctr" anchorCtr="0"/>
                </a:tc>
                <a:tc>
                  <a:txBody>
                    <a:bodyPr/>
                    <a:p>
                      <a:pPr>
                        <a:lnSpc>
                          <a:spcPts val="1875"/>
                        </a:lnSpc>
                      </a:pPr>
                      <a:r>
                        <a:rPr lang="en-US" altLang="zh-CN" sz="1100" b="0" i="0">
                          <a:solidFill>
                            <a:srgbClr val="0F1115"/>
                          </a:solidFill>
                          <a:latin typeface="quote-cjk-patch"/>
                          <a:ea typeface="quote-cjk-patch"/>
                        </a:rPr>
                        <a:t>3</a:t>
                      </a:r>
                      <a:endParaRPr lang="en-US" altLang="zh-CN" sz="1100" b="0" i="0">
                        <a:solidFill>
                          <a:srgbClr val="0F1115"/>
                        </a:solidFill>
                        <a:latin typeface="quote-cjk-patch"/>
                        <a:ea typeface="quote-cjk-patch"/>
                      </a:endParaRPr>
                    </a:p>
                  </a:txBody>
                  <a:tcPr marL="152717" marR="0" marT="95567" marB="95567" anchor="ctr" anchorCtr="0"/>
                </a:tc>
              </a:tr>
            </a:tbl>
          </a:graphicData>
        </a:graphic>
      </p:graphicFrame>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11" name="内容占位符 2"/>
          <p:cNvSpPr>
            <a:spLocks noGrp="1"/>
          </p:cNvSpPr>
          <p:nvPr/>
        </p:nvSpPr>
        <p:spPr>
          <a:xfrm>
            <a:off x="179705" y="4149090"/>
            <a:ext cx="8641080" cy="1074420"/>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latinLnBrk="0">
              <a:spcBef>
                <a:spcPts val="900"/>
              </a:spcBef>
              <a:spcAft>
                <a:spcPts val="100"/>
              </a:spcAft>
            </a:pPr>
            <a:r>
              <a:rPr lang="en-US" altLang="zh-CN" sz="1800" b="1">
                <a:solidFill>
                  <a:srgbClr val="FF0000"/>
                </a:solidFill>
              </a:rPr>
              <a:t> </a:t>
            </a:r>
            <a:r>
              <a:rPr lang="zh-CN" altLang="en-US" sz="1800" b="1">
                <a:solidFill>
                  <a:srgbClr val="FF0000"/>
                </a:solidFill>
              </a:rPr>
              <a:t>任务：</a:t>
            </a:r>
            <a:endParaRPr lang="zh-CN" altLang="en-US" sz="1800" b="1">
              <a:solidFill>
                <a:srgbClr val="FF0000"/>
              </a:solidFill>
            </a:endParaRPr>
          </a:p>
          <a:p>
            <a:pPr latinLnBrk="0">
              <a:spcBef>
                <a:spcPts val="900"/>
              </a:spcBef>
              <a:spcAft>
                <a:spcPts val="100"/>
              </a:spcAft>
              <a:buFont typeface="Wingdings" panose="05000000000000000000" charset="0"/>
              <a:buChar char="n"/>
            </a:pPr>
            <a:r>
              <a:rPr lang="zh-CN" sz="1800"/>
              <a:t>写出用</a:t>
            </a:r>
            <a:r>
              <a:rPr lang="en-US" altLang="zh-CN" sz="1800"/>
              <a:t>PCA</a:t>
            </a:r>
            <a:r>
              <a:rPr lang="zh-CN" altLang="en-US" sz="1800"/>
              <a:t>方法对上述数据进行降维的思路</a:t>
            </a:r>
            <a:endParaRPr lang="zh-CN" altLang="en-US" sz="1800"/>
          </a:p>
        </p:txBody>
      </p:sp>
    </p:spTree>
  </p:cSld>
  <p:clrMapOvr>
    <a:masterClrMapping/>
  </p:clrMapOvr>
</p:sld>
</file>

<file path=ppt/tags/tag1.xml><?xml version="1.0" encoding="utf-8"?>
<p:tagLst xmlns:p="http://schemas.openxmlformats.org/presentationml/2006/main">
  <p:tag name="KSO_WM_TAG_VERSION" val="1.0"/>
  <p:tag name="KSO_WM_BEAUTIFY_FLAG" val="#wm#"/>
  <p:tag name="KSO_WM_TEMPLATE_CATEGORY" val="custom"/>
  <p:tag name="KSO_WM_TEMPLATE_INDEX" val="160546"/>
  <p:tag name="KSO_WM_UNIT_TYPE" val="f"/>
  <p:tag name="KSO_WM_UNIT_INDEX" val="1"/>
  <p:tag name="KSO_WM_UNIT_ID" val="custom160546_13*f*1"/>
  <p:tag name="KSO_WM_UNIT_CLEAR" val="1"/>
  <p:tag name="KSO_WM_UNIT_LAYERLEVEL" val="1"/>
  <p:tag name="KSO_WM_UNIT_VALUE" val="462"/>
  <p:tag name="KSO_WM_UNIT_HIGHLIGHT" val="0"/>
  <p:tag name="KSO_WM_UNIT_COMPATIBLE" val="0"/>
  <p:tag name="KSO_WM_UNIT_PRESET_TEXT_INDEX" val="4"/>
  <p:tag name="KSO_WM_UNIT_PRESET_TEXT_LEN" val="220"/>
</p:tagLst>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6506</Words>
  <Application>WPS 演示</Application>
  <PresentationFormat>全屏显示(4:3)</PresentationFormat>
  <Paragraphs>826</Paragraphs>
  <Slides>44</Slides>
  <Notes>1</Notes>
  <HiddenSlides>0</HiddenSlides>
  <MMClips>0</MMClips>
  <ScaleCrop>false</ScaleCrop>
  <HeadingPairs>
    <vt:vector size="8" baseType="variant">
      <vt:variant>
        <vt:lpstr>已用的字体</vt:lpstr>
      </vt:variant>
      <vt:variant>
        <vt:i4>31</vt:i4>
      </vt:variant>
      <vt:variant>
        <vt:lpstr>主题</vt:lpstr>
      </vt:variant>
      <vt:variant>
        <vt:i4>1</vt:i4>
      </vt:variant>
      <vt:variant>
        <vt:lpstr>嵌入 OLE 服务器</vt:lpstr>
      </vt:variant>
      <vt:variant>
        <vt:i4>4</vt:i4>
      </vt:variant>
      <vt:variant>
        <vt:lpstr>幻灯片标题</vt:lpstr>
      </vt:variant>
      <vt:variant>
        <vt:i4>44</vt:i4>
      </vt:variant>
    </vt:vector>
  </HeadingPairs>
  <TitlesOfParts>
    <vt:vector size="80" baseType="lpstr">
      <vt:lpstr>Arial</vt:lpstr>
      <vt:lpstr>宋体</vt:lpstr>
      <vt:lpstr>Wingdings</vt:lpstr>
      <vt:lpstr>Tahoma</vt:lpstr>
      <vt:lpstr>Calibri Light</vt:lpstr>
      <vt:lpstr>Calibri</vt:lpstr>
      <vt:lpstr>Times New Roman</vt:lpstr>
      <vt:lpstr>黑体</vt:lpstr>
      <vt:lpstr>Arial</vt:lpstr>
      <vt:lpstr>华文新魏</vt:lpstr>
      <vt:lpstr>-apple-system</vt:lpstr>
      <vt:lpstr>Segoe Print</vt:lpstr>
      <vt:lpstr>Cambria Math</vt:lpstr>
      <vt:lpstr>微软雅黑</vt:lpstr>
      <vt:lpstr>Consolas</vt:lpstr>
      <vt:lpstr>Arial Unicode MS</vt:lpstr>
      <vt:lpstr>Wingdings</vt:lpstr>
      <vt:lpstr>Cambria</vt:lpstr>
      <vt:lpstr>MS Mincho</vt:lpstr>
      <vt:lpstr>quote-cjk-patch</vt:lpstr>
      <vt:lpstr>华文琥珀</vt:lpstr>
      <vt:lpstr>Euclid</vt:lpstr>
      <vt:lpstr>DejaVu Math TeX Gyre</vt:lpstr>
      <vt:lpstr>-apple-system</vt:lpstr>
      <vt:lpstr>Consolas</vt:lpstr>
      <vt:lpstr>quote-cjk-patch</vt:lpstr>
      <vt:lpstr>Be Happy</vt:lpstr>
      <vt:lpstr>Ms.Luce</vt:lpstr>
      <vt:lpstr>BatangChe</vt:lpstr>
      <vt:lpstr>MS PGothic</vt:lpstr>
      <vt:lpstr>华文中宋</vt:lpstr>
      <vt:lpstr>回顾</vt:lpstr>
      <vt:lpstr>Equation.3</vt:lpstr>
      <vt:lpstr>Equation.3</vt:lpstr>
      <vt:lpstr>Equation.3</vt:lpstr>
      <vt:lpstr>Equation.3</vt:lpstr>
      <vt:lpstr>第三章  无监督性机器学习</vt:lpstr>
      <vt:lpstr>内容大纲</vt:lpstr>
      <vt:lpstr>维度灾难</vt:lpstr>
      <vt:lpstr>降维</vt:lpstr>
      <vt:lpstr>降维</vt:lpstr>
      <vt:lpstr>内容大纲</vt:lpstr>
      <vt:lpstr>奇异值分解</vt:lpstr>
      <vt:lpstr>奇异值分解</vt:lpstr>
      <vt:lpstr>奇异值分解</vt:lpstr>
      <vt:lpstr>奇异值分解</vt:lpstr>
      <vt:lpstr>奇异值分解</vt:lpstr>
      <vt:lpstr>奇异值分解</vt:lpstr>
      <vt:lpstr>PowerPoint 演示文稿</vt:lpstr>
      <vt:lpstr>奇异值分解</vt:lpstr>
      <vt:lpstr>奇异值分解</vt:lpstr>
      <vt:lpstr>PowerPoint 演示文稿</vt:lpstr>
      <vt:lpstr>SVD案例</vt:lpstr>
      <vt:lpstr>课堂作业：SVD在NLP中的应用</vt:lpstr>
      <vt:lpstr>SVD应用场景</vt:lpstr>
      <vt:lpstr>内容大纲</vt:lpstr>
      <vt:lpstr>主成分分析</vt:lpstr>
      <vt:lpstr>主成分分析</vt:lpstr>
      <vt:lpstr>主成分分析</vt:lpstr>
      <vt:lpstr>主成分分析</vt:lpstr>
      <vt:lpstr>主成分分析</vt:lpstr>
      <vt:lpstr>主成分分析</vt:lpstr>
      <vt:lpstr>主成分分析</vt:lpstr>
      <vt:lpstr>主成分分析原理</vt:lpstr>
      <vt:lpstr>主成分分析原理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主成分分析</vt:lpstr>
      <vt:lpstr>PowerPoint 演示文稿</vt:lpstr>
      <vt:lpstr>主成分分析</vt:lpstr>
      <vt:lpstr>PowerPoint 演示文稿</vt:lpstr>
      <vt:lpstr>课堂作业：SVD在NLP中的应用</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邓苏</dc:creator>
  <cp:lastModifiedBy>宗威</cp:lastModifiedBy>
  <cp:revision>1767</cp:revision>
  <dcterms:created xsi:type="dcterms:W3CDTF">1996-07-03T01:00:00Z</dcterms:created>
  <dcterms:modified xsi:type="dcterms:W3CDTF">2026-05-11T00:27:16Z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8793336DDCDE42409A0A84D190F7DC02_13</vt:lpwstr>
  </property>
  <property fmtid="{D5CDD505-2E9C-101B-9397-08002B2CF9AE}" pid="3" name="KSOProductBuildVer">
    <vt:lpwstr>2052-12.1.0.25865</vt:lpwstr>
  </property>
</Properties>
</file>