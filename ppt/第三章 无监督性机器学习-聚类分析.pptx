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708" r:id="rId3"/>
    <p:sldId id="839" r:id="rId4"/>
    <p:sldId id="1157" r:id="rId5"/>
    <p:sldId id="1274" r:id="rId6"/>
    <p:sldId id="1275" r:id="rId7"/>
    <p:sldId id="1158" r:id="rId8"/>
    <p:sldId id="1276" r:id="rId9"/>
    <p:sldId id="1302" r:id="rId10"/>
    <p:sldId id="1277" r:id="rId11"/>
    <p:sldId id="1278" r:id="rId12"/>
    <p:sldId id="1279" r:id="rId13"/>
    <p:sldId id="1297" r:id="rId14"/>
    <p:sldId id="1159" r:id="rId15"/>
    <p:sldId id="1280" r:id="rId16"/>
    <p:sldId id="1303" r:id="rId17"/>
    <p:sldId id="1288" r:id="rId18"/>
    <p:sldId id="1289" r:id="rId19"/>
    <p:sldId id="1282" r:id="rId20"/>
    <p:sldId id="1306" r:id="rId21"/>
    <p:sldId id="1308" r:id="rId22"/>
    <p:sldId id="1307" r:id="rId23"/>
    <p:sldId id="1309" r:id="rId24"/>
    <p:sldId id="1310" r:id="rId25"/>
    <p:sldId id="1313" r:id="rId26"/>
    <p:sldId id="1312" r:id="rId27"/>
    <p:sldId id="1283" r:id="rId28"/>
    <p:sldId id="1284" r:id="rId29"/>
    <p:sldId id="1285" r:id="rId30"/>
    <p:sldId id="1286" r:id="rId31"/>
    <p:sldId id="1316" r:id="rId32"/>
    <p:sldId id="1300" r:id="rId33"/>
    <p:sldId id="1287" r:id="rId34"/>
    <p:sldId id="1290" r:id="rId35"/>
    <p:sldId id="1314" r:id="rId36"/>
    <p:sldId id="1301" r:id="rId37"/>
    <p:sldId id="1291" r:id="rId38"/>
    <p:sldId id="1315" r:id="rId39"/>
    <p:sldId id="1292" r:id="rId40"/>
    <p:sldId id="1293" r:id="rId41"/>
    <p:sldId id="1294" r:id="rId42"/>
    <p:sldId id="1295" r:id="rId43"/>
    <p:sldId id="1296" r:id="rId44"/>
    <p:sldId id="1319" r:id="rId45"/>
  </p:sldIdLst>
  <p:sldSz cx="9144000" cy="6858000" type="screen4x3"/>
  <p:notesSz cx="9144000" cy="6858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5F1B5416-640A-4F21-9AB5-898F4CDF8A5B}">
          <p14:sldIdLst>
            <p14:sldId id="708"/>
            <p14:sldId id="839"/>
            <p14:sldId id="1157"/>
            <p14:sldId id="1274"/>
            <p14:sldId id="1275"/>
            <p14:sldId id="1158"/>
            <p14:sldId id="1276"/>
            <p14:sldId id="1302"/>
            <p14:sldId id="1277"/>
            <p14:sldId id="1278"/>
            <p14:sldId id="1279"/>
            <p14:sldId id="1297"/>
            <p14:sldId id="1159"/>
            <p14:sldId id="1280"/>
            <p14:sldId id="1303"/>
            <p14:sldId id="1288"/>
            <p14:sldId id="1289"/>
            <p14:sldId id="1282"/>
            <p14:sldId id="1306"/>
            <p14:sldId id="1308"/>
            <p14:sldId id="1307"/>
            <p14:sldId id="1309"/>
            <p14:sldId id="1310"/>
            <p14:sldId id="1313"/>
            <p14:sldId id="1312"/>
            <p14:sldId id="1283"/>
            <p14:sldId id="1284"/>
            <p14:sldId id="1285"/>
            <p14:sldId id="1286"/>
            <p14:sldId id="1316"/>
            <p14:sldId id="1300"/>
            <p14:sldId id="1287"/>
            <p14:sldId id="1290"/>
            <p14:sldId id="1314"/>
            <p14:sldId id="1301"/>
            <p14:sldId id="1291"/>
            <p14:sldId id="1315"/>
            <p14:sldId id="1292"/>
            <p14:sldId id="1293"/>
            <p14:sldId id="1294"/>
            <p14:sldId id="1295"/>
            <p14:sldId id="1296"/>
            <p14:sldId id="1319"/>
          </p14:sldIdLst>
        </p14:section>
      </p14:sectionLst>
    </p:ext>
    <p:ext uri="{EFAFB233-063F-42B5-8137-9DF3F51BA10A}">
      <p15:sldGuideLst xmlns:p15="http://schemas.microsoft.com/office/powerpoint/2012/main">
        <p15:guide id="1" orient="horz" pos="3354"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48312"/>
    <a:srgbClr val="FF3300"/>
    <a:srgbClr val="FF99FF"/>
    <a:srgbClr val="ECE7E3"/>
    <a:srgbClr val="21C5FF"/>
    <a:srgbClr val="E28E7F"/>
    <a:srgbClr val="C26F0E"/>
    <a:srgbClr val="0000FF"/>
    <a:srgbClr val="0080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2" autoAdjust="0"/>
    <p:restoredTop sz="88628" autoAdjust="0"/>
  </p:normalViewPr>
  <p:slideViewPr>
    <p:cSldViewPr showGuides="1">
      <p:cViewPr varScale="1">
        <p:scale>
          <a:sx n="75" d="100"/>
          <a:sy n="75" d="100"/>
        </p:scale>
        <p:origin x="1474" y="58"/>
      </p:cViewPr>
      <p:guideLst>
        <p:guide orient="horz" pos="3354"/>
        <p:guide pos="2927"/>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howGuides="1">
      <p:cViewPr varScale="1">
        <p:scale>
          <a:sx n="43" d="100"/>
          <a:sy n="43" d="100"/>
        </p:scale>
        <p:origin x="-1416" y="-90"/>
      </p:cViewPr>
      <p:guideLst>
        <p:guide orient="horz" pos="2115"/>
        <p:guide pos="292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19050" tIns="0" rIns="19050" bIns="0" numCol="1" anchor="t"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a:effectLst/>
        </p:spPr>
        <p:txBody>
          <a:bodyPr vert="horz" wrap="square" lIns="19050" tIns="0" rIns="19050" bIns="0" numCol="1" anchor="t" anchorCtr="0" compatLnSpc="1"/>
          <a:lstStyle>
            <a:lvl1pPr algn="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11268" name="Rectangle 4"/>
          <p:cNvSpPr>
            <a:spLocks noGrp="1" noRot="1" noChangeAspect="1" noChangeArrowheads="1" noTextEdit="1"/>
          </p:cNvSpPr>
          <p:nvPr>
            <p:ph type="sldImg" idx="2"/>
          </p:nvPr>
        </p:nvSpPr>
        <p:spPr bwMode="auto">
          <a:xfrm>
            <a:off x="2863850" y="519113"/>
            <a:ext cx="3416300" cy="256222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a:effectLst/>
        </p:spPr>
        <p:txBody>
          <a:bodyPr vert="horz" wrap="square" lIns="92075" tIns="46038" rIns="92075" bIns="46038"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a:effectLst/>
        </p:spPr>
        <p:txBody>
          <a:bodyPr vert="horz" wrap="square" lIns="19050" tIns="0" rIns="19050" bIns="0" numCol="1" anchor="b"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a:effectLst/>
        </p:spPr>
        <p:txBody>
          <a:bodyPr vert="horz" wrap="square" lIns="19050" tIns="0" rIns="19050" bIns="0" numCol="1" anchor="b" anchorCtr="0" compatLnSpc="1"/>
          <a:lstStyle>
            <a:lvl1pPr algn="r" eaLnBrk="0" hangingPunct="0">
              <a:defRPr sz="1000" i="1">
                <a:latin typeface="Times New Roman" panose="02020603050405020304" pitchFamily="18" charset="0"/>
              </a:defRPr>
            </a:lvl1pPr>
          </a:lstStyle>
          <a:p>
            <a:pPr>
              <a:defRPr/>
            </a:pPr>
            <a:fld id="{0500817F-17F9-46F0-832A-0BFACEB59CF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6"/>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E:\Z_20141020浙大应用项调整\PPT-10.23\PPT源文件-10.23-0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4" descr="E:\Z_20141020浙大应用项调整\PPT-10.23\PPT源文件-10.23-0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822325" y="1557338"/>
            <a:ext cx="7543800" cy="287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Title 1"/>
          <p:cNvSpPr>
            <a:spLocks noGrp="1"/>
          </p:cNvSpPr>
          <p:nvPr>
            <p:ph type="title"/>
          </p:nvPr>
        </p:nvSpPr>
        <p:spPr>
          <a:xfrm>
            <a:off x="822960" y="286604"/>
            <a:ext cx="7543800" cy="892239"/>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22959" y="1484784"/>
            <a:ext cx="7543801" cy="438431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Slide Number Placeholder 5"/>
          <p:cNvSpPr>
            <a:spLocks noGrp="1"/>
          </p:cNvSpPr>
          <p:nvPr>
            <p:ph type="sldNum" sz="quarter" idx="10"/>
          </p:nvPr>
        </p:nvSpPr>
        <p:spPr/>
        <p:txBody>
          <a:bodyPr/>
          <a:lstStyle>
            <a:lvl1pPr>
              <a:defRPr/>
            </a:lvl1pPr>
          </a:lstStyle>
          <a:p>
            <a:pPr>
              <a:defRPr/>
            </a:pPr>
            <a:fld id="{F6DA434B-3FE0-453D-8E32-922B8A93A0F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Date Placeholder 3"/>
          <p:cNvSpPr>
            <a:spLocks noGrp="1"/>
          </p:cNvSpPr>
          <p:nvPr>
            <p:ph type="dt" sz="half" idx="10"/>
          </p:nvPr>
        </p:nvSpPr>
        <p:spPr/>
        <p:txBody>
          <a:bodyPr/>
          <a:lstStyle>
            <a:lvl1pPr>
              <a:defRPr/>
            </a:lvl1pPr>
          </a:lstStyle>
          <a:p>
            <a:pPr>
              <a:defRPr/>
            </a:pPr>
            <a:endParaRPr lang="en-US" altLang="zh-CN"/>
          </a:p>
        </p:txBody>
      </p:sp>
      <p:sp>
        <p:nvSpPr>
          <p:cNvPr id="9" name="Footer Placeholder 4"/>
          <p:cNvSpPr>
            <a:spLocks noGrp="1"/>
          </p:cNvSpPr>
          <p:nvPr>
            <p:ph type="ftr" sz="quarter" idx="11"/>
          </p:nvPr>
        </p:nvSpPr>
        <p:spPr/>
        <p:txBody>
          <a:bodyPr/>
          <a:lstStyle>
            <a:lvl1pPr>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lvl1pPr>
          </a:lstStyle>
          <a:p>
            <a:pPr>
              <a:defRPr/>
            </a:pPr>
            <a:fld id="{256FA0F2-C9A2-4F64-A66E-20022CCEEAE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1C950D77-C628-43FC-BC46-456A714236B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83FD6D5D-01DA-4DC2-BBDE-EB5119091C7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C9C69257-8032-4398-859F-185CE6CE699B}"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Rectangle 4"/>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ltLang="zh-CN"/>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ltLang="zh-CN"/>
          </a:p>
        </p:txBody>
      </p:sp>
      <p:sp>
        <p:nvSpPr>
          <p:cNvPr id="6" name="Slide Number Placeholder 8"/>
          <p:cNvSpPr>
            <a:spLocks noGrp="1"/>
          </p:cNvSpPr>
          <p:nvPr>
            <p:ph type="sldNum" sz="quarter" idx="12"/>
          </p:nvPr>
        </p:nvSpPr>
        <p:spPr/>
        <p:txBody>
          <a:bodyPr/>
          <a:lstStyle>
            <a:lvl1pPr>
              <a:defRPr/>
            </a:lvl1pPr>
          </a:lstStyle>
          <a:p>
            <a:pPr>
              <a:defRPr/>
            </a:pPr>
            <a:fld id="{AA51C516-9C89-45EA-8E3A-FDE8D53A16A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5"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a:xfrm>
            <a:off x="349250" y="6459538"/>
            <a:ext cx="1963738" cy="365125"/>
          </a:xfrm>
        </p:spPr>
        <p:txBody>
          <a:bodyPr/>
          <a:lstStyle>
            <a:lvl1pPr algn="l">
              <a:defRPr/>
            </a:lvl1pPr>
          </a:lstStyle>
          <a:p>
            <a:pPr>
              <a:defRPr/>
            </a:pPr>
            <a:endParaRPr lang="en-US" altLang="zh-CN"/>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EEDFC271-D8E7-4FF2-943A-13935E45B49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图片与标题">
    <p:spTree>
      <p:nvGrpSpPr>
        <p:cNvPr id="1" name=""/>
        <p:cNvGrpSpPr/>
        <p:nvPr/>
      </p:nvGrpSpPr>
      <p:grpSpPr>
        <a:xfrm>
          <a:off x="0" y="0"/>
          <a:ext cx="0" cy="0"/>
          <a:chOff x="0" y="0"/>
          <a:chExt cx="0" cy="0"/>
        </a:xfrm>
      </p:grpSpPr>
      <p:sp>
        <p:nvSpPr>
          <p:cNvPr id="5"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8" name="Footer Placeholder 5"/>
          <p:cNvSpPr>
            <a:spLocks noGrp="1"/>
          </p:cNvSpPr>
          <p:nvPr>
            <p:ph type="ftr" sz="quarter" idx="11"/>
          </p:nvPr>
        </p:nvSpPr>
        <p:spPr/>
        <p:txBody>
          <a:bodyPr/>
          <a:lstStyle>
            <a:lvl1pPr>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lvl1pPr>
          </a:lstStyle>
          <a:p>
            <a:pPr>
              <a:defRPr/>
            </a:pPr>
            <a:fld id="{D0FD5BEA-9E28-41CA-BE91-C9A1BA7CFA1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3191729D-44E3-49BA-994F-783CF7E187B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D26B558E-6E52-4ECF-B6D6-3B703C722682}" type="slidenum">
              <a:rPr lang="en-US" altLang="zh-CN"/>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1029" name="Text Placeholder 2"/>
          <p:cNvSpPr>
            <a:spLocks noGrp="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zh-CN"/>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zh-CN"/>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50">
                <a:solidFill>
                  <a:srgbClr val="FFFFFF"/>
                </a:solidFill>
              </a:defRPr>
            </a:lvl1pPr>
          </a:lstStyle>
          <a:p>
            <a:pPr>
              <a:defRPr/>
            </a:pPr>
            <a:fld id="{47489B64-E570-46EF-ABE2-C5B7231161B8}" type="slidenum">
              <a:rPr lang="en-US" altLang="zh-CN"/>
            </a:fld>
            <a:endParaRPr lang="en-US" altLang="zh-CN"/>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p:titleStyle>
    <p:body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0"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tags" Target="../tags/tag1.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9" Type="http://schemas.openxmlformats.org/officeDocument/2006/relationships/slideLayout" Target="../slideLayouts/slideLayout2.xml"/><Relationship Id="rId18" Type="http://schemas.openxmlformats.org/officeDocument/2006/relationships/image" Target="../media/image51.png"/><Relationship Id="rId17" Type="http://schemas.openxmlformats.org/officeDocument/2006/relationships/image" Target="../media/image50.png"/><Relationship Id="rId16" Type="http://schemas.openxmlformats.org/officeDocument/2006/relationships/image" Target="../media/image49.png"/><Relationship Id="rId15" Type="http://schemas.openxmlformats.org/officeDocument/2006/relationships/image" Target="../media/image48.png"/><Relationship Id="rId14" Type="http://schemas.openxmlformats.org/officeDocument/2006/relationships/image" Target="../media/image47.png"/><Relationship Id="rId13" Type="http://schemas.openxmlformats.org/officeDocument/2006/relationships/image" Target="../media/image46.png"/><Relationship Id="rId12" Type="http://schemas.openxmlformats.org/officeDocument/2006/relationships/image" Target="../media/image45.png"/><Relationship Id="rId11" Type="http://schemas.openxmlformats.org/officeDocument/2006/relationships/tags" Target="../tags/tag3.xml"/><Relationship Id="rId10" Type="http://schemas.openxmlformats.org/officeDocument/2006/relationships/image" Target="../media/image44.png"/><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image" Target="../media/image59.png"/><Relationship Id="rId7" Type="http://schemas.openxmlformats.org/officeDocument/2006/relationships/image" Target="../media/image58.png"/><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1" Type="http://schemas.openxmlformats.org/officeDocument/2006/relationships/slideLayout" Target="../slideLayouts/slideLayout2.xml"/><Relationship Id="rId10" Type="http://schemas.openxmlformats.org/officeDocument/2006/relationships/image" Target="../media/image61.png"/><Relationship Id="rId1"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39.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1" Type="http://schemas.openxmlformats.org/officeDocument/2006/relationships/slideLayout" Target="../slideLayouts/slideLayout2.xml"/><Relationship Id="rId20" Type="http://schemas.openxmlformats.org/officeDocument/2006/relationships/image" Target="../media/image83.png"/><Relationship Id="rId2" Type="http://schemas.openxmlformats.org/officeDocument/2006/relationships/image" Target="../media/image65.png"/><Relationship Id="rId19" Type="http://schemas.openxmlformats.org/officeDocument/2006/relationships/image" Target="../media/image82.png"/><Relationship Id="rId18" Type="http://schemas.openxmlformats.org/officeDocument/2006/relationships/image" Target="../media/image81.png"/><Relationship Id="rId17" Type="http://schemas.openxmlformats.org/officeDocument/2006/relationships/image" Target="../media/image80.png"/><Relationship Id="rId16" Type="http://schemas.openxmlformats.org/officeDocument/2006/relationships/image" Target="../media/image79.png"/><Relationship Id="rId15" Type="http://schemas.openxmlformats.org/officeDocument/2006/relationships/image" Target="../media/image78.png"/><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image" Target="../media/image75.png"/><Relationship Id="rId11" Type="http://schemas.openxmlformats.org/officeDocument/2006/relationships/image" Target="../media/image74.png"/><Relationship Id="rId10" Type="http://schemas.openxmlformats.org/officeDocument/2006/relationships/image" Target="../media/image73.png"/><Relationship Id="rId1" Type="http://schemas.openxmlformats.org/officeDocument/2006/relationships/image" Target="../media/image64.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emf"/><Relationship Id="rId1" Type="http://schemas.openxmlformats.org/officeDocument/2006/relationships/image" Target="../media/image8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2325" y="758825"/>
            <a:ext cx="7543800" cy="3565525"/>
          </a:xfrm>
        </p:spPr>
        <p:txBody>
          <a:bodyPr>
            <a:normAutofit/>
          </a:bodyPr>
          <a:lstStyle/>
          <a:p>
            <a:pPr algn="ctr" eaLnBrk="1" fontAlgn="auto" hangingPunct="1">
              <a:lnSpc>
                <a:spcPct val="125000"/>
              </a:lnSpc>
              <a:spcAft>
                <a:spcPts val="0"/>
              </a:spcAft>
              <a:defRPr/>
            </a:pP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第三章 </a:t>
            </a:r>
            <a:b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b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无监督性机器学习</a:t>
            </a:r>
            <a:endParaRPr lang="zh-CN" altLang="en-US" dirty="0">
              <a:solidFill>
                <a:srgbClr val="C00000"/>
              </a:solidFill>
            </a:endParaRPr>
          </a:p>
        </p:txBody>
      </p:sp>
      <p:sp>
        <p:nvSpPr>
          <p:cNvPr id="3" name="副标题 2"/>
          <p:cNvSpPr>
            <a:spLocks noGrp="1"/>
          </p:cNvSpPr>
          <p:nvPr>
            <p:ph type="subTitle" idx="1"/>
          </p:nvPr>
        </p:nvSpPr>
        <p:spPr>
          <a:xfrm>
            <a:off x="825500" y="4456113"/>
            <a:ext cx="7543800" cy="1143000"/>
          </a:xfrm>
        </p:spPr>
        <p:txBody>
          <a:bodyPr rtlCol="0"/>
          <a:lstStyle/>
          <a:p>
            <a:pPr algn="ctr" eaLnBrk="1" fontAlgn="auto" hangingPunct="1">
              <a:defRPr/>
            </a:pPr>
            <a:r>
              <a:rPr lang="en-US" altLang="zh-CN" b="1" dirty="0">
                <a:latin typeface="Tahoma" panose="020B0604030504040204" pitchFamily="34" charset="0"/>
                <a:ea typeface="Tahoma" panose="020B0604030504040204" pitchFamily="34" charset="0"/>
                <a:cs typeface="Tahoma" panose="020B0604030504040204" pitchFamily="34" charset="0"/>
              </a:rPr>
              <a:t>Supervised machine learning</a:t>
            </a:r>
            <a:endParaRPr lang="zh-CN" altLang="en-US" dirty="0">
              <a:latin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4294967295"/>
          </p:nvPr>
        </p:nvSpPr>
        <p:spPr/>
        <p:txBody>
          <a:bodyPr/>
          <a:lstStyle/>
          <a:p>
            <a:pPr>
              <a:defRPr/>
            </a:pPr>
            <a:fld id="{5C607526-F0CC-4C74-8DBA-9971CBCEA052}"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聚类分析概述</a:t>
            </a:r>
            <a:endParaRPr kumimoji="0" lang="en-US" altLang="zh-CN" kern="100"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基于划分的聚类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基于层次的聚类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基于密度的聚类</a:t>
            </a:r>
            <a:endParaRPr kumimoji="0" lang="en-US" altLang="zh-CN" kern="100" dirty="0">
              <a:latin typeface="Arial" panose="020B0604020202020204"/>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聚类分析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519430" y="1125220"/>
            <a:ext cx="7596505"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聚类分析是一种典型的</a:t>
            </a:r>
            <a:r>
              <a:rPr lang="zh-CN" altLang="en-US" sz="2000" b="1" dirty="0">
                <a:solidFill>
                  <a:srgbClr val="FF0000"/>
                </a:solidFill>
              </a:rPr>
              <a:t>无监督学习</a:t>
            </a:r>
            <a:r>
              <a:rPr lang="zh-CN" altLang="en-US" sz="2000" dirty="0">
                <a:solidFill>
                  <a:srgbClr val="000000"/>
                </a:solidFill>
              </a:rPr>
              <a:t>， 用于对</a:t>
            </a:r>
            <a:r>
              <a:rPr lang="zh-CN" altLang="en-US" sz="2000" b="1" dirty="0">
                <a:solidFill>
                  <a:srgbClr val="FF0000"/>
                </a:solidFill>
              </a:rPr>
              <a:t>未知类别</a:t>
            </a:r>
            <a:r>
              <a:rPr lang="zh-CN" altLang="en-US" sz="2000" dirty="0">
                <a:solidFill>
                  <a:srgbClr val="000000"/>
                </a:solidFill>
              </a:rPr>
              <a:t>的样本进行划分，将它们按照一定的规则划分成若干个类族，把相似</a:t>
            </a:r>
            <a:r>
              <a:rPr lang="en-US" altLang="zh-CN" sz="2000" dirty="0">
                <a:solidFill>
                  <a:srgbClr val="000000"/>
                </a:solidFill>
              </a:rPr>
              <a:t>(</a:t>
            </a:r>
            <a:r>
              <a:rPr lang="zh-CN" altLang="en-US" sz="2000" dirty="0">
                <a:solidFill>
                  <a:srgbClr val="000000"/>
                </a:solidFill>
              </a:rPr>
              <a:t>距高相近</a:t>
            </a:r>
            <a:r>
              <a:rPr lang="en-US" altLang="zh-CN" sz="2000" dirty="0">
                <a:solidFill>
                  <a:srgbClr val="000000"/>
                </a:solidFill>
              </a:rPr>
              <a:t>)</a:t>
            </a:r>
            <a:r>
              <a:rPr lang="zh-CN" altLang="en-US" sz="2000" dirty="0">
                <a:solidFill>
                  <a:srgbClr val="000000"/>
                </a:solidFill>
              </a:rPr>
              <a:t>的样本聚在同一个类簇中， 把不相似的样本分为不同类簇，从而揭示样本之间内在的性质以及相互之间的联系规律</a:t>
            </a:r>
            <a:endParaRPr lang="en-US" altLang="zh-CN" sz="2000" dirty="0">
              <a:solidFill>
                <a:srgbClr val="000000"/>
              </a:solidFill>
            </a:endParaRPr>
          </a:p>
          <a:p>
            <a:r>
              <a:rPr lang="zh-CN" altLang="en-US" sz="2000" dirty="0">
                <a:solidFill>
                  <a:srgbClr val="000000"/>
                </a:solidFill>
              </a:rPr>
              <a:t>聚类方法分类：</a:t>
            </a:r>
            <a:endParaRPr lang="en-US" altLang="zh-CN" sz="2000" dirty="0">
              <a:solidFill>
                <a:srgbClr val="000000"/>
              </a:solidFill>
            </a:endParaRPr>
          </a:p>
          <a:p>
            <a:pPr lvl="1"/>
            <a:r>
              <a:rPr lang="zh-CN" altLang="en-US" sz="2000" dirty="0">
                <a:solidFill>
                  <a:srgbClr val="000000"/>
                </a:solidFill>
              </a:rPr>
              <a:t>基于</a:t>
            </a:r>
            <a:r>
              <a:rPr lang="zh-CN" altLang="en-US" sz="2000" b="1" dirty="0">
                <a:solidFill>
                  <a:srgbClr val="FF0000"/>
                </a:solidFill>
              </a:rPr>
              <a:t>划分</a:t>
            </a:r>
            <a:r>
              <a:rPr lang="zh-CN" altLang="en-US" sz="2000" dirty="0">
                <a:solidFill>
                  <a:srgbClr val="000000"/>
                </a:solidFill>
              </a:rPr>
              <a:t>的聚类（</a:t>
            </a:r>
            <a:r>
              <a:rPr lang="en-US" altLang="zh-CN" sz="2000" dirty="0">
                <a:solidFill>
                  <a:srgbClr val="000000"/>
                </a:solidFill>
              </a:rPr>
              <a:t>K-means</a:t>
            </a:r>
            <a:r>
              <a:rPr lang="zh-CN" altLang="en-US" sz="2000" dirty="0">
                <a:solidFill>
                  <a:srgbClr val="000000"/>
                </a:solidFill>
              </a:rPr>
              <a:t>）、基于</a:t>
            </a:r>
            <a:r>
              <a:rPr lang="zh-CN" altLang="en-US" sz="2000" b="1" dirty="0">
                <a:solidFill>
                  <a:srgbClr val="FF0000"/>
                </a:solidFill>
              </a:rPr>
              <a:t>层次</a:t>
            </a:r>
            <a:r>
              <a:rPr lang="zh-CN" altLang="en-US" sz="2000" dirty="0">
                <a:solidFill>
                  <a:srgbClr val="000000"/>
                </a:solidFill>
              </a:rPr>
              <a:t>的聚类、基于</a:t>
            </a:r>
            <a:r>
              <a:rPr lang="zh-CN" altLang="en-US" sz="2000" b="1" dirty="0">
                <a:solidFill>
                  <a:srgbClr val="FF0000"/>
                </a:solidFill>
              </a:rPr>
              <a:t>密度</a:t>
            </a:r>
            <a:r>
              <a:rPr lang="zh-CN" altLang="en-US" sz="2000" dirty="0">
                <a:solidFill>
                  <a:srgbClr val="000000"/>
                </a:solidFill>
              </a:rPr>
              <a:t>的聚类 </a:t>
            </a:r>
            <a:endParaRPr lang="en-US" altLang="zh-CN" sz="2000" dirty="0">
              <a:solidFill>
                <a:srgbClr val="000000"/>
              </a:solidFill>
            </a:endParaRPr>
          </a:p>
          <a:p>
            <a:pPr lvl="1"/>
            <a:r>
              <a:rPr lang="zh-CN" altLang="en-US" sz="2000" dirty="0">
                <a:solidFill>
                  <a:srgbClr val="000000"/>
                </a:solidFill>
              </a:rPr>
              <a:t>基于</a:t>
            </a:r>
            <a:r>
              <a:rPr lang="zh-CN" altLang="en-US" sz="2000" b="1" dirty="0">
                <a:solidFill>
                  <a:srgbClr val="0070C0"/>
                </a:solidFill>
              </a:rPr>
              <a:t>网格</a:t>
            </a:r>
            <a:r>
              <a:rPr lang="zh-CN" altLang="en-US" sz="2000" dirty="0">
                <a:solidFill>
                  <a:srgbClr val="000000"/>
                </a:solidFill>
              </a:rPr>
              <a:t>的聚类（把整个数据空间切成一个个小方格，只关心哪些格子是密集的）</a:t>
            </a:r>
            <a:endParaRPr lang="zh-CN" altLang="en-US" sz="2000" dirty="0">
              <a:solidFill>
                <a:srgbClr val="000000"/>
              </a:solidFill>
            </a:endParaRPr>
          </a:p>
          <a:p>
            <a:pPr lvl="1"/>
            <a:r>
              <a:rPr lang="zh-CN" altLang="en-US" sz="2000" dirty="0">
                <a:solidFill>
                  <a:srgbClr val="000000"/>
                </a:solidFill>
              </a:rPr>
              <a:t>基于</a:t>
            </a:r>
            <a:r>
              <a:rPr lang="zh-CN" altLang="en-US" sz="2000" b="1" dirty="0">
                <a:solidFill>
                  <a:srgbClr val="0070C0"/>
                </a:solidFill>
              </a:rPr>
              <a:t>模型</a:t>
            </a:r>
            <a:r>
              <a:rPr lang="zh-CN" altLang="en-US" sz="2000" dirty="0">
                <a:solidFill>
                  <a:srgbClr val="000000"/>
                </a:solidFill>
              </a:rPr>
              <a:t>的聚类（点是由不同数学模型生成的，识别数据来自于哪个模型）</a:t>
            </a:r>
            <a:endParaRPr lang="zh-CN" altLang="en-US" sz="2000" dirty="0">
              <a:solidFill>
                <a:srgbClr val="000000"/>
              </a:solidFill>
            </a:endParaRPr>
          </a:p>
          <a:p>
            <a:pPr lvl="0" algn="l">
              <a:buClrTx/>
              <a:buSzTx/>
              <a:buChar char="•"/>
            </a:pPr>
            <a:r>
              <a:rPr lang="zh-CN" altLang="en-US" sz="2000" dirty="0">
                <a:solidFill>
                  <a:srgbClr val="000000"/>
                </a:solidFill>
              </a:rPr>
              <a:t>良好聚类算法的特征：</a:t>
            </a:r>
            <a:endParaRPr lang="zh-CN" altLang="en-US" sz="2000" dirty="0">
              <a:solidFill>
                <a:srgbClr val="000000"/>
              </a:solidFill>
            </a:endParaRPr>
          </a:p>
          <a:p>
            <a:pPr lvl="1"/>
            <a:r>
              <a:rPr lang="zh-CN" altLang="en-US" sz="2000" dirty="0">
                <a:solidFill>
                  <a:srgbClr val="000000"/>
                </a:solidFill>
              </a:rPr>
              <a:t>良好的可伸缩性、处理不同类型数据的能力</a:t>
            </a:r>
            <a:endParaRPr lang="en-US" altLang="zh-CN" sz="2000" dirty="0">
              <a:solidFill>
                <a:srgbClr val="000000"/>
              </a:solidFill>
            </a:endParaRPr>
          </a:p>
          <a:p>
            <a:pPr lvl="1"/>
            <a:r>
              <a:rPr lang="zh-CN" altLang="en-US" sz="2000" dirty="0">
                <a:solidFill>
                  <a:srgbClr val="000000"/>
                </a:solidFill>
              </a:rPr>
              <a:t>处理噪声数据的能力、对样本顺序的不敏感性</a:t>
            </a:r>
            <a:endParaRPr lang="en-US" altLang="zh-CN" sz="2000" dirty="0">
              <a:solidFill>
                <a:srgbClr val="000000"/>
              </a:solidFill>
            </a:endParaRPr>
          </a:p>
          <a:p>
            <a:pPr lvl="1"/>
            <a:r>
              <a:rPr lang="zh-CN" altLang="en-US" sz="2000" dirty="0">
                <a:solidFill>
                  <a:srgbClr val="000000"/>
                </a:solidFill>
              </a:rPr>
              <a:t>约束条件下的表现、易解释性和易用性</a:t>
            </a:r>
            <a:endParaRPr lang="en-US" altLang="zh-CN" sz="20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聚类分析的度量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925504"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聚类分析的度量指标用于对聚类结果进行评判，分为内部指标和外部指标两大类</a:t>
            </a:r>
            <a:endParaRPr lang="en-US" altLang="zh-CN" sz="2000" dirty="0">
              <a:solidFill>
                <a:srgbClr val="000000"/>
              </a:solidFill>
            </a:endParaRPr>
          </a:p>
          <a:p>
            <a:pPr lvl="1"/>
            <a:r>
              <a:rPr lang="zh-CN" altLang="en-US" sz="2000" b="1" dirty="0">
                <a:solidFill>
                  <a:srgbClr val="FF0000"/>
                </a:solidFill>
              </a:rPr>
              <a:t>外部指标</a:t>
            </a:r>
            <a:r>
              <a:rPr lang="zh-CN" altLang="en-US" sz="2000" dirty="0">
                <a:solidFill>
                  <a:srgbClr val="000000"/>
                </a:solidFill>
              </a:rPr>
              <a:t>指用事先指定的</a:t>
            </a:r>
            <a:r>
              <a:rPr lang="zh-CN" altLang="en-US" sz="2000" b="1" dirty="0">
                <a:solidFill>
                  <a:srgbClr val="0070C0"/>
                </a:solidFill>
              </a:rPr>
              <a:t>聚类模型</a:t>
            </a:r>
            <a:r>
              <a:rPr lang="zh-CN" altLang="en-US" sz="2000" dirty="0">
                <a:solidFill>
                  <a:srgbClr val="000000"/>
                </a:solidFill>
              </a:rPr>
              <a:t>作为参考来评判聚类结果的好坏</a:t>
            </a:r>
            <a:r>
              <a:rPr lang="zh-CN" altLang="en-US" sz="2000" b="1" dirty="0">
                <a:solidFill>
                  <a:srgbClr val="7030A0"/>
                </a:solidFill>
              </a:rPr>
              <a:t>（需要有一个 真实的类别标签作为参考）</a:t>
            </a:r>
            <a:endParaRPr lang="en-US" altLang="zh-CN" sz="2000" b="1" dirty="0">
              <a:solidFill>
                <a:srgbClr val="7030A0"/>
              </a:solidFill>
            </a:endParaRPr>
          </a:p>
          <a:p>
            <a:pPr lvl="1"/>
            <a:r>
              <a:rPr lang="zh-CN" altLang="en-US" sz="2000" b="1" dirty="0">
                <a:solidFill>
                  <a:srgbClr val="FF0000"/>
                </a:solidFill>
              </a:rPr>
              <a:t>内部指标</a:t>
            </a:r>
            <a:r>
              <a:rPr lang="zh-CN" altLang="en-US" sz="2000" dirty="0">
                <a:solidFill>
                  <a:srgbClr val="000000"/>
                </a:solidFill>
              </a:rPr>
              <a:t>是指不借助任何外部参考，只用</a:t>
            </a:r>
            <a:r>
              <a:rPr lang="zh-CN" altLang="en-US" sz="2000" b="1" dirty="0">
                <a:solidFill>
                  <a:srgbClr val="0070C0"/>
                </a:solidFill>
              </a:rPr>
              <a:t>参与聚类的样本</a:t>
            </a:r>
            <a:r>
              <a:rPr lang="zh-CN" altLang="en-US" sz="2000" dirty="0">
                <a:solidFill>
                  <a:srgbClr val="000000"/>
                </a:solidFill>
              </a:rPr>
              <a:t>评判聚类结果好坏</a:t>
            </a:r>
            <a:endParaRPr lang="en-US" altLang="zh-CN" sz="2000" dirty="0">
              <a:solidFill>
                <a:srgbClr val="000000"/>
              </a:solidFill>
            </a:endParaRPr>
          </a:p>
          <a:p>
            <a:r>
              <a:rPr lang="zh-CN" altLang="en-US" sz="2000" dirty="0">
                <a:solidFill>
                  <a:srgbClr val="000000"/>
                </a:solidFill>
              </a:rPr>
              <a:t>聚类的目标是得到</a:t>
            </a:r>
            <a:r>
              <a:rPr lang="zh-CN" altLang="en-US" sz="2000" b="1" dirty="0">
                <a:solidFill>
                  <a:srgbClr val="FF0000"/>
                </a:solidFill>
              </a:rPr>
              <a:t>较高的簇内相似度</a:t>
            </a:r>
            <a:r>
              <a:rPr lang="zh-CN" altLang="en-US" sz="2000" dirty="0">
                <a:solidFill>
                  <a:srgbClr val="000000"/>
                </a:solidFill>
              </a:rPr>
              <a:t>和</a:t>
            </a:r>
            <a:r>
              <a:rPr lang="zh-CN" altLang="en-US" sz="2000" b="1" dirty="0">
                <a:solidFill>
                  <a:srgbClr val="FF0000"/>
                </a:solidFill>
              </a:rPr>
              <a:t>较低的簇间相似度</a:t>
            </a:r>
            <a:r>
              <a:rPr lang="zh-CN" altLang="en-US" sz="2000" dirty="0">
                <a:solidFill>
                  <a:srgbClr val="000000"/>
                </a:solidFill>
              </a:rPr>
              <a:t>，使得簇间的距离尽可能大，簇内样本与簇中心的距离尽可能小</a:t>
            </a:r>
            <a:endParaRPr lang="en-US" altLang="zh-CN" sz="2000" dirty="0">
              <a:solidFill>
                <a:srgbClr val="000000"/>
              </a:solidFill>
            </a:endParaRPr>
          </a:p>
          <a:p>
            <a:r>
              <a:rPr lang="zh-CN" altLang="en-US" sz="2000" dirty="0">
                <a:solidFill>
                  <a:srgbClr val="000000"/>
                </a:solidFill>
              </a:rPr>
              <a:t>聚类得到的簇可以用</a:t>
            </a:r>
            <a:r>
              <a:rPr lang="zh-CN" altLang="en-US" sz="2000" b="1" dirty="0">
                <a:solidFill>
                  <a:srgbClr val="FF0000"/>
                </a:solidFill>
              </a:rPr>
              <a:t>聚类中心</a:t>
            </a:r>
            <a:r>
              <a:rPr lang="zh-CN" altLang="en-US" sz="2000" dirty="0">
                <a:solidFill>
                  <a:srgbClr val="000000"/>
                </a:solidFill>
              </a:rPr>
              <a:t>、</a:t>
            </a:r>
            <a:r>
              <a:rPr lang="zh-CN" altLang="en-US" sz="2000" b="1" dirty="0">
                <a:solidFill>
                  <a:srgbClr val="FF0000"/>
                </a:solidFill>
              </a:rPr>
              <a:t>簇大小</a:t>
            </a:r>
            <a:r>
              <a:rPr lang="zh-CN" altLang="en-US" sz="2000" dirty="0">
                <a:solidFill>
                  <a:srgbClr val="000000"/>
                </a:solidFill>
              </a:rPr>
              <a:t>、</a:t>
            </a:r>
            <a:r>
              <a:rPr lang="zh-CN" altLang="en-US" sz="2000" b="1" dirty="0">
                <a:solidFill>
                  <a:srgbClr val="FF0000"/>
                </a:solidFill>
              </a:rPr>
              <a:t>簇密度</a:t>
            </a:r>
            <a:r>
              <a:rPr lang="zh-CN" altLang="en-US" sz="2000" dirty="0">
                <a:solidFill>
                  <a:srgbClr val="000000"/>
                </a:solidFill>
              </a:rPr>
              <a:t>和</a:t>
            </a:r>
            <a:r>
              <a:rPr lang="zh-CN" altLang="en-US" sz="2000" b="1" dirty="0">
                <a:solidFill>
                  <a:srgbClr val="FF0000"/>
                </a:solidFill>
              </a:rPr>
              <a:t>簇描述</a:t>
            </a:r>
            <a:r>
              <a:rPr lang="zh-CN" altLang="en-US" sz="2000" dirty="0">
                <a:solidFill>
                  <a:srgbClr val="000000"/>
                </a:solidFill>
              </a:rPr>
              <a:t>等来表示</a:t>
            </a:r>
            <a:endParaRPr lang="en-US" altLang="zh-CN" sz="2000" dirty="0">
              <a:solidFill>
                <a:srgbClr val="000000"/>
              </a:solidFill>
            </a:endParaRPr>
          </a:p>
          <a:p>
            <a:pPr lvl="1"/>
            <a:r>
              <a:rPr lang="zh-CN" altLang="en-US" sz="2000" dirty="0">
                <a:solidFill>
                  <a:srgbClr val="000000"/>
                </a:solidFill>
              </a:rPr>
              <a:t>聚类中心是一个簇中所有样本点的均值</a:t>
            </a:r>
            <a:r>
              <a:rPr lang="en-US" altLang="zh-CN" sz="2000" dirty="0">
                <a:solidFill>
                  <a:srgbClr val="000000"/>
                </a:solidFill>
              </a:rPr>
              <a:t>(</a:t>
            </a:r>
            <a:r>
              <a:rPr lang="zh-CN" altLang="en-US" sz="2000" dirty="0">
                <a:solidFill>
                  <a:srgbClr val="000000"/>
                </a:solidFill>
              </a:rPr>
              <a:t>质心</a:t>
            </a:r>
            <a:r>
              <a:rPr lang="en-US" altLang="zh-CN" sz="2000" dirty="0">
                <a:solidFill>
                  <a:srgbClr val="000000"/>
                </a:solidFill>
              </a:rPr>
              <a:t>)</a:t>
            </a:r>
            <a:endParaRPr lang="en-US" altLang="zh-CN" sz="2000" dirty="0">
              <a:solidFill>
                <a:srgbClr val="000000"/>
              </a:solidFill>
            </a:endParaRPr>
          </a:p>
          <a:p>
            <a:pPr lvl="1"/>
            <a:r>
              <a:rPr lang="zh-CN" altLang="en-US" sz="2000" dirty="0">
                <a:solidFill>
                  <a:srgbClr val="000000"/>
                </a:solidFill>
              </a:rPr>
              <a:t>簇大小表示簇中所含样本的数量</a:t>
            </a:r>
            <a:endParaRPr lang="en-US" altLang="zh-CN" sz="2000" dirty="0">
              <a:solidFill>
                <a:srgbClr val="000000"/>
              </a:solidFill>
            </a:endParaRPr>
          </a:p>
          <a:p>
            <a:pPr lvl="1"/>
            <a:r>
              <a:rPr lang="zh-CN" altLang="en-US" sz="2000" dirty="0">
                <a:solidFill>
                  <a:srgbClr val="000000"/>
                </a:solidFill>
              </a:rPr>
              <a:t>簇密度表示簇中样本点的紧密程度</a:t>
            </a:r>
            <a:endParaRPr lang="en-US" altLang="zh-CN" sz="2000" dirty="0">
              <a:solidFill>
                <a:srgbClr val="000000"/>
              </a:solidFill>
            </a:endParaRPr>
          </a:p>
          <a:p>
            <a:pPr lvl="1"/>
            <a:r>
              <a:rPr lang="zh-CN" altLang="en-US" sz="2000" dirty="0">
                <a:solidFill>
                  <a:srgbClr val="000000"/>
                </a:solidFill>
              </a:rPr>
              <a:t>簇描述是簇中样本的业务特征</a:t>
            </a:r>
            <a:endParaRPr lang="en-US" altLang="zh-CN" sz="20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聚类分析的度量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8" name="矩形 3"/>
              <p:cNvSpPr>
                <a:spLocks noChangeArrowheads="1"/>
              </p:cNvSpPr>
              <p:nvPr/>
            </p:nvSpPr>
            <p:spPr bwMode="auto">
              <a:xfrm>
                <a:off x="248920" y="1340485"/>
                <a:ext cx="8742680" cy="4758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atinLnBrk="0">
                  <a:spcBef>
                    <a:spcPts val="600"/>
                  </a:spcBef>
                  <a:spcAft>
                    <a:spcPts val="600"/>
                  </a:spcAft>
                </a:pPr>
                <a:r>
                  <a:rPr lang="zh-CN" altLang="zh-CN" sz="1800" dirty="0">
                    <a:solidFill>
                      <a:srgbClr val="000000"/>
                    </a:solidFill>
                  </a:rPr>
                  <a:t>对于含有</a:t>
                </a:r>
                <a14:m>
                  <m:oMath xmlns:m="http://schemas.openxmlformats.org/officeDocument/2006/math">
                    <m:r>
                      <a:rPr lang="en-US" altLang="zh-CN" sz="1800">
                        <a:solidFill>
                          <a:srgbClr val="000000"/>
                        </a:solidFill>
                        <a:latin typeface="Cambria Math" panose="02040503050406030204" pitchFamily="18" charset="0"/>
                      </a:rPr>
                      <m:t>𝑛</m:t>
                    </m:r>
                  </m:oMath>
                </a14:m>
                <a:r>
                  <a:rPr lang="zh-CN" altLang="zh-CN" sz="1800" dirty="0">
                    <a:solidFill>
                      <a:srgbClr val="000000"/>
                    </a:solidFill>
                  </a:rPr>
                  <a:t>个样本点的数据集</a:t>
                </a:r>
                <a14:m>
                  <m:oMath xmlns:m="http://schemas.openxmlformats.org/officeDocument/2006/math">
                    <m:r>
                      <a:rPr lang="en-US" altLang="zh-CN" sz="1800">
                        <a:solidFill>
                          <a:srgbClr val="000000"/>
                        </a:solidFill>
                        <a:latin typeface="Cambria Math" panose="02040503050406030204" pitchFamily="18" charset="0"/>
                      </a:rPr>
                      <m:t>𝑆</m:t>
                    </m:r>
                  </m:oMath>
                </a14:m>
                <a:r>
                  <a:rPr lang="zh-CN" altLang="zh-CN" sz="1800" dirty="0">
                    <a:solidFill>
                      <a:srgbClr val="000000"/>
                    </a:solidFill>
                  </a:rPr>
                  <a:t>，其中的两个不同样本点</a:t>
                </a:r>
                <a14:m>
                  <m:oMath xmlns:m="http://schemas.openxmlformats.org/officeDocument/2006/math">
                    <m:d>
                      <m:dPr>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e>
                    </m:d>
                  </m:oMath>
                </a14:m>
                <a:r>
                  <a:rPr lang="zh-CN" altLang="en-US" sz="1800" dirty="0">
                    <a:solidFill>
                      <a:srgbClr val="000000"/>
                    </a:solidFill>
                  </a:rPr>
                  <a:t>，</a:t>
                </a:r>
                <a:r>
                  <a:rPr lang="zh-CN" altLang="zh-CN" sz="1800" dirty="0">
                    <a:solidFill>
                      <a:srgbClr val="000000"/>
                    </a:solidFill>
                  </a:rPr>
                  <a:t>假设</a:t>
                </a:r>
                <a14:m>
                  <m:oMath xmlns:m="http://schemas.openxmlformats.org/officeDocument/2006/math">
                    <m:r>
                      <a:rPr lang="en-US" altLang="zh-CN" sz="1800">
                        <a:solidFill>
                          <a:srgbClr val="000000"/>
                        </a:solidFill>
                        <a:latin typeface="Cambria Math" panose="02040503050406030204" pitchFamily="18" charset="0"/>
                      </a:rPr>
                      <m:t>𝐶</m:t>
                    </m:r>
                  </m:oMath>
                </a14:m>
                <a:r>
                  <a:rPr lang="zh-CN" altLang="zh-CN" sz="1800" dirty="0">
                    <a:solidFill>
                      <a:srgbClr val="000000"/>
                    </a:solidFill>
                  </a:rPr>
                  <a:t>是聚类算法给出的簇划分结果，</a:t>
                </a:r>
                <a14:m>
                  <m:oMath xmlns:m="http://schemas.openxmlformats.org/officeDocument/2006/math">
                    <m:r>
                      <a:rPr lang="en-US" altLang="zh-CN" sz="1800">
                        <a:solidFill>
                          <a:srgbClr val="000000"/>
                        </a:solidFill>
                        <a:latin typeface="Cambria Math" panose="02040503050406030204" pitchFamily="18" charset="0"/>
                      </a:rPr>
                      <m:t>𝑃</m:t>
                    </m:r>
                  </m:oMath>
                </a14:m>
                <a:r>
                  <a:rPr lang="zh-CN" altLang="zh-CN" sz="1800" dirty="0">
                    <a:solidFill>
                      <a:srgbClr val="000000"/>
                    </a:solidFill>
                  </a:rPr>
                  <a:t>是外部参考模型给出的簇划分结果。那么对于样本点</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来说，存在以下四种关系：</a:t>
                </a:r>
                <a:endParaRPr lang="zh-CN" altLang="zh-CN" sz="1800" dirty="0">
                  <a:solidFill>
                    <a:srgbClr val="000000"/>
                  </a:solidFill>
                </a:endParaRPr>
              </a:p>
              <a:p>
                <a:pPr lvl="1" latinLnBrk="0">
                  <a:spcBef>
                    <a:spcPts val="600"/>
                  </a:spcBef>
                  <a:spcAft>
                    <a:spcPts val="600"/>
                  </a:spcAft>
                </a:pPr>
                <a14:m>
                  <m:oMath xmlns:m="http://schemas.openxmlformats.org/officeDocument/2006/math">
                    <m:r>
                      <a:rPr lang="en-US" altLang="zh-CN" sz="1800">
                        <a:solidFill>
                          <a:srgbClr val="000000"/>
                        </a:solidFill>
                        <a:latin typeface="Cambria Math" panose="02040503050406030204" pitchFamily="18" charset="0"/>
                      </a:rPr>
                      <m:t>𝑆𝑆</m:t>
                    </m:r>
                  </m:oMath>
                </a14:m>
                <a:r>
                  <a:rPr lang="zh-CN" altLang="zh-CN" sz="1800" dirty="0">
                    <a:solidFill>
                      <a:srgbClr val="000000"/>
                    </a:solidFill>
                  </a:rPr>
                  <a:t>：</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在</a:t>
                </a:r>
                <a14:m>
                  <m:oMath xmlns:m="http://schemas.openxmlformats.org/officeDocument/2006/math">
                    <m:r>
                      <a:rPr lang="en-US" altLang="zh-CN" sz="1800">
                        <a:solidFill>
                          <a:srgbClr val="000000"/>
                        </a:solidFill>
                        <a:latin typeface="Cambria Math" panose="02040503050406030204" pitchFamily="18" charset="0"/>
                      </a:rPr>
                      <m:t>𝐶</m:t>
                    </m:r>
                  </m:oMath>
                </a14:m>
                <a:r>
                  <a:rPr lang="zh-CN" altLang="zh-CN" sz="1800" dirty="0">
                    <a:solidFill>
                      <a:srgbClr val="000000"/>
                    </a:solidFill>
                  </a:rPr>
                  <a:t>和</a:t>
                </a:r>
                <a14:m>
                  <m:oMath xmlns:m="http://schemas.openxmlformats.org/officeDocument/2006/math">
                    <m:r>
                      <a:rPr lang="en-US" altLang="zh-CN" sz="1800">
                        <a:solidFill>
                          <a:srgbClr val="000000"/>
                        </a:solidFill>
                        <a:latin typeface="Cambria Math" panose="02040503050406030204" pitchFamily="18" charset="0"/>
                      </a:rPr>
                      <m:t>𝑃</m:t>
                    </m:r>
                  </m:oMath>
                </a14:m>
                <a:r>
                  <a:rPr lang="zh-CN" altLang="zh-CN" sz="1800" dirty="0">
                    <a:solidFill>
                      <a:srgbClr val="000000"/>
                    </a:solidFill>
                  </a:rPr>
                  <a:t>中属于相同的簇。</a:t>
                </a:r>
                <a:r>
                  <a:rPr lang="zh-CN" altLang="en-US" sz="1800" b="1" dirty="0">
                    <a:solidFill>
                      <a:srgbClr val="C00000"/>
                    </a:solidFill>
                  </a:rPr>
                  <a:t>（两边判断一致：好）</a:t>
                </a:r>
                <a:endParaRPr lang="zh-CN" altLang="en-US" sz="1800" b="1" dirty="0">
                  <a:solidFill>
                    <a:srgbClr val="C00000"/>
                  </a:solidFill>
                </a:endParaRPr>
              </a:p>
              <a:p>
                <a:pPr lvl="1" latinLnBrk="0">
                  <a:spcBef>
                    <a:spcPts val="600"/>
                  </a:spcBef>
                  <a:spcAft>
                    <a:spcPts val="600"/>
                  </a:spcAft>
                </a:pPr>
                <a14:m>
                  <m:oMath xmlns:m="http://schemas.openxmlformats.org/officeDocument/2006/math">
                    <m:r>
                      <a:rPr lang="en-US" altLang="zh-CN" sz="1800">
                        <a:solidFill>
                          <a:srgbClr val="000000"/>
                        </a:solidFill>
                        <a:latin typeface="Cambria Math" panose="02040503050406030204" pitchFamily="18" charset="0"/>
                      </a:rPr>
                      <m:t>𝑆𝐷</m:t>
                    </m:r>
                  </m:oMath>
                </a14:m>
                <a:r>
                  <a:rPr lang="zh-CN" altLang="zh-CN" sz="1800" dirty="0">
                    <a:solidFill>
                      <a:srgbClr val="000000"/>
                    </a:solidFill>
                  </a:rPr>
                  <a:t>：</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在</a:t>
                </a:r>
                <a14:m>
                  <m:oMath xmlns:m="http://schemas.openxmlformats.org/officeDocument/2006/math">
                    <m:r>
                      <a:rPr lang="en-US" altLang="zh-CN" sz="1800">
                        <a:solidFill>
                          <a:srgbClr val="000000"/>
                        </a:solidFill>
                        <a:latin typeface="Cambria Math" panose="02040503050406030204" pitchFamily="18" charset="0"/>
                      </a:rPr>
                      <m:t>𝐶</m:t>
                    </m:r>
                  </m:oMath>
                </a14:m>
                <a:r>
                  <a:rPr lang="zh-CN" altLang="zh-CN" sz="1800" dirty="0">
                    <a:solidFill>
                      <a:srgbClr val="000000"/>
                    </a:solidFill>
                  </a:rPr>
                  <a:t>中属于相同的簇，在</a:t>
                </a:r>
                <a14:m>
                  <m:oMath xmlns:m="http://schemas.openxmlformats.org/officeDocument/2006/math">
                    <m:r>
                      <a:rPr lang="en-US" altLang="zh-CN" sz="1800">
                        <a:solidFill>
                          <a:srgbClr val="000000"/>
                        </a:solidFill>
                        <a:latin typeface="Cambria Math" panose="02040503050406030204" pitchFamily="18" charset="0"/>
                      </a:rPr>
                      <m:t>𝑃</m:t>
                    </m:r>
                  </m:oMath>
                </a14:m>
                <a:r>
                  <a:rPr lang="zh-CN" altLang="zh-CN" sz="1800" dirty="0">
                    <a:solidFill>
                      <a:srgbClr val="000000"/>
                    </a:solidFill>
                  </a:rPr>
                  <a:t>中属于不同的簇。</a:t>
                </a:r>
                <a:r>
                  <a:rPr lang="zh-CN" altLang="en-US" sz="1800" b="1" dirty="0">
                    <a:solidFill>
                      <a:srgbClr val="C00000"/>
                    </a:solidFill>
                  </a:rPr>
                  <a:t>（模型“合并错了”）</a:t>
                </a:r>
                <a:endParaRPr lang="zh-CN" altLang="zh-CN" sz="1800" dirty="0">
                  <a:solidFill>
                    <a:srgbClr val="000000"/>
                  </a:solidFill>
                </a:endParaRPr>
              </a:p>
              <a:p>
                <a:pPr lvl="1" latinLnBrk="0">
                  <a:spcBef>
                    <a:spcPts val="600"/>
                  </a:spcBef>
                  <a:spcAft>
                    <a:spcPts val="600"/>
                  </a:spcAft>
                </a:pPr>
                <a14:m>
                  <m:oMath xmlns:m="http://schemas.openxmlformats.org/officeDocument/2006/math">
                    <m:r>
                      <a:rPr lang="en-US" altLang="zh-CN" sz="1800">
                        <a:solidFill>
                          <a:srgbClr val="000000"/>
                        </a:solidFill>
                        <a:latin typeface="Cambria Math" panose="02040503050406030204" pitchFamily="18" charset="0"/>
                      </a:rPr>
                      <m:t>𝐷𝑆</m:t>
                    </m:r>
                  </m:oMath>
                </a14:m>
                <a:r>
                  <a:rPr lang="zh-CN" altLang="zh-CN" sz="1800" dirty="0">
                    <a:solidFill>
                      <a:srgbClr val="000000"/>
                    </a:solidFill>
                  </a:rPr>
                  <a:t>：</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在</a:t>
                </a:r>
                <a14:m>
                  <m:oMath xmlns:m="http://schemas.openxmlformats.org/officeDocument/2006/math">
                    <m:r>
                      <a:rPr lang="en-US" altLang="zh-CN" sz="1800">
                        <a:solidFill>
                          <a:srgbClr val="000000"/>
                        </a:solidFill>
                        <a:latin typeface="Cambria Math" panose="02040503050406030204" pitchFamily="18" charset="0"/>
                      </a:rPr>
                      <m:t>𝐶</m:t>
                    </m:r>
                  </m:oMath>
                </a14:m>
                <a:r>
                  <a:rPr lang="zh-CN" altLang="zh-CN" sz="1800" dirty="0">
                    <a:solidFill>
                      <a:srgbClr val="000000"/>
                    </a:solidFill>
                  </a:rPr>
                  <a:t>中属于不同的簇，在</a:t>
                </a:r>
                <a14:m>
                  <m:oMath xmlns:m="http://schemas.openxmlformats.org/officeDocument/2006/math">
                    <m:r>
                      <a:rPr lang="en-US" altLang="zh-CN" sz="1800">
                        <a:solidFill>
                          <a:srgbClr val="000000"/>
                        </a:solidFill>
                        <a:latin typeface="Cambria Math" panose="02040503050406030204" pitchFamily="18" charset="0"/>
                      </a:rPr>
                      <m:t>𝑃</m:t>
                    </m:r>
                  </m:oMath>
                </a14:m>
                <a:r>
                  <a:rPr lang="zh-CN" altLang="zh-CN" sz="1800" dirty="0">
                    <a:solidFill>
                      <a:srgbClr val="000000"/>
                    </a:solidFill>
                  </a:rPr>
                  <a:t>中属于相同的簇。</a:t>
                </a:r>
                <a:r>
                  <a:rPr lang="zh-CN" altLang="en-US" sz="1800" b="1" dirty="0">
                    <a:solidFill>
                      <a:srgbClr val="C00000"/>
                    </a:solidFill>
                  </a:rPr>
                  <a:t>（模型“分开错了”）</a:t>
                </a:r>
                <a:endParaRPr lang="zh-CN" altLang="en-US" sz="1800" dirty="0">
                  <a:solidFill>
                    <a:srgbClr val="000000"/>
                  </a:solidFill>
                </a:endParaRPr>
              </a:p>
              <a:p>
                <a:pPr lvl="1" latinLnBrk="0">
                  <a:spcBef>
                    <a:spcPts val="600"/>
                  </a:spcBef>
                  <a:spcAft>
                    <a:spcPts val="600"/>
                  </a:spcAft>
                </a:pPr>
                <a14:m>
                  <m:oMath xmlns:m="http://schemas.openxmlformats.org/officeDocument/2006/math">
                    <m:r>
                      <a:rPr lang="en-US" altLang="zh-CN" sz="1800">
                        <a:solidFill>
                          <a:srgbClr val="000000"/>
                        </a:solidFill>
                        <a:latin typeface="Cambria Math" panose="02040503050406030204" pitchFamily="18" charset="0"/>
                      </a:rPr>
                      <m:t>𝐷𝐷</m:t>
                    </m:r>
                  </m:oMath>
                </a14:m>
                <a:r>
                  <a:rPr lang="zh-CN" altLang="zh-CN" sz="1800" dirty="0">
                    <a:solidFill>
                      <a:srgbClr val="000000"/>
                    </a:solidFill>
                  </a:rPr>
                  <a:t>：</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在</a:t>
                </a:r>
                <a14:m>
                  <m:oMath xmlns:m="http://schemas.openxmlformats.org/officeDocument/2006/math">
                    <m:r>
                      <a:rPr lang="en-US" altLang="zh-CN" sz="1800">
                        <a:solidFill>
                          <a:srgbClr val="000000"/>
                        </a:solidFill>
                        <a:latin typeface="Cambria Math" panose="02040503050406030204" pitchFamily="18" charset="0"/>
                      </a:rPr>
                      <m:t>𝐶</m:t>
                    </m:r>
                  </m:oMath>
                </a14:m>
                <a:r>
                  <a:rPr lang="zh-CN" altLang="zh-CN" sz="1800" dirty="0">
                    <a:solidFill>
                      <a:srgbClr val="000000"/>
                    </a:solidFill>
                  </a:rPr>
                  <a:t>和</a:t>
                </a:r>
                <a14:m>
                  <m:oMath xmlns:m="http://schemas.openxmlformats.org/officeDocument/2006/math">
                    <m:r>
                      <a:rPr lang="en-US" altLang="zh-CN" sz="1800">
                        <a:solidFill>
                          <a:srgbClr val="000000"/>
                        </a:solidFill>
                        <a:latin typeface="Cambria Math" panose="02040503050406030204" pitchFamily="18" charset="0"/>
                      </a:rPr>
                      <m:t>𝑃</m:t>
                    </m:r>
                  </m:oMath>
                </a14:m>
                <a:r>
                  <a:rPr lang="zh-CN" altLang="zh-CN" sz="1800" dirty="0">
                    <a:solidFill>
                      <a:srgbClr val="000000"/>
                    </a:solidFill>
                  </a:rPr>
                  <a:t>中属于不同的簇。</a:t>
                </a:r>
                <a:r>
                  <a:rPr lang="zh-CN" altLang="en-US" sz="1800" b="1" dirty="0">
                    <a:solidFill>
                      <a:srgbClr val="C00000"/>
                    </a:solidFill>
                    <a:sym typeface="+mn-ea"/>
                  </a:rPr>
                  <a:t>（两边判断一致：好）</a:t>
                </a:r>
                <a:endParaRPr lang="zh-CN" altLang="en-US" sz="1800" b="1" dirty="0">
                  <a:solidFill>
                    <a:srgbClr val="C00000"/>
                  </a:solidFill>
                </a:endParaRPr>
              </a:p>
              <a:p>
                <a:pPr lvl="1" latinLnBrk="0">
                  <a:spcBef>
                    <a:spcPts val="600"/>
                  </a:spcBef>
                  <a:spcAft>
                    <a:spcPts val="600"/>
                  </a:spcAft>
                </a:pPr>
                <a:endParaRPr lang="zh-CN" altLang="zh-CN" sz="1800" dirty="0">
                  <a:solidFill>
                    <a:srgbClr val="000000"/>
                  </a:solidFill>
                </a:endParaRPr>
              </a:p>
              <a:p>
                <a:pPr latinLnBrk="0">
                  <a:spcBef>
                    <a:spcPts val="600"/>
                  </a:spcBef>
                  <a:spcAft>
                    <a:spcPts val="600"/>
                  </a:spcAft>
                </a:pPr>
                <a:r>
                  <a:rPr lang="zh-CN" altLang="zh-CN" sz="1800" dirty="0">
                    <a:solidFill>
                      <a:srgbClr val="000000"/>
                    </a:solidFill>
                  </a:rPr>
                  <a:t>令</a:t>
                </a:r>
                <a14:m>
                  <m:oMath xmlns:m="http://schemas.openxmlformats.org/officeDocument/2006/math">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𝑏</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𝑐</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𝑑</m:t>
                    </m:r>
                  </m:oMath>
                </a14:m>
                <a:r>
                  <a:rPr lang="zh-CN" altLang="zh-CN" sz="1800" dirty="0">
                    <a:solidFill>
                      <a:srgbClr val="000000"/>
                    </a:solidFill>
                  </a:rPr>
                  <a:t>分别表示</a:t>
                </a:r>
                <a14:m>
                  <m:oMath xmlns:m="http://schemas.openxmlformats.org/officeDocument/2006/math">
                    <m:r>
                      <a:rPr lang="en-US" altLang="zh-CN" sz="1800">
                        <a:solidFill>
                          <a:srgbClr val="000000"/>
                        </a:solidFill>
                        <a:latin typeface="Cambria Math" panose="02040503050406030204" pitchFamily="18" charset="0"/>
                      </a:rPr>
                      <m:t>𝑆𝑆</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𝑆𝐷</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𝐷𝑆</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𝐷𝐷</m:t>
                    </m:r>
                  </m:oMath>
                </a14:m>
                <a:r>
                  <a:rPr lang="zh-CN" altLang="zh-CN" sz="1800" dirty="0">
                    <a:solidFill>
                      <a:srgbClr val="000000"/>
                    </a:solidFill>
                  </a:rPr>
                  <a:t>所对应的关系数目，由于</a:t>
                </a:r>
                <a14:m>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m:t>
                        </m:r>
                      </m:sub>
                    </m:sSub>
                  </m:oMath>
                </a14:m>
                <a:r>
                  <a:rPr lang="zh-CN" altLang="zh-CN" sz="1800" dirty="0">
                    <a:solidFill>
                      <a:srgbClr val="000000"/>
                    </a:solidFill>
                  </a:rPr>
                  <a:t>之间的关系必定存在于四种关系中的一种，且仅能存在一种关系</a:t>
                </a:r>
                <a:endParaRPr lang="en-US" altLang="zh-CN" sz="1800" dirty="0">
                  <a:solidFill>
                    <a:srgbClr val="000000"/>
                  </a:solidFill>
                </a:endParaRPr>
              </a:p>
              <a:p>
                <a:pPr marL="457200" lvl="1" indent="0">
                  <a:buNone/>
                </a:pPr>
                <a:endParaRPr lang="zh-CN" altLang="zh-CN" sz="1800" dirty="0">
                  <a:solidFill>
                    <a:srgbClr val="000000"/>
                  </a:solidFill>
                </a:endParaRPr>
              </a:p>
              <a:p>
                <a:endParaRPr lang="zh-CN" altLang="zh-CN" sz="1800" dirty="0">
                  <a:solidFill>
                    <a:srgbClr val="000000"/>
                  </a:solidFill>
                </a:endParaRPr>
              </a:p>
            </p:txBody>
          </p:sp>
        </mc:Choice>
        <mc:Fallback>
          <p:sp>
            <p:nvSpPr>
              <p:cNvPr id="8" name="矩形 3"/>
              <p:cNvSpPr>
                <a:spLocks noRot="1" noChangeAspect="1" noMove="1" noResize="1" noEditPoints="1" noAdjustHandles="1" noChangeArrowheads="1" noChangeShapeType="1" noTextEdit="1"/>
              </p:cNvSpPr>
              <p:nvPr/>
            </p:nvSpPr>
            <p:spPr bwMode="auto">
              <a:xfrm>
                <a:off x="248920" y="1340485"/>
                <a:ext cx="8742680" cy="4758690"/>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外部指标</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3"/>
              <p:cNvSpPr>
                <a:spLocks noChangeArrowheads="1"/>
              </p:cNvSpPr>
              <p:nvPr/>
            </p:nvSpPr>
            <p:spPr bwMode="auto">
              <a:xfrm>
                <a:off x="201930" y="1124585"/>
                <a:ext cx="8739505"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vl="0"/>
                <a:r>
                  <a:rPr lang="en-US" altLang="zh-CN" sz="1800" dirty="0">
                    <a:solidFill>
                      <a:srgbClr val="000000"/>
                    </a:solidFill>
                  </a:rPr>
                  <a:t>Rand</a:t>
                </a:r>
                <a:r>
                  <a:rPr lang="zh-CN" altLang="zh-CN" sz="1800" dirty="0">
                    <a:solidFill>
                      <a:srgbClr val="000000"/>
                    </a:solidFill>
                  </a:rPr>
                  <a:t>统计量（</a:t>
                </a:r>
                <a:r>
                  <a:rPr lang="en-US" altLang="zh-CN" sz="1800" dirty="0">
                    <a:solidFill>
                      <a:srgbClr val="000000"/>
                    </a:solidFill>
                  </a:rPr>
                  <a:t>Rand Statistic</a:t>
                </a:r>
                <a:r>
                  <a:rPr lang="zh-CN" altLang="zh-CN" sz="1800" dirty="0">
                    <a:solidFill>
                      <a:srgbClr val="000000"/>
                    </a:solidFill>
                  </a:rPr>
                  <a:t>）：所有点对中，模型与真实结果一致的比例</a:t>
                </a:r>
                <a:r>
                  <a:rPr lang="en-US" altLang="zh-CN" sz="1800" dirty="0">
                    <a:solidFill>
                      <a:srgbClr val="000000"/>
                    </a:solidFill>
                  </a:rPr>
                  <a:t>  </a:t>
                </a:r>
                <a:endParaRPr lang="en-US" altLang="zh-CN" sz="2000" dirty="0">
                  <a:solidFill>
                    <a:srgbClr val="000000"/>
                  </a:solidFill>
                </a:endParaRPr>
              </a:p>
              <a:p>
                <a:pPr marL="0" lvl="0" indent="0">
                  <a:buNone/>
                </a:pPr>
                <a:r>
                  <a:rPr lang="en-US" altLang="zh-CN" sz="2000">
                    <a:solidFill>
                      <a:srgbClr val="000000"/>
                    </a:solidFill>
                    <a:latin typeface="Cambria Math" panose="02040503050406030204" pitchFamily="18" charset="0"/>
                  </a:rPr>
                  <a:t>                                                                   </a:t>
                </a:r>
                <a14:m>
                  <m:oMath xmlns:m="http://schemas.openxmlformats.org/officeDocument/2006/math">
                    <m:r>
                      <a:rPr lang="en-US" altLang="zh-CN" sz="2000">
                        <a:solidFill>
                          <a:srgbClr val="000000"/>
                        </a:solidFill>
                        <a:latin typeface="Cambria Math" panose="02040503050406030204" pitchFamily="18" charset="0"/>
                      </a:rPr>
                      <m:t>𝑅</m:t>
                    </m:r>
                    <m:r>
                      <a:rPr lang="en-US" altLang="zh-CN" sz="2000">
                        <a:solidFill>
                          <a:srgbClr val="000000"/>
                        </a:solidFill>
                        <a:latin typeface="Cambria Math" panose="02040503050406030204" pitchFamily="18" charset="0"/>
                      </a:rPr>
                      <m:t>=</m:t>
                    </m:r>
                    <m:f>
                      <m:fPr>
                        <m:ctrlPr>
                          <a:rPr lang="zh-CN" altLang="zh-CN" sz="2000" i="1">
                            <a:solidFill>
                              <a:srgbClr val="000000"/>
                            </a:solidFill>
                            <a:latin typeface="Cambria Math" panose="02040503050406030204" pitchFamily="18" charset="0"/>
                          </a:rPr>
                        </m:ctrlPr>
                      </m:fPr>
                      <m:num>
                        <m:r>
                          <a:rPr lang="en-US" altLang="zh-CN" sz="2000">
                            <a:solidFill>
                              <a:srgbClr val="000000"/>
                            </a:solidFill>
                            <a:latin typeface="Cambria Math" panose="02040503050406030204" pitchFamily="18" charset="0"/>
                          </a:rPr>
                          <m:t>𝑎</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𝑑</m:t>
                        </m:r>
                      </m:num>
                      <m:den>
                        <m:r>
                          <a:rPr lang="en-US" altLang="zh-CN" sz="2000">
                            <a:solidFill>
                              <a:srgbClr val="000000"/>
                            </a:solidFill>
                            <a:latin typeface="Cambria Math" panose="02040503050406030204" pitchFamily="18" charset="0"/>
                          </a:rPr>
                          <m:t>𝑎</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𝑏</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𝑐</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𝑑</m:t>
                        </m:r>
                      </m:den>
                    </m:f>
                  </m:oMath>
                </a14:m>
                <a:endParaRPr lang="en-US" altLang="zh-CN" sz="2000">
                  <a:solidFill>
                    <a:srgbClr val="000000"/>
                  </a:solidFill>
                  <a:latin typeface="Cambria Math" panose="02040503050406030204" pitchFamily="18" charset="0"/>
                </a:endParaRPr>
              </a:p>
              <a:p>
                <a:pPr lvl="0"/>
                <a:r>
                  <a:rPr lang="en-US" altLang="zh-CN" sz="2000" dirty="0">
                    <a:solidFill>
                      <a:srgbClr val="000000"/>
                    </a:solidFill>
                  </a:rPr>
                  <a:t>F</a:t>
                </a:r>
                <a:r>
                  <a:rPr lang="zh-CN" altLang="zh-CN" sz="2000" dirty="0">
                    <a:solidFill>
                      <a:srgbClr val="000000"/>
                    </a:solidFill>
                  </a:rPr>
                  <a:t>值（</a:t>
                </a:r>
                <a:r>
                  <a:rPr lang="en-US" altLang="zh-CN" sz="2000" dirty="0">
                    <a:solidFill>
                      <a:srgbClr val="000000"/>
                    </a:solidFill>
                  </a:rPr>
                  <a:t>F-measure</a:t>
                </a:r>
                <a:r>
                  <a:rPr lang="zh-CN" altLang="zh-CN" sz="2000" dirty="0">
                    <a:solidFill>
                      <a:srgbClr val="000000"/>
                    </a:solidFill>
                  </a:rPr>
                  <a:t>）</a:t>
                </a:r>
                <a:endParaRPr lang="en-US" altLang="zh-CN" sz="2000" dirty="0">
                  <a:solidFill>
                    <a:srgbClr val="000000"/>
                  </a:solidFill>
                </a:endParaRPr>
              </a:p>
              <a:p>
                <a:pPr marL="0" lvl="0" indent="0" algn="ctr">
                  <a:buNone/>
                </a:pPr>
                <a:r>
                  <a:rPr lang="zh-CN" altLang="zh-CN" sz="1800" dirty="0">
                    <a:solidFill>
                      <a:srgbClr val="000000"/>
                    </a:solidFill>
                  </a:rPr>
                  <a:t>准确率</a:t>
                </a:r>
                <a14:m>
                  <m:oMath xmlns:m="http://schemas.openxmlformats.org/officeDocument/2006/math">
                    <m:r>
                      <a:rPr lang="en-US" altLang="zh-CN" sz="1800">
                        <a:solidFill>
                          <a:srgbClr val="000000"/>
                        </a:solidFill>
                        <a:latin typeface="Cambria Math" panose="02040503050406030204" pitchFamily="18" charset="0"/>
                      </a:rPr>
                      <m:t>𝑃</m:t>
                    </m:r>
                    <m:r>
                      <a:rPr lang="en-US" altLang="zh-CN" sz="1800">
                        <a:solidFill>
                          <a:srgbClr val="000000"/>
                        </a:solidFill>
                        <a:latin typeface="Cambria Math" panose="02040503050406030204" pitchFamily="18" charset="0"/>
                      </a:rPr>
                      <m:t>=</m:t>
                    </m:r>
                    <m:r>
                      <a:rPr lang="zh-CN" altLang="zh-CN" sz="1800" i="1">
                        <a:solidFill>
                          <a:srgbClr val="000000"/>
                        </a:solidFill>
                        <a:latin typeface="Cambria Math" panose="02040503050406030204" pitchFamily="18" charset="0"/>
                      </a:rPr>
                      <m:t> 正确预测为</m:t>
                    </m:r>
                    <m:r>
                      <a:rPr lang="en-US" altLang="zh-CN" sz="1800" i="1">
                        <a:solidFill>
                          <a:srgbClr val="000000"/>
                        </a:solidFill>
                        <a:latin typeface="Cambria Math" panose="02040503050406030204" pitchFamily="18" charset="0"/>
                      </a:rPr>
                      <m:t>同一簇</m:t>
                    </m:r>
                    <m:r>
                      <a:rPr lang="zh-CN" altLang="zh-CN" sz="1800" i="1">
                        <a:solidFill>
                          <a:srgbClr val="000000"/>
                        </a:solidFill>
                        <a:latin typeface="Cambria Math" panose="02040503050406030204" pitchFamily="18" charset="0"/>
                      </a:rPr>
                      <m:t>的样本数 / 所有预测为</m:t>
                    </m:r>
                    <m:r>
                      <a:rPr lang="en-US" altLang="zh-CN" sz="1800" i="1">
                        <a:solidFill>
                          <a:srgbClr val="000000"/>
                        </a:solidFill>
                        <a:latin typeface="Cambria Math" panose="02040503050406030204" pitchFamily="18" charset="0"/>
                      </a:rPr>
                      <m:t>同一簇</m:t>
                    </m:r>
                    <m:r>
                      <a:rPr lang="zh-CN" altLang="zh-CN" sz="1800" i="1">
                        <a:solidFill>
                          <a:srgbClr val="000000"/>
                        </a:solidFill>
                        <a:latin typeface="Cambria Math" panose="02040503050406030204" pitchFamily="18" charset="0"/>
                      </a:rPr>
                      <m:t>的样本数</m:t>
                    </m:r>
                    <m:r>
                      <a:rPr lang="en-US" altLang="zh-CN" sz="1800" i="1">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m:t>
                        </m:r>
                      </m:num>
                      <m:den>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𝑏</m:t>
                        </m:r>
                      </m:den>
                    </m:f>
                    <m:r>
                      <m:rPr>
                        <m:nor/>
                      </m:rPr>
                      <a:rPr lang="zh-CN" altLang="zh-CN" sz="1800" dirty="0">
                        <a:solidFill>
                          <a:srgbClr val="000000"/>
                        </a:solidFill>
                        <a:latin typeface="Cambria Math" panose="02040503050406030204" pitchFamily="18" charset="0"/>
                      </a:rPr>
                      <m:t>召回率</m:t>
                    </m:r>
                    <m:r>
                      <a:rPr lang="en-US" altLang="zh-CN" sz="1800">
                        <a:solidFill>
                          <a:srgbClr val="000000"/>
                        </a:solidFill>
                        <a:latin typeface="Cambria Math" panose="02040503050406030204" pitchFamily="18" charset="0"/>
                      </a:rPr>
                      <m:t>𝑅</m:t>
                    </m:r>
                    <m:r>
                      <a:rPr lang="en-US" altLang="zh-CN" sz="1800">
                        <a:solidFill>
                          <a:srgbClr val="000000"/>
                        </a:solidFill>
                        <a:latin typeface="Cambria Math" panose="02040503050406030204" pitchFamily="18" charset="0"/>
                      </a:rPr>
                      <m:t>=</m:t>
                    </m:r>
                    <m:r>
                      <a:rPr lang="zh-CN" altLang="zh-CN" sz="1800" i="1">
                        <a:solidFill>
                          <a:srgbClr val="000000"/>
                        </a:solidFill>
                        <a:latin typeface="Cambria Math" panose="02040503050406030204" pitchFamily="18" charset="0"/>
                      </a:rPr>
                      <m:t>正确找出来的</m:t>
                    </m:r>
                    <m:r>
                      <a:rPr lang="en-US" altLang="zh-CN" sz="1800" i="1">
                        <a:solidFill>
                          <a:srgbClr val="000000"/>
                        </a:solidFill>
                        <a:latin typeface="Cambria Math" panose="02040503050406030204" pitchFamily="18" charset="0"/>
                      </a:rPr>
                      <m:t>同一簇的样本数</m:t>
                    </m:r>
                    <m:r>
                      <a:rPr lang="zh-CN" altLang="zh-CN" sz="1800" i="1">
                        <a:solidFill>
                          <a:srgbClr val="000000"/>
                        </a:solidFill>
                        <a:latin typeface="Cambria Math" panose="02040503050406030204" pitchFamily="18" charset="0"/>
                      </a:rPr>
                      <m:t>/ 全部真正</m:t>
                    </m:r>
                    <m:r>
                      <a:rPr lang="en-US" altLang="zh-CN" sz="1800" i="1">
                        <a:solidFill>
                          <a:srgbClr val="000000"/>
                        </a:solidFill>
                        <a:latin typeface="Cambria Math" panose="02040503050406030204" pitchFamily="18" charset="0"/>
                      </a:rPr>
                      <m:t>是同一簇的样本数=</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m:t>
                        </m:r>
                      </m:num>
                      <m:den>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𝑐</m:t>
                        </m:r>
                      </m:den>
                    </m:f>
                    <m:r>
                      <a:rPr lang="zh-CN" altLang="en-US" sz="1800" i="1">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𝐹</m:t>
                    </m:r>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d>
                          <m:dPr>
                            <m:ctrlPr>
                              <a:rPr lang="zh-CN" altLang="zh-CN" sz="1800" i="1">
                                <a:solidFill>
                                  <a:srgbClr val="000000"/>
                                </a:solidFill>
                                <a:latin typeface="Cambria Math" panose="02040503050406030204" pitchFamily="18" charset="0"/>
                              </a:rPr>
                            </m:ctrlPr>
                          </m:dPr>
                          <m:e>
                            <m:sSup>
                              <m:sSupPr>
                                <m:ctrlPr>
                                  <a:rPr lang="zh-CN" altLang="zh-CN" sz="1800" i="1">
                                    <a:solidFill>
                                      <a:srgbClr val="000000"/>
                                    </a:solidFill>
                                    <a:latin typeface="Cambria Math" panose="02040503050406030204" pitchFamily="18" charset="0"/>
                                  </a:rPr>
                                </m:ctrlPr>
                              </m:sSupPr>
                              <m:e>
                                <m:r>
                                  <a:rPr lang="en-US" altLang="zh-CN" sz="1800">
                                    <a:solidFill>
                                      <a:srgbClr val="000000"/>
                                    </a:solidFill>
                                    <a:latin typeface="Cambria Math" panose="02040503050406030204" pitchFamily="18" charset="0"/>
                                  </a:rPr>
                                  <m:t>𝛽</m:t>
                                </m:r>
                              </m:e>
                              <m:sup>
                                <m:r>
                                  <a:rPr lang="en-US" altLang="zh-CN" sz="1800">
                                    <a:solidFill>
                                      <a:srgbClr val="000000"/>
                                    </a:solidFill>
                                    <a:latin typeface="Cambria Math" panose="02040503050406030204" pitchFamily="18" charset="0"/>
                                  </a:rPr>
                                  <m:t>2</m:t>
                                </m:r>
                              </m:sup>
                            </m:sSup>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e>
                        </m:d>
                        <m:r>
                          <a:rPr lang="en-US" altLang="zh-CN" sz="1800">
                            <a:solidFill>
                              <a:srgbClr val="000000"/>
                            </a:solidFill>
                            <a:latin typeface="Cambria Math" panose="02040503050406030204" pitchFamily="18" charset="0"/>
                          </a:rPr>
                          <m:t>𝑃𝑅</m:t>
                        </m:r>
                      </m:num>
                      <m:den>
                        <m:sSup>
                          <m:sSupPr>
                            <m:ctrlPr>
                              <a:rPr lang="zh-CN" altLang="zh-CN" sz="1800" i="1">
                                <a:solidFill>
                                  <a:srgbClr val="000000"/>
                                </a:solidFill>
                                <a:latin typeface="Cambria Math" panose="02040503050406030204" pitchFamily="18" charset="0"/>
                              </a:rPr>
                            </m:ctrlPr>
                          </m:sSupPr>
                          <m:e>
                            <m:r>
                              <a:rPr lang="en-US" altLang="zh-CN" sz="1800">
                                <a:solidFill>
                                  <a:srgbClr val="000000"/>
                                </a:solidFill>
                                <a:latin typeface="Cambria Math" panose="02040503050406030204" pitchFamily="18" charset="0"/>
                              </a:rPr>
                              <m:t>𝛽</m:t>
                            </m:r>
                          </m:e>
                          <m:sup>
                            <m:r>
                              <a:rPr lang="en-US" altLang="zh-CN" sz="1800">
                                <a:solidFill>
                                  <a:srgbClr val="000000"/>
                                </a:solidFill>
                                <a:latin typeface="Cambria Math" panose="02040503050406030204" pitchFamily="18" charset="0"/>
                              </a:rPr>
                              <m:t>2</m:t>
                            </m:r>
                          </m:sup>
                        </m:sSup>
                        <m:r>
                          <a:rPr lang="en-US" altLang="zh-CN" sz="1800">
                            <a:solidFill>
                              <a:srgbClr val="000000"/>
                            </a:solidFill>
                            <a:latin typeface="Cambria Math" panose="02040503050406030204" pitchFamily="18" charset="0"/>
                          </a:rPr>
                          <m:t>𝑃</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𝑅</m:t>
                        </m:r>
                      </m:den>
                    </m:f>
                  </m:oMath>
                </a14:m>
                <a:endParaRPr lang="en-US" altLang="zh-CN" sz="1800" dirty="0">
                  <a:solidFill>
                    <a:srgbClr val="000000"/>
                  </a:solidFill>
                </a:endParaRPr>
              </a:p>
              <a:p>
                <a:pPr marL="457200" lvl="1" indent="0">
                  <a:buNone/>
                </a:pPr>
                <a:r>
                  <a:rPr lang="zh-CN" altLang="zh-CN" sz="1800" dirty="0">
                    <a:solidFill>
                      <a:srgbClr val="000000"/>
                    </a:solidFill>
                  </a:rPr>
                  <a:t>当</a:t>
                </a:r>
                <a14:m>
                  <m:oMath xmlns:m="http://schemas.openxmlformats.org/officeDocument/2006/math">
                    <m:r>
                      <a:rPr lang="en-US" altLang="zh-CN" sz="1800">
                        <a:solidFill>
                          <a:srgbClr val="000000"/>
                        </a:solidFill>
                        <a:latin typeface="Cambria Math" panose="02040503050406030204" pitchFamily="18" charset="0"/>
                      </a:rPr>
                      <m:t>𝛽</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oMath>
                </a14:m>
                <a:r>
                  <a:rPr lang="zh-CN" altLang="zh-CN" sz="1800" dirty="0">
                    <a:solidFill>
                      <a:srgbClr val="000000"/>
                    </a:solidFill>
                  </a:rPr>
                  <a:t>时，就是最常见的</a:t>
                </a:r>
                <a14:m>
                  <m:oMath xmlns:m="http://schemas.openxmlformats.org/officeDocument/2006/math">
                    <m:r>
                      <a:rPr lang="en-US" altLang="zh-CN" sz="1800">
                        <a:solidFill>
                          <a:srgbClr val="000000"/>
                        </a:solidFill>
                        <a:latin typeface="Cambria Math" panose="02040503050406030204" pitchFamily="18" charset="0"/>
                      </a:rPr>
                      <m:t>𝐹</m:t>
                    </m:r>
                    <m:r>
                      <a:rPr lang="en-US" altLang="zh-CN" sz="1800">
                        <a:solidFill>
                          <a:srgbClr val="000000"/>
                        </a:solidFill>
                        <a:latin typeface="Cambria Math" panose="02040503050406030204" pitchFamily="18" charset="0"/>
                      </a:rPr>
                      <m:t>1</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𝑚𝑒𝑎𝑠𝑢𝑟𝑒</m:t>
                    </m:r>
                  </m:oMath>
                </a14:m>
                <a:endParaRPr lang="en-US" altLang="zh-CN" sz="1800" dirty="0">
                  <a:solidFill>
                    <a:srgbClr val="000000"/>
                  </a:solidFill>
                </a:endParaRPr>
              </a:p>
              <a:p>
                <a:pPr lvl="0"/>
                <a:r>
                  <a:rPr lang="en-US" altLang="zh-CN" sz="1800" dirty="0">
                    <a:solidFill>
                      <a:srgbClr val="000000"/>
                    </a:solidFill>
                  </a:rPr>
                  <a:t>Jaccard</a:t>
                </a:r>
                <a:r>
                  <a:rPr lang="zh-CN" altLang="zh-CN" sz="1800" dirty="0">
                    <a:solidFill>
                      <a:srgbClr val="000000"/>
                    </a:solidFill>
                  </a:rPr>
                  <a:t>系数（</a:t>
                </a:r>
                <a:r>
                  <a:rPr lang="en-US" altLang="zh-CN" sz="1800" dirty="0" err="1">
                    <a:solidFill>
                      <a:srgbClr val="000000"/>
                    </a:solidFill>
                  </a:rPr>
                  <a:t>Jaccard</a:t>
                </a:r>
                <a:r>
                  <a:rPr lang="en-US" altLang="zh-CN" sz="1800" dirty="0">
                    <a:solidFill>
                      <a:srgbClr val="000000"/>
                    </a:solidFill>
                  </a:rPr>
                  <a:t> Coefficient</a:t>
                </a:r>
                <a:r>
                  <a:rPr lang="zh-CN" altLang="zh-CN" sz="1800" dirty="0">
                    <a:solidFill>
                      <a:srgbClr val="000000"/>
                    </a:solidFill>
                  </a:rPr>
                  <a:t>）：</a:t>
                </a:r>
                <a:r>
                  <a:rPr lang="zh-CN" altLang="en-US" sz="1800" dirty="0">
                    <a:solidFill>
                      <a:srgbClr val="000000"/>
                    </a:solidFill>
                  </a:rPr>
                  <a:t>只关心至少有一方认为是同一类的那些点对</a:t>
                </a:r>
                <a:endParaRPr lang="zh-CN" altLang="en-US" sz="1800" dirty="0">
                  <a:solidFill>
                    <a:srgbClr val="000000"/>
                  </a:solidFill>
                </a:endParaRPr>
              </a:p>
              <a:p>
                <a:pPr marL="457200" lvl="1"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𝐽</m:t>
                      </m:r>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m:t>
                          </m:r>
                        </m:num>
                        <m:den>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𝑏</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𝑐</m:t>
                          </m:r>
                        </m:den>
                      </m:f>
                    </m:oMath>
                  </m:oMathPara>
                </a14:m>
                <a:endParaRPr lang="zh-CN" altLang="zh-CN" sz="1800" dirty="0">
                  <a:solidFill>
                    <a:srgbClr val="000000"/>
                  </a:solidFill>
                </a:endParaRPr>
              </a:p>
              <a:p>
                <a:pPr lvl="0"/>
                <a:r>
                  <a:rPr lang="en-US" altLang="zh-CN" sz="1800" dirty="0">
                    <a:solidFill>
                      <a:srgbClr val="000000"/>
                    </a:solidFill>
                  </a:rPr>
                  <a:t>FM</a:t>
                </a:r>
                <a:r>
                  <a:rPr lang="zh-CN" altLang="zh-CN" sz="1800" dirty="0">
                    <a:solidFill>
                      <a:srgbClr val="000000"/>
                    </a:solidFill>
                  </a:rPr>
                  <a:t>指数（</a:t>
                </a:r>
                <a:r>
                  <a:rPr lang="en-US" altLang="zh-CN" sz="1800" dirty="0">
                    <a:solidFill>
                      <a:srgbClr val="000000"/>
                    </a:solidFill>
                  </a:rPr>
                  <a:t>Fowlkes and Mallows Index</a:t>
                </a:r>
                <a:r>
                  <a:rPr lang="zh-CN" altLang="zh-CN" sz="1800" dirty="0">
                    <a:solidFill>
                      <a:srgbClr val="000000"/>
                    </a:solidFill>
                  </a:rPr>
                  <a:t>）</a:t>
                </a:r>
                <a:endParaRPr lang="zh-CN" altLang="zh-CN" sz="1800" dirty="0">
                  <a:solidFill>
                    <a:srgbClr val="000000"/>
                  </a:solidFill>
                </a:endParaRPr>
              </a:p>
              <a:p>
                <a:pPr marL="457200" lvl="1"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𝐹𝑀</m:t>
                      </m:r>
                      <m:r>
                        <a:rPr lang="en-US" altLang="zh-CN" sz="1800">
                          <a:solidFill>
                            <a:srgbClr val="000000"/>
                          </a:solidFill>
                          <a:latin typeface="Cambria Math" panose="02040503050406030204" pitchFamily="18" charset="0"/>
                        </a:rPr>
                        <m:t>=</m:t>
                      </m:r>
                      <m:rad>
                        <m:radPr>
                          <m:degHide m:val="on"/>
                          <m:ctrlPr>
                            <a:rPr lang="zh-CN" altLang="zh-CN" sz="1800" i="1">
                              <a:solidFill>
                                <a:srgbClr val="000000"/>
                              </a:solidFill>
                              <a:latin typeface="Cambria Math" panose="02040503050406030204" pitchFamily="18" charset="0"/>
                            </a:rPr>
                          </m:ctrlPr>
                        </m:radPr>
                        <m:deg/>
                        <m:e>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m:t>
                              </m:r>
                            </m:num>
                            <m:den>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𝑏</m:t>
                              </m:r>
                            </m:den>
                          </m:f>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m:t>
                              </m:r>
                            </m:num>
                            <m:den>
                              <m:r>
                                <a:rPr lang="en-US" altLang="zh-CN" sz="1800">
                                  <a:solidFill>
                                    <a:srgbClr val="000000"/>
                                  </a:solidFill>
                                  <a:latin typeface="Cambria Math" panose="02040503050406030204" pitchFamily="18" charset="0"/>
                                </a:rPr>
                                <m:t>𝑎</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𝑐</m:t>
                              </m:r>
                            </m:den>
                          </m:f>
                        </m:e>
                      </m:rad>
                    </m:oMath>
                  </m:oMathPara>
                </a14:m>
                <a:endParaRPr lang="zh-CN" altLang="zh-CN" sz="1800" dirty="0">
                  <a:solidFill>
                    <a:srgbClr val="000000"/>
                  </a:solidFill>
                </a:endParaRPr>
              </a:p>
              <a:p>
                <a:r>
                  <a:rPr lang="zh-CN" altLang="zh-CN" sz="1800" dirty="0">
                    <a:solidFill>
                      <a:srgbClr val="000000"/>
                    </a:solidFill>
                  </a:rPr>
                  <a:t>以上四个度量指标的值越大，表明聚类结果和参考模型直接的划分结果越吻合，聚类结果就越好</a:t>
                </a:r>
                <a:endParaRPr lang="zh-CN" altLang="zh-CN" sz="1800" dirty="0">
                  <a:solidFill>
                    <a:srgbClr val="000000"/>
                  </a:solidFill>
                </a:endParaRPr>
              </a:p>
              <a:p>
                <a:pPr marL="0" lvl="0" indent="0">
                  <a:buNone/>
                </a:pPr>
                <a:endParaRPr lang="zh-CN" altLang="zh-CN" sz="1800" dirty="0">
                  <a:solidFill>
                    <a:srgbClr val="000000"/>
                  </a:solidFill>
                </a:endParaRPr>
              </a:p>
            </p:txBody>
          </p:sp>
        </mc:Choice>
        <mc:Fallback>
          <p:sp>
            <p:nvSpPr>
              <p:cNvPr id="9" name="矩形 3"/>
              <p:cNvSpPr>
                <a:spLocks noRot="1" noChangeAspect="1" noMove="1" noResize="1" noEditPoints="1" noAdjustHandles="1" noChangeArrowheads="1" noChangeShapeType="1" noTextEdit="1"/>
              </p:cNvSpPr>
              <p:nvPr/>
            </p:nvSpPr>
            <p:spPr bwMode="auto">
              <a:xfrm>
                <a:off x="201930" y="1124585"/>
                <a:ext cx="8739505" cy="5534025"/>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内部指标</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3"/>
              <p:cNvSpPr>
                <a:spLocks noChangeArrowheads="1"/>
              </p:cNvSpPr>
              <p:nvPr/>
            </p:nvSpPr>
            <p:spPr bwMode="auto">
              <a:xfrm>
                <a:off x="519430" y="1283970"/>
                <a:ext cx="8308975"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vl="0"/>
                <a:r>
                  <a:rPr lang="zh-CN" altLang="zh-CN" sz="2000" dirty="0">
                    <a:solidFill>
                      <a:srgbClr val="000000"/>
                    </a:solidFill>
                  </a:rPr>
                  <a:t>内部指标不借助外部参考模型，利用</a:t>
                </a:r>
                <a:r>
                  <a:rPr lang="zh-CN" altLang="zh-CN" sz="2000" b="1" dirty="0">
                    <a:solidFill>
                      <a:srgbClr val="C00000"/>
                    </a:solidFill>
                  </a:rPr>
                  <a:t>样本点和聚类中心之间的距离</a:t>
                </a:r>
                <a:r>
                  <a:rPr lang="zh-CN" altLang="zh-CN" sz="2000" dirty="0">
                    <a:solidFill>
                      <a:srgbClr val="000000"/>
                    </a:solidFill>
                  </a:rPr>
                  <a:t>来衡量聚类结果的好坏。在聚类分析中，对于两个</a:t>
                </a:r>
                <a14:m>
                  <m:oMath xmlns:m="http://schemas.openxmlformats.org/officeDocument/2006/math">
                    <m:r>
                      <a:rPr lang="en-US" altLang="zh-CN" sz="2000">
                        <a:solidFill>
                          <a:srgbClr val="000000"/>
                        </a:solidFill>
                        <a:latin typeface="Cambria Math" panose="02040503050406030204" pitchFamily="18" charset="0"/>
                      </a:rPr>
                      <m:t>𝑚</m:t>
                    </m:r>
                  </m:oMath>
                </a14:m>
                <a:r>
                  <a:rPr lang="zh-CN" altLang="zh-CN" sz="2000" dirty="0">
                    <a:solidFill>
                      <a:srgbClr val="000000"/>
                    </a:solidFill>
                  </a:rPr>
                  <a:t>维样本</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d>
                      <m:dPr>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1</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2</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𝑖𝑚</m:t>
                            </m:r>
                          </m:sub>
                        </m:sSub>
                      </m:e>
                    </m:d>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r>
                      <a:rPr lang="en-US" altLang="zh-CN" sz="2000">
                        <a:solidFill>
                          <a:srgbClr val="000000"/>
                        </a:solidFill>
                        <a:latin typeface="Cambria Math" panose="02040503050406030204" pitchFamily="18" charset="0"/>
                      </a:rPr>
                      <m:t>=</m:t>
                    </m:r>
                    <m:d>
                      <m:dPr>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r>
                              <a:rPr lang="en-US" altLang="zh-CN" sz="2000">
                                <a:solidFill>
                                  <a:srgbClr val="000000"/>
                                </a:solidFill>
                                <a:latin typeface="Cambria Math" panose="02040503050406030204" pitchFamily="18" charset="0"/>
                              </a:rPr>
                              <m:t>1</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r>
                              <a:rPr lang="en-US" altLang="zh-CN" sz="2000">
                                <a:solidFill>
                                  <a:srgbClr val="000000"/>
                                </a:solidFill>
                                <a:latin typeface="Cambria Math" panose="02040503050406030204" pitchFamily="18" charset="0"/>
                              </a:rPr>
                              <m:t>2</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𝑗𝑚</m:t>
                            </m:r>
                          </m:sub>
                        </m:sSub>
                      </m:e>
                    </m:d>
                    <m:r>
                      <a:rPr lang="zh-CN" altLang="en-US" sz="2000" i="1">
                        <a:solidFill>
                          <a:srgbClr val="000000"/>
                        </a:solidFill>
                        <a:latin typeface="Cambria Math" panose="02040503050406030204" pitchFamily="18" charset="0"/>
                      </a:rPr>
                      <m:t>，</m:t>
                    </m:r>
                  </m:oMath>
                </a14:m>
                <a:r>
                  <a:rPr lang="zh-CN" altLang="zh-CN" sz="2000" dirty="0">
                    <a:solidFill>
                      <a:srgbClr val="000000"/>
                    </a:solidFill>
                  </a:rPr>
                  <a:t>常用的距离度量</a:t>
                </a:r>
                <a:r>
                  <a:rPr lang="zh-CN" altLang="en-US" sz="2000" dirty="0">
                    <a:solidFill>
                      <a:srgbClr val="000000"/>
                    </a:solidFill>
                  </a:rPr>
                  <a:t>：</a:t>
                </a:r>
                <a:endParaRPr lang="en-US" altLang="zh-CN" sz="2000" dirty="0">
                  <a:solidFill>
                    <a:srgbClr val="000000"/>
                  </a:solidFill>
                </a:endParaRPr>
              </a:p>
              <a:p>
                <a:r>
                  <a:rPr lang="zh-CN" altLang="zh-CN" sz="2000" dirty="0">
                    <a:solidFill>
                      <a:srgbClr val="000000"/>
                    </a:solidFill>
                  </a:rPr>
                  <a:t>欧式距离（</a:t>
                </a:r>
                <a:r>
                  <a:rPr lang="en-US" altLang="zh-CN" sz="2000" dirty="0">
                    <a:solidFill>
                      <a:srgbClr val="000000"/>
                    </a:solidFill>
                  </a:rPr>
                  <a:t>Euclidean Distance</a:t>
                </a:r>
                <a:r>
                  <a:rPr lang="zh-CN" altLang="zh-CN" sz="2000" dirty="0">
                    <a:solidFill>
                      <a:srgbClr val="000000"/>
                    </a:solidFill>
                  </a:rPr>
                  <a:t>）</a:t>
                </a:r>
                <a:endParaRPr lang="en-US" altLang="zh-CN" sz="2000" i="1"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𝑑𝑖𝑠𝑡</m:t>
                          </m:r>
                        </m:e>
                        <m:sub>
                          <m:r>
                            <a:rPr lang="en-US" altLang="zh-CN" sz="1800">
                              <a:solidFill>
                                <a:srgbClr val="000000"/>
                              </a:solidFill>
                              <a:latin typeface="Cambria Math" panose="02040503050406030204" pitchFamily="18" charset="0"/>
                            </a:rPr>
                            <m:t>𝑒𝑑</m:t>
                          </m:r>
                        </m:sub>
                      </m:sSub>
                      <m:r>
                        <a:rPr lang="en-US" altLang="zh-CN" sz="1800">
                          <a:solidFill>
                            <a:srgbClr val="000000"/>
                          </a:solidFill>
                          <a:latin typeface="Cambria Math" panose="02040503050406030204" pitchFamily="18" charset="0"/>
                        </a:rPr>
                        <m:t>=</m:t>
                      </m:r>
                      <m:rad>
                        <m:radPr>
                          <m:degHide m:val="on"/>
                          <m:ctrlPr>
                            <a:rPr lang="zh-CN" altLang="zh-CN" sz="1800" i="1">
                              <a:solidFill>
                                <a:srgbClr val="000000"/>
                              </a:solidFill>
                              <a:latin typeface="Cambria Math" panose="02040503050406030204" pitchFamily="18" charset="0"/>
                            </a:rPr>
                          </m:ctrlPr>
                        </m:radPr>
                        <m:deg/>
                        <m:e>
                          <m:nary>
                            <m:naryPr>
                              <m:chr m:val="∑"/>
                              <m:limLoc m:val="undOvr"/>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𝑘</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𝑚</m:t>
                              </m:r>
                            </m:sup>
                            <m:e>
                              <m:sSup>
                                <m:sSupPr>
                                  <m:ctrlPr>
                                    <a:rPr lang="zh-CN" altLang="zh-CN" sz="1800" i="1">
                                      <a:solidFill>
                                        <a:srgbClr val="000000"/>
                                      </a:solidFill>
                                      <a:latin typeface="Cambria Math" panose="02040503050406030204" pitchFamily="18" charset="0"/>
                                    </a:rPr>
                                  </m:ctrlPr>
                                </m:sSupPr>
                                <m:e>
                                  <m:d>
                                    <m:dPr>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𝑖𝑘</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𝑗𝑘</m:t>
                                          </m:r>
                                        </m:sub>
                                      </m:sSub>
                                    </m:e>
                                  </m:d>
                                </m:e>
                                <m:sup>
                                  <m:r>
                                    <a:rPr lang="en-US" altLang="zh-CN" sz="1800">
                                      <a:solidFill>
                                        <a:srgbClr val="000000"/>
                                      </a:solidFill>
                                      <a:latin typeface="Cambria Math" panose="02040503050406030204" pitchFamily="18" charset="0"/>
                                    </a:rPr>
                                    <m:t>2</m:t>
                                  </m:r>
                                </m:sup>
                              </m:sSup>
                            </m:e>
                          </m:nary>
                        </m:e>
                      </m:rad>
                    </m:oMath>
                  </m:oMathPara>
                </a14:m>
                <a:endParaRPr lang="en-US" altLang="zh-CN" sz="2000" dirty="0">
                  <a:solidFill>
                    <a:srgbClr val="000000"/>
                  </a:solidFill>
                </a:endParaRPr>
              </a:p>
              <a:p>
                <a:r>
                  <a:rPr lang="zh-CN" altLang="zh-CN" sz="2000" dirty="0">
                    <a:solidFill>
                      <a:srgbClr val="000000"/>
                    </a:solidFill>
                  </a:rPr>
                  <a:t>曼哈顿距离（</a:t>
                </a:r>
                <a:r>
                  <a:rPr lang="en-US" altLang="zh-CN" sz="2000" dirty="0">
                    <a:solidFill>
                      <a:srgbClr val="000000"/>
                    </a:solidFill>
                  </a:rPr>
                  <a:t>Manhattan Distance</a:t>
                </a:r>
                <a:r>
                  <a:rPr lang="zh-CN" altLang="zh-CN" sz="2000" dirty="0">
                    <a:solidFill>
                      <a:srgbClr val="000000"/>
                    </a:solidFill>
                  </a:rPr>
                  <a:t>）</a:t>
                </a:r>
                <a:endParaRPr lang="en-US" altLang="zh-CN" sz="2000" i="1"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𝑑𝑖𝑠𝑡</m:t>
                          </m:r>
                        </m:e>
                        <m:sub>
                          <m:r>
                            <a:rPr lang="en-US" altLang="zh-CN" sz="1800">
                              <a:solidFill>
                                <a:srgbClr val="000000"/>
                              </a:solidFill>
                              <a:latin typeface="Cambria Math" panose="02040503050406030204" pitchFamily="18" charset="0"/>
                            </a:rPr>
                            <m:t>𝑚𝑎𝑛𝑑</m:t>
                          </m:r>
                        </m:sub>
                      </m:sSub>
                      <m:r>
                        <a:rPr lang="en-US" altLang="zh-CN" sz="1800">
                          <a:solidFill>
                            <a:srgbClr val="000000"/>
                          </a:solidFill>
                          <a:latin typeface="Cambria Math" panose="02040503050406030204" pitchFamily="18" charset="0"/>
                        </a:rPr>
                        <m:t>=</m:t>
                      </m:r>
                      <m:nary>
                        <m:naryPr>
                          <m:chr m:val="∑"/>
                          <m:limLoc m:val="undOvr"/>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𝑘</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𝑚</m:t>
                          </m:r>
                        </m:sup>
                        <m:e>
                          <m:d>
                            <m:dPr>
                              <m:begChr m:val="|"/>
                              <m:endChr m:val="|"/>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𝑖𝑘</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𝑗𝑘</m:t>
                                  </m:r>
                                </m:sub>
                              </m:sSub>
                            </m:e>
                          </m:d>
                        </m:e>
                      </m:nary>
                    </m:oMath>
                  </m:oMathPara>
                </a14:m>
                <a:endParaRPr lang="en-US" altLang="zh-CN" sz="1800" dirty="0">
                  <a:solidFill>
                    <a:srgbClr val="000000"/>
                  </a:solidFill>
                </a:endParaRPr>
              </a:p>
              <a:p>
                <a:r>
                  <a:rPr lang="zh-CN" altLang="zh-CN" sz="2000" dirty="0">
                    <a:solidFill>
                      <a:srgbClr val="000000"/>
                    </a:solidFill>
                  </a:rPr>
                  <a:t>切比雪夫距离（</a:t>
                </a:r>
                <a:r>
                  <a:rPr lang="en-US" altLang="zh-CN" sz="2000" dirty="0" err="1">
                    <a:solidFill>
                      <a:srgbClr val="000000"/>
                    </a:solidFill>
                  </a:rPr>
                  <a:t>Chebyshev</a:t>
                </a:r>
                <a:r>
                  <a:rPr lang="en-US" altLang="zh-CN" sz="2000" dirty="0">
                    <a:solidFill>
                      <a:srgbClr val="000000"/>
                    </a:solidFill>
                  </a:rPr>
                  <a:t> Distance</a:t>
                </a:r>
                <a:r>
                  <a:rPr lang="zh-CN" altLang="zh-CN" sz="2000" dirty="0">
                    <a:solidFill>
                      <a:srgbClr val="000000"/>
                    </a:solidFill>
                  </a:rPr>
                  <a:t>）</a:t>
                </a:r>
                <a:endParaRPr lang="en-US"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𝑑𝑖𝑠𝑡</m:t>
                          </m:r>
                        </m:e>
                        <m:sub>
                          <m:r>
                            <a:rPr lang="en-US" altLang="zh-CN" sz="1800">
                              <a:solidFill>
                                <a:srgbClr val="000000"/>
                              </a:solidFill>
                              <a:latin typeface="Cambria Math" panose="02040503050406030204" pitchFamily="18" charset="0"/>
                            </a:rPr>
                            <m:t>𝑐𝑑</m:t>
                          </m:r>
                        </m:sub>
                      </m:sSub>
                      <m:r>
                        <a:rPr lang="en-US" altLang="zh-CN" sz="1800">
                          <a:solidFill>
                            <a:srgbClr val="000000"/>
                          </a:solidFill>
                          <a:latin typeface="Cambria Math" panose="02040503050406030204" pitchFamily="18" charset="0"/>
                        </a:rPr>
                        <m:t>=</m:t>
                      </m:r>
                      <m:func>
                        <m:funcPr>
                          <m:ctrlPr>
                            <a:rPr lang="zh-CN" altLang="zh-CN" sz="1800" i="1">
                              <a:solidFill>
                                <a:srgbClr val="000000"/>
                              </a:solidFill>
                              <a:latin typeface="Cambria Math" panose="02040503050406030204" pitchFamily="18" charset="0"/>
                            </a:rPr>
                          </m:ctrlPr>
                        </m:funcPr>
                        <m:fName>
                          <m:limLow>
                            <m:limLowPr>
                              <m:ctrlPr>
                                <a:rPr lang="zh-CN" altLang="zh-CN" sz="1800" i="1">
                                  <a:solidFill>
                                    <a:srgbClr val="000000"/>
                                  </a:solidFill>
                                  <a:latin typeface="Cambria Math" panose="02040503050406030204" pitchFamily="18" charset="0"/>
                                </a:rPr>
                              </m:ctrlPr>
                            </m:limLowPr>
                            <m:e>
                              <m:r>
                                <m:rPr>
                                  <m:sty m:val="p"/>
                                </m:rPr>
                                <a:rPr lang="en-US" altLang="zh-CN" sz="1800">
                                  <a:solidFill>
                                    <a:srgbClr val="000000"/>
                                  </a:solidFill>
                                  <a:latin typeface="Cambria Math" panose="02040503050406030204" pitchFamily="18" charset="0"/>
                                </a:rPr>
                                <m:t>lim</m:t>
                              </m:r>
                            </m:e>
                            <m:lim>
                              <m:r>
                                <a:rPr lang="en-US" altLang="zh-CN" sz="1800">
                                  <a:solidFill>
                                    <a:srgbClr val="000000"/>
                                  </a:solidFill>
                                  <a:latin typeface="Cambria Math" panose="02040503050406030204" pitchFamily="18" charset="0"/>
                                </a:rPr>
                                <m:t>𝑡</m:t>
                              </m:r>
                              <m:r>
                                <a:rPr lang="en-US" altLang="zh-CN" sz="1800">
                                  <a:solidFill>
                                    <a:srgbClr val="000000"/>
                                  </a:solidFill>
                                  <a:latin typeface="Cambria Math" panose="02040503050406030204" pitchFamily="18" charset="0"/>
                                </a:rPr>
                                <m:t>→∞</m:t>
                              </m:r>
                            </m:lim>
                          </m:limLow>
                        </m:fName>
                        <m:e>
                          <m:sSup>
                            <m:sSupPr>
                              <m:ctrlPr>
                                <a:rPr lang="zh-CN" altLang="zh-CN" sz="1800" i="1">
                                  <a:solidFill>
                                    <a:srgbClr val="000000"/>
                                  </a:solidFill>
                                  <a:latin typeface="Cambria Math" panose="02040503050406030204" pitchFamily="18" charset="0"/>
                                </a:rPr>
                              </m:ctrlPr>
                            </m:sSupPr>
                            <m:e>
                              <m:d>
                                <m:dPr>
                                  <m:ctrlPr>
                                    <a:rPr lang="zh-CN" altLang="zh-CN" sz="1800" i="1">
                                      <a:solidFill>
                                        <a:srgbClr val="000000"/>
                                      </a:solidFill>
                                      <a:latin typeface="Cambria Math" panose="02040503050406030204" pitchFamily="18" charset="0"/>
                                    </a:rPr>
                                  </m:ctrlPr>
                                </m:dPr>
                                <m:e>
                                  <m:nary>
                                    <m:naryPr>
                                      <m:chr m:val="∑"/>
                                      <m:limLoc m:val="undOvr"/>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𝑘</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𝑚</m:t>
                                      </m:r>
                                    </m:sup>
                                    <m:e>
                                      <m:sSup>
                                        <m:sSupPr>
                                          <m:ctrlPr>
                                            <a:rPr lang="zh-CN" altLang="zh-CN" sz="1800" i="1">
                                              <a:solidFill>
                                                <a:srgbClr val="000000"/>
                                              </a:solidFill>
                                              <a:latin typeface="Cambria Math" panose="02040503050406030204" pitchFamily="18" charset="0"/>
                                            </a:rPr>
                                          </m:ctrlPr>
                                        </m:sSupPr>
                                        <m:e>
                                          <m:d>
                                            <m:dPr>
                                              <m:begChr m:val="|"/>
                                              <m:endChr m:val="|"/>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𝑖𝑘</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𝑗𝑘</m:t>
                                                  </m:r>
                                                </m:sub>
                                              </m:sSub>
                                            </m:e>
                                          </m:d>
                                        </m:e>
                                        <m:sup>
                                          <m:r>
                                            <a:rPr lang="en-US" altLang="zh-CN" sz="1800">
                                              <a:solidFill>
                                                <a:srgbClr val="000000"/>
                                              </a:solidFill>
                                              <a:latin typeface="Cambria Math" panose="02040503050406030204" pitchFamily="18" charset="0"/>
                                            </a:rPr>
                                            <m:t>𝑡</m:t>
                                          </m:r>
                                        </m:sup>
                                      </m:sSup>
                                    </m:e>
                                  </m:nary>
                                </m:e>
                              </m:d>
                            </m:e>
                            <m:sup>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1</m:t>
                                  </m:r>
                                </m:num>
                                <m:den>
                                  <m:r>
                                    <a:rPr lang="en-US" altLang="zh-CN" sz="1800">
                                      <a:solidFill>
                                        <a:srgbClr val="000000"/>
                                      </a:solidFill>
                                      <a:latin typeface="Cambria Math" panose="02040503050406030204" pitchFamily="18" charset="0"/>
                                    </a:rPr>
                                    <m:t>𝑡</m:t>
                                  </m:r>
                                </m:den>
                              </m:f>
                            </m:sup>
                          </m:sSup>
                        </m:e>
                      </m:func>
                    </m:oMath>
                  </m:oMathPara>
                </a14:m>
                <a:endParaRPr lang="en-US" altLang="zh-CN" sz="2000" dirty="0">
                  <a:solidFill>
                    <a:srgbClr val="000000"/>
                  </a:solidFill>
                </a:endParaRPr>
              </a:p>
            </p:txBody>
          </p:sp>
        </mc:Choice>
        <mc:Fallback>
          <p:sp>
            <p:nvSpPr>
              <p:cNvPr id="9" name="矩形 3"/>
              <p:cNvSpPr>
                <a:spLocks noRot="1" noChangeAspect="1" noMove="1" noResize="1" noEditPoints="1" noAdjustHandles="1" noChangeArrowheads="1" noChangeShapeType="1" noTextEdit="1"/>
              </p:cNvSpPr>
              <p:nvPr/>
            </p:nvSpPr>
            <p:spPr bwMode="auto">
              <a:xfrm>
                <a:off x="519430" y="1283970"/>
                <a:ext cx="8308975" cy="4908550"/>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pc="-100" dirty="0">
                <a:solidFill>
                  <a:srgbClr val="D2533C"/>
                </a:solidFill>
                <a:latin typeface="Arial" panose="020B0604020202020204"/>
                <a:ea typeface="华文新魏" panose="02010800040101010101" pitchFamily="2" charset="-122"/>
              </a:rPr>
              <a:t>距离函数的适用性</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l"/>
            </a:pPr>
            <a:r>
              <a:rPr lang="zh-CN" altLang="en-US"/>
              <a:t>如果特征都是数值连续且维度 &lt; 20，数据无异常值： 优先用欧式距离</a:t>
            </a:r>
            <a:endParaRPr lang="zh-CN" altLang="en-US"/>
          </a:p>
          <a:p>
            <a:pPr>
              <a:buFont typeface="Wingdings" panose="05000000000000000000" charset="0"/>
              <a:buChar char="l"/>
            </a:pPr>
            <a:r>
              <a:rPr lang="zh-CN" altLang="en-US"/>
              <a:t> 如果特征稀疏/二值/高维，数据有异常、噪声：优先用曼哈顿距离</a:t>
            </a:r>
            <a:endParaRPr lang="zh-CN" altLang="en-US"/>
          </a:p>
          <a:p>
            <a:pPr>
              <a:buFont typeface="Wingdings" panose="05000000000000000000" charset="0"/>
              <a:buChar char="l"/>
            </a:pPr>
            <a:r>
              <a:rPr lang="zh-CN" altLang="en-US"/>
              <a:t>如果希望“所有维度都不能差太多”：考虑切比雪夫距离</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内部指标</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3"/>
              <p:cNvSpPr>
                <a:spLocks noChangeArrowheads="1"/>
              </p:cNvSpPr>
              <p:nvPr/>
            </p:nvSpPr>
            <p:spPr bwMode="auto">
              <a:xfrm>
                <a:off x="971600" y="1283797"/>
                <a:ext cx="7776864" cy="540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000" dirty="0">
                    <a:solidFill>
                      <a:srgbClr val="000000"/>
                    </a:solidFill>
                  </a:rPr>
                  <a:t>根据空间中点的距离度量，可以得出以下</a:t>
                </a:r>
                <a:r>
                  <a:rPr lang="zh-CN" altLang="en-US" sz="2000" b="1" dirty="0">
                    <a:solidFill>
                      <a:srgbClr val="C00000"/>
                    </a:solidFill>
                  </a:rPr>
                  <a:t>聚类性能度量内部指标</a:t>
                </a:r>
                <a:r>
                  <a:rPr lang="zh-CN" altLang="en-US" sz="2000" dirty="0">
                    <a:solidFill>
                      <a:srgbClr val="000000"/>
                    </a:solidFill>
                  </a:rPr>
                  <a:t>：</a:t>
                </a:r>
                <a:endParaRPr lang="en-US" altLang="zh-CN" sz="2000" dirty="0">
                  <a:solidFill>
                    <a:srgbClr val="000000"/>
                  </a:solidFill>
                </a:endParaRPr>
              </a:p>
              <a:p>
                <a:r>
                  <a:rPr lang="zh-CN" altLang="zh-CN" sz="2000" b="1" dirty="0">
                    <a:solidFill>
                      <a:srgbClr val="C00000"/>
                    </a:solidFill>
                  </a:rPr>
                  <a:t>紧密度</a:t>
                </a:r>
                <a:r>
                  <a:rPr lang="zh-CN" altLang="zh-CN" sz="2000" dirty="0">
                    <a:solidFill>
                      <a:srgbClr val="000000"/>
                    </a:solidFill>
                  </a:rPr>
                  <a:t>（</a:t>
                </a:r>
                <a:r>
                  <a:rPr lang="en-US" altLang="zh-CN" sz="2000" dirty="0">
                    <a:solidFill>
                      <a:srgbClr val="000000"/>
                    </a:solidFill>
                  </a:rPr>
                  <a:t>Compactness</a:t>
                </a:r>
                <a:r>
                  <a:rPr lang="zh-CN" altLang="zh-CN" sz="2000" dirty="0">
                    <a:solidFill>
                      <a:srgbClr val="000000"/>
                    </a:solidFill>
                  </a:rPr>
                  <a:t>）是每个簇中的样本点到聚类中心的平均距离。对于有</a:t>
                </a:r>
                <a14:m>
                  <m:oMath xmlns:m="http://schemas.openxmlformats.org/officeDocument/2006/math">
                    <m:r>
                      <a:rPr lang="en-US" altLang="zh-CN" sz="2000">
                        <a:solidFill>
                          <a:srgbClr val="000000"/>
                        </a:solidFill>
                        <a:latin typeface="Cambria Math" panose="02040503050406030204" pitchFamily="18" charset="0"/>
                      </a:rPr>
                      <m:t>𝑛</m:t>
                    </m:r>
                  </m:oMath>
                </a14:m>
                <a:r>
                  <a:rPr lang="zh-CN" altLang="zh-CN" sz="2000" dirty="0">
                    <a:solidFill>
                      <a:srgbClr val="000000"/>
                    </a:solidFill>
                  </a:rPr>
                  <a:t>个样本点的簇</a:t>
                </a:r>
                <a14:m>
                  <m:oMath xmlns:m="http://schemas.openxmlformats.org/officeDocument/2006/math">
                    <m:r>
                      <a:rPr lang="en-US" altLang="zh-CN" sz="2000">
                        <a:solidFill>
                          <a:srgbClr val="000000"/>
                        </a:solidFill>
                        <a:latin typeface="Cambria Math" panose="02040503050406030204" pitchFamily="18" charset="0"/>
                      </a:rPr>
                      <m:t>𝐶</m:t>
                    </m:r>
                  </m:oMath>
                </a14:m>
                <a:r>
                  <a:rPr lang="zh-CN" altLang="zh-CN" sz="2000" dirty="0">
                    <a:solidFill>
                      <a:srgbClr val="000000"/>
                    </a:solidFill>
                  </a:rPr>
                  <a:t>来说，该簇的紧密度为：</a:t>
                </a:r>
                <a:endParaRPr lang="en-US" altLang="zh-CN" sz="2000" dirty="0">
                  <a:solidFill>
                    <a:srgbClr val="000000"/>
                  </a:solidFill>
                </a:endParaRPr>
              </a:p>
              <a:p>
                <a:pPr marL="0" indent="0" algn="ctr">
                  <a:buNone/>
                </a:pP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𝐶𝑃</m:t>
                        </m:r>
                      </m:e>
                      <m:sub>
                        <m:r>
                          <a:rPr lang="en-US" altLang="zh-CN" sz="2000">
                            <a:solidFill>
                              <a:srgbClr val="000000"/>
                            </a:solidFill>
                            <a:latin typeface="Cambria Math" panose="02040503050406030204" pitchFamily="18" charset="0"/>
                          </a:rPr>
                          <m:t>𝑐</m:t>
                        </m:r>
                      </m:sub>
                    </m:sSub>
                    <m:r>
                      <a:rPr lang="en-US" altLang="zh-CN" sz="2000">
                        <a:solidFill>
                          <a:srgbClr val="000000"/>
                        </a:solidFill>
                        <a:latin typeface="Cambria Math" panose="02040503050406030204" pitchFamily="18" charset="0"/>
                      </a:rPr>
                      <m:t>=</m:t>
                    </m:r>
                    <m:f>
                      <m:fPr>
                        <m:ctrlPr>
                          <a:rPr lang="zh-CN" altLang="zh-CN" sz="2000" i="1">
                            <a:solidFill>
                              <a:srgbClr val="000000"/>
                            </a:solidFill>
                            <a:latin typeface="Cambria Math" panose="02040503050406030204" pitchFamily="18" charset="0"/>
                          </a:rPr>
                        </m:ctrlPr>
                      </m:fPr>
                      <m:num>
                        <m:r>
                          <a:rPr lang="en-US" altLang="zh-CN" sz="2000">
                            <a:solidFill>
                              <a:srgbClr val="000000"/>
                            </a:solidFill>
                            <a:latin typeface="Cambria Math" panose="02040503050406030204" pitchFamily="18" charset="0"/>
                          </a:rPr>
                          <m:t>1</m:t>
                        </m:r>
                      </m:num>
                      <m:den>
                        <m:r>
                          <a:rPr lang="en-US" altLang="zh-CN" sz="2000">
                            <a:solidFill>
                              <a:srgbClr val="000000"/>
                            </a:solidFill>
                            <a:latin typeface="Cambria Math" panose="02040503050406030204" pitchFamily="18" charset="0"/>
                          </a:rPr>
                          <m:t>𝑛</m:t>
                        </m:r>
                      </m:den>
                    </m:f>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𝑛</m:t>
                        </m:r>
                      </m:sup>
                      <m:e>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𝐶</m:t>
                            </m:r>
                          </m:e>
                        </m:d>
                      </m:e>
                    </m:nary>
                  </m:oMath>
                </a14:m>
                <a:r>
                  <a:rPr lang="zh-CN" altLang="en-US" sz="2000" dirty="0">
                    <a:solidFill>
                      <a:srgbClr val="000000"/>
                    </a:solidFill>
                  </a:rPr>
                  <a:t>，</a:t>
                </a:r>
                <a:r>
                  <a:rPr lang="zh-CN" altLang="zh-CN" sz="2000" dirty="0">
                    <a:solidFill>
                      <a:srgbClr val="000000"/>
                    </a:solidFill>
                  </a:rPr>
                  <a:t>其中</a:t>
                </a:r>
                <a14:m>
                  <m:oMath xmlns:m="http://schemas.openxmlformats.org/officeDocument/2006/math">
                    <m:r>
                      <a:rPr lang="en-US" sz="2000" i="1">
                        <a:solidFill>
                          <a:srgbClr val="000000"/>
                        </a:solidFill>
                        <a:latin typeface="Cambria Math" panose="02040503050406030204" pitchFamily="18" charset="0"/>
                      </a:rPr>
                      <m:t>𝐶</m:t>
                    </m:r>
                  </m:oMath>
                </a14:m>
                <a:r>
                  <a:rPr lang="zh-CN" altLang="zh-CN" sz="2000" dirty="0">
                    <a:solidFill>
                      <a:srgbClr val="000000"/>
                    </a:solidFill>
                  </a:rPr>
                  <a:t>为簇</a:t>
                </a:r>
                <a14:m>
                  <m:oMath xmlns:m="http://schemas.openxmlformats.org/officeDocument/2006/math">
                    <m:r>
                      <a:rPr lang="en-US" altLang="zh-CN" sz="2000">
                        <a:solidFill>
                          <a:srgbClr val="000000"/>
                        </a:solidFill>
                        <a:latin typeface="Cambria Math" panose="02040503050406030204" pitchFamily="18" charset="0"/>
                      </a:rPr>
                      <m:t>𝑐</m:t>
                    </m:r>
                  </m:oMath>
                </a14:m>
                <a:r>
                  <a:rPr lang="zh-CN" altLang="zh-CN" sz="2000" dirty="0">
                    <a:solidFill>
                      <a:srgbClr val="000000"/>
                    </a:solidFill>
                  </a:rPr>
                  <a:t>的聚类中心</a:t>
                </a:r>
                <a:endParaRPr lang="en-US" altLang="zh-CN" sz="2000" dirty="0">
                  <a:solidFill>
                    <a:srgbClr val="000000"/>
                  </a:solidFill>
                </a:endParaRPr>
              </a:p>
              <a:p>
                <a:pPr marL="457200" lvl="1" indent="0" algn="just">
                  <a:buNone/>
                </a:pPr>
                <a:r>
                  <a:rPr lang="zh-CN" altLang="zh-CN" sz="2000" dirty="0">
                    <a:solidFill>
                      <a:srgbClr val="000000"/>
                    </a:solidFill>
                  </a:rPr>
                  <a:t>对于聚类结果，需要使用所有簇紧密度的平均值来衡量聚类结果的好坏，假设总共有</a:t>
                </a:r>
                <a14:m>
                  <m:oMath xmlns:m="http://schemas.openxmlformats.org/officeDocument/2006/math">
                    <m:r>
                      <a:rPr lang="en-US" altLang="zh-CN" sz="2000">
                        <a:solidFill>
                          <a:srgbClr val="000000"/>
                        </a:solidFill>
                        <a:latin typeface="Cambria Math" panose="02040503050406030204" pitchFamily="18" charset="0"/>
                      </a:rPr>
                      <m:t>𝑘</m:t>
                    </m:r>
                  </m:oMath>
                </a14:m>
                <a:r>
                  <a:rPr lang="zh-CN" altLang="zh-CN" sz="2000" dirty="0">
                    <a:solidFill>
                      <a:srgbClr val="000000"/>
                    </a:solidFill>
                  </a:rPr>
                  <a:t>个簇</a:t>
                </a:r>
                <a:r>
                  <a:rPr lang="zh-CN" altLang="en-US" sz="2000" dirty="0">
                    <a:solidFill>
                      <a:srgbClr val="000000"/>
                    </a:solidFill>
                  </a:rPr>
                  <a:t>：</a:t>
                </a:r>
                <a14:m>
                  <m:oMath xmlns:m="http://schemas.openxmlformats.org/officeDocument/2006/math">
                    <m:r>
                      <a:rPr lang="en-US" altLang="zh-CN" sz="2000">
                        <a:solidFill>
                          <a:srgbClr val="000000"/>
                        </a:solidFill>
                        <a:latin typeface="Cambria Math" panose="02040503050406030204" pitchFamily="18" charset="0"/>
                      </a:rPr>
                      <m:t>𝐶𝑃</m:t>
                    </m:r>
                    <m:r>
                      <a:rPr lang="en-US" altLang="zh-CN" sz="2000">
                        <a:solidFill>
                          <a:srgbClr val="000000"/>
                        </a:solidFill>
                        <a:latin typeface="Cambria Math" panose="02040503050406030204" pitchFamily="18" charset="0"/>
                      </a:rPr>
                      <m:t>=</m:t>
                    </m:r>
                    <m:f>
                      <m:fPr>
                        <m:ctrlPr>
                          <a:rPr lang="zh-CN" altLang="zh-CN" sz="2000" i="1">
                            <a:solidFill>
                              <a:srgbClr val="000000"/>
                            </a:solidFill>
                            <a:latin typeface="Cambria Math" panose="02040503050406030204" pitchFamily="18" charset="0"/>
                          </a:rPr>
                        </m:ctrlPr>
                      </m:fPr>
                      <m:num>
                        <m:r>
                          <a:rPr lang="en-US" altLang="zh-CN" sz="2000">
                            <a:solidFill>
                              <a:srgbClr val="000000"/>
                            </a:solidFill>
                            <a:latin typeface="Cambria Math" panose="02040503050406030204" pitchFamily="18" charset="0"/>
                          </a:rPr>
                          <m:t>1</m:t>
                        </m:r>
                      </m:num>
                      <m:den>
                        <m:r>
                          <a:rPr lang="en-US" altLang="zh-CN" sz="2000">
                            <a:solidFill>
                              <a:srgbClr val="000000"/>
                            </a:solidFill>
                            <a:latin typeface="Cambria Math" panose="02040503050406030204" pitchFamily="18" charset="0"/>
                          </a:rPr>
                          <m:t>𝑘</m:t>
                        </m:r>
                      </m:den>
                    </m:f>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𝑘</m:t>
                        </m:r>
                      </m:sup>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𝐶𝑃</m:t>
                            </m:r>
                          </m:e>
                          <m:sub>
                            <m:r>
                              <a:rPr lang="en-US" altLang="zh-CN" sz="2000">
                                <a:solidFill>
                                  <a:srgbClr val="000000"/>
                                </a:solidFill>
                                <a:latin typeface="Cambria Math" panose="02040503050406030204" pitchFamily="18" charset="0"/>
                              </a:rPr>
                              <m:t>𝑖</m:t>
                            </m:r>
                          </m:sub>
                        </m:sSub>
                      </m:e>
                    </m:nary>
                  </m:oMath>
                </a14:m>
                <a:r>
                  <a:rPr lang="zh-CN" altLang="en-US" sz="2000" dirty="0">
                    <a:solidFill>
                      <a:srgbClr val="000000"/>
                    </a:solidFill>
                  </a:rPr>
                  <a:t>，</a:t>
                </a:r>
                <a:r>
                  <a:rPr lang="zh-CN" altLang="zh-CN" sz="2000" dirty="0">
                    <a:solidFill>
                      <a:srgbClr val="000000"/>
                    </a:solidFill>
                  </a:rPr>
                  <a:t>紧密度的值越小，表示簇内样本点的距离越近，即簇内样本的相似度越高</a:t>
                </a:r>
                <a:endParaRPr lang="en-US" altLang="zh-CN" sz="2000" dirty="0">
                  <a:solidFill>
                    <a:srgbClr val="000000"/>
                  </a:solidFill>
                </a:endParaRPr>
              </a:p>
              <a:p>
                <a:pPr marL="457200" lvl="1" indent="0">
                  <a:buNone/>
                </a:pPr>
                <a:endParaRPr lang="en-US" altLang="zh-CN" sz="2000" dirty="0">
                  <a:solidFill>
                    <a:srgbClr val="000000"/>
                  </a:solidFill>
                </a:endParaRPr>
              </a:p>
              <a:p>
                <a:r>
                  <a:rPr lang="zh-CN" altLang="zh-CN" sz="2000" b="1" dirty="0">
                    <a:solidFill>
                      <a:srgbClr val="C00000"/>
                    </a:solidFill>
                  </a:rPr>
                  <a:t>分隔度</a:t>
                </a:r>
                <a:r>
                  <a:rPr lang="zh-CN" altLang="zh-CN" sz="2000" dirty="0">
                    <a:solidFill>
                      <a:srgbClr val="000000"/>
                    </a:solidFill>
                  </a:rPr>
                  <a:t>（</a:t>
                </a:r>
                <a:r>
                  <a:rPr lang="en-US" altLang="zh-CN" sz="2000" dirty="0" err="1">
                    <a:solidFill>
                      <a:srgbClr val="000000"/>
                    </a:solidFill>
                  </a:rPr>
                  <a:t>Seperation</a:t>
                </a:r>
                <a:r>
                  <a:rPr lang="zh-CN" altLang="zh-CN" sz="2000" dirty="0">
                    <a:solidFill>
                      <a:srgbClr val="000000"/>
                    </a:solidFill>
                  </a:rPr>
                  <a:t>）是各簇的聚类中心</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𝑖</m:t>
                        </m:r>
                      </m:sub>
                    </m:sSub>
                    <m:r>
                      <a:rPr lang="zh-CN"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两两之间的平均距离，其计算公式如下：</a:t>
                </a:r>
                <a:endParaRPr lang="zh-CN" altLang="zh-CN" sz="2000" dirty="0">
                  <a:solidFill>
                    <a:srgbClr val="000000"/>
                  </a:solidFill>
                </a:endParaRPr>
              </a:p>
              <a:p>
                <a:pPr marL="0" indent="0" algn="ctr">
                  <a:buNone/>
                </a:pPr>
                <a14:m>
                  <m:oMath xmlns:m="http://schemas.openxmlformats.org/officeDocument/2006/math">
                    <m:r>
                      <a:rPr lang="en-US" altLang="zh-CN" sz="2000">
                        <a:solidFill>
                          <a:srgbClr val="000000"/>
                        </a:solidFill>
                        <a:latin typeface="Cambria Math" panose="02040503050406030204" pitchFamily="18" charset="0"/>
                      </a:rPr>
                      <m:t>𝑆𝑃</m:t>
                    </m:r>
                    <m:r>
                      <a:rPr lang="en-US" altLang="zh-CN" sz="2000">
                        <a:solidFill>
                          <a:srgbClr val="000000"/>
                        </a:solidFill>
                        <a:latin typeface="Cambria Math" panose="02040503050406030204" pitchFamily="18" charset="0"/>
                      </a:rPr>
                      <m:t>=</m:t>
                    </m:r>
                    <m:f>
                      <m:fPr>
                        <m:ctrlPr>
                          <a:rPr lang="zh-CN" altLang="zh-CN" sz="2000" i="1">
                            <a:solidFill>
                              <a:srgbClr val="000000"/>
                            </a:solidFill>
                            <a:latin typeface="Cambria Math" panose="02040503050406030204" pitchFamily="18" charset="0"/>
                          </a:rPr>
                        </m:ctrlPr>
                      </m:fPr>
                      <m:num>
                        <m:r>
                          <a:rPr lang="en-US" altLang="zh-CN" sz="2000">
                            <a:solidFill>
                              <a:srgbClr val="000000"/>
                            </a:solidFill>
                            <a:latin typeface="Cambria Math" panose="02040503050406030204" pitchFamily="18" charset="0"/>
                          </a:rPr>
                          <m:t>2</m:t>
                        </m:r>
                      </m:num>
                      <m:den>
                        <m:sSup>
                          <m:sSupPr>
                            <m:ctrlPr>
                              <a:rPr lang="zh-CN" altLang="zh-CN" sz="2000" i="1">
                                <a:solidFill>
                                  <a:srgbClr val="000000"/>
                                </a:solidFill>
                                <a:latin typeface="Cambria Math" panose="02040503050406030204" pitchFamily="18" charset="0"/>
                              </a:rPr>
                            </m:ctrlPr>
                          </m:sSupPr>
                          <m:e>
                            <m:r>
                              <a:rPr lang="en-US" altLang="zh-CN" sz="2000">
                                <a:solidFill>
                                  <a:srgbClr val="000000"/>
                                </a:solidFill>
                                <a:latin typeface="Cambria Math" panose="02040503050406030204" pitchFamily="18" charset="0"/>
                              </a:rPr>
                              <m:t>𝑘</m:t>
                            </m:r>
                          </m:e>
                          <m:sup>
                            <m:r>
                              <a:rPr lang="en-US" altLang="zh-CN" sz="2000">
                                <a:solidFill>
                                  <a:srgbClr val="000000"/>
                                </a:solidFill>
                                <a:latin typeface="Cambria Math" panose="02040503050406030204" pitchFamily="18" charset="0"/>
                              </a:rPr>
                              <m:t>2</m:t>
                            </m:r>
                          </m:sup>
                        </m:sSup>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𝑘</m:t>
                        </m:r>
                      </m:den>
                    </m:f>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𝑘</m:t>
                        </m:r>
                      </m:sup>
                      <m:e>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𝑗</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𝑘</m:t>
                            </m:r>
                          </m:sup>
                          <m:e>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𝑗</m:t>
                                    </m:r>
                                  </m:sub>
                                </m:sSub>
                              </m:e>
                            </m:d>
                          </m:e>
                        </m:nary>
                      </m:e>
                    </m:nary>
                  </m:oMath>
                </a14:m>
                <a:r>
                  <a:rPr lang="en-US" altLang="zh-CN" sz="2000" dirty="0">
                    <a:solidFill>
                      <a:srgbClr val="000000"/>
                    </a:solidFill>
                  </a:rPr>
                  <a:t>	</a:t>
                </a:r>
                <a:endParaRPr lang="en-US" altLang="zh-CN" sz="2000" dirty="0">
                  <a:solidFill>
                    <a:srgbClr val="000000"/>
                  </a:solidFill>
                </a:endParaRPr>
              </a:p>
              <a:p>
                <a:pPr marL="400050" lvl="1" indent="0" algn="just">
                  <a:buNone/>
                </a:pPr>
                <a:r>
                  <a:rPr lang="zh-CN" altLang="zh-CN" sz="2000" dirty="0">
                    <a:solidFill>
                      <a:srgbClr val="000000"/>
                    </a:solidFill>
                  </a:rPr>
                  <a:t>分隔度的值越大，表示各聚类中心相互之间的距离越远，即簇间相似度越低</a:t>
                </a:r>
                <a:endParaRPr lang="zh-CN" altLang="zh-CN" sz="2000" dirty="0">
                  <a:solidFill>
                    <a:srgbClr val="000000"/>
                  </a:solidFill>
                </a:endParaRPr>
              </a:p>
              <a:p>
                <a:endParaRPr lang="zh-CN" altLang="zh-CN" sz="2000" dirty="0">
                  <a:solidFill>
                    <a:srgbClr val="000000"/>
                  </a:solidFill>
                </a:endParaRPr>
              </a:p>
            </p:txBody>
          </p:sp>
        </mc:Choice>
        <mc:Fallback>
          <p:sp>
            <p:nvSpPr>
              <p:cNvPr id="9" name="矩形 3"/>
              <p:cNvSpPr>
                <a:spLocks noRot="1" noChangeAspect="1" noMove="1" noResize="1" noEditPoints="1" noAdjustHandles="1" noChangeArrowheads="1" noChangeShapeType="1" noTextEdit="1"/>
              </p:cNvSpPr>
              <p:nvPr/>
            </p:nvSpPr>
            <p:spPr bwMode="auto">
              <a:xfrm>
                <a:off x="971600" y="1283797"/>
                <a:ext cx="7776864" cy="5405755"/>
              </a:xfrm>
              <a:prstGeom prst="rect">
                <a:avLst/>
              </a:prstGeom>
              <a:blipFill rotWithShape="1">
                <a:blip r:embed="rId1"/>
                <a:stretch>
                  <a:fillRect l="-1" t="-9" r="1"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内部指标</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3"/>
              <p:cNvSpPr>
                <a:spLocks noChangeArrowheads="1"/>
              </p:cNvSpPr>
              <p:nvPr/>
            </p:nvSpPr>
            <p:spPr bwMode="auto">
              <a:xfrm>
                <a:off x="971600" y="1283797"/>
                <a:ext cx="7776864" cy="4483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zh-CN" sz="2000" dirty="0">
                    <a:solidFill>
                      <a:srgbClr val="000000"/>
                    </a:solidFill>
                  </a:rPr>
                  <a:t>戴维森堡丁指数（</a:t>
                </a:r>
                <a:r>
                  <a:rPr lang="en-US" altLang="zh-CN" sz="2000" dirty="0">
                    <a:solidFill>
                      <a:srgbClr val="000000"/>
                    </a:solidFill>
                  </a:rPr>
                  <a:t>Davies-</a:t>
                </a:r>
                <a:r>
                  <a:rPr lang="en-US" altLang="zh-CN" sz="2000" dirty="0" err="1">
                    <a:solidFill>
                      <a:srgbClr val="000000"/>
                    </a:solidFill>
                  </a:rPr>
                  <a:t>Bouldin</a:t>
                </a:r>
                <a:r>
                  <a:rPr lang="en-US" altLang="zh-CN" sz="2000" dirty="0">
                    <a:solidFill>
                      <a:srgbClr val="000000"/>
                    </a:solidFill>
                  </a:rPr>
                  <a:t> Index</a:t>
                </a:r>
                <a:r>
                  <a:rPr lang="zh-CN" altLang="zh-CN" sz="2000" dirty="0">
                    <a:solidFill>
                      <a:srgbClr val="000000"/>
                    </a:solidFill>
                  </a:rPr>
                  <a:t>，</a:t>
                </a:r>
                <a:r>
                  <a:rPr lang="en-US" altLang="zh-CN" sz="2000" dirty="0">
                    <a:solidFill>
                      <a:srgbClr val="000000"/>
                    </a:solidFill>
                  </a:rPr>
                  <a:t>DBI</a:t>
                </a:r>
                <a:r>
                  <a:rPr lang="zh-CN" altLang="zh-CN" sz="2000" dirty="0">
                    <a:solidFill>
                      <a:srgbClr val="000000"/>
                    </a:solidFill>
                  </a:rPr>
                  <a:t>）</a:t>
                </a:r>
                <a:r>
                  <a:rPr lang="zh-CN" altLang="en-US" sz="2000" dirty="0">
                    <a:solidFill>
                      <a:srgbClr val="000000"/>
                    </a:solidFill>
                  </a:rPr>
                  <a:t>：</a:t>
                </a:r>
                <a:endParaRPr lang="en-US" altLang="zh-CN" sz="2000" dirty="0">
                  <a:solidFill>
                    <a:srgbClr val="000000"/>
                  </a:solidFill>
                </a:endParaRPr>
              </a:p>
              <a:p>
                <a:r>
                  <a:rPr lang="zh-CN" altLang="zh-CN" sz="2000" dirty="0">
                    <a:solidFill>
                      <a:srgbClr val="000000"/>
                    </a:solidFill>
                  </a:rPr>
                  <a:t>衡量任意两个簇的簇内距离之和与簇间距离之比，求最大值。首先定义簇中</a:t>
                </a:r>
                <a14:m>
                  <m:oMath xmlns:m="http://schemas.openxmlformats.org/officeDocument/2006/math">
                    <m:r>
                      <a:rPr lang="en-US" altLang="zh-CN" sz="2000">
                        <a:solidFill>
                          <a:srgbClr val="000000"/>
                        </a:solidFill>
                        <a:latin typeface="Cambria Math" panose="02040503050406030204" pitchFamily="18" charset="0"/>
                      </a:rPr>
                      <m:t>𝑛</m:t>
                    </m:r>
                  </m:oMath>
                </a14:m>
                <a:r>
                  <a:rPr lang="zh-CN" altLang="zh-CN" sz="2000" dirty="0">
                    <a:solidFill>
                      <a:srgbClr val="000000"/>
                    </a:solidFill>
                  </a:rPr>
                  <a:t>个</a:t>
                </a:r>
                <a14:m>
                  <m:oMath xmlns:m="http://schemas.openxmlformats.org/officeDocument/2006/math">
                    <m:r>
                      <a:rPr lang="en-US" altLang="zh-CN" sz="2000">
                        <a:solidFill>
                          <a:srgbClr val="000000"/>
                        </a:solidFill>
                        <a:latin typeface="Cambria Math" panose="02040503050406030204" pitchFamily="18" charset="0"/>
                      </a:rPr>
                      <m:t>𝑚</m:t>
                    </m:r>
                  </m:oMath>
                </a14:m>
                <a:r>
                  <a:rPr lang="zh-CN" altLang="zh-CN" sz="2000" dirty="0">
                    <a:solidFill>
                      <a:srgbClr val="000000"/>
                    </a:solidFill>
                  </a:rPr>
                  <a:t>维样本点之间的平均距离</a:t>
                </a:r>
                <a14:m>
                  <m:oMath xmlns:m="http://schemas.openxmlformats.org/officeDocument/2006/math">
                    <m:r>
                      <a:rPr lang="en-US" altLang="zh-CN" sz="2000">
                        <a:solidFill>
                          <a:srgbClr val="000000"/>
                        </a:solidFill>
                        <a:latin typeface="Cambria Math" panose="02040503050406030204" pitchFamily="18" charset="0"/>
                      </a:rPr>
                      <m:t>𝑎𝑣𝑔</m:t>
                    </m:r>
                  </m:oMath>
                </a14:m>
                <a:endParaRPr lang="zh-CN"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𝑎𝑣𝑔</m:t>
                      </m:r>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2</m:t>
                          </m:r>
                        </m:num>
                        <m:den>
                          <m:r>
                            <a:rPr lang="en-US" altLang="zh-CN" sz="1800">
                              <a:solidFill>
                                <a:srgbClr val="000000"/>
                              </a:solidFill>
                              <a:latin typeface="Cambria Math" panose="02040503050406030204" pitchFamily="18" charset="0"/>
                            </a:rPr>
                            <m:t>𝑛</m:t>
                          </m:r>
                          <m:d>
                            <m:dPr>
                              <m:ctrlPr>
                                <a:rPr lang="zh-CN" altLang="zh-CN" sz="1800" i="1">
                                  <a:solidFill>
                                    <a:srgbClr val="000000"/>
                                  </a:solidFill>
                                  <a:latin typeface="Cambria Math" panose="02040503050406030204" pitchFamily="18" charset="0"/>
                                </a:rPr>
                              </m:ctrlPr>
                            </m:dPr>
                            <m:e>
                              <m:r>
                                <a:rPr lang="en-US" altLang="zh-CN" sz="1800">
                                  <a:solidFill>
                                    <a:srgbClr val="000000"/>
                                  </a:solidFill>
                                  <a:latin typeface="Cambria Math" panose="02040503050406030204" pitchFamily="18" charset="0"/>
                                </a:rPr>
                                <m:t>𝑛</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e>
                          </m:d>
                        </m:den>
                      </m:f>
                      <m:nary>
                        <m:naryPr>
                          <m:chr m:val="∑"/>
                          <m:limLoc m:val="subSup"/>
                          <m:supHide m:val="on"/>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1</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𝑖</m:t>
                          </m:r>
                          <m:r>
                            <a:rPr lang="en-US" altLang="zh-CN" sz="1800">
                              <a:solidFill>
                                <a:srgbClr val="000000"/>
                              </a:solidFill>
                              <a:latin typeface="Cambria Math" panose="02040503050406030204" pitchFamily="18" charset="0"/>
                            </a:rPr>
                            <m:t>&lt;</m:t>
                          </m:r>
                          <m:r>
                            <a:rPr lang="en-US" altLang="zh-CN" sz="1800">
                              <a:solidFill>
                                <a:srgbClr val="000000"/>
                              </a:solidFill>
                              <a:latin typeface="Cambria Math" panose="02040503050406030204" pitchFamily="18" charset="0"/>
                            </a:rPr>
                            <m:t>𝑗</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𝑛</m:t>
                          </m:r>
                        </m:sub>
                        <m:sup/>
                        <m:e>
                          <m:rad>
                            <m:radPr>
                              <m:degHide m:val="on"/>
                              <m:ctrlPr>
                                <a:rPr lang="zh-CN" altLang="zh-CN" sz="1800" i="1">
                                  <a:solidFill>
                                    <a:srgbClr val="000000"/>
                                  </a:solidFill>
                                  <a:latin typeface="Cambria Math" panose="02040503050406030204" pitchFamily="18" charset="0"/>
                                </a:rPr>
                              </m:ctrlPr>
                            </m:radPr>
                            <m:deg/>
                            <m:e>
                              <m:nary>
                                <m:naryPr>
                                  <m:chr m:val="∑"/>
                                  <m:limLoc m:val="undOvr"/>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𝑡</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𝑚</m:t>
                                  </m:r>
                                </m:sup>
                                <m:e>
                                  <m:sSup>
                                    <m:sSupPr>
                                      <m:ctrlPr>
                                        <a:rPr lang="zh-CN" altLang="zh-CN" sz="1800" i="1">
                                          <a:solidFill>
                                            <a:srgbClr val="000000"/>
                                          </a:solidFill>
                                          <a:latin typeface="Cambria Math" panose="02040503050406030204" pitchFamily="18" charset="0"/>
                                        </a:rPr>
                                      </m:ctrlPr>
                                    </m:sSupPr>
                                    <m:e>
                                      <m:d>
                                        <m:dPr>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𝑖𝑡</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𝑥</m:t>
                                              </m:r>
                                            </m:e>
                                            <m:sub>
                                              <m:r>
                                                <a:rPr lang="en-US" altLang="zh-CN" sz="1800">
                                                  <a:solidFill>
                                                    <a:srgbClr val="000000"/>
                                                  </a:solidFill>
                                                  <a:latin typeface="Cambria Math" panose="02040503050406030204" pitchFamily="18" charset="0"/>
                                                </a:rPr>
                                                <m:t>𝑗𝑡</m:t>
                                              </m:r>
                                            </m:sub>
                                          </m:sSub>
                                        </m:e>
                                      </m:d>
                                    </m:e>
                                    <m:sup>
                                      <m:r>
                                        <a:rPr lang="en-US" altLang="zh-CN" sz="1800">
                                          <a:solidFill>
                                            <a:srgbClr val="000000"/>
                                          </a:solidFill>
                                          <a:latin typeface="Cambria Math" panose="02040503050406030204" pitchFamily="18" charset="0"/>
                                        </a:rPr>
                                        <m:t>2</m:t>
                                      </m:r>
                                    </m:sup>
                                  </m:sSup>
                                </m:e>
                              </m:nary>
                            </m:e>
                          </m:rad>
                        </m:e>
                      </m:nary>
                    </m:oMath>
                  </m:oMathPara>
                </a14:m>
                <a:endParaRPr lang="zh-CN" altLang="zh-CN" sz="1800" dirty="0">
                  <a:solidFill>
                    <a:srgbClr val="000000"/>
                  </a:solidFill>
                </a:endParaRPr>
              </a:p>
              <a:p>
                <a:r>
                  <a:rPr lang="zh-CN" altLang="zh-CN" sz="2000" dirty="0">
                    <a:solidFill>
                      <a:srgbClr val="000000"/>
                    </a:solidFill>
                  </a:rPr>
                  <a:t>根据两个簇内样本间的平均距离，可以得出戴维森堡丁指数的计算公式如下，其中</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𝑖</m:t>
                        </m:r>
                      </m:sub>
                    </m:sSub>
                    <m:r>
                      <a:rPr lang="zh-CN"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表示簇</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的聚类中心</a:t>
                </a:r>
                <a:endParaRPr lang="zh-CN"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a:solidFill>
                            <a:srgbClr val="000000"/>
                          </a:solidFill>
                          <a:latin typeface="Cambria Math" panose="02040503050406030204" pitchFamily="18" charset="0"/>
                        </a:rPr>
                        <m:t>𝐷𝐵𝐼</m:t>
                      </m:r>
                      <m:r>
                        <a:rPr lang="en-US" altLang="zh-CN" sz="1800">
                          <a:solidFill>
                            <a:srgbClr val="000000"/>
                          </a:solidFill>
                          <a:latin typeface="Cambria Math" panose="02040503050406030204" pitchFamily="18" charset="0"/>
                        </a:rPr>
                        <m:t>=</m:t>
                      </m:r>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1</m:t>
                          </m:r>
                        </m:num>
                        <m:den>
                          <m:r>
                            <a:rPr lang="en-US" altLang="zh-CN" sz="1800">
                              <a:solidFill>
                                <a:srgbClr val="000000"/>
                              </a:solidFill>
                              <a:latin typeface="Cambria Math" panose="02040503050406030204" pitchFamily="18" charset="0"/>
                            </a:rPr>
                            <m:t>𝑘</m:t>
                          </m:r>
                        </m:den>
                      </m:f>
                      <m:nary>
                        <m:naryPr>
                          <m:chr m:val="∑"/>
                          <m:limLoc m:val="undOvr"/>
                          <m:ctrlPr>
                            <a:rPr lang="zh-CN" altLang="zh-CN" sz="1800" i="1">
                              <a:solidFill>
                                <a:srgbClr val="000000"/>
                              </a:solidFill>
                              <a:latin typeface="Cambria Math" panose="02040503050406030204" pitchFamily="18" charset="0"/>
                            </a:rPr>
                          </m:ctrlPr>
                        </m:naryPr>
                        <m:sub>
                          <m:r>
                            <a:rPr lang="en-US" altLang="zh-CN" sz="1800">
                              <a:solidFill>
                                <a:srgbClr val="000000"/>
                              </a:solidFill>
                              <a:latin typeface="Cambria Math" panose="02040503050406030204" pitchFamily="18" charset="0"/>
                            </a:rPr>
                            <m:t>𝑖</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1</m:t>
                          </m:r>
                        </m:sub>
                        <m:sup>
                          <m:r>
                            <a:rPr lang="en-US" altLang="zh-CN" sz="1800">
                              <a:solidFill>
                                <a:srgbClr val="000000"/>
                              </a:solidFill>
                              <a:latin typeface="Cambria Math" panose="02040503050406030204" pitchFamily="18" charset="0"/>
                            </a:rPr>
                            <m:t>𝑘</m:t>
                          </m:r>
                        </m:sup>
                        <m:e>
                          <m:func>
                            <m:funcPr>
                              <m:ctrlPr>
                                <a:rPr lang="zh-CN" altLang="zh-CN" sz="1800" i="1">
                                  <a:solidFill>
                                    <a:srgbClr val="000000"/>
                                  </a:solidFill>
                                  <a:latin typeface="Cambria Math" panose="02040503050406030204" pitchFamily="18" charset="0"/>
                                </a:rPr>
                              </m:ctrlPr>
                            </m:funcPr>
                            <m:fName>
                              <m:limLow>
                                <m:limLowPr>
                                  <m:ctrlPr>
                                    <a:rPr lang="zh-CN" altLang="zh-CN" sz="1800" i="1">
                                      <a:solidFill>
                                        <a:srgbClr val="000000"/>
                                      </a:solidFill>
                                      <a:latin typeface="Cambria Math" panose="02040503050406030204" pitchFamily="18" charset="0"/>
                                    </a:rPr>
                                  </m:ctrlPr>
                                </m:limLowPr>
                                <m:e>
                                  <m:r>
                                    <m:rPr>
                                      <m:sty m:val="p"/>
                                    </m:rPr>
                                    <a:rPr lang="en-US" altLang="zh-CN" sz="1800">
                                      <a:solidFill>
                                        <a:srgbClr val="000000"/>
                                      </a:solidFill>
                                      <a:latin typeface="Cambria Math" panose="02040503050406030204" pitchFamily="18" charset="0"/>
                                    </a:rPr>
                                    <m:t>max</m:t>
                                  </m:r>
                                </m:e>
                                <m:lim>
                                  <m:r>
                                    <a:rPr lang="en-US" altLang="zh-CN" sz="1800">
                                      <a:solidFill>
                                        <a:srgbClr val="000000"/>
                                      </a:solidFill>
                                      <a:latin typeface="Cambria Math" panose="02040503050406030204" pitchFamily="18" charset="0"/>
                                    </a:rPr>
                                    <m:t>𝑗</m:t>
                                  </m:r>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𝑖</m:t>
                                  </m:r>
                                </m:lim>
                              </m:limLow>
                            </m:fName>
                            <m:e>
                              <m:d>
                                <m:dPr>
                                  <m:ctrlPr>
                                    <a:rPr lang="zh-CN" altLang="zh-CN" sz="1800" i="1">
                                      <a:solidFill>
                                        <a:srgbClr val="000000"/>
                                      </a:solidFill>
                                      <a:latin typeface="Cambria Math" panose="02040503050406030204" pitchFamily="18" charset="0"/>
                                    </a:rPr>
                                  </m:ctrlPr>
                                </m:dPr>
                                <m:e>
                                  <m:f>
                                    <m:fPr>
                                      <m:ctrlPr>
                                        <a:rPr lang="zh-CN" altLang="zh-CN" sz="1800" i="1">
                                          <a:solidFill>
                                            <a:srgbClr val="000000"/>
                                          </a:solidFill>
                                          <a:latin typeface="Cambria Math" panose="02040503050406030204" pitchFamily="18" charset="0"/>
                                        </a:rPr>
                                      </m:ctrlPr>
                                    </m:fPr>
                                    <m:num>
                                      <m:r>
                                        <a:rPr lang="en-US" altLang="zh-CN" sz="1800">
                                          <a:solidFill>
                                            <a:srgbClr val="000000"/>
                                          </a:solidFill>
                                          <a:latin typeface="Cambria Math" panose="02040503050406030204" pitchFamily="18" charset="0"/>
                                        </a:rPr>
                                        <m:t>𝑎𝑣𝑔</m:t>
                                      </m:r>
                                      <m:d>
                                        <m:dPr>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𝐶</m:t>
                                              </m:r>
                                            </m:e>
                                            <m:sub>
                                              <m:r>
                                                <a:rPr lang="en-US" altLang="zh-CN" sz="1800">
                                                  <a:solidFill>
                                                    <a:srgbClr val="000000"/>
                                                  </a:solidFill>
                                                  <a:latin typeface="Cambria Math" panose="02040503050406030204" pitchFamily="18" charset="0"/>
                                                </a:rPr>
                                                <m:t>𝑖</m:t>
                                              </m:r>
                                            </m:sub>
                                          </m:sSub>
                                        </m:e>
                                      </m:d>
                                      <m:r>
                                        <a:rPr lang="en-US" altLang="zh-CN" sz="1800">
                                          <a:solidFill>
                                            <a:srgbClr val="000000"/>
                                          </a:solidFill>
                                          <a:latin typeface="Cambria Math" panose="02040503050406030204" pitchFamily="18" charset="0"/>
                                        </a:rPr>
                                        <m:t>+</m:t>
                                      </m:r>
                                      <m:r>
                                        <a:rPr lang="en-US" altLang="zh-CN" sz="1800">
                                          <a:solidFill>
                                            <a:srgbClr val="000000"/>
                                          </a:solidFill>
                                          <a:latin typeface="Cambria Math" panose="02040503050406030204" pitchFamily="18" charset="0"/>
                                        </a:rPr>
                                        <m:t>𝑎𝑣𝑔</m:t>
                                      </m:r>
                                      <m:d>
                                        <m:dPr>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𝐶</m:t>
                                              </m:r>
                                            </m:e>
                                            <m:sub>
                                              <m:r>
                                                <a:rPr lang="en-US" altLang="zh-CN" sz="1800">
                                                  <a:solidFill>
                                                    <a:srgbClr val="000000"/>
                                                  </a:solidFill>
                                                  <a:latin typeface="Cambria Math" panose="02040503050406030204" pitchFamily="18" charset="0"/>
                                                </a:rPr>
                                                <m:t>𝑗</m:t>
                                              </m:r>
                                            </m:sub>
                                          </m:sSub>
                                        </m:e>
                                      </m:d>
                                    </m:num>
                                    <m:den>
                                      <m:sSub>
                                        <m:sSubPr>
                                          <m:ctrlPr>
                                            <a:rPr lang="zh-CN" altLang="zh-CN" sz="1800" i="1">
                                              <a:solidFill>
                                                <a:srgbClr val="000000"/>
                                              </a:solidFill>
                                              <a:latin typeface="Cambria Math" panose="02040503050406030204" pitchFamily="18" charset="0"/>
                                            </a:rPr>
                                          </m:ctrlPr>
                                        </m:sSubPr>
                                        <m:e>
                                          <m:d>
                                            <m:dPr>
                                              <m:begChr m:val="‖"/>
                                              <m:endChr m:val="‖"/>
                                              <m:ctrlPr>
                                                <a:rPr lang="zh-CN" altLang="zh-CN" sz="1800" i="1">
                                                  <a:solidFill>
                                                    <a:srgbClr val="000000"/>
                                                  </a:solidFill>
                                                  <a:latin typeface="Cambria Math" panose="02040503050406030204" pitchFamily="18" charset="0"/>
                                                </a:rPr>
                                              </m:ctrlPr>
                                            </m:dPr>
                                            <m:e>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𝑐</m:t>
                                                  </m:r>
                                                </m:e>
                                                <m:sub>
                                                  <m:r>
                                                    <a:rPr lang="en-US" altLang="zh-CN" sz="1800">
                                                      <a:solidFill>
                                                        <a:srgbClr val="000000"/>
                                                      </a:solidFill>
                                                      <a:latin typeface="Cambria Math" panose="02040503050406030204" pitchFamily="18" charset="0"/>
                                                    </a:rPr>
                                                    <m:t>𝑖</m:t>
                                                  </m:r>
                                                </m:sub>
                                              </m:sSub>
                                              <m:r>
                                                <a:rPr lang="en-US" altLang="zh-CN" sz="1800">
                                                  <a:solidFill>
                                                    <a:srgbClr val="000000"/>
                                                  </a:solidFill>
                                                  <a:latin typeface="Cambria Math" panose="02040503050406030204" pitchFamily="18" charset="0"/>
                                                </a:rPr>
                                                <m:t>−</m:t>
                                              </m:r>
                                              <m:sSub>
                                                <m:sSubPr>
                                                  <m:ctrlPr>
                                                    <a:rPr lang="zh-CN" altLang="zh-CN" sz="1800" i="1">
                                                      <a:solidFill>
                                                        <a:srgbClr val="000000"/>
                                                      </a:solidFill>
                                                      <a:latin typeface="Cambria Math" panose="02040503050406030204" pitchFamily="18" charset="0"/>
                                                    </a:rPr>
                                                  </m:ctrlPr>
                                                </m:sSubPr>
                                                <m:e>
                                                  <m:r>
                                                    <a:rPr lang="en-US" altLang="zh-CN" sz="1800">
                                                      <a:solidFill>
                                                        <a:srgbClr val="000000"/>
                                                      </a:solidFill>
                                                      <a:latin typeface="Cambria Math" panose="02040503050406030204" pitchFamily="18" charset="0"/>
                                                    </a:rPr>
                                                    <m:t>𝑐</m:t>
                                                  </m:r>
                                                </m:e>
                                                <m:sub>
                                                  <m:r>
                                                    <a:rPr lang="en-US" altLang="zh-CN" sz="1800">
                                                      <a:solidFill>
                                                        <a:srgbClr val="000000"/>
                                                      </a:solidFill>
                                                      <a:latin typeface="Cambria Math" panose="02040503050406030204" pitchFamily="18" charset="0"/>
                                                    </a:rPr>
                                                    <m:t>𝑗</m:t>
                                                  </m:r>
                                                </m:sub>
                                              </m:sSub>
                                            </m:e>
                                          </m:d>
                                        </m:e>
                                        <m:sub>
                                          <m:r>
                                            <a:rPr lang="en-US" altLang="zh-CN" sz="1800">
                                              <a:solidFill>
                                                <a:srgbClr val="000000"/>
                                              </a:solidFill>
                                              <a:latin typeface="Cambria Math" panose="02040503050406030204" pitchFamily="18" charset="0"/>
                                            </a:rPr>
                                            <m:t>2</m:t>
                                          </m:r>
                                        </m:sub>
                                      </m:sSub>
                                    </m:den>
                                  </m:f>
                                </m:e>
                              </m:d>
                            </m:e>
                          </m:func>
                        </m:e>
                      </m:nary>
                    </m:oMath>
                  </m:oMathPara>
                </a14:m>
                <a:endParaRPr lang="zh-CN" altLang="zh-CN" sz="1800" dirty="0">
                  <a:solidFill>
                    <a:srgbClr val="000000"/>
                  </a:solidFill>
                </a:endParaRPr>
              </a:p>
              <a:p>
                <a14:m>
                  <m:oMath xmlns:m="http://schemas.openxmlformats.org/officeDocument/2006/math">
                    <m:r>
                      <a:rPr lang="en-US" altLang="zh-CN" sz="2000">
                        <a:solidFill>
                          <a:srgbClr val="000000"/>
                        </a:solidFill>
                        <a:latin typeface="Cambria Math" panose="02040503050406030204" pitchFamily="18" charset="0"/>
                      </a:rPr>
                      <m:t>𝐷𝐵𝐼</m:t>
                    </m:r>
                  </m:oMath>
                </a14:m>
                <a:r>
                  <a:rPr lang="zh-CN" altLang="zh-CN" sz="2000" dirty="0">
                    <a:solidFill>
                      <a:srgbClr val="000000"/>
                    </a:solidFill>
                  </a:rPr>
                  <a:t>的值越小，表示簇内样本之间的距离越小，同时簇间距离越大，即簇内相似度高，簇间相似度低，说明聚类结果越好</a:t>
                </a:r>
                <a:endParaRPr lang="zh-CN" altLang="zh-CN" sz="2000" dirty="0">
                  <a:solidFill>
                    <a:srgbClr val="000000"/>
                  </a:solidFill>
                </a:endParaRPr>
              </a:p>
            </p:txBody>
          </p:sp>
        </mc:Choice>
        <mc:Fallback>
          <p:sp>
            <p:nvSpPr>
              <p:cNvPr id="9" name="矩形 3"/>
              <p:cNvSpPr>
                <a:spLocks noRot="1" noChangeAspect="1" noMove="1" noResize="1" noEditPoints="1" noAdjustHandles="1" noChangeArrowheads="1" noChangeShapeType="1" noTextEdit="1"/>
              </p:cNvSpPr>
              <p:nvPr/>
            </p:nvSpPr>
            <p:spPr bwMode="auto">
              <a:xfrm>
                <a:off x="971600" y="1283797"/>
                <a:ext cx="7776864" cy="4483343"/>
              </a:xfrm>
              <a:prstGeom prst="rect">
                <a:avLst/>
              </a:prstGeom>
              <a:blipFill rotWithShape="1">
                <a:blip r:embed="rId1"/>
                <a:stretch>
                  <a:fillRect l="-1" t="-10" r="1" b="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内部指标</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9" name="矩形 3"/>
              <p:cNvSpPr>
                <a:spLocks noChangeArrowheads="1"/>
              </p:cNvSpPr>
              <p:nvPr/>
            </p:nvSpPr>
            <p:spPr bwMode="auto">
              <a:xfrm>
                <a:off x="971600" y="1283797"/>
                <a:ext cx="7776864" cy="325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zh-CN" sz="2000" dirty="0">
                    <a:solidFill>
                      <a:srgbClr val="000000"/>
                    </a:solidFill>
                  </a:rPr>
                  <a:t>邓恩指数（</a:t>
                </a:r>
                <a:r>
                  <a:rPr lang="en-US" altLang="zh-CN" sz="2000" dirty="0">
                    <a:solidFill>
                      <a:srgbClr val="000000"/>
                    </a:solidFill>
                  </a:rPr>
                  <a:t>Dunn Validity Index</a:t>
                </a:r>
                <a:r>
                  <a:rPr lang="zh-CN" altLang="zh-CN" sz="2000" dirty="0">
                    <a:solidFill>
                      <a:srgbClr val="000000"/>
                    </a:solidFill>
                  </a:rPr>
                  <a:t>，</a:t>
                </a:r>
                <a:r>
                  <a:rPr lang="en-US" altLang="zh-CN" sz="2000" dirty="0">
                    <a:solidFill>
                      <a:srgbClr val="000000"/>
                    </a:solidFill>
                  </a:rPr>
                  <a:t>DVI</a:t>
                </a:r>
                <a:r>
                  <a:rPr lang="zh-CN" altLang="zh-CN" sz="2000" dirty="0">
                    <a:solidFill>
                      <a:srgbClr val="000000"/>
                    </a:solidFill>
                  </a:rPr>
                  <a:t>）</a:t>
                </a:r>
                <a:r>
                  <a:rPr lang="zh-CN" altLang="en-US" sz="2000" dirty="0">
                    <a:solidFill>
                      <a:srgbClr val="000000"/>
                    </a:solidFill>
                  </a:rPr>
                  <a:t>：</a:t>
                </a:r>
                <a:endParaRPr lang="en-US" altLang="zh-CN" sz="2000" dirty="0">
                  <a:solidFill>
                    <a:srgbClr val="000000"/>
                  </a:solidFill>
                </a:endParaRPr>
              </a:p>
              <a:p>
                <a:r>
                  <a:rPr lang="zh-CN" altLang="zh-CN" sz="2000" dirty="0">
                    <a:solidFill>
                      <a:srgbClr val="000000"/>
                    </a:solidFill>
                  </a:rPr>
                  <a:t>计算任意两个簇的样本点的最短距离与任意簇中样本点的最大距离之商。假设聚类结果中有</a:t>
                </a:r>
                <a14:m>
                  <m:oMath xmlns:m="http://schemas.openxmlformats.org/officeDocument/2006/math">
                    <m:r>
                      <a:rPr lang="en-US" altLang="zh-CN" sz="2000">
                        <a:solidFill>
                          <a:srgbClr val="000000"/>
                        </a:solidFill>
                        <a:latin typeface="Cambria Math" panose="02040503050406030204" pitchFamily="18" charset="0"/>
                      </a:rPr>
                      <m:t>𝑘</m:t>
                    </m:r>
                  </m:oMath>
                </a14:m>
                <a:r>
                  <a:rPr lang="zh-CN" altLang="zh-CN" sz="2000" dirty="0">
                    <a:solidFill>
                      <a:srgbClr val="000000"/>
                    </a:solidFill>
                  </a:rPr>
                  <a:t>个簇，其计算公式如下：</a:t>
                </a:r>
                <a:endParaRPr lang="zh-CN"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2000">
                          <a:solidFill>
                            <a:srgbClr val="000000"/>
                          </a:solidFill>
                          <a:latin typeface="Cambria Math" panose="02040503050406030204" pitchFamily="18" charset="0"/>
                        </a:rPr>
                        <m:t>𝐷𝑉𝐼</m:t>
                      </m:r>
                      <m:r>
                        <a:rPr lang="en-US" altLang="zh-CN" sz="2000">
                          <a:solidFill>
                            <a:srgbClr val="000000"/>
                          </a:solidFill>
                          <a:latin typeface="Cambria Math" panose="02040503050406030204" pitchFamily="18" charset="0"/>
                        </a:rPr>
                        <m:t>=</m:t>
                      </m:r>
                      <m:f>
                        <m:fPr>
                          <m:ctrlPr>
                            <a:rPr lang="zh-CN" altLang="zh-CN" sz="2000" i="1">
                              <a:solidFill>
                                <a:srgbClr val="000000"/>
                              </a:solidFill>
                              <a:latin typeface="Cambria Math" panose="02040503050406030204" pitchFamily="18" charset="0"/>
                            </a:rPr>
                          </m:ctrlPr>
                        </m:fPr>
                        <m:num>
                          <m:func>
                            <m:funcPr>
                              <m:ctrlPr>
                                <a:rPr lang="zh-CN" altLang="zh-CN" sz="2000" i="1">
                                  <a:solidFill>
                                    <a:srgbClr val="000000"/>
                                  </a:solidFill>
                                  <a:latin typeface="Cambria Math" panose="02040503050406030204" pitchFamily="18" charset="0"/>
                                </a:rPr>
                              </m:ctrlPr>
                            </m:funcPr>
                            <m:fName>
                              <m:limLow>
                                <m:limLowPr>
                                  <m:ctrlPr>
                                    <a:rPr lang="zh-CN" altLang="zh-CN" sz="2000" i="1">
                                      <a:solidFill>
                                        <a:srgbClr val="000000"/>
                                      </a:solidFill>
                                      <a:latin typeface="Cambria Math" panose="02040503050406030204" pitchFamily="18" charset="0"/>
                                    </a:rPr>
                                  </m:ctrlPr>
                                </m:limLowPr>
                                <m:e>
                                  <m:r>
                                    <m:rPr>
                                      <m:sty m:val="p"/>
                                    </m:rPr>
                                    <a:rPr lang="en-US" altLang="zh-CN" sz="2000">
                                      <a:solidFill>
                                        <a:srgbClr val="000000"/>
                                      </a:solidFill>
                                      <a:latin typeface="Cambria Math" panose="02040503050406030204" pitchFamily="18" charset="0"/>
                                    </a:rPr>
                                    <m:t>min</m:t>
                                  </m:r>
                                </m:e>
                                <m:lim>
                                  <m:r>
                                    <a:rPr lang="en-US" altLang="zh-CN" sz="2000">
                                      <a:solidFill>
                                        <a:srgbClr val="000000"/>
                                      </a:solidFill>
                                      <a:latin typeface="Cambria Math" panose="02040503050406030204" pitchFamily="18" charset="0"/>
                                    </a:rPr>
                                    <m:t>0</m:t>
                                  </m:r>
                                  <m:r>
                                    <a:rPr lang="en-US" altLang="zh-CN" sz="2000">
                                      <a:solidFill>
                                        <a:srgbClr val="000000"/>
                                      </a:solidFill>
                                      <a:latin typeface="Cambria Math" panose="02040503050406030204" pitchFamily="18" charset="0"/>
                                    </a:rPr>
                                    <m:t>&lt;</m:t>
                                  </m:r>
                                  <m:r>
                                    <a:rPr lang="en-US" altLang="zh-CN" sz="2000">
                                      <a:solidFill>
                                        <a:srgbClr val="000000"/>
                                      </a:solidFill>
                                      <a:latin typeface="Cambria Math" panose="02040503050406030204" pitchFamily="18" charset="0"/>
                                    </a:rPr>
                                    <m:t>𝑚</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𝑛</m:t>
                                  </m:r>
                                  <m:r>
                                    <a:rPr lang="en-US" altLang="zh-CN" sz="2000">
                                      <a:solidFill>
                                        <a:srgbClr val="000000"/>
                                      </a:solidFill>
                                      <a:latin typeface="Cambria Math" panose="02040503050406030204" pitchFamily="18" charset="0"/>
                                    </a:rPr>
                                    <m:t>&lt;</m:t>
                                  </m:r>
                                  <m:r>
                                    <a:rPr lang="en-US" altLang="zh-CN" sz="2000">
                                      <a:solidFill>
                                        <a:srgbClr val="000000"/>
                                      </a:solidFill>
                                      <a:latin typeface="Cambria Math" panose="02040503050406030204" pitchFamily="18" charset="0"/>
                                    </a:rPr>
                                    <m:t>𝑘</m:t>
                                  </m:r>
                                </m:lim>
                              </m:limLow>
                            </m:fName>
                            <m:e>
                              <m:d>
                                <m:dPr>
                                  <m:begChr m:val="{"/>
                                  <m:endChr m:val="}"/>
                                  <m:ctrlPr>
                                    <a:rPr lang="zh-CN" altLang="zh-CN" sz="2000" i="1">
                                      <a:solidFill>
                                        <a:srgbClr val="000000"/>
                                      </a:solidFill>
                                      <a:latin typeface="Cambria Math" panose="02040503050406030204" pitchFamily="18" charset="0"/>
                                    </a:rPr>
                                  </m:ctrlPr>
                                </m:dPr>
                                <m:e>
                                  <m:func>
                                    <m:funcPr>
                                      <m:ctrlPr>
                                        <a:rPr lang="zh-CN" altLang="zh-CN" sz="2000" i="1">
                                          <a:solidFill>
                                            <a:srgbClr val="000000"/>
                                          </a:solidFill>
                                          <a:latin typeface="Cambria Math" panose="02040503050406030204" pitchFamily="18" charset="0"/>
                                        </a:rPr>
                                      </m:ctrlPr>
                                    </m:funcPr>
                                    <m:fName>
                                      <m:limLow>
                                        <m:limLowPr>
                                          <m:ctrlPr>
                                            <a:rPr lang="zh-CN" altLang="zh-CN" sz="2000" i="1">
                                              <a:solidFill>
                                                <a:srgbClr val="000000"/>
                                              </a:solidFill>
                                              <a:latin typeface="Cambria Math" panose="02040503050406030204" pitchFamily="18" charset="0"/>
                                            </a:rPr>
                                          </m:ctrlPr>
                                        </m:limLowPr>
                                        <m:e>
                                          <m:r>
                                            <m:rPr>
                                              <m:sty m:val="p"/>
                                            </m:rPr>
                                            <a:rPr lang="en-US" altLang="zh-CN" sz="2000">
                                              <a:solidFill>
                                                <a:srgbClr val="000000"/>
                                              </a:solidFill>
                                              <a:latin typeface="Cambria Math" panose="02040503050406030204" pitchFamily="18" charset="0"/>
                                            </a:rPr>
                                            <m:t>min</m:t>
                                          </m:r>
                                        </m:e>
                                        <m:lim>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𝑚</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𝑛</m:t>
                                              </m:r>
                                            </m:sub>
                                          </m:sSub>
                                        </m:lim>
                                      </m:limLow>
                                    </m:fName>
                                    <m:e>
                                      <m:d>
                                        <m:dPr>
                                          <m:begChr m:val="{"/>
                                          <m:endChr m:val="}"/>
                                          <m:ctrlPr>
                                            <a:rPr lang="zh-CN" altLang="zh-CN" sz="2000" i="1">
                                              <a:solidFill>
                                                <a:srgbClr val="000000"/>
                                              </a:solidFill>
                                              <a:latin typeface="Cambria Math" panose="02040503050406030204" pitchFamily="18" charset="0"/>
                                            </a:rPr>
                                          </m:ctrlPr>
                                        </m:dPr>
                                        <m:e>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e>
                                          </m:d>
                                        </m:e>
                                      </m:d>
                                    </m:e>
                                  </m:func>
                                </m:e>
                              </m:d>
                            </m:e>
                          </m:func>
                        </m:num>
                        <m:den>
                          <m:func>
                            <m:funcPr>
                              <m:ctrlPr>
                                <a:rPr lang="zh-CN" altLang="zh-CN" sz="2000" i="1">
                                  <a:solidFill>
                                    <a:srgbClr val="000000"/>
                                  </a:solidFill>
                                  <a:latin typeface="Cambria Math" panose="02040503050406030204" pitchFamily="18" charset="0"/>
                                </a:rPr>
                              </m:ctrlPr>
                            </m:funcPr>
                            <m:fName>
                              <m:limLow>
                                <m:limLowPr>
                                  <m:ctrlPr>
                                    <a:rPr lang="zh-CN" altLang="zh-CN" sz="2000" i="1">
                                      <a:solidFill>
                                        <a:srgbClr val="000000"/>
                                      </a:solidFill>
                                      <a:latin typeface="Cambria Math" panose="02040503050406030204" pitchFamily="18" charset="0"/>
                                    </a:rPr>
                                  </m:ctrlPr>
                                </m:limLowPr>
                                <m:e>
                                  <m:r>
                                    <m:rPr>
                                      <m:sty m:val="p"/>
                                    </m:rPr>
                                    <a:rPr lang="en-US" altLang="zh-CN" sz="2000">
                                      <a:solidFill>
                                        <a:srgbClr val="000000"/>
                                      </a:solidFill>
                                      <a:latin typeface="Cambria Math" panose="02040503050406030204" pitchFamily="18" charset="0"/>
                                    </a:rPr>
                                    <m:t>max</m:t>
                                  </m:r>
                                </m:e>
                                <m:lim>
                                  <m:r>
                                    <a:rPr lang="en-US" altLang="zh-CN" sz="2000">
                                      <a:solidFill>
                                        <a:srgbClr val="000000"/>
                                      </a:solidFill>
                                      <a:latin typeface="Cambria Math" panose="02040503050406030204" pitchFamily="18" charset="0"/>
                                    </a:rPr>
                                    <m:t>0</m:t>
                                  </m:r>
                                  <m:r>
                                    <a:rPr lang="en-US" altLang="zh-CN" sz="2000">
                                      <a:solidFill>
                                        <a:srgbClr val="000000"/>
                                      </a:solidFill>
                                      <a:latin typeface="Cambria Math" panose="02040503050406030204" pitchFamily="18" charset="0"/>
                                    </a:rPr>
                                    <m:t>&lt;</m:t>
                                  </m:r>
                                  <m:r>
                                    <a:rPr lang="en-US" altLang="zh-CN" sz="2000">
                                      <a:solidFill>
                                        <a:srgbClr val="000000"/>
                                      </a:solidFill>
                                      <a:latin typeface="Cambria Math" panose="02040503050406030204" pitchFamily="18" charset="0"/>
                                    </a:rPr>
                                    <m:t>𝑛</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𝑘</m:t>
                                  </m:r>
                                </m:lim>
                              </m:limLow>
                            </m:fName>
                            <m:e>
                              <m:func>
                                <m:funcPr>
                                  <m:ctrlPr>
                                    <a:rPr lang="zh-CN" altLang="zh-CN" sz="2000" i="1">
                                      <a:solidFill>
                                        <a:srgbClr val="000000"/>
                                      </a:solidFill>
                                      <a:latin typeface="Cambria Math" panose="02040503050406030204" pitchFamily="18" charset="0"/>
                                    </a:rPr>
                                  </m:ctrlPr>
                                </m:funcPr>
                                <m:fName>
                                  <m:limLow>
                                    <m:limLowPr>
                                      <m:ctrlPr>
                                        <a:rPr lang="zh-CN" altLang="zh-CN" sz="2000" i="1">
                                          <a:solidFill>
                                            <a:srgbClr val="000000"/>
                                          </a:solidFill>
                                          <a:latin typeface="Cambria Math" panose="02040503050406030204" pitchFamily="18" charset="0"/>
                                        </a:rPr>
                                      </m:ctrlPr>
                                    </m:limLowPr>
                                    <m:e>
                                      <m:r>
                                        <m:rPr>
                                          <m:sty m:val="p"/>
                                        </m:rPr>
                                        <a:rPr lang="en-US" altLang="zh-CN" sz="2000">
                                          <a:solidFill>
                                            <a:srgbClr val="000000"/>
                                          </a:solidFill>
                                          <a:latin typeface="Cambria Math" panose="02040503050406030204" pitchFamily="18" charset="0"/>
                                        </a:rPr>
                                        <m:t>max</m:t>
                                      </m:r>
                                    </m:e>
                                    <m:lim>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𝑛</m:t>
                                          </m:r>
                                        </m:sub>
                                      </m:sSub>
                                    </m:lim>
                                  </m:limLow>
                                </m:fName>
                                <m:e>
                                  <m:d>
                                    <m:dPr>
                                      <m:begChr m:val="{"/>
                                      <m:endChr m:val="}"/>
                                      <m:ctrlPr>
                                        <a:rPr lang="zh-CN" altLang="zh-CN" sz="2000" i="1">
                                          <a:solidFill>
                                            <a:srgbClr val="000000"/>
                                          </a:solidFill>
                                          <a:latin typeface="Cambria Math" panose="02040503050406030204" pitchFamily="18" charset="0"/>
                                        </a:rPr>
                                      </m:ctrlPr>
                                    </m:dPr>
                                    <m:e>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e>
                                      </m:d>
                                    </m:e>
                                  </m:d>
                                </m:e>
                              </m:func>
                            </m:e>
                          </m:func>
                        </m:den>
                      </m:f>
                    </m:oMath>
                  </m:oMathPara>
                </a14:m>
                <a:endParaRPr lang="zh-CN" altLang="zh-CN" sz="2000" dirty="0">
                  <a:solidFill>
                    <a:srgbClr val="000000"/>
                  </a:solidFill>
                </a:endParaRPr>
              </a:p>
              <a:p>
                <a14:m>
                  <m:oMath xmlns:m="http://schemas.openxmlformats.org/officeDocument/2006/math">
                    <m:r>
                      <a:rPr lang="en-US" altLang="zh-CN" sz="2000">
                        <a:solidFill>
                          <a:srgbClr val="000000"/>
                        </a:solidFill>
                        <a:latin typeface="Cambria Math" panose="02040503050406030204" pitchFamily="18" charset="0"/>
                      </a:rPr>
                      <m:t>𝐷𝑉𝐼</m:t>
                    </m:r>
                  </m:oMath>
                </a14:m>
                <a:r>
                  <a:rPr lang="zh-CN" altLang="zh-CN" sz="2000" dirty="0">
                    <a:solidFill>
                      <a:srgbClr val="000000"/>
                    </a:solidFill>
                  </a:rPr>
                  <a:t>的值越大，表示簇间样本距离越远，簇内样本距离越近，即簇间相似度低，簇内相似度高，聚类结果越好。</a:t>
                </a:r>
                <a:endParaRPr lang="zh-CN" altLang="zh-CN" sz="2000" dirty="0">
                  <a:solidFill>
                    <a:srgbClr val="000000"/>
                  </a:solidFill>
                </a:endParaRPr>
              </a:p>
              <a:p>
                <a:r>
                  <a:rPr lang="zh-CN" altLang="zh-CN" sz="2000" dirty="0">
                    <a:solidFill>
                      <a:srgbClr val="000000"/>
                    </a:solidFill>
                  </a:rPr>
                  <a:t>对异常值特别敏感，不适合单独使用</a:t>
                </a:r>
                <a:endParaRPr lang="zh-CN" altLang="zh-CN" sz="2000" dirty="0">
                  <a:solidFill>
                    <a:srgbClr val="000000"/>
                  </a:solidFill>
                </a:endParaRPr>
              </a:p>
            </p:txBody>
          </p:sp>
        </mc:Choice>
        <mc:Fallback>
          <p:sp>
            <p:nvSpPr>
              <p:cNvPr id="9" name="矩形 3"/>
              <p:cNvSpPr>
                <a:spLocks noRot="1" noChangeAspect="1" noMove="1" noResize="1" noEditPoints="1" noAdjustHandles="1" noChangeArrowheads="1" noChangeShapeType="1" noTextEdit="1"/>
              </p:cNvSpPr>
              <p:nvPr/>
            </p:nvSpPr>
            <p:spPr bwMode="auto">
              <a:xfrm>
                <a:off x="971600" y="1283797"/>
                <a:ext cx="7776864" cy="3250565"/>
              </a:xfrm>
              <a:prstGeom prst="rect">
                <a:avLst/>
              </a:prstGeom>
              <a:blipFill rotWithShape="1">
                <a:blip r:embed="rId1"/>
                <a:stretch>
                  <a:fillRect l="-1" t="-14" r="1"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聚类分析概述</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基于划分的聚类</a:t>
            </a:r>
            <a:endParaRPr kumimoji="0" lang="en-US" altLang="zh-CN" kern="100"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基于层次的聚类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基于密度的聚类</a:t>
            </a:r>
            <a:endParaRPr kumimoji="0" lang="en-US" altLang="zh-CN" kern="100" dirty="0">
              <a:latin typeface="Arial" panose="020B0604020202020204"/>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基于划分的聚类</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232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基于划分的方法是简单、常用的一种聚类方法</a:t>
            </a:r>
            <a:endPar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通过将对象划分为互斥的簇进行聚类， 每个对象属于且仅属于一个簇</a:t>
            </a:r>
            <a:endPar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划分结果旨在使簇之间的相似性低，簇内部的相似度高</a:t>
            </a:r>
            <a:endPar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基于划分的方法常用算法有</a:t>
            </a:r>
            <a:r>
              <a:rPr kumimoji="1" lang="en-US" altLang="zh-CN"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k-means</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a:t>
            </a:r>
            <a:r>
              <a:rPr kumimoji="1" lang="en-US" altLang="zh-CN"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k-medoids</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a:t>
            </a:r>
            <a:r>
              <a:rPr kumimoji="1" lang="en-US" altLang="zh-CN"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k-prototype</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等</a:t>
            </a:r>
            <a:endPar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k-means</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5015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k-means</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聚类是基于划分的聚类算法，计算样本点与类簇质心的距离，与类簇质心相近的样本点划分为同一类簇。</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k-means</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通过样本间的距离来衡量它们之间的相似度，两个样本距离越远，则相似度越低，否则相似度越高</a:t>
            </a: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k-means</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算法聚类步骤如下：</a:t>
            </a: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400050" lvl="1" indent="0" defTabSz="457200" eaLnBrk="1" fontAlgn="auto" hangingPunct="1">
              <a:spcAft>
                <a:spcPts val="0"/>
              </a:spcAft>
              <a:buNone/>
              <a:defRPr/>
            </a:pPr>
            <a:r>
              <a:rPr lang="zh-CN" altLang="en-US" sz="2000" kern="0" dirty="0">
                <a:solidFill>
                  <a:prstClr val="black"/>
                </a:solidFill>
              </a:rPr>
              <a:t>（</a:t>
            </a:r>
            <a:r>
              <a:rPr lang="en-US" altLang="zh-CN" sz="2000" kern="0" dirty="0">
                <a:solidFill>
                  <a:prstClr val="black"/>
                </a:solidFill>
              </a:rPr>
              <a:t>1</a:t>
            </a:r>
            <a:r>
              <a:rPr lang="zh-CN" altLang="en-US" sz="2000" kern="0" dirty="0">
                <a:solidFill>
                  <a:prstClr val="black"/>
                </a:solidFill>
              </a:rPr>
              <a:t>）</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首先选取个类簇（𝑘需要用户进行指定）的质心，通常是随机选取。</a:t>
            </a:r>
            <a:r>
              <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rPr>
              <a:t>（通常是从样本点中随机选）</a:t>
            </a:r>
            <a:endPar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endParaRPr>
          </a:p>
          <a:p>
            <a:pPr marL="400050" lvl="1" indent="0" defTabSz="457200" eaLnBrk="1" fontAlgn="auto" hangingPunct="1">
              <a:spcAft>
                <a:spcPts val="0"/>
              </a:spcAft>
              <a:buNone/>
              <a:defRPr/>
            </a:pPr>
            <a:r>
              <a:rPr lang="zh-CN" altLang="en-US" sz="2000" kern="0" dirty="0">
                <a:solidFill>
                  <a:prstClr val="black"/>
                </a:solidFill>
              </a:rPr>
              <a:t>（</a:t>
            </a:r>
            <a:r>
              <a:rPr lang="en-US" altLang="zh-CN" sz="2000" kern="0" dirty="0">
                <a:solidFill>
                  <a:prstClr val="black"/>
                </a:solidFill>
              </a:rPr>
              <a:t>2</a:t>
            </a:r>
            <a:r>
              <a:rPr lang="zh-CN" altLang="en-US" sz="2000" kern="0" dirty="0">
                <a:solidFill>
                  <a:prstClr val="black"/>
                </a:solidFill>
              </a:rPr>
              <a:t>）</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对剩余的每个样本点，计算它们到各个质心的欧式距离，并将其归入到相互间距离最小的质心所在的簇。计算各个新簇的质心。</a:t>
            </a: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400050" lvl="1" indent="0" defTabSz="457200" eaLnBrk="1" fontAlgn="auto" hangingPunct="1">
              <a:spcAft>
                <a:spcPts val="0"/>
              </a:spcAft>
              <a:buNone/>
              <a:defRPr/>
            </a:pPr>
            <a:r>
              <a:rPr lang="zh-CN" altLang="en-US" sz="2000" kern="0" dirty="0">
                <a:solidFill>
                  <a:prstClr val="black"/>
                </a:solidFill>
              </a:rPr>
              <a:t>（</a:t>
            </a:r>
            <a:r>
              <a:rPr lang="en-US" altLang="zh-CN" sz="2000" kern="0" dirty="0">
                <a:solidFill>
                  <a:prstClr val="black"/>
                </a:solidFill>
              </a:rPr>
              <a:t>3</a:t>
            </a:r>
            <a:r>
              <a:rPr lang="zh-CN" altLang="en-US" sz="2000" kern="0" dirty="0">
                <a:solidFill>
                  <a:prstClr val="black"/>
                </a:solidFill>
              </a:rPr>
              <a:t>）</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在所有样本点都划分完毕后，根据划分情况重新计算各个簇的质心所在位置，然后迭代计算各个样本点到各簇质心的距离，对所有样本点重新进行划分。</a:t>
            </a: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pPr marL="400050" lvl="1" indent="0" defTabSz="457200" eaLnBrk="1" fontAlgn="auto" hangingPunct="1">
              <a:spcAft>
                <a:spcPts val="0"/>
              </a:spcAft>
              <a:buNone/>
              <a:defRPr/>
            </a:pPr>
            <a:r>
              <a:rPr lang="zh-CN" altLang="en-US" sz="2000" kern="0" dirty="0">
                <a:solidFill>
                  <a:prstClr val="black"/>
                </a:solidFill>
              </a:rPr>
              <a:t>（</a:t>
            </a:r>
            <a:r>
              <a:rPr lang="en-US" altLang="zh-CN" sz="2000" kern="0" dirty="0">
                <a:solidFill>
                  <a:prstClr val="black"/>
                </a:solidFill>
              </a:rPr>
              <a:t>4</a:t>
            </a:r>
            <a:r>
              <a:rPr lang="zh-CN" altLang="en-US" sz="2000" kern="0" dirty="0">
                <a:solidFill>
                  <a:prstClr val="black"/>
                </a:solidFill>
              </a:rPr>
              <a:t>）</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重复第（</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2</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）步和第（</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3</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）步</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 </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直到迭代计算后，所有样本点的划分情况保持不变，此时说明</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a:t>
            </a:r>
            <a:r>
              <a:rPr lang="en-US" altLang="zh-CN" sz="2000" kern="0" noProof="0" dirty="0">
                <a:ln>
                  <a:noFill/>
                </a:ln>
                <a:solidFill>
                  <a:prstClr val="black"/>
                </a:solidFill>
                <a:effectLst/>
                <a:uLnTx/>
                <a:uFillTx/>
                <a:sym typeface="+mn-ea"/>
              </a:rPr>
              <a:t>means</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算法已经得到了最优解，将运行结果返回</a:t>
            </a: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k-means</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pic>
        <p:nvPicPr>
          <p:cNvPr id="5" name="内容占位符 4"/>
          <p:cNvPicPr>
            <a:picLocks noChangeAspect="1"/>
          </p:cNvPicPr>
          <p:nvPr>
            <p:ph idx="1"/>
          </p:nvPr>
        </p:nvPicPr>
        <p:blipFill>
          <a:blip r:embed="rId1"/>
          <a:stretch>
            <a:fillRect/>
          </a:stretch>
        </p:blipFill>
        <p:spPr>
          <a:xfrm>
            <a:off x="822960" y="1917065"/>
            <a:ext cx="7543800" cy="323596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2"/>
          <a:stretch>
            <a:fillRect/>
          </a:stretch>
        </p:blipFill>
        <p:spPr>
          <a:xfrm>
            <a:off x="517525" y="1844675"/>
            <a:ext cx="8108950" cy="3681095"/>
          </a:xfrm>
          <a:prstGeom prst="rect">
            <a:avLst/>
          </a:prstGeom>
        </p:spPr>
      </p:pic>
      <p:pic>
        <p:nvPicPr>
          <p:cNvPr id="7" name="图片 6"/>
          <p:cNvPicPr>
            <a:picLocks noChangeAspect="1"/>
          </p:cNvPicPr>
          <p:nvPr/>
        </p:nvPicPr>
        <p:blipFill>
          <a:blip r:embed="rId3"/>
          <a:stretch>
            <a:fillRect/>
          </a:stretch>
        </p:blipFill>
        <p:spPr>
          <a:xfrm>
            <a:off x="683260" y="1844675"/>
            <a:ext cx="7866380" cy="3482340"/>
          </a:xfrm>
          <a:prstGeom prst="rect">
            <a:avLst/>
          </a:prstGeom>
        </p:spPr>
      </p:pic>
      <p:pic>
        <p:nvPicPr>
          <p:cNvPr id="8" name="图片 7"/>
          <p:cNvPicPr>
            <a:picLocks noChangeAspect="1"/>
          </p:cNvPicPr>
          <p:nvPr/>
        </p:nvPicPr>
        <p:blipFill>
          <a:blip r:embed="rId4"/>
          <a:stretch>
            <a:fillRect/>
          </a:stretch>
        </p:blipFill>
        <p:spPr>
          <a:xfrm>
            <a:off x="755650" y="2060575"/>
            <a:ext cx="7557135" cy="3399155"/>
          </a:xfrm>
          <a:prstGeom prst="rect">
            <a:avLst/>
          </a:prstGeom>
        </p:spPr>
      </p:pic>
      <p:pic>
        <p:nvPicPr>
          <p:cNvPr id="9" name="图片 8"/>
          <p:cNvPicPr>
            <a:picLocks noChangeAspect="1"/>
          </p:cNvPicPr>
          <p:nvPr/>
        </p:nvPicPr>
        <p:blipFill>
          <a:blip r:embed="rId5"/>
          <a:stretch>
            <a:fillRect/>
          </a:stretch>
        </p:blipFill>
        <p:spPr>
          <a:xfrm>
            <a:off x="832485" y="1869440"/>
            <a:ext cx="7717155" cy="3443605"/>
          </a:xfrm>
          <a:prstGeom prst="rect">
            <a:avLst/>
          </a:prstGeom>
        </p:spPr>
      </p:pic>
      <p:pic>
        <p:nvPicPr>
          <p:cNvPr id="10" name="图片 9"/>
          <p:cNvPicPr>
            <a:picLocks noChangeAspect="1"/>
          </p:cNvPicPr>
          <p:nvPr/>
        </p:nvPicPr>
        <p:blipFill>
          <a:blip r:embed="rId6"/>
          <a:stretch>
            <a:fillRect/>
          </a:stretch>
        </p:blipFill>
        <p:spPr>
          <a:xfrm>
            <a:off x="847725" y="2028190"/>
            <a:ext cx="7633970" cy="3409950"/>
          </a:xfrm>
          <a:prstGeom prst="rect">
            <a:avLst/>
          </a:prstGeom>
        </p:spPr>
      </p:pic>
      <p:pic>
        <p:nvPicPr>
          <p:cNvPr id="11" name="图片 10"/>
          <p:cNvPicPr>
            <a:picLocks noChangeAspect="1"/>
          </p:cNvPicPr>
          <p:nvPr/>
        </p:nvPicPr>
        <p:blipFill>
          <a:blip r:embed="rId7"/>
          <a:stretch>
            <a:fillRect/>
          </a:stretch>
        </p:blipFill>
        <p:spPr>
          <a:xfrm>
            <a:off x="967105" y="1977390"/>
            <a:ext cx="7526655" cy="3433445"/>
          </a:xfrm>
          <a:prstGeom prst="rect">
            <a:avLst/>
          </a:prstGeom>
        </p:spPr>
      </p:pic>
      <p:pic>
        <p:nvPicPr>
          <p:cNvPr id="12" name="图片 11"/>
          <p:cNvPicPr>
            <a:picLocks noChangeAspect="1"/>
          </p:cNvPicPr>
          <p:nvPr/>
        </p:nvPicPr>
        <p:blipFill>
          <a:blip r:embed="rId8"/>
          <a:stretch>
            <a:fillRect/>
          </a:stretch>
        </p:blipFill>
        <p:spPr>
          <a:xfrm>
            <a:off x="899795" y="2121535"/>
            <a:ext cx="7452995" cy="3330575"/>
          </a:xfrm>
          <a:prstGeom prst="rect">
            <a:avLst/>
          </a:prstGeom>
        </p:spPr>
      </p:pic>
      <p:pic>
        <p:nvPicPr>
          <p:cNvPr id="13" name="图片 12"/>
          <p:cNvPicPr>
            <a:picLocks noChangeAspect="1"/>
          </p:cNvPicPr>
          <p:nvPr/>
        </p:nvPicPr>
        <p:blipFill>
          <a:blip r:embed="rId9"/>
          <a:stretch>
            <a:fillRect/>
          </a:stretch>
        </p:blipFill>
        <p:spPr>
          <a:xfrm>
            <a:off x="967105" y="1838325"/>
            <a:ext cx="7513955" cy="33820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4" presetClass="entr" presetSubtype="16" fill="hold" nodeType="afterEffect">
                                  <p:stCondLst>
                                    <p:cond delay="0"/>
                                  </p:stCondLst>
                                  <p:childTnLst>
                                    <p:set>
                                      <p:cBhvr>
                                        <p:cTn id="15" dur="500" fill="hold">
                                          <p:stCondLst>
                                            <p:cond delay="0"/>
                                          </p:stCondLst>
                                        </p:cTn>
                                        <p:tgtEl>
                                          <p:spTgt spid="6"/>
                                        </p:tgtEl>
                                        <p:attrNameLst>
                                          <p:attrName>style.visibility</p:attrName>
                                        </p:attrNameLst>
                                      </p:cBhvr>
                                      <p:to>
                                        <p:strVal val="visible"/>
                                      </p:to>
                                    </p:set>
                                    <p:animEffect transition="in" filter="box(i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nodeType="clickEffect">
                                  <p:stCondLst>
                                    <p:cond delay="0"/>
                                  </p:stCondLst>
                                  <p:childTnLst>
                                    <p:animEffect transition="out" filter="blinds(horizontal)">
                                      <p:cBhvr>
                                        <p:cTn id="20" dur="500"/>
                                        <p:tgtEl>
                                          <p:spTgt spid="6"/>
                                        </p:tgtEl>
                                      </p:cBhvr>
                                    </p:animEffect>
                                    <p:set>
                                      <p:cBhvr>
                                        <p:cTn id="21" dur="1" fill="hold">
                                          <p:stCondLst>
                                            <p:cond delay="499"/>
                                          </p:stCondLst>
                                        </p:cTn>
                                        <p:tgtEl>
                                          <p:spTgt spid="6"/>
                                        </p:tgtEl>
                                        <p:attrNameLst>
                                          <p:attrName>style.visibility</p:attrName>
                                        </p:attrNameLst>
                                      </p:cBhvr>
                                      <p:to>
                                        <p:strVal val="hidden"/>
                                      </p:to>
                                    </p:set>
                                  </p:childTnLst>
                                </p:cTn>
                              </p:par>
                            </p:childTnLst>
                          </p:cTn>
                        </p:par>
                        <p:par>
                          <p:cTn id="22" fill="hold">
                            <p:stCondLst>
                              <p:cond delay="500"/>
                            </p:stCondLst>
                            <p:childTnLst>
                              <p:par>
                                <p:cTn id="23" presetID="4" presetClass="entr" presetSubtype="16" fill="hold" nodeType="afterEffect">
                                  <p:stCondLst>
                                    <p:cond delay="0"/>
                                  </p:stCondLst>
                                  <p:childTnLst>
                                    <p:set>
                                      <p:cBhvr>
                                        <p:cTn id="24" dur="500" fill="hold">
                                          <p:stCondLst>
                                            <p:cond delay="0"/>
                                          </p:stCondLst>
                                        </p:cTn>
                                        <p:tgtEl>
                                          <p:spTgt spid="7"/>
                                        </p:tgtEl>
                                        <p:attrNameLst>
                                          <p:attrName>style.visibility</p:attrName>
                                        </p:attrNameLst>
                                      </p:cBhvr>
                                      <p:to>
                                        <p:strVal val="visible"/>
                                      </p:to>
                                    </p:set>
                                    <p:animEffect transition="in" filter="box(i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childTnLst>
                          </p:cTn>
                        </p:par>
                        <p:par>
                          <p:cTn id="31" fill="hold">
                            <p:stCondLst>
                              <p:cond delay="500"/>
                            </p:stCondLst>
                            <p:childTnLst>
                              <p:par>
                                <p:cTn id="32" presetID="4" presetClass="entr" presetSubtype="16" fill="hold" nodeType="afterEffect">
                                  <p:stCondLst>
                                    <p:cond delay="0"/>
                                  </p:stCondLst>
                                  <p:childTnLst>
                                    <p:set>
                                      <p:cBhvr>
                                        <p:cTn id="33" dur="500" fill="hold">
                                          <p:stCondLst>
                                            <p:cond delay="0"/>
                                          </p:stCondLst>
                                        </p:cTn>
                                        <p:tgtEl>
                                          <p:spTgt spid="8"/>
                                        </p:tgtEl>
                                        <p:attrNameLst>
                                          <p:attrName>style.visibility</p:attrName>
                                        </p:attrNameLst>
                                      </p:cBhvr>
                                      <p:to>
                                        <p:strVal val="visible"/>
                                      </p:to>
                                    </p:set>
                                    <p:animEffect transition="in" filter="box(in)">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nodeType="clickEffect">
                                  <p:stCondLst>
                                    <p:cond delay="0"/>
                                  </p:stCondLst>
                                  <p:childTnLst>
                                    <p:animEffect transition="out" filter="blinds(horizontal)">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childTnLst>
                          </p:cTn>
                        </p:par>
                        <p:par>
                          <p:cTn id="40" fill="hold">
                            <p:stCondLst>
                              <p:cond delay="500"/>
                            </p:stCondLst>
                            <p:childTnLst>
                              <p:par>
                                <p:cTn id="41" presetID="4" presetClass="entr" presetSubtype="16" fill="hold" nodeType="afterEffect">
                                  <p:stCondLst>
                                    <p:cond delay="0"/>
                                  </p:stCondLst>
                                  <p:childTnLst>
                                    <p:set>
                                      <p:cBhvr>
                                        <p:cTn id="42" dur="500" fill="hold">
                                          <p:stCondLst>
                                            <p:cond delay="0"/>
                                          </p:stCondLst>
                                        </p:cTn>
                                        <p:tgtEl>
                                          <p:spTgt spid="9"/>
                                        </p:tgtEl>
                                        <p:attrNameLst>
                                          <p:attrName>style.visibility</p:attrName>
                                        </p:attrNameLst>
                                      </p:cBhvr>
                                      <p:to>
                                        <p:strVal val="visible"/>
                                      </p:to>
                                    </p:set>
                                    <p:animEffect transition="in" filter="box(in)">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xit" presetSubtype="10" fill="hold" nodeType="clickEffect">
                                  <p:stCondLst>
                                    <p:cond delay="0"/>
                                  </p:stCondLst>
                                  <p:childTnLst>
                                    <p:animEffect transition="out" filter="blinds(horizontal)">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childTnLst>
                          </p:cTn>
                        </p:par>
                        <p:par>
                          <p:cTn id="49" fill="hold">
                            <p:stCondLst>
                              <p:cond delay="500"/>
                            </p:stCondLst>
                            <p:childTnLst>
                              <p:par>
                                <p:cTn id="50" presetID="4" presetClass="entr" presetSubtype="16" fill="hold" nodeType="afterEffect">
                                  <p:stCondLst>
                                    <p:cond delay="0"/>
                                  </p:stCondLst>
                                  <p:childTnLst>
                                    <p:set>
                                      <p:cBhvr>
                                        <p:cTn id="51" dur="500" fill="hold">
                                          <p:stCondLst>
                                            <p:cond delay="0"/>
                                          </p:stCondLst>
                                        </p:cTn>
                                        <p:tgtEl>
                                          <p:spTgt spid="10"/>
                                        </p:tgtEl>
                                        <p:attrNameLst>
                                          <p:attrName>style.visibility</p:attrName>
                                        </p:attrNameLst>
                                      </p:cBhvr>
                                      <p:to>
                                        <p:strVal val="visible"/>
                                      </p:to>
                                    </p:set>
                                    <p:animEffect transition="in" filter="box(in)">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nodeType="clickEffect">
                                  <p:stCondLst>
                                    <p:cond delay="0"/>
                                  </p:stCondLst>
                                  <p:childTnLst>
                                    <p:animEffect transition="out" filter="blinds(horizontal)">
                                      <p:cBhvr>
                                        <p:cTn id="56" dur="500"/>
                                        <p:tgtEl>
                                          <p:spTgt spid="10"/>
                                        </p:tgtEl>
                                      </p:cBhvr>
                                    </p:animEffect>
                                    <p:set>
                                      <p:cBhvr>
                                        <p:cTn id="57" dur="1" fill="hold">
                                          <p:stCondLst>
                                            <p:cond delay="499"/>
                                          </p:stCondLst>
                                        </p:cTn>
                                        <p:tgtEl>
                                          <p:spTgt spid="10"/>
                                        </p:tgtEl>
                                        <p:attrNameLst>
                                          <p:attrName>style.visibility</p:attrName>
                                        </p:attrNameLst>
                                      </p:cBhvr>
                                      <p:to>
                                        <p:strVal val="hidden"/>
                                      </p:to>
                                    </p:set>
                                  </p:childTnLst>
                                </p:cTn>
                              </p:par>
                            </p:childTnLst>
                          </p:cTn>
                        </p:par>
                        <p:par>
                          <p:cTn id="58" fill="hold">
                            <p:stCondLst>
                              <p:cond delay="500"/>
                            </p:stCondLst>
                            <p:childTnLst>
                              <p:par>
                                <p:cTn id="59" presetID="4" presetClass="entr" presetSubtype="16" fill="hold" nodeType="afterEffect">
                                  <p:stCondLst>
                                    <p:cond delay="0"/>
                                  </p:stCondLst>
                                  <p:childTnLst>
                                    <p:set>
                                      <p:cBhvr>
                                        <p:cTn id="60" dur="500" fill="hold">
                                          <p:stCondLst>
                                            <p:cond delay="0"/>
                                          </p:stCondLst>
                                        </p:cTn>
                                        <p:tgtEl>
                                          <p:spTgt spid="11"/>
                                        </p:tgtEl>
                                        <p:attrNameLst>
                                          <p:attrName>style.visibility</p:attrName>
                                        </p:attrNameLst>
                                      </p:cBhvr>
                                      <p:to>
                                        <p:strVal val="visible"/>
                                      </p:to>
                                    </p:set>
                                    <p:animEffect transition="in" filter="box(in)">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xit" presetSubtype="10" fill="hold" nodeType="clickEffect">
                                  <p:stCondLst>
                                    <p:cond delay="0"/>
                                  </p:stCondLst>
                                  <p:childTnLst>
                                    <p:animEffect transition="out" filter="blinds(horizontal)">
                                      <p:cBhvr>
                                        <p:cTn id="65" dur="500"/>
                                        <p:tgtEl>
                                          <p:spTgt spid="11"/>
                                        </p:tgtEl>
                                      </p:cBhvr>
                                    </p:animEffect>
                                    <p:set>
                                      <p:cBhvr>
                                        <p:cTn id="66" dur="1" fill="hold">
                                          <p:stCondLst>
                                            <p:cond delay="499"/>
                                          </p:stCondLst>
                                        </p:cTn>
                                        <p:tgtEl>
                                          <p:spTgt spid="11"/>
                                        </p:tgtEl>
                                        <p:attrNameLst>
                                          <p:attrName>style.visibility</p:attrName>
                                        </p:attrNameLst>
                                      </p:cBhvr>
                                      <p:to>
                                        <p:strVal val="hidden"/>
                                      </p:to>
                                    </p:set>
                                  </p:childTnLst>
                                </p:cTn>
                              </p:par>
                            </p:childTnLst>
                          </p:cTn>
                        </p:par>
                        <p:par>
                          <p:cTn id="67" fill="hold">
                            <p:stCondLst>
                              <p:cond delay="500"/>
                            </p:stCondLst>
                            <p:childTnLst>
                              <p:par>
                                <p:cTn id="68" presetID="4" presetClass="entr" presetSubtype="16" fill="hold" nodeType="afterEffect">
                                  <p:stCondLst>
                                    <p:cond delay="0"/>
                                  </p:stCondLst>
                                  <p:childTnLst>
                                    <p:set>
                                      <p:cBhvr>
                                        <p:cTn id="69" dur="500" fill="hold">
                                          <p:stCondLst>
                                            <p:cond delay="0"/>
                                          </p:stCondLst>
                                        </p:cTn>
                                        <p:tgtEl>
                                          <p:spTgt spid="12"/>
                                        </p:tgtEl>
                                        <p:attrNameLst>
                                          <p:attrName>style.visibility</p:attrName>
                                        </p:attrNameLst>
                                      </p:cBhvr>
                                      <p:to>
                                        <p:strVal val="visible"/>
                                      </p:to>
                                    </p:set>
                                    <p:animEffect transition="in" filter="box(in)">
                                      <p:cBhvr>
                                        <p:cTn id="70"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nodeType="clickEffect">
                                  <p:stCondLst>
                                    <p:cond delay="0"/>
                                  </p:stCondLst>
                                  <p:childTnLst>
                                    <p:animEffect transition="out" filter="blinds(horizontal)">
                                      <p:cBhvr>
                                        <p:cTn id="74" dur="500"/>
                                        <p:tgtEl>
                                          <p:spTgt spid="12"/>
                                        </p:tgtEl>
                                      </p:cBhvr>
                                    </p:animEffect>
                                    <p:set>
                                      <p:cBhvr>
                                        <p:cTn id="75" dur="1" fill="hold">
                                          <p:stCondLst>
                                            <p:cond delay="499"/>
                                          </p:stCondLst>
                                        </p:cTn>
                                        <p:tgtEl>
                                          <p:spTgt spid="12"/>
                                        </p:tgtEl>
                                        <p:attrNameLst>
                                          <p:attrName>style.visibility</p:attrName>
                                        </p:attrNameLst>
                                      </p:cBhvr>
                                      <p:to>
                                        <p:strVal val="hidden"/>
                                      </p:to>
                                    </p:set>
                                  </p:childTnLst>
                                </p:cTn>
                              </p:par>
                            </p:childTnLst>
                          </p:cTn>
                        </p:par>
                        <p:par>
                          <p:cTn id="76" fill="hold">
                            <p:stCondLst>
                              <p:cond delay="500"/>
                            </p:stCondLst>
                            <p:childTnLst>
                              <p:par>
                                <p:cTn id="77" presetID="4" presetClass="entr" presetSubtype="16" fill="hold" nodeType="afterEffect">
                                  <p:stCondLst>
                                    <p:cond delay="0"/>
                                  </p:stCondLst>
                                  <p:childTnLst>
                                    <p:set>
                                      <p:cBhvr>
                                        <p:cTn id="78" dur="500" fill="hold">
                                          <p:stCondLst>
                                            <p:cond delay="0"/>
                                          </p:stCondLst>
                                        </p:cTn>
                                        <p:tgtEl>
                                          <p:spTgt spid="13"/>
                                        </p:tgtEl>
                                        <p:attrNameLst>
                                          <p:attrName>style.visibility</p:attrName>
                                        </p:attrNameLst>
                                      </p:cBhvr>
                                      <p:to>
                                        <p:strVal val="visible"/>
                                      </p:to>
                                    </p:set>
                                    <p:animEffect transition="in" filter="box(in)">
                                      <p:cBhvr>
                                        <p:cTn id="7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a:t>
            </a:r>
            <a:r>
              <a:rPr lang="en-US" altLang="zh-CN" spc="-100" dirty="0">
                <a:solidFill>
                  <a:srgbClr val="D2533C"/>
                </a:solidFill>
                <a:latin typeface="Arial" panose="020B0604020202020204"/>
                <a:ea typeface="华文新魏" panose="02010800040101010101" pitchFamily="2" charset="-122"/>
                <a:sym typeface="+mn-ea"/>
              </a:rPr>
              <a:t>means</a:t>
            </a:r>
            <a:r>
              <a:rPr lang="zh-CN" altLang="en-US" spc="-100" dirty="0">
                <a:solidFill>
                  <a:srgbClr val="D2533C"/>
                </a:solidFill>
                <a:latin typeface="Arial" panose="020B0604020202020204"/>
                <a:ea typeface="华文新魏" panose="02010800040101010101" pitchFamily="2" charset="-122"/>
              </a:rPr>
              <a:t>算法 </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8069520" cy="657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k--means</a:t>
                </a:r>
                <a:r>
                  <a:rPr lang="zh-CN" altLang="en-US" sz="2000" dirty="0">
                    <a:solidFill>
                      <a:srgbClr val="000000"/>
                    </a:solidFill>
                  </a:rPr>
                  <a:t>的代价函数（又称畸变函数 </a:t>
                </a:r>
                <a:r>
                  <a:rPr lang="en-US" altLang="zh-CN" sz="2000" dirty="0">
                    <a:solidFill>
                      <a:srgbClr val="000000"/>
                    </a:solidFill>
                  </a:rPr>
                  <a:t>Distortion function</a:t>
                </a:r>
                <a:r>
                  <a:rPr lang="zh-CN" altLang="en-US" sz="2000" dirty="0">
                    <a:solidFill>
                      <a:srgbClr val="000000"/>
                    </a:solidFill>
                  </a:rPr>
                  <a:t>）为：</a:t>
                </a:r>
                <a:endParaRPr lang="en-US"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Times New Roman" panose="02020603050405020304" pitchFamily="18" charset="0"/>
                        </a:rPr>
                        <m:t>𝐽</m:t>
                      </m:r>
                      <m:r>
                        <a:rPr lang="en-US" altLang="zh-CN" sz="18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cs typeface="Times New Roman" panose="02020603050405020304" pitchFamily="18" charset="0"/>
                            </a:rPr>
                            <m:t>𝑐</m:t>
                          </m:r>
                        </m:e>
                        <m:sup>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r>
                            <a:rPr lang="en-US" altLang="zh-CN" sz="1800">
                              <a:latin typeface="Cambria Math" panose="02040503050406030204" pitchFamily="18" charset="0"/>
                              <a:cs typeface="Times New Roman" panose="02020603050405020304" pitchFamily="18" charset="0"/>
                            </a:rPr>
                            <m:t>)</m:t>
                          </m:r>
                        </m:sup>
                      </m:sSup>
                      <m:r>
                        <a:rPr lang="en-US" altLang="zh-CN" sz="18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cs typeface="Times New Roman" panose="02020603050405020304" pitchFamily="18" charset="0"/>
                            </a:rPr>
                            <m:t>𝑐</m:t>
                          </m:r>
                        </m:e>
                        <m:sup>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𝑚</m:t>
                          </m:r>
                          <m:r>
                            <a:rPr lang="en-US" altLang="zh-CN" sz="1800">
                              <a:latin typeface="Cambria Math" panose="02040503050406030204" pitchFamily="18" charset="0"/>
                              <a:cs typeface="Times New Roman" panose="02020603050405020304" pitchFamily="18" charset="0"/>
                            </a:rPr>
                            <m:t>)</m:t>
                          </m:r>
                        </m:sup>
                      </m:sSup>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1</m:t>
                          </m:r>
                        </m:sub>
                      </m:sSub>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𝐾</m:t>
                          </m:r>
                        </m:sub>
                      </m:sSub>
                      <m:r>
                        <a:rPr lang="en-US" altLang="zh-CN" sz="18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latin typeface="Cambria Math" panose="02040503050406030204" pitchFamily="18" charset="0"/>
                              <a:cs typeface="Times New Roman" panose="02020603050405020304" pitchFamily="18" charset="0"/>
                            </a:rPr>
                            <m:t>1</m:t>
                          </m:r>
                        </m:num>
                        <m:den>
                          <m:r>
                            <a:rPr lang="en-US" altLang="zh-CN" sz="1800" i="1">
                              <a:latin typeface="Cambria Math" panose="02040503050406030204" pitchFamily="18" charset="0"/>
                              <a:cs typeface="Times New Roman" panose="02020603050405020304" pitchFamily="18" charset="0"/>
                            </a:rPr>
                            <m:t>𝑚</m:t>
                          </m:r>
                        </m:den>
                      </m:f>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sub>
                        <m:sup>
                          <m:r>
                            <a:rPr lang="en-US" altLang="zh-CN" sz="1800" i="1">
                              <a:latin typeface="Cambria Math" panose="02040503050406030204" pitchFamily="18" charset="0"/>
                              <a:cs typeface="Times New Roman" panose="02020603050405020304" pitchFamily="18" charset="0"/>
                            </a:rPr>
                            <m:t>𝑚</m:t>
                          </m:r>
                        </m:sup>
                        <m:e>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cs typeface="Times New Roman" panose="02020603050405020304" pitchFamily="18" charset="0"/>
                                        </a:rPr>
                                        <m:t>𝑋</m:t>
                                      </m:r>
                                    </m:e>
                                    <m:sup>
                                      <m:d>
                                        <m:d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latin typeface="Cambria Math" panose="02040503050406030204" pitchFamily="18" charset="0"/>
                                              <a:cs typeface="Times New Roman" panose="02020603050405020304" pitchFamily="18" charset="0"/>
                                            </a:rPr>
                                            <m:t>𝑖</m:t>
                                          </m:r>
                                        </m:e>
                                      </m:d>
                                    </m:sup>
                                  </m:sSup>
                                  <m:r>
                                    <a:rPr lang="en-US" altLang="zh-CN" sz="1800" i="1">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a:latin typeface="Cambria Math" panose="02040503050406030204" pitchFamily="18" charset="0"/>
                                              <a:cs typeface="Times New Roman" panose="02020603050405020304" pitchFamily="18" charset="0"/>
                                            </a:rPr>
                                            <m:t>𝑐</m:t>
                                          </m:r>
                                        </m:e>
                                        <m:sup>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sup>
                                      </m:sSup>
                                    </m:sub>
                                  </m:sSub>
                                </m:e>
                              </m:d>
                            </m:e>
                            <m:sup>
                              <m:r>
                                <a:rPr lang="en-US" altLang="zh-CN" sz="1800" i="1">
                                  <a:latin typeface="Cambria Math" panose="02040503050406030204" pitchFamily="18" charset="0"/>
                                  <a:cs typeface="Times New Roman" panose="02020603050405020304" pitchFamily="18" charset="0"/>
                                </a:rPr>
                                <m:t>2</m:t>
                              </m:r>
                            </m:sup>
                          </m:sSup>
                        </m:e>
                      </m:nary>
                    </m:oMath>
                  </m:oMathPara>
                </a14:m>
                <a:endParaRPr lang="zh-CN" altLang="en-US" sz="2000" dirty="0"/>
              </a:p>
              <a:p>
                <a:pPr>
                  <a:spcBef>
                    <a:spcPts val="900"/>
                  </a:spcBef>
                  <a:spcAft>
                    <a:spcPts val="900"/>
                  </a:spcAft>
                </a:pPr>
                <a:r>
                  <a:rPr lang="zh-CN" altLang="zh-CN" sz="2000" kern="100" dirty="0">
                    <a:latin typeface="微软雅黑" panose="020B0503020204020204" charset="-122"/>
                    <a:cs typeface="Times New Roman" panose="02020603050405020304" pitchFamily="18" charset="0"/>
                  </a:rPr>
                  <a:t>设训练集为：</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cs typeface="Times New Roman" panose="02020603050405020304" pitchFamily="18" charset="0"/>
                          </a:rPr>
                          <m:t>𝑥</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sup>
                    </m:sSup>
                    <m:r>
                      <a:rPr lang="en-US" altLang="zh-CN" sz="2000" i="1" kern="1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cs typeface="Times New Roman" panose="02020603050405020304" pitchFamily="18" charset="0"/>
                          </a:rPr>
                          <m:t>𝑥</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2</m:t>
                        </m:r>
                        <m:r>
                          <a:rPr lang="en-US" altLang="zh-CN" sz="2000" i="1" kern="100">
                            <a:latin typeface="Cambria Math" panose="02040503050406030204" pitchFamily="18" charset="0"/>
                            <a:cs typeface="Times New Roman" panose="02020603050405020304" pitchFamily="18" charset="0"/>
                          </a:rPr>
                          <m:t>)</m:t>
                        </m:r>
                      </m:sup>
                    </m:sSup>
                    <m:r>
                      <a:rPr lang="en-US" altLang="zh-CN" sz="2000" i="1" kern="1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cs typeface="Times New Roman" panose="02020603050405020304" pitchFamily="18" charset="0"/>
                          </a:rPr>
                          <m:t>𝑥</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3</m:t>
                        </m:r>
                        <m:r>
                          <a:rPr lang="en-US" altLang="zh-CN" sz="2000" i="1" kern="100">
                            <a:latin typeface="Cambria Math" panose="02040503050406030204" pitchFamily="18" charset="0"/>
                            <a:cs typeface="Times New Roman" panose="02020603050405020304" pitchFamily="18" charset="0"/>
                          </a:rPr>
                          <m:t>)</m:t>
                        </m:r>
                      </m:sup>
                    </m:sSup>
                    <m:r>
                      <a:rPr lang="en-US" altLang="zh-CN" sz="2000" i="1" kern="100">
                        <a:latin typeface="Cambria Math" panose="02040503050406030204" pitchFamily="18" charset="0"/>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cs typeface="Times New Roman" panose="02020603050405020304" pitchFamily="18" charset="0"/>
                          </a:rPr>
                          <m:t>𝑥</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𝑚</m:t>
                        </m:r>
                        <m:r>
                          <a:rPr lang="en-US" altLang="zh-CN" sz="2000" i="1" kern="100">
                            <a:latin typeface="Cambria Math" panose="02040503050406030204" pitchFamily="18" charset="0"/>
                            <a:cs typeface="Times New Roman" panose="02020603050405020304" pitchFamily="18" charset="0"/>
                          </a:rPr>
                          <m:t>)</m:t>
                        </m:r>
                      </m:sup>
                    </m:sSup>
                    <m:r>
                      <a:rPr lang="en-US" altLang="zh-CN" sz="2000" i="1" kern="100">
                        <a:latin typeface="Cambria Math" panose="02040503050406030204" pitchFamily="18" charset="0"/>
                        <a:cs typeface="Times New Roman" panose="02020603050405020304" pitchFamily="18" charset="0"/>
                      </a:rPr>
                      <m:t>}</m:t>
                    </m:r>
                  </m:oMath>
                </a14:m>
                <a:r>
                  <a:rPr lang="zh-CN" altLang="zh-CN" sz="2000" kern="100" dirty="0">
                    <a:latin typeface="微软雅黑" panose="020B0503020204020204" charset="-122"/>
                    <a:cs typeface="Times New Roman" panose="02020603050405020304" pitchFamily="18" charset="0"/>
                  </a:rPr>
                  <a:t>，簇划分</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𝐶</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𝐾</m:t>
                        </m:r>
                      </m:sub>
                    </m:sSub>
                    <m:r>
                      <a:rPr lang="en-US" altLang="zh-CN" sz="2000" i="1" kern="100">
                        <a:latin typeface="Cambria Math" panose="02040503050406030204" pitchFamily="18" charset="0"/>
                        <a:cs typeface="Times New Roman" panose="02020603050405020304" pitchFamily="18" charset="0"/>
                      </a:rPr>
                      <m:t>}</m:t>
                    </m:r>
                  </m:oMath>
                </a14:m>
                <a:r>
                  <a:rPr lang="zh-CN" altLang="en-US" sz="2000" kern="100" dirty="0">
                    <a:latin typeface="微软雅黑" panose="020B0503020204020204" charset="-122"/>
                    <a:cs typeface="Times New Roman" panose="02020603050405020304" pitchFamily="18" charset="0"/>
                  </a:rPr>
                  <a:t>，</a:t>
                </a:r>
                <a:r>
                  <a:rPr lang="zh-CN" altLang="zh-CN" sz="2000" kern="100" dirty="0">
                    <a:latin typeface="微软雅黑" panose="020B0503020204020204" charset="-122"/>
                    <a:cs typeface="Times New Roman" panose="02020603050405020304" pitchFamily="18" charset="0"/>
                  </a:rPr>
                  <a:t>用</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1</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2</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𝐾</m:t>
                        </m:r>
                      </m:sub>
                    </m:sSub>
                  </m:oMath>
                </a14:m>
                <a:r>
                  <a:rPr lang="zh-CN" altLang="zh-CN" sz="2000" kern="100" dirty="0">
                    <a:latin typeface="微软雅黑" panose="020B0503020204020204" charset="-122"/>
                    <a:cs typeface="Times New Roman" panose="02020603050405020304" pitchFamily="18" charset="0"/>
                  </a:rPr>
                  <a:t>来表示聚类中心</a:t>
                </a:r>
                <a:r>
                  <a:rPr lang="zh-CN" altLang="en-US" sz="2000" dirty="0">
                    <a:latin typeface="微软雅黑" panose="020B0503020204020204" charset="-122"/>
                  </a:rPr>
                  <a:t>，</a:t>
                </a:r>
                <a:r>
                  <a:rPr lang="en-US" altLang="zh-CN" sz="2000" dirty="0" err="1">
                    <a:latin typeface="微软雅黑" panose="020B0503020204020204" charset="-122"/>
                    <a:cs typeface="Times New Roman" panose="02020603050405020304" pitchFamily="18" charset="0"/>
                  </a:rPr>
                  <a:t>其中</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𝑐</m:t>
                            </m:r>
                          </m:e>
                          <m: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𝑖</m:t>
                            </m:r>
                            <m:r>
                              <a:rPr lang="en-US" altLang="zh-CN" sz="2000">
                                <a:latin typeface="Cambria Math" panose="02040503050406030204" pitchFamily="18" charset="0"/>
                                <a:cs typeface="Times New Roman" panose="02020603050405020304" pitchFamily="18" charset="0"/>
                              </a:rPr>
                              <m:t>)</m:t>
                            </m:r>
                          </m:sup>
                        </m:sSup>
                      </m:sub>
                    </m:sSub>
                  </m:oMath>
                </a14:m>
                <a:r>
                  <a:rPr lang="en-US" altLang="zh-CN" sz="2000" dirty="0" err="1">
                    <a:latin typeface="微软雅黑" panose="020B0503020204020204" charset="-122"/>
                    <a:cs typeface="Times New Roman" panose="02020603050405020304" pitchFamily="18" charset="0"/>
                  </a:rPr>
                  <a:t>代表与</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𝑥</m:t>
                        </m:r>
                      </m:e>
                      <m: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𝑖</m:t>
                        </m:r>
                        <m:r>
                          <a:rPr lang="en-US" altLang="zh-CN" sz="2000">
                            <a:latin typeface="Cambria Math" panose="02040503050406030204" pitchFamily="18" charset="0"/>
                            <a:cs typeface="Times New Roman" panose="02020603050405020304" pitchFamily="18" charset="0"/>
                          </a:rPr>
                          <m:t>)</m:t>
                        </m:r>
                      </m:sup>
                    </m:sSup>
                  </m:oMath>
                </a14:m>
                <a:r>
                  <a:rPr lang="en-US" altLang="zh-CN" sz="2000" dirty="0" err="1">
                    <a:latin typeface="微软雅黑" panose="020B0503020204020204" charset="-122"/>
                    <a:cs typeface="Times New Roman" panose="02020603050405020304" pitchFamily="18" charset="0"/>
                  </a:rPr>
                  <a:t>最近的聚类中心点</a:t>
                </a:r>
                <a:r>
                  <a:rPr lang="zh-CN" altLang="en-US" sz="2000" dirty="0">
                    <a:latin typeface="微软雅黑" panose="020B0503020204020204" charset="-122"/>
                    <a:cs typeface="Times New Roman" panose="02020603050405020304" pitchFamily="18" charset="0"/>
                  </a:rPr>
                  <a:t>，</a:t>
                </a:r>
                <a:r>
                  <a:rPr lang="en-US" altLang="zh-CN" sz="2000" dirty="0" err="1">
                    <a:latin typeface="微软雅黑" panose="020B0503020204020204" charset="-122"/>
                    <a:cs typeface="Times New Roman" panose="02020603050405020304" pitchFamily="18" charset="0"/>
                  </a:rPr>
                  <a:t>优化目标便是找出使得代价函数最小的</a:t>
                </a:r>
                <a:r>
                  <a:rPr lang="en-US" altLang="zh-CN" sz="2000" dirty="0">
                    <a:latin typeface="微软雅黑" panose="020B0503020204020204" charset="-122"/>
                    <a:cs typeface="Times New Roman" panose="02020603050405020304" pitchFamily="18" charset="0"/>
                  </a:rPr>
                  <a:t> </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𝑐</m:t>
                        </m:r>
                      </m:e>
                      <m: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1</m:t>
                        </m:r>
                        <m:r>
                          <a:rPr lang="en-US" altLang="zh-CN" sz="2000">
                            <a:latin typeface="Cambria Math" panose="02040503050406030204" pitchFamily="18" charset="0"/>
                            <a:cs typeface="Times New Roman" panose="02020603050405020304" pitchFamily="18" charset="0"/>
                          </a:rPr>
                          <m:t>)</m:t>
                        </m:r>
                      </m:sup>
                    </m:sSup>
                  </m:oMath>
                </a14:m>
                <a:r>
                  <a:rPr lang="en-US" altLang="zh-CN" sz="2000" dirty="0">
                    <a:latin typeface="微软雅黑" panose="020B0503020204020204" charset="-122"/>
                    <a:cs typeface="Times New Roman" panose="02020603050405020304" pitchFamily="18" charset="0"/>
                  </a:rPr>
                  <a:t>,</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𝑐</m:t>
                        </m:r>
                      </m:e>
                      <m: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2</m:t>
                        </m:r>
                        <m:r>
                          <a:rPr lang="en-US" altLang="zh-CN" sz="2000">
                            <a:latin typeface="Cambria Math" panose="02040503050406030204" pitchFamily="18" charset="0"/>
                            <a:cs typeface="Times New Roman" panose="02020603050405020304" pitchFamily="18" charset="0"/>
                          </a:rPr>
                          <m:t>)</m:t>
                        </m:r>
                      </m:sup>
                    </m:sSup>
                  </m:oMath>
                </a14:m>
                <a:r>
                  <a:rPr lang="en-US" altLang="zh-CN" sz="2000" dirty="0">
                    <a:latin typeface="微软雅黑" panose="020B0503020204020204" charset="-122"/>
                    <a:cs typeface="Times New Roman" panose="02020603050405020304" pitchFamily="18" charset="0"/>
                  </a:rPr>
                  <a:t>,...,</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𝑐</m:t>
                        </m:r>
                      </m:e>
                      <m:sup>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𝑚</m:t>
                        </m:r>
                        <m:r>
                          <a:rPr lang="en-US" altLang="zh-CN" sz="2000">
                            <a:latin typeface="Cambria Math" panose="02040503050406030204" pitchFamily="18" charset="0"/>
                            <a:cs typeface="Times New Roman" panose="02020603050405020304" pitchFamily="18" charset="0"/>
                          </a:rPr>
                          <m:t>)</m:t>
                        </m:r>
                      </m:sup>
                    </m:sSup>
                  </m:oMath>
                </a14:m>
                <a:r>
                  <a:rPr lang="en-US" altLang="zh-CN" sz="2000" dirty="0">
                    <a:latin typeface="微软雅黑" panose="020B0503020204020204" charset="-122"/>
                    <a:cs typeface="Times New Roman" panose="02020603050405020304" pitchFamily="18" charset="0"/>
                  </a:rPr>
                  <a:t>和</a:t>
                </a:r>
                <a:r>
                  <a:rPr lang="zh-CN" altLang="zh-CN" sz="20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1</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2</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𝐾</m:t>
                        </m:r>
                      </m:sub>
                    </m:sSub>
                    <m:r>
                      <a:rPr lang="en-US" altLang="zh-CN" sz="2000" i="1">
                        <a:latin typeface="Cambria Math" panose="02040503050406030204" pitchFamily="18" charset="0"/>
                        <a:cs typeface="Times New Roman" panose="02020603050405020304" pitchFamily="18" charset="0"/>
                      </a:rPr>
                      <m:t> </m:t>
                    </m:r>
                    <m:r>
                      <a:rPr lang="zh-CN" altLang="en-US" sz="2000" i="1">
                        <a:latin typeface="Cambria Math" panose="02040503050406030204" pitchFamily="18" charset="0"/>
                        <a:cs typeface="Times New Roman" panose="02020603050405020304" pitchFamily="18" charset="0"/>
                      </a:rPr>
                      <m:t>。</m:t>
                    </m:r>
                  </m:oMath>
                </a14:m>
                <a:endParaRPr lang="en-US" altLang="zh-CN" sz="2000" dirty="0">
                  <a:latin typeface="微软雅黑" panose="020B0503020204020204" charset="-122"/>
                  <a:cs typeface="Times New Roman" panose="02020603050405020304" pitchFamily="18" charset="0"/>
                </a:endParaRPr>
              </a:p>
              <a:p>
                <a:pPr>
                  <a:spcBef>
                    <a:spcPts val="900"/>
                  </a:spcBef>
                  <a:spcAft>
                    <a:spcPts val="900"/>
                  </a:spcAft>
                </a:pPr>
                <a:r>
                  <a:rPr lang="zh-CN" altLang="en-US" sz="2000" dirty="0"/>
                  <a:t>记</a:t>
                </a:r>
                <a14:m>
                  <m:oMath xmlns:m="http://schemas.openxmlformats.org/officeDocument/2006/math">
                    <m:r>
                      <a:rPr lang="en-US" altLang="zh-CN" sz="2000" i="1" dirty="0">
                        <a:latin typeface="Cambria Math" panose="02040503050406030204" pitchFamily="18" charset="0"/>
                      </a:rPr>
                      <m:t>𝑘</m:t>
                    </m:r>
                  </m:oMath>
                </a14:m>
                <a:r>
                  <a:rPr lang="zh-CN" altLang="en-US" sz="2000" dirty="0"/>
                  <a:t>个簇中心为</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1</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2</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𝑘</m:t>
                        </m:r>
                      </m:sub>
                    </m:sSub>
                  </m:oMath>
                </a14:m>
                <a:r>
                  <a:rPr lang="zh-CN" altLang="en-US" sz="2000" dirty="0"/>
                  <a:t>，每个簇的样本数目为</a:t>
                </a:r>
                <a14:m>
                  <m:oMath xmlns:m="http://schemas.openxmlformats.org/officeDocument/2006/math">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𝑁</m:t>
                        </m:r>
                      </m:e>
                      <m:sub>
                        <m:r>
                          <a:rPr lang="zh-CN" altLang="en-US" sz="2000" i="1" dirty="0">
                            <a:latin typeface="Cambria Math" panose="02040503050406030204" pitchFamily="18" charset="0"/>
                          </a:rPr>
                          <m:t>1</m:t>
                        </m:r>
                      </m:sub>
                    </m:sSub>
                  </m:oMath>
                </a14:m>
                <a:r>
                  <a:rPr lang="zh-CN" altLang="en-US" sz="2000" dirty="0"/>
                  <a:t>,</a:t>
                </a:r>
                <a:r>
                  <a:rPr lang="en-US" altLang="zh-CN" sz="2000" dirty="0"/>
                  <a:t> </a:t>
                </a:r>
                <a14:m>
                  <m:oMath xmlns:m="http://schemas.openxmlformats.org/officeDocument/2006/math">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𝑁</m:t>
                        </m:r>
                      </m:e>
                      <m:sub>
                        <m:r>
                          <a:rPr lang="en-US" altLang="zh-CN" sz="2000" i="1" dirty="0">
                            <a:latin typeface="Cambria Math" panose="02040503050406030204" pitchFamily="18" charset="0"/>
                          </a:rPr>
                          <m:t>2</m:t>
                        </m:r>
                      </m:sub>
                    </m:sSub>
                  </m:oMath>
                </a14:m>
                <a:r>
                  <a:rPr lang="en-US" altLang="zh-CN" sz="2000" kern="100" dirty="0">
                    <a:latin typeface="微软雅黑" panose="020B0503020204020204" charset="-122"/>
                    <a:cs typeface="Times New Roman" panose="02020603050405020304" pitchFamily="18" charset="0"/>
                  </a:rPr>
                  <a:t>,...,</a:t>
                </a:r>
                <a:r>
                  <a:rPr lang="en-US" altLang="zh-CN" sz="2000" dirty="0"/>
                  <a:t> </a:t>
                </a:r>
                <a14:m>
                  <m:oMath xmlns:m="http://schemas.openxmlformats.org/officeDocument/2006/math">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𝑁</m:t>
                        </m:r>
                      </m:e>
                      <m:sub>
                        <m:r>
                          <a:rPr lang="en-US" altLang="zh-CN" sz="2000" i="1" dirty="0">
                            <a:latin typeface="Cambria Math" panose="02040503050406030204" pitchFamily="18" charset="0"/>
                          </a:rPr>
                          <m:t>𝑘</m:t>
                        </m:r>
                      </m:sub>
                    </m:sSub>
                  </m:oMath>
                </a14:m>
                <a:r>
                  <a:rPr lang="zh-CN" altLang="en-US" sz="2000" dirty="0"/>
                  <a:t>，使用平方误差作为目标函数：</a:t>
                </a:r>
                <a14:m>
                  <m:oMath xmlns:m="http://schemas.openxmlformats.org/officeDocument/2006/math">
                    <m:r>
                      <a:rPr lang="en-US" altLang="zh-CN" sz="1800" i="1">
                        <a:latin typeface="Cambria Math" panose="02040503050406030204" pitchFamily="18" charset="0"/>
                        <a:cs typeface="Times New Roman" panose="02020603050405020304" pitchFamily="18" charset="0"/>
                      </a:rPr>
                      <m:t>𝐽</m:t>
                    </m:r>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1</m:t>
                        </m:r>
                      </m:sub>
                    </m:sSub>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2</m:t>
                        </m:r>
                      </m:sub>
                    </m:sSub>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𝑘</m:t>
                        </m:r>
                      </m:sub>
                    </m:sSub>
                    <m:r>
                      <a:rPr lang="en-US" altLang="zh-CN" sz="18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latin typeface="Cambria Math" panose="02040503050406030204" pitchFamily="18" charset="0"/>
                            <a:cs typeface="Times New Roman" panose="02020603050405020304" pitchFamily="18" charset="0"/>
                          </a:rPr>
                          <m:t>1</m:t>
                        </m:r>
                      </m:num>
                      <m:den>
                        <m:r>
                          <a:rPr lang="en-US" altLang="zh-CN" sz="1800" i="1">
                            <a:latin typeface="Cambria Math" panose="02040503050406030204" pitchFamily="18" charset="0"/>
                            <a:cs typeface="Times New Roman" panose="02020603050405020304" pitchFamily="18" charset="0"/>
                          </a:rPr>
                          <m:t>2</m:t>
                        </m:r>
                      </m:den>
                    </m:f>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cs typeface="Times New Roman" panose="02020603050405020304" pitchFamily="18" charset="0"/>
                          </a:rPr>
                          <m:t>𝑗</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sub>
                      <m:sup>
                        <m:r>
                          <a:rPr lang="en-US" altLang="zh-CN" sz="1800" i="1">
                            <a:latin typeface="Cambria Math" panose="02040503050406030204" pitchFamily="18" charset="0"/>
                            <a:cs typeface="Times New Roman" panose="02020603050405020304" pitchFamily="18" charset="0"/>
                          </a:rPr>
                          <m:t>𝐾</m:t>
                        </m:r>
                      </m:sup>
                      <m:e>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sub>
                          <m:sup>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𝑁</m:t>
                                </m:r>
                              </m:e>
                              <m:sub>
                                <m:r>
                                  <a:rPr lang="en-US" altLang="zh-CN" sz="1800" i="1">
                                    <a:latin typeface="Cambria Math" panose="02040503050406030204" pitchFamily="18" charset="0"/>
                                    <a:cs typeface="Times New Roman" panose="02020603050405020304" pitchFamily="18" charset="0"/>
                                  </a:rPr>
                                  <m:t>𝑗</m:t>
                                </m:r>
                              </m:sub>
                            </m:sSub>
                          </m:sup>
                          <m:e>
                            <m:r>
                              <a:rPr lang="en-US" altLang="zh-CN" sz="1800">
                                <a:latin typeface="Cambria Math" panose="02040503050406030204" pitchFamily="18" charset="0"/>
                                <a:cs typeface="Times New Roman" panose="02020603050405020304" pitchFamily="18" charset="0"/>
                              </a:rPr>
                              <m:t>(</m:t>
                            </m:r>
                          </m:e>
                        </m:nary>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𝑥</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𝑗</m:t>
                        </m:r>
                      </m:sub>
                    </m:sSub>
                    <m:sSup>
                      <m:sSu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a:latin typeface="Cambria Math" panose="02040503050406030204" pitchFamily="18" charset="0"/>
                            <a:cs typeface="Times New Roman" panose="02020603050405020304" pitchFamily="18" charset="0"/>
                          </a:rPr>
                          <m:t>)</m:t>
                        </m:r>
                      </m:e>
                      <m:sup>
                        <m:r>
                          <a:rPr lang="en-US" altLang="zh-CN" sz="1800" i="1">
                            <a:latin typeface="Cambria Math" panose="02040503050406030204" pitchFamily="18" charset="0"/>
                            <a:cs typeface="Times New Roman" panose="02020603050405020304" pitchFamily="18" charset="0"/>
                          </a:rPr>
                          <m:t>2</m:t>
                        </m:r>
                      </m:sup>
                    </m:sSup>
                  </m:oMath>
                </a14:m>
                <a:endParaRPr lang="zh-CN" altLang="en-US" sz="2000" dirty="0"/>
              </a:p>
              <a:p>
                <a:pPr>
                  <a:spcBef>
                    <a:spcPts val="900"/>
                  </a:spcBef>
                  <a:spcAft>
                    <a:spcPts val="900"/>
                  </a:spcAft>
                </a:pPr>
                <a:r>
                  <a:rPr lang="zh-CN" altLang="en-US" sz="2000" dirty="0"/>
                  <a:t>对关于从</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1</m:t>
                        </m:r>
                      </m:sub>
                    </m:sSub>
                    <m:r>
                      <a:rPr lang="en-US" altLang="zh-CN" sz="2000">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2</m:t>
                        </m:r>
                      </m:sub>
                    </m:sSub>
                    <m:r>
                      <a:rPr lang="en-US" altLang="zh-CN" sz="2000">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𝑘</m:t>
                        </m:r>
                      </m:sub>
                    </m:sSub>
                  </m:oMath>
                </a14:m>
                <a:r>
                  <a:rPr lang="zh-CN" altLang="en-US" sz="2000" dirty="0"/>
                  <a:t>的函数求偏导，这里的求偏导是对第</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𝑗</m:t>
                    </m:r>
                  </m:oMath>
                </a14:m>
                <a:r>
                  <a:rPr lang="zh-CN" altLang="en-US" sz="2000" dirty="0"/>
                  <a:t>个簇心</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𝜇</m:t>
                        </m:r>
                      </m:e>
                      <m:sub>
                        <m:r>
                          <a:rPr lang="en-US" altLang="zh-CN" sz="2000" i="1">
                            <a:latin typeface="Cambria Math" panose="02040503050406030204" pitchFamily="18" charset="0"/>
                            <a:cs typeface="Times New Roman" panose="02020603050405020304" pitchFamily="18" charset="0"/>
                          </a:rPr>
                          <m:t>𝑗</m:t>
                        </m:r>
                      </m:sub>
                    </m:sSub>
                  </m:oMath>
                </a14:m>
                <a:r>
                  <a:rPr lang="zh-CN" altLang="en-US" sz="2000" dirty="0"/>
                  <a:t>求的偏导。故而其驻点为:</a:t>
                </a:r>
                <a:endParaRPr lang="en-US" altLang="zh-CN" sz="2000" dirty="0"/>
              </a:p>
              <a:p>
                <a:pPr marL="0" indent="0" algn="ctr">
                  <a:spcBef>
                    <a:spcPts val="900"/>
                  </a:spcBef>
                  <a:spcAft>
                    <a:spcPts val="900"/>
                  </a:spcAft>
                  <a:buNone/>
                </a:pPr>
                <a14:m>
                  <m:oMath xmlns:m="http://schemas.openxmlformats.org/officeDocument/2006/math">
                    <m:f>
                      <m:f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𝐽</m:t>
                        </m:r>
                      </m:num>
                      <m:den>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𝑗</m:t>
                            </m:r>
                          </m:sub>
                        </m:sSub>
                      </m:den>
                    </m:f>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m:t>
                    </m:r>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sub>
                      <m:sup>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𝑁</m:t>
                            </m:r>
                          </m:e>
                          <m:sub>
                            <m:r>
                              <a:rPr lang="en-US" altLang="zh-CN" sz="1800" i="1">
                                <a:latin typeface="Cambria Math" panose="02040503050406030204" pitchFamily="18" charset="0"/>
                                <a:cs typeface="Times New Roman" panose="02020603050405020304" pitchFamily="18" charset="0"/>
                              </a:rPr>
                              <m:t>𝑗</m:t>
                            </m:r>
                          </m:sub>
                        </m:sSub>
                      </m:sup>
                      <m:e>
                        <m:r>
                          <a:rPr lang="en-US" altLang="zh-CN" sz="1800">
                            <a:latin typeface="Cambria Math" panose="02040503050406030204" pitchFamily="18" charset="0"/>
                            <a:cs typeface="Times New Roman" panose="02020603050405020304" pitchFamily="18" charset="0"/>
                          </a:rPr>
                          <m:t>(</m:t>
                        </m:r>
                      </m:e>
                    </m:nary>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𝑥</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𝑗</m:t>
                        </m:r>
                      </m:sub>
                    </m:sSub>
                    <m:r>
                      <a:rPr lang="en-US" altLang="zh-CN" sz="1800">
                        <a:latin typeface="Cambria Math" panose="02040503050406030204" pitchFamily="18" charset="0"/>
                        <a:cs typeface="Times New Roman" panose="02020603050405020304" pitchFamily="18" charset="0"/>
                      </a:rPr>
                      <m:t>)</m:t>
                    </m:r>
                    <m:limUpp>
                      <m:limUpp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1800">
                            <a:latin typeface="Cambria Math" panose="02040503050406030204" pitchFamily="18" charset="0"/>
                            <a:cs typeface="Times New Roman" panose="02020603050405020304" pitchFamily="18" charset="0"/>
                          </a:rPr>
                          <m:t>→</m:t>
                        </m:r>
                      </m:e>
                      <m:lim>
                        <m:r>
                          <m:rPr>
                            <m:nor/>
                          </m:rPr>
                          <a:rPr lang="en-US" altLang="zh-CN" sz="1800">
                            <a:latin typeface="Cambria" panose="02040503050406030204" pitchFamily="18" charset="0"/>
                            <a:cs typeface="Times New Roman" panose="02020603050405020304" pitchFamily="18" charset="0"/>
                          </a:rPr>
                          <m:t> </m:t>
                        </m:r>
                        <m:r>
                          <m:rPr>
                            <m:nor/>
                          </m:rPr>
                          <a:rPr lang="en-US" altLang="zh-CN" sz="1800">
                            <a:latin typeface="宋体" panose="02010600030101010101" pitchFamily="2" charset="-122"/>
                            <a:cs typeface="Times New Roman" panose="02020603050405020304" pitchFamily="18" charset="0"/>
                          </a:rPr>
                          <m:t>令</m:t>
                        </m:r>
                        <m:r>
                          <m:rPr>
                            <m:nor/>
                          </m:rPr>
                          <a:rPr lang="en-US" altLang="zh-CN" sz="1800">
                            <a:latin typeface="Cambria" panose="02040503050406030204" pitchFamily="18" charset="0"/>
                            <a:cs typeface="Times New Roman" panose="02020603050405020304" pitchFamily="18" charset="0"/>
                          </a:rPr>
                          <m:t> </m:t>
                        </m:r>
                      </m:lim>
                    </m:limUpp>
                    <m:r>
                      <a:rPr lang="en-US" altLang="zh-CN" sz="1800" i="1">
                        <a:latin typeface="Cambria Math" panose="02040503050406030204" pitchFamily="18" charset="0"/>
                        <a:cs typeface="Times New Roman" panose="02020603050405020304" pitchFamily="18" charset="0"/>
                      </a:rPr>
                      <m:t>0</m:t>
                    </m:r>
                    <m:r>
                      <a:rPr lang="en-US" altLang="zh-CN" sz="18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𝜇</m:t>
                        </m:r>
                      </m:e>
                      <m:sub>
                        <m:r>
                          <a:rPr lang="en-US" altLang="zh-CN" sz="1800" i="1">
                            <a:latin typeface="Cambria Math" panose="02040503050406030204" pitchFamily="18" charset="0"/>
                            <a:cs typeface="Times New Roman" panose="02020603050405020304" pitchFamily="18" charset="0"/>
                          </a:rPr>
                          <m:t>𝑗</m:t>
                        </m:r>
                      </m:sub>
                    </m:sSub>
                    <m:r>
                      <a:rPr lang="en-US" altLang="zh-CN" sz="18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latin typeface="Cambria Math" panose="02040503050406030204" pitchFamily="18" charset="0"/>
                            <a:cs typeface="Times New Roman" panose="02020603050405020304" pitchFamily="18" charset="0"/>
                          </a:rPr>
                          <m:t>1</m:t>
                        </m:r>
                      </m:num>
                      <m:den>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𝑁</m:t>
                            </m:r>
                          </m:e>
                          <m:sub>
                            <m:r>
                              <a:rPr lang="en-US" altLang="zh-CN" sz="1800" i="1">
                                <a:latin typeface="Cambria Math" panose="02040503050406030204" pitchFamily="18" charset="0"/>
                                <a:cs typeface="Times New Roman" panose="02020603050405020304" pitchFamily="18" charset="0"/>
                              </a:rPr>
                              <m:t>𝑗</m:t>
                            </m:r>
                          </m:sub>
                        </m:sSub>
                      </m:den>
                    </m:f>
                    <m:nary>
                      <m:naryPr>
                        <m:chr m:val="∑"/>
                        <m:limLoc m:val="undOv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i="1">
                            <a:latin typeface="Cambria Math" panose="02040503050406030204" pitchFamily="18" charset="0"/>
                            <a:cs typeface="Times New Roman" panose="02020603050405020304" pitchFamily="18" charset="0"/>
                          </a:rPr>
                          <m:t>1</m:t>
                        </m:r>
                      </m:sub>
                      <m:sup>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𝑁</m:t>
                            </m:r>
                          </m:e>
                          <m:sub>
                            <m:r>
                              <a:rPr lang="en-US" altLang="zh-CN" sz="1800" i="1">
                                <a:latin typeface="Cambria Math" panose="02040503050406030204" pitchFamily="18" charset="0"/>
                                <a:cs typeface="Times New Roman" panose="02020603050405020304" pitchFamily="18" charset="0"/>
                              </a:rPr>
                              <m:t>𝑗</m:t>
                            </m:r>
                          </m:sub>
                        </m:sSub>
                      </m:sup>
                      <m:e>
                        <m:sSub>
                          <m:sSubPr>
                            <m:ctrlPr>
                              <a:rPr lang="zh-CN" altLang="zh-CN" sz="18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𝑥</m:t>
                            </m:r>
                          </m:e>
                          <m:sub>
                            <m:r>
                              <a:rPr lang="en-US" altLang="zh-CN" sz="1800" i="1">
                                <a:latin typeface="Cambria Math" panose="02040503050406030204" pitchFamily="18" charset="0"/>
                                <a:cs typeface="Times New Roman" panose="02020603050405020304" pitchFamily="18" charset="0"/>
                              </a:rPr>
                              <m:t>𝑖</m:t>
                            </m:r>
                          </m:sub>
                        </m:sSub>
                      </m:e>
                    </m:nary>
                  </m:oMath>
                </a14:m>
                <a:r>
                  <a:rPr lang="en-US" altLang="zh-CN" sz="1800" dirty="0">
                    <a:latin typeface="Cambria" panose="02040503050406030204" pitchFamily="18" charset="0"/>
                    <a:cs typeface="Times New Roman" panose="02020603050405020304" pitchFamily="18" charset="0"/>
                  </a:rPr>
                  <a:t> </a:t>
                </a:r>
                <a:endParaRPr lang="zh-CN" altLang="en-US" sz="1800" dirty="0"/>
              </a:p>
              <a:p>
                <a:pPr>
                  <a:spcBef>
                    <a:spcPts val="900"/>
                  </a:spcBef>
                  <a:spcAft>
                    <a:spcPts val="900"/>
                  </a:spcAft>
                </a:pPr>
                <a:endParaRPr lang="zh-CN" altLang="zh-CN" sz="2000" dirty="0">
                  <a:latin typeface="微软雅黑" panose="020B0503020204020204" charset="-122"/>
                  <a:cs typeface="Times New Roman" panose="02020603050405020304" pitchFamily="18" charset="0"/>
                </a:endParaRPr>
              </a:p>
              <a:p>
                <a:endParaRPr lang="zh-CN" altLang="en-US" sz="2000" dirty="0">
                  <a:solidFill>
                    <a:srgbClr val="000000"/>
                  </a:solidFill>
                </a:endParaRPr>
              </a:p>
              <a:p>
                <a:pPr marL="342900" marR="0" lvl="0" indent="-342900" defTabSz="457200" eaLnBrk="1" fontAlgn="auto" latinLnBrk="0" hangingPunct="1">
                  <a:spcBef>
                    <a:spcPct val="20000"/>
                  </a:spcBef>
                  <a:spcAft>
                    <a:spcPts val="0"/>
                  </a:spcAft>
                  <a:buClrTx/>
                  <a:buSzTx/>
                  <a:buFont typeface="Arial" panose="020B0604020202020204" pitchFamily="34" charset="0"/>
                  <a:buChar char="•"/>
                  <a:defRPr/>
                </a:pPr>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8069520" cy="6577330"/>
              </a:xfrm>
              <a:prstGeom prst="rect">
                <a:avLst/>
              </a:prstGeom>
              <a:blipFill rotWithShape="1">
                <a:blip r:embed="rId1"/>
                <a:stretch>
                  <a:fillRect t="-9" r="7"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a:t>
            </a:r>
            <a:r>
              <a:rPr lang="en-US" altLang="zh-CN" spc="-100" dirty="0">
                <a:solidFill>
                  <a:srgbClr val="D2533C"/>
                </a:solidFill>
                <a:latin typeface="Arial" panose="020B0604020202020204"/>
                <a:ea typeface="华文新魏" panose="02010800040101010101" pitchFamily="2" charset="-122"/>
                <a:sym typeface="+mn-ea"/>
              </a:rPr>
              <a:t>means</a:t>
            </a:r>
            <a:r>
              <a:rPr lang="zh-CN" altLang="en-US" spc="-100" dirty="0">
                <a:solidFill>
                  <a:srgbClr val="D2533C"/>
                </a:solidFill>
                <a:latin typeface="Arial" panose="020B0604020202020204"/>
                <a:ea typeface="华文新魏" panose="02010800040101010101" pitchFamily="2" charset="-122"/>
              </a:rPr>
              <a:t>算法 </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通常通过“</a:t>
            </a:r>
            <a:r>
              <a:rPr lang="zh-CN" altLang="en-US" sz="2000" b="1" dirty="0">
                <a:solidFill>
                  <a:srgbClr val="C00000"/>
                </a:solidFill>
              </a:rPr>
              <a:t>肘部法则</a:t>
            </a:r>
            <a:r>
              <a:rPr lang="zh-CN" altLang="en-US" sz="2000" dirty="0">
                <a:solidFill>
                  <a:srgbClr val="000000"/>
                </a:solidFill>
              </a:rPr>
              <a:t>”选择最合适的</a:t>
            </a:r>
            <a:r>
              <a:rPr lang="en-US" altLang="zh-CN" sz="2000" dirty="0">
                <a:solidFill>
                  <a:srgbClr val="000000"/>
                </a:solidFill>
              </a:rPr>
              <a:t>k</a:t>
            </a:r>
            <a:r>
              <a:rPr lang="zh-CN" altLang="en-US" sz="2000" dirty="0">
                <a:solidFill>
                  <a:srgbClr val="000000"/>
                </a:solidFill>
              </a:rPr>
              <a:t>值</a:t>
            </a:r>
            <a:endParaRPr lang="en-US" altLang="zh-CN" sz="2000" dirty="0">
              <a:solidFill>
                <a:srgbClr val="000000"/>
              </a:solidFill>
            </a:endParaRPr>
          </a:p>
          <a:p>
            <a:r>
              <a:rPr lang="zh-CN" altLang="en-US" sz="2000" dirty="0">
                <a:solidFill>
                  <a:srgbClr val="000000"/>
                </a:solidFill>
              </a:rPr>
              <a:t>右图中，代价函数的值会迅速下降，在</a:t>
            </a:r>
            <a:r>
              <a:rPr lang="en-US" altLang="zh-CN" sz="2000" dirty="0">
                <a:solidFill>
                  <a:srgbClr val="000000"/>
                </a:solidFill>
              </a:rPr>
              <a:t>k=3</a:t>
            </a:r>
            <a:r>
              <a:rPr lang="zh-CN" altLang="en-US" sz="2000" dirty="0">
                <a:solidFill>
                  <a:srgbClr val="000000"/>
                </a:solidFill>
              </a:rPr>
              <a:t>的时候达到一个肘点。在此之后，代价函数的值会就下降得非常慢，因此最佳</a:t>
            </a:r>
            <a:r>
              <a:rPr lang="en-US" altLang="zh-CN" sz="2000" dirty="0">
                <a:solidFill>
                  <a:srgbClr val="000000"/>
                </a:solidFill>
              </a:rPr>
              <a:t>k</a:t>
            </a:r>
            <a:r>
              <a:rPr lang="zh-CN" altLang="en-US" sz="2000" dirty="0">
                <a:solidFill>
                  <a:srgbClr val="000000"/>
                </a:solidFill>
              </a:rPr>
              <a:t>为</a:t>
            </a:r>
            <a:r>
              <a:rPr lang="en-US" altLang="zh-CN" sz="2000" dirty="0">
                <a:solidFill>
                  <a:srgbClr val="000000"/>
                </a:solidFill>
              </a:rPr>
              <a:t>3</a:t>
            </a:r>
            <a:endParaRPr lang="zh-CN" altLang="en-US" sz="2000" dirty="0">
              <a:solidFill>
                <a:srgbClr val="000000"/>
              </a:solidFill>
            </a:endParaRPr>
          </a:p>
          <a:p>
            <a:endParaRPr lang="zh-CN" altLang="en-US" sz="2000" dirty="0">
              <a:solidFill>
                <a:srgbClr val="000000"/>
              </a:solidFill>
            </a:endParaRPr>
          </a:p>
        </p:txBody>
      </p:sp>
      <p:sp>
        <p:nvSpPr>
          <p:cNvPr id="3" name="椭圆 2"/>
          <p:cNvSpPr/>
          <p:nvPr/>
        </p:nvSpPr>
        <p:spPr>
          <a:xfrm>
            <a:off x="5579073" y="4450698"/>
            <a:ext cx="463657" cy="53455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5" name="Picture 5" descr="See the source image"/>
          <p:cNvPicPr>
            <a:picLocks noChangeAspect="1" noChangeArrowheads="1"/>
          </p:cNvPicPr>
          <p:nvPr/>
        </p:nvPicPr>
        <p:blipFill rotWithShape="1">
          <a:blip r:embed="rId1">
            <a:extLst>
              <a:ext uri="{28A0092B-C50C-407E-A947-70E740481C1C}">
                <a14:useLocalDpi xmlns:a14="http://schemas.microsoft.com/office/drawing/2010/main" val="0"/>
              </a:ext>
            </a:extLst>
          </a:blip>
          <a:srcRect l="6171" t="13372" r="6309" b="11007"/>
          <a:stretch>
            <a:fillRect/>
          </a:stretch>
        </p:blipFill>
        <p:spPr bwMode="auto">
          <a:xfrm>
            <a:off x="4674422" y="2267440"/>
            <a:ext cx="4469578" cy="357671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293009" y="2867408"/>
            <a:ext cx="463657" cy="1631216"/>
          </a:xfrm>
          <a:prstGeom prst="rect">
            <a:avLst/>
          </a:prstGeom>
          <a:noFill/>
        </p:spPr>
        <p:txBody>
          <a:bodyPr wrap="square" rtlCol="0">
            <a:spAutoFit/>
          </a:bodyPr>
          <a:lstStyle/>
          <a:p>
            <a:r>
              <a:rPr lang="zh-CN" altLang="en-US" sz="2000" dirty="0">
                <a:latin typeface="+mj-ea"/>
                <a:ea typeface="+mj-ea"/>
              </a:rPr>
              <a:t>代价函数值</a:t>
            </a:r>
            <a:endParaRPr lang="zh-CN" altLang="en-US" sz="2000" dirty="0">
              <a:latin typeface="+mj-ea"/>
              <a:ea typeface="+mj-ea"/>
            </a:endParaRPr>
          </a:p>
        </p:txBody>
      </p:sp>
      <p:sp>
        <p:nvSpPr>
          <p:cNvPr id="7" name="箭头: 下 6"/>
          <p:cNvSpPr/>
          <p:nvPr/>
        </p:nvSpPr>
        <p:spPr>
          <a:xfrm rot="2260879" flipH="1">
            <a:off x="6306640" y="3265399"/>
            <a:ext cx="166137" cy="153250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角 7"/>
          <p:cNvSpPr/>
          <p:nvPr/>
        </p:nvSpPr>
        <p:spPr>
          <a:xfrm>
            <a:off x="6820964" y="2878002"/>
            <a:ext cx="915255" cy="40011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肘点</a:t>
            </a:r>
            <a:endParaRPr lang="zh-CN" altLang="en-US" sz="1800" dirty="0">
              <a:latin typeface="+mj-ea"/>
              <a:ea typeface="+mj-ea"/>
            </a:endParaRPr>
          </a:p>
        </p:txBody>
      </p:sp>
      <p:sp>
        <p:nvSpPr>
          <p:cNvPr id="9" name="椭圆 8"/>
          <p:cNvSpPr/>
          <p:nvPr/>
        </p:nvSpPr>
        <p:spPr>
          <a:xfrm>
            <a:off x="5734413" y="4667334"/>
            <a:ext cx="139346" cy="1548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 name="文本框 9"/>
          <p:cNvSpPr txBox="1"/>
          <p:nvPr/>
        </p:nvSpPr>
        <p:spPr>
          <a:xfrm>
            <a:off x="5964208" y="5814175"/>
            <a:ext cx="6096680" cy="400110"/>
          </a:xfrm>
          <a:prstGeom prst="rect">
            <a:avLst/>
          </a:prstGeom>
          <a:noFill/>
        </p:spPr>
        <p:txBody>
          <a:bodyPr wrap="square">
            <a:spAutoFit/>
          </a:bodyPr>
          <a:lstStyle/>
          <a:p>
            <a:r>
              <a:rPr lang="zh-CN" altLang="en-US" sz="2000" dirty="0">
                <a:latin typeface="+mj-ea"/>
                <a:ea typeface="+mj-ea"/>
              </a:rPr>
              <a:t>聚 类 数 量 </a:t>
            </a:r>
            <a:r>
              <a:rPr lang="en-US" altLang="zh-CN" sz="2000" dirty="0">
                <a:latin typeface="+mj-ea"/>
                <a:ea typeface="+mj-ea"/>
              </a:rPr>
              <a:t>K</a:t>
            </a:r>
            <a:endParaRPr lang="zh-CN" altLang="en-US" sz="2000" dirty="0">
              <a:latin typeface="+mj-ea"/>
              <a:ea typeface="+mj-ea"/>
            </a:endParaRPr>
          </a:p>
        </p:txBody>
      </p:sp>
      <p:sp>
        <p:nvSpPr>
          <p:cNvPr id="12" name="文本框 11"/>
          <p:cNvSpPr txBox="1"/>
          <p:nvPr/>
        </p:nvSpPr>
        <p:spPr>
          <a:xfrm>
            <a:off x="462280" y="2336165"/>
            <a:ext cx="3603625" cy="3169285"/>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000000"/>
                </a:solidFill>
              </a:rPr>
              <a:t>K-means</a:t>
            </a:r>
            <a:r>
              <a:rPr lang="zh-CN" altLang="en-US" sz="2000" dirty="0">
                <a:solidFill>
                  <a:srgbClr val="000000"/>
                </a:solidFill>
              </a:rPr>
              <a:t>的一个问题在于，它有可能会停留在一个局部最小值处，而这取决于初始化的情况。</a:t>
            </a:r>
            <a:endParaRPr lang="zh-CN" altLang="en-US" sz="2000" dirty="0">
              <a:solidFill>
                <a:srgbClr val="000000"/>
              </a:solidFill>
            </a:endParaRPr>
          </a:p>
          <a:p>
            <a:pPr marL="342900" indent="-342900">
              <a:buFont typeface="Arial" panose="020B0604020202020204" pitchFamily="34" charset="0"/>
              <a:buChar char="•"/>
            </a:pPr>
            <a:r>
              <a:rPr lang="zh-CN" altLang="en-US" sz="2000" dirty="0">
                <a:solidFill>
                  <a:srgbClr val="000000"/>
                </a:solidFill>
              </a:rPr>
              <a:t>为了解决这个问题，通常需要多次运行</a:t>
            </a:r>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算法，每一次都重新进行随机初始化，最后再比较多次运行</a:t>
            </a:r>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的结果，选择代价函数最小的结果。 </a:t>
            </a:r>
            <a:endParaRPr lang="zh-CN" altLang="en-US" sz="2000"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a:t>
            </a:r>
            <a:r>
              <a:rPr lang="en-US" altLang="zh-CN" spc="-100" dirty="0">
                <a:solidFill>
                  <a:srgbClr val="D2533C"/>
                </a:solidFill>
                <a:latin typeface="Arial" panose="020B0604020202020204"/>
                <a:ea typeface="华文新魏" panose="02010800040101010101" pitchFamily="2" charset="-122"/>
                <a:sym typeface="+mn-ea"/>
              </a:rPr>
              <a:t>means</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384175" y="1202690"/>
            <a:ext cx="8508365" cy="390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k-means</a:t>
            </a:r>
            <a:r>
              <a:rPr lang="zh-CN" altLang="en-US" sz="2000" dirty="0">
                <a:solidFill>
                  <a:srgbClr val="000000"/>
                </a:solidFill>
              </a:rPr>
              <a:t>算法要求参与计算的所有属性必须是连续数值。</a:t>
            </a:r>
            <a:endParaRPr lang="zh-CN" altLang="en-US" sz="2000" dirty="0">
              <a:solidFill>
                <a:srgbClr val="000000"/>
              </a:solidFill>
            </a:endParaRPr>
          </a:p>
          <a:p>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算法原理简单，容易实现，且运行效率比较高</a:t>
            </a:r>
            <a:endParaRPr lang="en-US" altLang="zh-CN" sz="2000" dirty="0">
              <a:solidFill>
                <a:srgbClr val="000000"/>
              </a:solidFill>
            </a:endParaRPr>
          </a:p>
          <a:p>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算法聚类结果容易解释，适用于</a:t>
            </a:r>
            <a:r>
              <a:rPr lang="zh-CN" altLang="en-US" sz="2000" b="1" dirty="0">
                <a:solidFill>
                  <a:srgbClr val="C00000"/>
                </a:solidFill>
              </a:rPr>
              <a:t>高维数据</a:t>
            </a:r>
            <a:r>
              <a:rPr lang="zh-CN" altLang="en-US" sz="2000" dirty="0">
                <a:solidFill>
                  <a:srgbClr val="000000"/>
                </a:solidFill>
              </a:rPr>
              <a:t>的聚类</a:t>
            </a:r>
            <a:endParaRPr lang="en-US" altLang="zh-CN" sz="2000" dirty="0">
              <a:solidFill>
                <a:srgbClr val="000000"/>
              </a:solidFill>
            </a:endParaRPr>
          </a:p>
          <a:p>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算法采用贪心策略，导致容易</a:t>
            </a:r>
            <a:r>
              <a:rPr lang="zh-CN" altLang="en-US" sz="2000" b="1" dirty="0">
                <a:solidFill>
                  <a:srgbClr val="C00000"/>
                </a:solidFill>
              </a:rPr>
              <a:t>局部收敛</a:t>
            </a:r>
            <a:r>
              <a:rPr lang="zh-CN" altLang="en-US" sz="2000" dirty="0">
                <a:solidFill>
                  <a:srgbClr val="000000"/>
                </a:solidFill>
              </a:rPr>
              <a:t>，在大规模数据集上求解较慢</a:t>
            </a:r>
            <a:endParaRPr lang="en-US" altLang="zh-CN" sz="2000" dirty="0">
              <a:solidFill>
                <a:srgbClr val="000000"/>
              </a:solidFill>
            </a:endParaRPr>
          </a:p>
          <a:p>
            <a:r>
              <a:rPr lang="en-US" altLang="zh-CN" sz="2000" dirty="0">
                <a:solidFill>
                  <a:srgbClr val="000000"/>
                </a:solidFill>
              </a:rPr>
              <a:t>k-</a:t>
            </a:r>
            <a:r>
              <a:rPr lang="en-US" altLang="zh-CN" sz="2000" dirty="0">
                <a:solidFill>
                  <a:srgbClr val="000000"/>
                </a:solidFill>
                <a:sym typeface="+mn-ea"/>
              </a:rPr>
              <a:t>means</a:t>
            </a:r>
            <a:r>
              <a:rPr lang="zh-CN" altLang="en-US" sz="2000" dirty="0">
                <a:solidFill>
                  <a:srgbClr val="000000"/>
                </a:solidFill>
              </a:rPr>
              <a:t>算法</a:t>
            </a:r>
            <a:r>
              <a:rPr lang="zh-CN" altLang="en-US" sz="2000" b="1" dirty="0">
                <a:solidFill>
                  <a:srgbClr val="C00000"/>
                </a:solidFill>
              </a:rPr>
              <a:t>对离群点和噪声点非常敏感</a:t>
            </a:r>
            <a:r>
              <a:rPr lang="zh-CN" altLang="en-US" sz="2000" dirty="0">
                <a:solidFill>
                  <a:srgbClr val="000000"/>
                </a:solidFill>
              </a:rPr>
              <a:t>，少量的离群点和噪声点可能对算法求平均值产生极大影响，从而影响聚类结果</a:t>
            </a:r>
            <a:endParaRPr lang="en-US" altLang="zh-CN" sz="2000" dirty="0">
              <a:solidFill>
                <a:srgbClr val="000000"/>
              </a:solidFill>
            </a:endParaRPr>
          </a:p>
          <a:p>
            <a:r>
              <a:rPr lang="en-US" altLang="zh-CN" sz="2000" dirty="0">
                <a:solidFill>
                  <a:srgbClr val="000000"/>
                </a:solidFill>
              </a:rPr>
              <a:t>k-</a:t>
            </a:r>
            <a:r>
              <a:rPr lang="en-US" altLang="zh-CN" sz="2000" dirty="0">
                <a:solidFill>
                  <a:srgbClr val="000000"/>
                </a:solidFill>
                <a:sym typeface="+mn-ea"/>
              </a:rPr>
              <a:t>means</a:t>
            </a:r>
            <a:r>
              <a:rPr lang="zh-CN" altLang="zh-CN" sz="2000" dirty="0">
                <a:solidFill>
                  <a:srgbClr val="000000"/>
                </a:solidFill>
              </a:rPr>
              <a:t>算法中</a:t>
            </a:r>
            <a:r>
              <a:rPr lang="zh-CN" altLang="zh-CN" sz="2000" b="1" dirty="0">
                <a:solidFill>
                  <a:srgbClr val="C00000"/>
                </a:solidFill>
              </a:rPr>
              <a:t>初始聚类中心的选取</a:t>
            </a:r>
            <a:r>
              <a:rPr lang="zh-CN" altLang="zh-CN" sz="2000" dirty="0">
                <a:solidFill>
                  <a:srgbClr val="000000"/>
                </a:solidFill>
              </a:rPr>
              <a:t>也对算法结果影响很大，不同的初始中心可能会导致不同的聚类结果。</a:t>
            </a:r>
            <a:endParaRPr lang="zh-CN" altLang="zh-CN" sz="2000" dirty="0">
              <a:solidFill>
                <a:srgbClr val="000000"/>
              </a:solidFill>
            </a:endParaRPr>
          </a:p>
          <a:p>
            <a:endPar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a:p>
            <a:r>
              <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rPr>
              <a:t>如何选择</a:t>
            </a:r>
            <a:r>
              <a:rPr kumimoji="1" lang="en-US" altLang="zh-CN"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rPr>
              <a:t>K</a:t>
            </a:r>
            <a:r>
              <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rPr>
              <a:t>值？</a:t>
            </a:r>
            <a:endPar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k-means</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pic>
        <p:nvPicPr>
          <p:cNvPr id="5" name="内容占位符 4"/>
          <p:cNvPicPr>
            <a:picLocks noChangeAspect="1"/>
          </p:cNvPicPr>
          <p:nvPr>
            <p:ph idx="1"/>
          </p:nvPr>
        </p:nvPicPr>
        <p:blipFill>
          <a:blip r:embed="rId1"/>
          <a:stretch>
            <a:fillRect/>
          </a:stretch>
        </p:blipFill>
        <p:spPr>
          <a:xfrm>
            <a:off x="1547495" y="1484630"/>
            <a:ext cx="5991225" cy="428625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7" name="图片 6"/>
          <p:cNvPicPr>
            <a:picLocks noChangeAspect="1"/>
          </p:cNvPicPr>
          <p:nvPr/>
        </p:nvPicPr>
        <p:blipFill>
          <a:blip r:embed="rId2"/>
          <a:stretch>
            <a:fillRect/>
          </a:stretch>
        </p:blipFill>
        <p:spPr>
          <a:xfrm>
            <a:off x="1547495" y="2348865"/>
            <a:ext cx="1162050" cy="5429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http://www.ppvke.com/Answer/uploads/questions/20150701/c5a391c31942f2e3a8b1c1b9d9b8f89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402712"/>
            <a:ext cx="7632848" cy="4880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k-means</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k-means</a:t>
            </a:r>
            <a:r>
              <a:rPr kumimoji="1" lang="zh-CN" altLang="en-US" sz="20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聚类算法过程</a:t>
            </a:r>
            <a:r>
              <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rPr>
              <a:t>（初始点并非从样本点中选取）</a:t>
            </a:r>
            <a:endParaRPr kumimoji="1" lang="zh-CN" altLang="en-US" sz="2000" b="1" i="0" u="none" strike="noStrike" kern="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k-means</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pic>
        <p:nvPicPr>
          <p:cNvPr id="6" name="内容占位符 5"/>
          <p:cNvPicPr>
            <a:picLocks noChangeAspect="1"/>
          </p:cNvPicPr>
          <p:nvPr>
            <p:ph idx="1"/>
          </p:nvPr>
        </p:nvPicPr>
        <p:blipFill>
          <a:blip r:embed="rId1"/>
          <a:stretch>
            <a:fillRect/>
          </a:stretch>
        </p:blipFill>
        <p:spPr>
          <a:xfrm>
            <a:off x="1617980" y="2028825"/>
            <a:ext cx="5953125" cy="329565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2"/>
          <a:stretch>
            <a:fillRect/>
          </a:stretch>
        </p:blipFill>
        <p:spPr>
          <a:xfrm>
            <a:off x="3990975" y="3157220"/>
            <a:ext cx="1162050" cy="5429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spc="-100" dirty="0">
                <a:solidFill>
                  <a:srgbClr val="D2533C"/>
                </a:solidFill>
                <a:latin typeface="Arial" panose="020B0604020202020204"/>
                <a:ea typeface="华文新魏" panose="02010800040101010101" pitchFamily="2" charset="-122"/>
              </a:rPr>
              <a:t>最远中心点法</a:t>
            </a:r>
            <a:endParaRPr lang="en-US" altLang="zh-CN" spc="-100" dirty="0">
              <a:solidFill>
                <a:srgbClr val="D2533C"/>
              </a:solidFill>
              <a:latin typeface="Arial" panose="020B0604020202020204"/>
              <a:ea typeface="华文新魏" panose="02010800040101010101" pitchFamily="2" charset="-122"/>
            </a:endParaRPr>
          </a:p>
        </p:txBody>
      </p:sp>
      <p:pic>
        <p:nvPicPr>
          <p:cNvPr id="5" name="内容占位符 4"/>
          <p:cNvPicPr>
            <a:picLocks noChangeAspect="1"/>
          </p:cNvPicPr>
          <p:nvPr>
            <p:ph idx="1"/>
          </p:nvPr>
        </p:nvPicPr>
        <p:blipFill>
          <a:blip r:embed="rId1"/>
          <a:stretch>
            <a:fillRect/>
          </a:stretch>
        </p:blipFill>
        <p:spPr>
          <a:xfrm>
            <a:off x="1115695" y="1628775"/>
            <a:ext cx="6753225" cy="36861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最远中心点法</a:t>
            </a:r>
            <a:endParaRPr lang="zh-CN" altLang="en-US"/>
          </a:p>
        </p:txBody>
      </p:sp>
      <p:pic>
        <p:nvPicPr>
          <p:cNvPr id="5" name="内容占位符 4"/>
          <p:cNvPicPr>
            <a:picLocks noChangeAspect="1"/>
          </p:cNvPicPr>
          <p:nvPr>
            <p:ph idx="1"/>
          </p:nvPr>
        </p:nvPicPr>
        <p:blipFill>
          <a:blip r:embed="rId1"/>
          <a:stretch>
            <a:fillRect/>
          </a:stretch>
        </p:blipFill>
        <p:spPr>
          <a:xfrm>
            <a:off x="1835785" y="2338070"/>
            <a:ext cx="5438775" cy="218122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2"/>
          <a:stretch>
            <a:fillRect/>
          </a:stretch>
        </p:blipFill>
        <p:spPr>
          <a:xfrm>
            <a:off x="1835785" y="1772920"/>
            <a:ext cx="3581400" cy="457200"/>
          </a:xfrm>
          <a:prstGeom prst="rect">
            <a:avLst/>
          </a:prstGeom>
        </p:spPr>
      </p:pic>
      <p:pic>
        <p:nvPicPr>
          <p:cNvPr id="9" name="图片 8"/>
          <p:cNvPicPr>
            <a:picLocks noChangeAspect="1"/>
          </p:cNvPicPr>
          <p:nvPr/>
        </p:nvPicPr>
        <p:blipFill>
          <a:blip r:embed="rId3"/>
          <a:stretch>
            <a:fillRect/>
          </a:stretch>
        </p:blipFill>
        <p:spPr>
          <a:xfrm>
            <a:off x="1835785" y="1772920"/>
            <a:ext cx="2533650" cy="419100"/>
          </a:xfrm>
          <a:prstGeom prst="rect">
            <a:avLst/>
          </a:prstGeom>
        </p:spPr>
      </p:pic>
      <p:pic>
        <p:nvPicPr>
          <p:cNvPr id="10" name="图片 9"/>
          <p:cNvPicPr>
            <a:picLocks noChangeAspect="1"/>
          </p:cNvPicPr>
          <p:nvPr/>
        </p:nvPicPr>
        <p:blipFill>
          <a:blip r:embed="rId4"/>
          <a:stretch>
            <a:fillRect/>
          </a:stretch>
        </p:blipFill>
        <p:spPr>
          <a:xfrm>
            <a:off x="1833245" y="2319020"/>
            <a:ext cx="5476875" cy="2219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par>
                                <p:cTn id="8" presetID="4" presetClass="entr" presetSubtype="16" fill="hold" nodeType="withEffect">
                                  <p:stCondLst>
                                    <p:cond delay="0"/>
                                  </p:stCondLst>
                                  <p:childTnLst>
                                    <p:set>
                                      <p:cBhvr>
                                        <p:cTn id="9" dur="500" fill="hold">
                                          <p:stCondLst>
                                            <p:cond delay="0"/>
                                          </p:stCondLst>
                                        </p:cTn>
                                        <p:tgtEl>
                                          <p:spTgt spid="6"/>
                                        </p:tgtEl>
                                        <p:attrNameLst>
                                          <p:attrName>style.visibility</p:attrName>
                                        </p:attrNameLst>
                                      </p:cBhvr>
                                      <p:to>
                                        <p:strVal val="visible"/>
                                      </p:to>
                                    </p:set>
                                    <p:animEffect transition="in" filter="box(i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par>
                                <p:cTn id="16" presetID="3" presetClass="exit" presetSubtype="10" fill="hold" nodeType="withEffect">
                                  <p:stCondLst>
                                    <p:cond delay="0"/>
                                  </p:stCondLst>
                                  <p:childTnLst>
                                    <p:animEffect transition="out" filter="blinds(horizontal)">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par>
                          <p:cTn id="19" fill="hold">
                            <p:stCondLst>
                              <p:cond delay="500"/>
                            </p:stCondLst>
                            <p:childTnLst>
                              <p:par>
                                <p:cTn id="20" presetID="4" presetClass="entr" presetSubtype="16" fill="hold" nodeType="afterEffect">
                                  <p:stCondLst>
                                    <p:cond delay="0"/>
                                  </p:stCondLst>
                                  <p:childTnLst>
                                    <p:set>
                                      <p:cBhvr>
                                        <p:cTn id="21" dur="500"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par>
                                <p:cTn id="23" presetID="4" presetClass="entr" presetSubtype="16" fill="hold" nodeType="withEffect">
                                  <p:stCondLst>
                                    <p:cond delay="0"/>
                                  </p:stCondLst>
                                  <p:childTnLst>
                                    <p:set>
                                      <p:cBhvr>
                                        <p:cTn id="24" dur="500" fill="hold">
                                          <p:stCondLst>
                                            <p:cond delay="0"/>
                                          </p:stCondLst>
                                        </p:cTn>
                                        <p:tgtEl>
                                          <p:spTgt spid="10"/>
                                        </p:tgtEl>
                                        <p:attrNameLst>
                                          <p:attrName>style.visibility</p:attrName>
                                        </p:attrNameLst>
                                      </p:cBhvr>
                                      <p:to>
                                        <p:strVal val="visible"/>
                                      </p:to>
                                    </p:set>
                                    <p:animEffect transition="in" filter="box(i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3" presetClass="exit" presetSubtype="10" fill="hold" nodeType="withEffect">
                                  <p:stCondLst>
                                    <p:cond delay="0"/>
                                  </p:stCondLst>
                                  <p:childTnLst>
                                    <p:animEffect transition="out" filter="blinds(horizontal)">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最远中心点法</a:t>
            </a:r>
            <a:endParaRPr lang="zh-CN" altLang="en-US"/>
          </a:p>
        </p:txBody>
      </p:sp>
      <p:pic>
        <p:nvPicPr>
          <p:cNvPr id="5" name="内容占位符 4"/>
          <p:cNvPicPr>
            <a:picLocks noChangeAspect="1"/>
          </p:cNvPicPr>
          <p:nvPr>
            <p:ph idx="1"/>
          </p:nvPr>
        </p:nvPicPr>
        <p:blipFill>
          <a:blip r:embed="rId1"/>
          <a:stretch>
            <a:fillRect/>
          </a:stretch>
        </p:blipFill>
        <p:spPr>
          <a:xfrm>
            <a:off x="822960" y="1899285"/>
            <a:ext cx="7543800" cy="355409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2"/>
          <a:stretch>
            <a:fillRect/>
          </a:stretch>
        </p:blipFill>
        <p:spPr>
          <a:xfrm>
            <a:off x="7955280" y="260350"/>
            <a:ext cx="657225" cy="400050"/>
          </a:xfrm>
          <a:prstGeom prst="rect">
            <a:avLst/>
          </a:prstGeom>
        </p:spPr>
      </p:pic>
      <p:pic>
        <p:nvPicPr>
          <p:cNvPr id="7" name="图片 6"/>
          <p:cNvPicPr>
            <a:picLocks noChangeAspect="1"/>
          </p:cNvPicPr>
          <p:nvPr/>
        </p:nvPicPr>
        <p:blipFill>
          <a:blip r:embed="rId3"/>
          <a:stretch>
            <a:fillRect/>
          </a:stretch>
        </p:blipFill>
        <p:spPr>
          <a:xfrm>
            <a:off x="827405" y="1899285"/>
            <a:ext cx="7514590" cy="3573145"/>
          </a:xfrm>
          <a:prstGeom prst="rect">
            <a:avLst/>
          </a:prstGeom>
        </p:spPr>
      </p:pic>
      <p:pic>
        <p:nvPicPr>
          <p:cNvPr id="8" name="图片 7"/>
          <p:cNvPicPr>
            <a:picLocks noChangeAspect="1"/>
          </p:cNvPicPr>
          <p:nvPr/>
        </p:nvPicPr>
        <p:blipFill>
          <a:blip r:embed="rId4"/>
          <a:stretch>
            <a:fillRect/>
          </a:stretch>
        </p:blipFill>
        <p:spPr>
          <a:xfrm>
            <a:off x="8028305" y="260350"/>
            <a:ext cx="523875" cy="435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par>
                                <p:cTn id="8" presetID="4" presetClass="entr" presetSubtype="16" fill="hold" nodeType="withEffect">
                                  <p:stCondLst>
                                    <p:cond delay="0"/>
                                  </p:stCondLst>
                                  <p:childTnLst>
                                    <p:set>
                                      <p:cBhvr>
                                        <p:cTn id="9" dur="500" fill="hold">
                                          <p:stCondLst>
                                            <p:cond delay="0"/>
                                          </p:stCondLst>
                                        </p:cTn>
                                        <p:tgtEl>
                                          <p:spTgt spid="6"/>
                                        </p:tgtEl>
                                        <p:attrNameLst>
                                          <p:attrName>style.visibility</p:attrName>
                                        </p:attrNameLst>
                                      </p:cBhvr>
                                      <p:to>
                                        <p:strVal val="visible"/>
                                      </p:to>
                                    </p:set>
                                    <p:animEffect transition="in" filter="box(i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par>
                                <p:cTn id="16" presetID="3" presetClass="exit" presetSubtype="10" fill="hold" nodeType="withEffect">
                                  <p:stCondLst>
                                    <p:cond delay="0"/>
                                  </p:stCondLst>
                                  <p:childTnLst>
                                    <p:animEffect transition="out" filter="blinds(horizontal)">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par>
                          <p:cTn id="19" fill="hold">
                            <p:stCondLst>
                              <p:cond delay="500"/>
                            </p:stCondLst>
                            <p:childTnLst>
                              <p:par>
                                <p:cTn id="20" presetID="4" presetClass="entr" presetSubtype="16" fill="hold" nodeType="afterEffect">
                                  <p:stCondLst>
                                    <p:cond delay="0"/>
                                  </p:stCondLst>
                                  <p:childTnLst>
                                    <p:set>
                                      <p:cBhvr>
                                        <p:cTn id="21" dur="500"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par>
                                <p:cTn id="23" presetID="4" presetClass="entr" presetSubtype="16" fill="hold" nodeType="withEffect">
                                  <p:stCondLst>
                                    <p:cond delay="0"/>
                                  </p:stCondLst>
                                  <p:childTnLst>
                                    <p:set>
                                      <p:cBhvr>
                                        <p:cTn id="24" dur="500" fill="hold">
                                          <p:stCondLst>
                                            <p:cond delay="0"/>
                                          </p:stCondLst>
                                        </p:cTn>
                                        <p:tgtEl>
                                          <p:spTgt spid="7"/>
                                        </p:tgtEl>
                                        <p:attrNameLst>
                                          <p:attrName>style.visibility</p:attrName>
                                        </p:attrNameLst>
                                      </p:cBhvr>
                                      <p:to>
                                        <p:strVal val="visible"/>
                                      </p:to>
                                    </p:set>
                                    <p:animEffect transition="in" filter="box(in)">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最远中心点法</a:t>
            </a:r>
            <a:r>
              <a:rPr lang="zh-CN" altLang="en-US" spc="-100" dirty="0">
                <a:solidFill>
                  <a:srgbClr val="D2533C"/>
                </a:solidFill>
                <a:latin typeface="Arial" panose="020B0604020202020204"/>
                <a:ea typeface="华文新魏" panose="02010800040101010101" pitchFamily="2" charset="-122"/>
                <a:sym typeface="+mn-ea"/>
              </a:rPr>
              <a:t>的问题</a:t>
            </a:r>
            <a:endParaRPr lang="zh-CN" altLang="en-US" spc="-100" dirty="0">
              <a:solidFill>
                <a:srgbClr val="D2533C"/>
              </a:solidFill>
              <a:latin typeface="Arial" panose="020B0604020202020204"/>
              <a:ea typeface="华文新魏" panose="02010800040101010101" pitchFamily="2" charset="-122"/>
              <a:sym typeface="+mn-ea"/>
            </a:endParaRPr>
          </a:p>
        </p:txBody>
      </p:sp>
      <p:sp>
        <p:nvSpPr>
          <p:cNvPr id="3" name="内容占位符 2"/>
          <p:cNvSpPr>
            <a:spLocks noGrp="1"/>
          </p:cNvSpPr>
          <p:nvPr>
            <p:ph idx="1"/>
          </p:nvPr>
        </p:nvSpPr>
        <p:spPr/>
        <p:txBody>
          <a:bodyPr/>
          <a:p>
            <a:pPr>
              <a:buFont typeface="Wingdings" panose="05000000000000000000" charset="0"/>
              <a:buChar char="u"/>
            </a:pPr>
            <a:r>
              <a:rPr lang="zh-CN" altLang="en-US"/>
              <a:t>对离群值敏感</a:t>
            </a:r>
            <a:endParaRPr lang="zh-CN" altLang="en-US"/>
          </a:p>
          <a:p>
            <a:pPr>
              <a:buFont typeface="Wingdings" panose="05000000000000000000" charset="0"/>
              <a:buChar char="u"/>
            </a:pPr>
            <a:r>
              <a:rPr lang="zh-CN" altLang="en-US"/>
              <a:t>适用于无异常值、无离群点</a:t>
            </a:r>
            <a:r>
              <a:rPr lang="zh-CN" altLang="en-US" b="1">
                <a:solidFill>
                  <a:srgbClr val="C00000"/>
                </a:solidFill>
              </a:rPr>
              <a:t>（实际数据中很难满足）</a:t>
            </a:r>
            <a:endParaRPr lang="zh-CN" altLang="en-US" b="1">
              <a:solidFill>
                <a:srgbClr val="C00000"/>
              </a:solidFill>
            </a:endParaRPr>
          </a:p>
          <a:p>
            <a:pPr>
              <a:buFont typeface="Wingdings" panose="05000000000000000000" charset="0"/>
              <a:buChar char="u"/>
            </a:pPr>
            <a:r>
              <a:rPr lang="zh-CN" altLang="en-US" b="1">
                <a:solidFill>
                  <a:srgbClr val="C00000"/>
                </a:solidFill>
              </a:rPr>
              <a:t>实践中已被 </a:t>
            </a:r>
            <a:r>
              <a:rPr lang="en-US" altLang="zh-CN" b="1">
                <a:solidFill>
                  <a:srgbClr val="C00000"/>
                </a:solidFill>
              </a:rPr>
              <a:t>K-Means++ </a:t>
            </a:r>
            <a:r>
              <a:rPr lang="zh-CN" altLang="en-US" b="1">
                <a:solidFill>
                  <a:srgbClr val="C00000"/>
                </a:solidFill>
              </a:rPr>
              <a:t>完全取代</a:t>
            </a:r>
            <a:endParaRPr lang="zh-CN" altLang="en-US" b="1">
              <a:solidFill>
                <a:srgbClr val="C00000"/>
              </a:solidFill>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a:t>
            </a:r>
            <a:r>
              <a:rPr lang="en-US" altLang="zh-CN" spc="-100" dirty="0">
                <a:solidFill>
                  <a:srgbClr val="D2533C"/>
                </a:solidFill>
                <a:latin typeface="Arial" panose="020B0604020202020204"/>
                <a:ea typeface="华文新魏" panose="02010800040101010101" pitchFamily="2" charset="-122"/>
                <a:sym typeface="+mn-ea"/>
              </a:rPr>
              <a:t>means</a:t>
            </a:r>
            <a:r>
              <a:rPr lang="en-US" altLang="zh-CN" spc="-100" dirty="0">
                <a:solidFill>
                  <a:srgbClr val="D2533C"/>
                </a:solidFill>
                <a:latin typeface="Arial" panose="020B0604020202020204"/>
                <a:ea typeface="华文新魏" panose="02010800040101010101" pitchFamily="2" charset="-122"/>
              </a:rPr>
              <a:t>++</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8069520" cy="356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buClr>
                    <a:srgbClr val="E48312"/>
                  </a:buClr>
                  <a:buFont typeface="Wingdings" panose="05000000000000000000" charset="0"/>
                  <a:buChar char="u"/>
                </a:pPr>
                <a14:m>
                  <m:oMath xmlns:m="http://schemas.openxmlformats.org/officeDocument/2006/math">
                    <m:r>
                      <m:rPr>
                        <m:sty m:val="p"/>
                      </m:rPr>
                      <a:rPr lang="en-US" altLang="zh-CN" sz="2000">
                        <a:solidFill>
                          <a:srgbClr val="000000"/>
                        </a:solidFill>
                        <a:latin typeface="Cambria Math" panose="02040503050406030204" pitchFamily="18" charset="0"/>
                      </a:rPr>
                      <m:t>k</m:t>
                    </m:r>
                  </m:oMath>
                </a14:m>
                <a:r>
                  <a:rPr lang="en-US" altLang="zh-CN" sz="2000" dirty="0">
                    <a:solidFill>
                      <a:srgbClr val="000000"/>
                    </a:solidFill>
                    <a:sym typeface="+mn-ea"/>
                  </a:rPr>
                  <a:t>-</a:t>
                </a:r>
                <a:r>
                  <a:rPr lang="en-US" altLang="zh-CN" sz="2000" dirty="0">
                    <a:solidFill>
                      <a:srgbClr val="000000"/>
                    </a:solidFill>
                    <a:sym typeface="+mn-ea"/>
                  </a:rPr>
                  <a:t>means</a:t>
                </a:r>
                <a:r>
                  <a:rPr lang="en-US" altLang="zh-CN" sz="2000" dirty="0">
                    <a:solidFill>
                      <a:srgbClr val="000000"/>
                    </a:solidFill>
                    <a:sym typeface="+mn-ea"/>
                  </a:rPr>
                  <a:t>++</a:t>
                </a:r>
                <a:r>
                  <a:rPr lang="zh-CN" altLang="en-US" sz="2000" dirty="0">
                    <a:solidFill>
                      <a:srgbClr val="000000"/>
                    </a:solidFill>
                    <a:sym typeface="+mn-ea"/>
                  </a:rPr>
                  <a:t>方法是</a:t>
                </a:r>
                <a:r>
                  <a:rPr lang="zh-CN" altLang="en-US" sz="2000" b="1" dirty="0">
                    <a:solidFill>
                      <a:srgbClr val="C00000"/>
                    </a:solidFill>
                    <a:sym typeface="+mn-ea"/>
                  </a:rPr>
                  <a:t>选取</a:t>
                </a:r>
                <a:r>
                  <a:rPr lang="en-US" altLang="zh-CN" sz="2000" b="1" dirty="0">
                    <a:solidFill>
                      <a:srgbClr val="C00000"/>
                    </a:solidFill>
                    <a:sym typeface="+mn-ea"/>
                  </a:rPr>
                  <a:t>K-means</a:t>
                </a:r>
                <a:r>
                  <a:rPr lang="zh-CN" altLang="en-US" sz="2000" b="1" dirty="0">
                    <a:solidFill>
                      <a:srgbClr val="C00000"/>
                    </a:solidFill>
                    <a:sym typeface="+mn-ea"/>
                  </a:rPr>
                  <a:t>方法中</a:t>
                </a:r>
                <a:r>
                  <a:rPr lang="en-US" altLang="zh-CN" sz="2000" b="1" dirty="0">
                    <a:solidFill>
                      <a:srgbClr val="C00000"/>
                    </a:solidFill>
                    <a:sym typeface="+mn-ea"/>
                  </a:rPr>
                  <a:t>K</a:t>
                </a:r>
                <a:r>
                  <a:rPr lang="zh-CN" altLang="en-US" sz="2000" b="1" dirty="0">
                    <a:solidFill>
                      <a:srgbClr val="C00000"/>
                    </a:solidFill>
                    <a:sym typeface="+mn-ea"/>
                  </a:rPr>
                  <a:t>值</a:t>
                </a:r>
                <a:r>
                  <a:rPr lang="zh-CN" altLang="en-US" sz="2000" dirty="0">
                    <a:solidFill>
                      <a:srgbClr val="000000"/>
                    </a:solidFill>
                    <a:sym typeface="+mn-ea"/>
                  </a:rPr>
                  <a:t>的有效方法，</a:t>
                </a:r>
                <a:r>
                  <a:rPr lang="zh-CN" altLang="zh-CN" sz="2000" dirty="0">
                    <a:solidFill>
                      <a:srgbClr val="000000"/>
                    </a:solidFill>
                  </a:rPr>
                  <a:t>算法步骤如下：</a:t>
                </a:r>
                <a:endParaRPr lang="zh-CN" altLang="zh-CN" sz="2000" dirty="0">
                  <a:solidFill>
                    <a:srgbClr val="000000"/>
                  </a:solidFill>
                </a:endParaRPr>
              </a:p>
              <a:p>
                <a:pPr marL="457200" lvl="1" indent="0">
                  <a:buClr>
                    <a:srgbClr val="E48312"/>
                  </a:buClr>
                  <a:buFont typeface="Wingdings" panose="05000000000000000000" charset="0"/>
                  <a:buNone/>
                </a:pPr>
                <a:r>
                  <a:rPr lang="en-US" altLang="zh-CN" sz="2000" dirty="0">
                    <a:solidFill>
                      <a:srgbClr val="000000"/>
                    </a:solidFill>
                  </a:rPr>
                  <a:t>--</a:t>
                </a:r>
                <a:r>
                  <a:rPr lang="zh-CN" altLang="zh-CN" sz="2000" dirty="0">
                    <a:solidFill>
                      <a:srgbClr val="000000"/>
                    </a:solidFill>
                  </a:rPr>
                  <a:t>从样本集</a:t>
                </a:r>
                <a14:m>
                  <m:oMath xmlns:m="http://schemas.openxmlformats.org/officeDocument/2006/math">
                    <m:r>
                      <a:rPr lang="en-US" altLang="zh-CN" sz="2000" i="1">
                        <a:solidFill>
                          <a:srgbClr val="000000"/>
                        </a:solidFill>
                        <a:latin typeface="Cambria Math" panose="02040503050406030204" pitchFamily="18" charset="0"/>
                      </a:rPr>
                      <m:t>𝑋</m:t>
                    </m:r>
                  </m:oMath>
                </a14:m>
                <a:r>
                  <a:rPr lang="zh-CN" altLang="zh-CN" sz="2000" dirty="0">
                    <a:solidFill>
                      <a:srgbClr val="000000"/>
                    </a:solidFill>
                  </a:rPr>
                  <a:t>中随机选择一个样本点</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1</m:t>
                        </m:r>
                      </m:sub>
                    </m:sSub>
                  </m:oMath>
                </a14:m>
                <a:r>
                  <a:rPr lang="zh-CN" altLang="zh-CN" sz="2000" dirty="0">
                    <a:solidFill>
                      <a:srgbClr val="000000"/>
                    </a:solidFill>
                  </a:rPr>
                  <a:t>作为第</a:t>
                </a:r>
                <a:r>
                  <a:rPr lang="en-US" altLang="zh-CN" sz="2000" dirty="0">
                    <a:solidFill>
                      <a:srgbClr val="000000"/>
                    </a:solidFill>
                  </a:rPr>
                  <a:t>1</a:t>
                </a:r>
                <a:r>
                  <a:rPr lang="zh-CN" altLang="zh-CN" sz="2000" dirty="0">
                    <a:solidFill>
                      <a:srgbClr val="000000"/>
                    </a:solidFill>
                  </a:rPr>
                  <a:t>个聚类中心；</a:t>
                </a:r>
                <a:endParaRPr lang="zh-CN" altLang="zh-CN" sz="2000" dirty="0">
                  <a:solidFill>
                    <a:srgbClr val="000000"/>
                  </a:solidFill>
                </a:endParaRPr>
              </a:p>
              <a:p>
                <a:pPr marL="457200" lvl="1" indent="0">
                  <a:buClr>
                    <a:srgbClr val="E48312"/>
                  </a:buClr>
                  <a:buFont typeface="Wingdings" panose="05000000000000000000" charset="0"/>
                  <a:buNone/>
                </a:pPr>
                <a:r>
                  <a:rPr lang="en-US" altLang="zh-CN" sz="2000" dirty="0">
                    <a:solidFill>
                      <a:srgbClr val="000000"/>
                    </a:solidFill>
                  </a:rPr>
                  <a:t>--</a:t>
                </a:r>
                <a:r>
                  <a:rPr lang="zh-CN" altLang="zh-CN" sz="2000" dirty="0">
                    <a:solidFill>
                      <a:srgbClr val="000000"/>
                    </a:solidFill>
                  </a:rPr>
                  <a:t>计算其它样本点</a:t>
                </a:r>
                <a14:m>
                  <m:oMath xmlns:m="http://schemas.openxmlformats.org/officeDocument/2006/math">
                    <m:r>
                      <a:rPr lang="en-US" altLang="zh-CN" sz="2000">
                        <a:solidFill>
                          <a:srgbClr val="000000"/>
                        </a:solidFill>
                        <a:latin typeface="Cambria Math" panose="02040503050406030204" pitchFamily="18" charset="0"/>
                      </a:rPr>
                      <m:t>𝑥</m:t>
                    </m:r>
                  </m:oMath>
                </a14:m>
                <a:r>
                  <a:rPr lang="zh-CN" altLang="zh-CN" sz="2000" dirty="0">
                    <a:solidFill>
                      <a:srgbClr val="000000"/>
                    </a:solidFill>
                  </a:rPr>
                  <a:t>到最近的聚类中心的距离</a:t>
                </a:r>
                <a14:m>
                  <m:oMath xmlns:m="http://schemas.openxmlformats.org/officeDocument/2006/math">
                    <m:r>
                      <a:rPr lang="en-US" altLang="zh-CN" sz="2000">
                        <a:solidFill>
                          <a:srgbClr val="000000"/>
                        </a:solidFill>
                        <a:latin typeface="Cambria Math" panose="02040503050406030204" pitchFamily="18" charset="0"/>
                      </a:rPr>
                      <m:t>𝑑</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𝑥</m:t>
                    </m:r>
                    <m:r>
                      <a:rPr lang="en-US" altLang="zh-CN" sz="2000">
                        <a:solidFill>
                          <a:srgbClr val="000000"/>
                        </a:solidFill>
                        <a:latin typeface="Cambria Math" panose="02040503050406030204" pitchFamily="18" charset="0"/>
                      </a:rPr>
                      <m:t>)</m:t>
                    </m:r>
                  </m:oMath>
                </a14:m>
                <a:r>
                  <a:rPr lang="zh-CN" altLang="zh-CN" sz="2000" dirty="0">
                    <a:solidFill>
                      <a:srgbClr val="000000"/>
                    </a:solidFill>
                  </a:rPr>
                  <a:t>；</a:t>
                </a:r>
                <a:endParaRPr lang="zh-CN" altLang="zh-CN" sz="2000" dirty="0">
                  <a:solidFill>
                    <a:srgbClr val="000000"/>
                  </a:solidFill>
                </a:endParaRPr>
              </a:p>
              <a:p>
                <a:pPr marL="457200" lvl="1" indent="0">
                  <a:buClr>
                    <a:srgbClr val="E48312"/>
                  </a:buClr>
                  <a:buFont typeface="Wingdings" panose="05000000000000000000" charset="0"/>
                  <a:buNone/>
                </a:pPr>
                <a:r>
                  <a:rPr lang="en-US" altLang="zh-CN" sz="2000" dirty="0">
                    <a:solidFill>
                      <a:srgbClr val="000000"/>
                    </a:solidFill>
                  </a:rPr>
                  <a:t>--</a:t>
                </a:r>
                <a:r>
                  <a:rPr lang="zh-CN" altLang="zh-CN" sz="2000" dirty="0">
                    <a:solidFill>
                      <a:srgbClr val="000000"/>
                    </a:solidFill>
                  </a:rPr>
                  <a:t>以概率</a:t>
                </a:r>
                <a14:m>
                  <m:oMath xmlns:m="http://schemas.openxmlformats.org/officeDocument/2006/math">
                    <m:f>
                      <m:fPr>
                        <m:ctrlPr>
                          <a:rPr lang="zh-CN" altLang="zh-CN" sz="2000" i="1">
                            <a:solidFill>
                              <a:srgbClr val="000000"/>
                            </a:solidFill>
                            <a:latin typeface="Cambria Math" panose="02040503050406030204" pitchFamily="18" charset="0"/>
                          </a:rPr>
                        </m:ctrlPr>
                      </m:fPr>
                      <m:num>
                        <m:r>
                          <a:rPr lang="en-US" altLang="zh-CN" sz="2000">
                            <a:solidFill>
                              <a:srgbClr val="000000"/>
                            </a:solidFill>
                            <a:latin typeface="Cambria Math" panose="02040503050406030204" pitchFamily="18" charset="0"/>
                          </a:rPr>
                          <m:t>𝑑</m:t>
                        </m:r>
                        <m:sSup>
                          <m:sSupPr>
                            <m:ctrlPr>
                              <a:rPr lang="zh-CN" altLang="zh-CN" sz="2000" i="1">
                                <a:solidFill>
                                  <a:srgbClr val="000000"/>
                                </a:solidFill>
                                <a:latin typeface="Cambria Math" panose="02040503050406030204" pitchFamily="18" charset="0"/>
                              </a:rPr>
                            </m:ctrlPr>
                          </m:sSupPr>
                          <m:e>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𝑥</m:t>
                                </m:r>
                              </m:e>
                            </m:d>
                          </m:e>
                          <m:sup>
                            <m:r>
                              <a:rPr lang="en-US" altLang="zh-CN" sz="2000">
                                <a:solidFill>
                                  <a:srgbClr val="000000"/>
                                </a:solidFill>
                                <a:latin typeface="Cambria Math" panose="02040503050406030204" pitchFamily="18" charset="0"/>
                              </a:rPr>
                              <m:t>2</m:t>
                            </m:r>
                          </m:sup>
                        </m:sSup>
                      </m:num>
                      <m:den>
                        <m:nary>
                          <m:naryPr>
                            <m:chr m:val="∑"/>
                            <m:limLoc m:val="subSup"/>
                            <m:supHide m:val="on"/>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𝑥</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𝜒</m:t>
                            </m:r>
                          </m:sub>
                          <m:sup/>
                          <m:e>
                            <m:r>
                              <a:rPr lang="en-US" altLang="zh-CN" sz="2000">
                                <a:solidFill>
                                  <a:srgbClr val="000000"/>
                                </a:solidFill>
                                <a:latin typeface="Cambria Math" panose="02040503050406030204" pitchFamily="18" charset="0"/>
                              </a:rPr>
                              <m:t>𝑑</m:t>
                            </m:r>
                            <m:sSup>
                              <m:sSupPr>
                                <m:ctrlPr>
                                  <a:rPr lang="zh-CN" altLang="zh-CN" sz="2000" i="1">
                                    <a:solidFill>
                                      <a:srgbClr val="000000"/>
                                    </a:solidFill>
                                    <a:latin typeface="Cambria Math" panose="02040503050406030204" pitchFamily="18" charset="0"/>
                                  </a:rPr>
                                </m:ctrlPr>
                              </m:sSupPr>
                              <m:e>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𝑥</m:t>
                                    </m:r>
                                  </m:e>
                                </m:d>
                              </m:e>
                              <m:sup>
                                <m:r>
                                  <a:rPr lang="en-US" altLang="zh-CN" sz="2000">
                                    <a:solidFill>
                                      <a:srgbClr val="000000"/>
                                    </a:solidFill>
                                    <a:latin typeface="Cambria Math" panose="02040503050406030204" pitchFamily="18" charset="0"/>
                                  </a:rPr>
                                  <m:t>2</m:t>
                                </m:r>
                              </m:sup>
                            </m:sSup>
                          </m:e>
                        </m:nary>
                      </m:den>
                    </m:f>
                  </m:oMath>
                </a14:m>
                <a:r>
                  <a:rPr lang="zh-CN" altLang="zh-CN" sz="2000" dirty="0">
                    <a:solidFill>
                      <a:srgbClr val="000000"/>
                    </a:solidFill>
                  </a:rPr>
                  <a:t>选择一个新样本点</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𝑐</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作为下一个聚类中心，其中距离值</a:t>
                </a:r>
                <a14:m>
                  <m:oMath xmlns:m="http://schemas.openxmlformats.org/officeDocument/2006/math">
                    <m:r>
                      <a:rPr lang="en-US" altLang="zh-CN" sz="2000">
                        <a:solidFill>
                          <a:srgbClr val="000000"/>
                        </a:solidFill>
                        <a:latin typeface="Cambria Math" panose="02040503050406030204" pitchFamily="18" charset="0"/>
                      </a:rPr>
                      <m:t>𝑑</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𝑥</m:t>
                    </m:r>
                    <m:r>
                      <a:rPr lang="en-US" altLang="zh-CN" sz="2000">
                        <a:solidFill>
                          <a:srgbClr val="000000"/>
                        </a:solidFill>
                        <a:latin typeface="Cambria Math" panose="02040503050406030204" pitchFamily="18" charset="0"/>
                      </a:rPr>
                      <m:t>)</m:t>
                    </m:r>
                  </m:oMath>
                </a14:m>
                <a:r>
                  <a:rPr lang="zh-CN" altLang="zh-CN" sz="2000" dirty="0">
                    <a:solidFill>
                      <a:srgbClr val="000000"/>
                    </a:solidFill>
                  </a:rPr>
                  <a:t>越大，被选中的可能性越高；</a:t>
                </a:r>
                <a:endParaRPr lang="zh-CN" altLang="zh-CN" sz="2000" dirty="0">
                  <a:solidFill>
                    <a:srgbClr val="000000"/>
                  </a:solidFill>
                </a:endParaRPr>
              </a:p>
              <a:p>
                <a:pPr marL="457200" lvl="1" indent="0">
                  <a:buClr>
                    <a:srgbClr val="E48312"/>
                  </a:buClr>
                  <a:buFont typeface="Wingdings" panose="05000000000000000000" charset="0"/>
                  <a:buNone/>
                </a:pPr>
                <a:r>
                  <a:rPr lang="en-US" altLang="zh-CN" sz="2000" dirty="0">
                    <a:solidFill>
                      <a:srgbClr val="000000"/>
                    </a:solidFill>
                  </a:rPr>
                  <a:t>--</a:t>
                </a:r>
                <a:r>
                  <a:rPr lang="zh-CN" altLang="zh-CN" sz="2000" dirty="0">
                    <a:solidFill>
                      <a:srgbClr val="000000"/>
                    </a:solidFill>
                  </a:rPr>
                  <a:t>重复步骤</a:t>
                </a:r>
                <a:r>
                  <a:rPr lang="en-US" altLang="zh-CN" sz="2000" dirty="0">
                    <a:solidFill>
                      <a:srgbClr val="000000"/>
                    </a:solidFill>
                  </a:rPr>
                  <a:t>(2)</a:t>
                </a:r>
                <a:r>
                  <a:rPr lang="zh-CN" altLang="zh-CN" sz="2000" dirty="0">
                    <a:solidFill>
                      <a:srgbClr val="000000"/>
                    </a:solidFill>
                  </a:rPr>
                  <a:t>和</a:t>
                </a:r>
                <a:r>
                  <a:rPr lang="en-US" altLang="zh-CN" sz="2000" dirty="0">
                    <a:solidFill>
                      <a:srgbClr val="000000"/>
                    </a:solidFill>
                  </a:rPr>
                  <a:t>(3)</a:t>
                </a:r>
                <a:r>
                  <a:rPr lang="zh-CN" altLang="zh-CN" sz="2000" dirty="0">
                    <a:solidFill>
                      <a:srgbClr val="000000"/>
                    </a:solidFill>
                  </a:rPr>
                  <a:t>选定</a:t>
                </a:r>
                <a:r>
                  <a:rPr lang="en-US" altLang="zh-CN" sz="2000" dirty="0">
                    <a:solidFill>
                      <a:srgbClr val="000000"/>
                    </a:solidFill>
                  </a:rPr>
                  <a:t>k</a:t>
                </a:r>
                <a:r>
                  <a:rPr lang="zh-CN" altLang="zh-CN" sz="2000" dirty="0">
                    <a:solidFill>
                      <a:srgbClr val="000000"/>
                    </a:solidFill>
                  </a:rPr>
                  <a:t>个聚类中心；</a:t>
                </a:r>
                <a:endParaRPr lang="zh-CN" altLang="zh-CN" sz="2000" dirty="0">
                  <a:solidFill>
                    <a:srgbClr val="000000"/>
                  </a:solidFill>
                </a:endParaRPr>
              </a:p>
              <a:p>
                <a:pPr marL="457200" lvl="1" indent="0">
                  <a:buClr>
                    <a:srgbClr val="E48312"/>
                  </a:buClr>
                  <a:buFont typeface="Wingdings" panose="05000000000000000000" charset="0"/>
                  <a:buNone/>
                </a:pPr>
                <a:r>
                  <a:rPr lang="en-US" altLang="zh-CN" sz="2000" dirty="0">
                    <a:solidFill>
                      <a:srgbClr val="000000"/>
                    </a:solidFill>
                  </a:rPr>
                  <a:t>--</a:t>
                </a:r>
                <a:r>
                  <a:rPr lang="zh-CN" altLang="zh-CN" sz="2000" dirty="0">
                    <a:solidFill>
                      <a:srgbClr val="000000"/>
                    </a:solidFill>
                  </a:rPr>
                  <a:t>基于这</a:t>
                </a:r>
                <a:r>
                  <a:rPr lang="en-US" altLang="zh-CN" sz="2000" dirty="0">
                    <a:solidFill>
                      <a:srgbClr val="000000"/>
                    </a:solidFill>
                  </a:rPr>
                  <a:t>k</a:t>
                </a:r>
                <a:r>
                  <a:rPr lang="zh-CN" altLang="zh-CN" sz="2000" dirty="0">
                    <a:solidFill>
                      <a:srgbClr val="000000"/>
                    </a:solidFill>
                  </a:rPr>
                  <a:t>个聚类中心进行</a:t>
                </a:r>
                <a:r>
                  <a:rPr lang="en-US" altLang="zh-CN" sz="2000" dirty="0">
                    <a:solidFill>
                      <a:srgbClr val="000000"/>
                    </a:solidFill>
                  </a:rPr>
                  <a:t>k-means</a:t>
                </a:r>
                <a:r>
                  <a:rPr lang="zh-CN" altLang="zh-CN" sz="2000" dirty="0">
                    <a:solidFill>
                      <a:srgbClr val="000000"/>
                    </a:solidFill>
                  </a:rPr>
                  <a:t>运算</a:t>
                </a:r>
                <a:endParaRPr lang="zh-CN" altLang="zh-CN" sz="2000" dirty="0">
                  <a:solidFill>
                    <a:srgbClr val="000000"/>
                  </a:solidFill>
                </a:endParaRPr>
              </a:p>
              <a:p>
                <a:pPr lvl="1">
                  <a:buClr>
                    <a:srgbClr val="E48312"/>
                  </a:buClr>
                  <a:buFont typeface="Wingdings" panose="05000000000000000000" charset="0"/>
                  <a:buChar char="u"/>
                </a:pPr>
                <a:endParaRPr lang="en-US"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8069520" cy="3561080"/>
              </a:xfrm>
              <a:prstGeom prst="rect">
                <a:avLst/>
              </a:prstGeom>
              <a:blipFill rotWithShape="1">
                <a:blip r:embed="rId1"/>
                <a:stretch>
                  <a:fillRect t="-17" r="7"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文本框 2"/>
          <p:cNvSpPr txBox="1"/>
          <p:nvPr/>
        </p:nvSpPr>
        <p:spPr>
          <a:xfrm>
            <a:off x="899795" y="4509135"/>
            <a:ext cx="8076565" cy="1630045"/>
          </a:xfrm>
          <a:prstGeom prst="rect">
            <a:avLst/>
          </a:prstGeom>
          <a:noFill/>
        </p:spPr>
        <p:txBody>
          <a:bodyPr wrap="square" rtlCol="0">
            <a:spAutoFit/>
          </a:bodyPr>
          <a:p>
            <a:pPr marL="285750" indent="-285750">
              <a:buClr>
                <a:srgbClr val="E48312"/>
              </a:buClr>
              <a:buFont typeface="Wingdings" panose="05000000000000000000" charset="0"/>
              <a:buChar char="u"/>
            </a:pPr>
            <a:r>
              <a:rPr lang="zh-CN" altLang="en-US" sz="2000" b="1">
                <a:solidFill>
                  <a:srgbClr val="FF0000"/>
                </a:solidFill>
              </a:rPr>
              <a:t>最远点法与</a:t>
            </a:r>
            <a:r>
              <a:rPr lang="en-US" altLang="zh-CN" sz="2000" b="1">
                <a:solidFill>
                  <a:srgbClr val="FF0000"/>
                </a:solidFill>
              </a:rPr>
              <a:t>K-means++</a:t>
            </a:r>
            <a:r>
              <a:rPr lang="zh-CN" altLang="en-US" sz="2000" b="1">
                <a:solidFill>
                  <a:srgbClr val="FF0000"/>
                </a:solidFill>
              </a:rPr>
              <a:t>的区别</a:t>
            </a:r>
            <a:r>
              <a:rPr lang="zh-CN" altLang="en-US" sz="2000"/>
              <a:t>：</a:t>
            </a:r>
            <a:r>
              <a:rPr lang="en-US" altLang="zh-CN" sz="2000"/>
              <a:t>k-means++</a:t>
            </a:r>
            <a:r>
              <a:rPr lang="zh-CN" altLang="en-US" sz="2000"/>
              <a:t>是</a:t>
            </a:r>
            <a:r>
              <a:rPr lang="zh-CN" sz="2000"/>
              <a:t>概率化的随机选</a:t>
            </a:r>
            <a:r>
              <a:rPr lang="zh-CN" altLang="en-US" sz="2000"/>
              <a:t>最远点策略，可以对抗离群值；最远点法是确定性的选点策略，容易受离群值影响。</a:t>
            </a:r>
            <a:endParaRPr lang="zh-CN" altLang="en-US" sz="2000"/>
          </a:p>
          <a:p>
            <a:pPr marL="285750" indent="-285750">
              <a:buClr>
                <a:srgbClr val="E48312"/>
              </a:buClr>
              <a:buFont typeface="Wingdings" panose="05000000000000000000" charset="0"/>
              <a:buChar char="u"/>
            </a:pPr>
            <a:endParaRPr lang="en-US" altLang="zh-CN" sz="2000"/>
          </a:p>
          <a:p>
            <a:pPr marL="285750" indent="-285750">
              <a:buClr>
                <a:srgbClr val="E48312"/>
              </a:buClr>
              <a:buFont typeface="Wingdings" panose="05000000000000000000" charset="0"/>
              <a:buChar char="u"/>
            </a:pPr>
            <a:endParaRPr lang="en-US" altLang="zh-CN"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k-medoids</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8069520"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k-means</a:t>
                </a:r>
                <a:r>
                  <a:rPr lang="zh-CN" altLang="en-US" sz="2000" dirty="0">
                    <a:solidFill>
                      <a:srgbClr val="000000"/>
                    </a:solidFill>
                  </a:rPr>
                  <a:t>算法簇的聚类中心选取受到噪声点的影响很大，因为噪声点与其他样本点的距离远，在计算距离时会严重影响簇的中心。</a:t>
                </a:r>
                <a:endParaRPr lang="en-US" altLang="zh-CN" sz="2000" dirty="0">
                  <a:solidFill>
                    <a:srgbClr val="000000"/>
                  </a:solidFill>
                </a:endParaRPr>
              </a:p>
              <a:p>
                <a:r>
                  <a:rPr lang="en-US" altLang="zh-CN" sz="2000" dirty="0">
                    <a:solidFill>
                      <a:srgbClr val="000000"/>
                    </a:solidFill>
                  </a:rPr>
                  <a:t>k-medoids </a:t>
                </a:r>
                <a:r>
                  <a:rPr lang="zh-CN" altLang="en-US" sz="2000" dirty="0">
                    <a:solidFill>
                      <a:srgbClr val="000000"/>
                    </a:solidFill>
                  </a:rPr>
                  <a:t>算法克服了</a:t>
                </a:r>
                <a:r>
                  <a:rPr lang="en-US" altLang="zh-CN" sz="2000" dirty="0">
                    <a:solidFill>
                      <a:srgbClr val="000000"/>
                    </a:solidFill>
                  </a:rPr>
                  <a:t>k-means</a:t>
                </a:r>
                <a:r>
                  <a:rPr lang="zh-CN" altLang="en-US" sz="2000" dirty="0">
                    <a:solidFill>
                      <a:srgbClr val="000000"/>
                    </a:solidFill>
                  </a:rPr>
                  <a:t>算法的这一缺点，在通过距离函数将点进行归类之后， </a:t>
                </a:r>
                <a:r>
                  <a:rPr lang="en-US" altLang="zh-CN" sz="2000" dirty="0">
                    <a:solidFill>
                      <a:srgbClr val="000000"/>
                    </a:solidFill>
                  </a:rPr>
                  <a:t>k -</a:t>
                </a:r>
                <a:r>
                  <a:rPr lang="en-US" altLang="zh-CN" sz="2000" dirty="0" err="1">
                    <a:solidFill>
                      <a:srgbClr val="000000"/>
                    </a:solidFill>
                  </a:rPr>
                  <a:t>medoids</a:t>
                </a:r>
                <a:r>
                  <a:rPr lang="zh-CN" altLang="en-US" sz="2000" dirty="0">
                    <a:solidFill>
                      <a:srgbClr val="000000"/>
                    </a:solidFill>
                  </a:rPr>
                  <a:t>算法不通过计算簇中所有样本的平均值得到簇的中心，而是</a:t>
                </a:r>
                <a:r>
                  <a:rPr lang="zh-CN" altLang="en-US" sz="2000" u="sng" dirty="0">
                    <a:solidFill>
                      <a:srgbClr val="000000"/>
                    </a:solidFill>
                  </a:rPr>
                  <a:t>通过</a:t>
                </a:r>
                <a:r>
                  <a:rPr lang="zh-CN" altLang="en-US" sz="2000" b="1" u="sng" dirty="0">
                    <a:solidFill>
                      <a:srgbClr val="FF0000"/>
                    </a:solidFill>
                  </a:rPr>
                  <a:t>选取原有样本中的样本点作为代表对象代表这个簇，计算剩下的样本点与代表对象的距离，将样本点划分到与其距离最近的代表对象所在的簇中。</a:t>
                </a:r>
                <a:endParaRPr lang="en-US" altLang="zh-CN" sz="2000" b="1" u="sng" dirty="0">
                  <a:solidFill>
                    <a:srgbClr val="FF0000"/>
                  </a:solidFill>
                </a:endParaRPr>
              </a:p>
              <a:p>
                <a:r>
                  <a:rPr lang="zh-CN" altLang="en-US" sz="2000" dirty="0">
                    <a:solidFill>
                      <a:srgbClr val="000000"/>
                    </a:solidFill>
                  </a:rPr>
                  <a:t>距离计算过程与</a:t>
                </a:r>
                <a:r>
                  <a:rPr lang="en-US" altLang="zh-CN" sz="2000" dirty="0">
                    <a:solidFill>
                      <a:srgbClr val="000000"/>
                    </a:solidFill>
                  </a:rPr>
                  <a:t>k-means</a:t>
                </a:r>
                <a:r>
                  <a:rPr lang="zh-CN" altLang="en-US" sz="2000" dirty="0">
                    <a:solidFill>
                      <a:srgbClr val="000000"/>
                    </a:solidFill>
                  </a:rPr>
                  <a:t>算法的计算过程类似，只是将距离度量中的中心替换为代表对象，绝对误差标准如下</a:t>
                </a:r>
                <a:endParaRPr lang="en-US" altLang="zh-CN" sz="20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altLang="zh-CN" sz="2000">
                          <a:solidFill>
                            <a:srgbClr val="000000"/>
                          </a:solidFill>
                          <a:latin typeface="Cambria Math" panose="02040503050406030204" pitchFamily="18" charset="0"/>
                        </a:rPr>
                        <m:t>𝐸</m:t>
                      </m:r>
                      <m:r>
                        <a:rPr lang="en-US" altLang="zh-CN" sz="2000">
                          <a:solidFill>
                            <a:srgbClr val="000000"/>
                          </a:solidFill>
                          <a:latin typeface="Cambria Math" panose="02040503050406030204" pitchFamily="18" charset="0"/>
                        </a:rPr>
                        <m:t>=</m:t>
                      </m:r>
                      <m:nary>
                        <m:naryPr>
                          <m:chr m:val="∑"/>
                          <m:grow m:val="on"/>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𝑘</m:t>
                          </m:r>
                        </m:sup>
                        <m:e/>
                      </m:nary>
                      <m:nary>
                        <m:naryPr>
                          <m:chr m:val="∑"/>
                          <m:limLoc m:val="undOvr"/>
                          <m:ctrlPr>
                            <a:rPr lang="zh-CN" altLang="zh-CN" sz="2000" i="1">
                              <a:solidFill>
                                <a:srgbClr val="000000"/>
                              </a:solidFill>
                              <a:latin typeface="Cambria Math" panose="02040503050406030204" pitchFamily="18" charset="0"/>
                            </a:rPr>
                          </m:ctrlPr>
                        </m:naryPr>
                        <m:sub>
                          <m:sSup>
                            <m:sSupPr>
                              <m:ctrlPr>
                                <a:rPr lang="zh-CN" altLang="zh-CN" sz="2000" i="1">
                                  <a:solidFill>
                                    <a:srgbClr val="000000"/>
                                  </a:solidFill>
                                  <a:latin typeface="Cambria Math" panose="02040503050406030204" pitchFamily="18" charset="0"/>
                                </a:rPr>
                              </m:ctrlPr>
                            </m:sSupPr>
                            <m:e>
                              <m:r>
                                <a:rPr lang="en-US" altLang="zh-CN" sz="2000">
                                  <a:solidFill>
                                    <a:srgbClr val="000000"/>
                                  </a:solidFill>
                                  <a:latin typeface="Cambria Math" panose="02040503050406030204" pitchFamily="18" charset="0"/>
                                </a:rPr>
                                <m:t>𝑥</m:t>
                              </m:r>
                            </m:e>
                            <m:sup>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𝑗</m:t>
                                  </m:r>
                                </m:e>
                              </m:d>
                            </m:sup>
                          </m:sSup>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𝐶</m:t>
                              </m:r>
                            </m:e>
                            <m:sub>
                              <m:r>
                                <a:rPr lang="en-US" altLang="zh-CN" sz="2000">
                                  <a:solidFill>
                                    <a:srgbClr val="000000"/>
                                  </a:solidFill>
                                  <a:latin typeface="Cambria Math" panose="02040503050406030204" pitchFamily="18" charset="0"/>
                                </a:rPr>
                                <m:t>𝑖</m:t>
                              </m:r>
                            </m:sub>
                          </m:sSub>
                        </m:sub>
                        <m:sup/>
                        <m:e>
                          <m:sSup>
                            <m:sSupPr>
                              <m:ctrlPr>
                                <a:rPr lang="zh-CN" altLang="zh-CN" sz="2000" i="1">
                                  <a:solidFill>
                                    <a:srgbClr val="000000"/>
                                  </a:solidFill>
                                  <a:latin typeface="Cambria Math" panose="02040503050406030204" pitchFamily="18" charset="0"/>
                                </a:rPr>
                              </m:ctrlPr>
                            </m:sSupPr>
                            <m:e>
                              <m:d>
                                <m:dPr>
                                  <m:begChr m:val="‖"/>
                                  <m:endChr m:val="‖"/>
                                  <m:ctrlPr>
                                    <a:rPr lang="zh-CN" altLang="zh-CN" sz="2000" i="1">
                                      <a:solidFill>
                                        <a:srgbClr val="000000"/>
                                      </a:solidFill>
                                      <a:latin typeface="Cambria Math" panose="02040503050406030204" pitchFamily="18" charset="0"/>
                                    </a:rPr>
                                  </m:ctrlPr>
                                </m:dPr>
                                <m:e>
                                  <m:sSup>
                                    <m:sSupPr>
                                      <m:ctrlPr>
                                        <a:rPr lang="zh-CN" altLang="zh-CN" sz="2000" i="1">
                                          <a:solidFill>
                                            <a:srgbClr val="000000"/>
                                          </a:solidFill>
                                          <a:latin typeface="Cambria Math" panose="02040503050406030204" pitchFamily="18" charset="0"/>
                                        </a:rPr>
                                      </m:ctrlPr>
                                    </m:sSupPr>
                                    <m:e>
                                      <m:r>
                                        <a:rPr lang="en-US" altLang="zh-CN" sz="2000">
                                          <a:solidFill>
                                            <a:srgbClr val="000000"/>
                                          </a:solidFill>
                                          <a:latin typeface="Cambria Math" panose="02040503050406030204" pitchFamily="18" charset="0"/>
                                        </a:rPr>
                                        <m:t>𝑥</m:t>
                                      </m:r>
                                    </m:e>
                                    <m:sup>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𝑗</m:t>
                                          </m:r>
                                        </m:e>
                                      </m:d>
                                    </m:sup>
                                  </m:sSup>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𝑜</m:t>
                                      </m:r>
                                    </m:e>
                                    <m:sub>
                                      <m:r>
                                        <a:rPr lang="en-US" altLang="zh-CN" sz="2000">
                                          <a:solidFill>
                                            <a:srgbClr val="000000"/>
                                          </a:solidFill>
                                          <a:latin typeface="Cambria Math" panose="02040503050406030204" pitchFamily="18" charset="0"/>
                                        </a:rPr>
                                        <m:t>𝑐</m:t>
                                      </m:r>
                                    </m:sub>
                                  </m:sSub>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𝑖</m:t>
                                      </m:r>
                                    </m:e>
                                  </m:d>
                                </m:e>
                              </m:d>
                            </m:e>
                            <m:sup>
                              <m:r>
                                <a:rPr lang="en-US" altLang="zh-CN" sz="2000">
                                  <a:solidFill>
                                    <a:srgbClr val="000000"/>
                                  </a:solidFill>
                                  <a:latin typeface="Cambria Math" panose="02040503050406030204" pitchFamily="18" charset="0"/>
                                </a:rPr>
                                <m:t>2</m:t>
                              </m:r>
                            </m:sup>
                          </m:sSup>
                        </m:e>
                      </m:nary>
                    </m:oMath>
                  </m:oMathPara>
                </a14:m>
                <a:endParaRPr lang="en-US" altLang="zh-CN" sz="2000" dirty="0">
                  <a:solidFill>
                    <a:srgbClr val="000000"/>
                  </a:solidFill>
                </a:endParaRPr>
              </a:p>
              <a:p>
                <a:r>
                  <a:rPr lang="zh-CN" altLang="zh-CN" sz="2000" dirty="0">
                    <a:solidFill>
                      <a:srgbClr val="000000"/>
                    </a:solidFill>
                  </a:rPr>
                  <a:t>式中</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𝑜</m:t>
                        </m:r>
                      </m:e>
                      <m:sub>
                        <m:r>
                          <a:rPr lang="en-US" altLang="zh-CN" sz="2000">
                            <a:solidFill>
                              <a:srgbClr val="000000"/>
                            </a:solidFill>
                            <a:latin typeface="Cambria Math" panose="02040503050406030204" pitchFamily="18" charset="0"/>
                          </a:rPr>
                          <m:t>𝑐</m:t>
                        </m:r>
                      </m:sub>
                    </m:sSub>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𝑖</m:t>
                        </m:r>
                      </m:e>
                    </m:d>
                  </m:oMath>
                </a14:m>
                <a:r>
                  <a:rPr lang="zh-CN" altLang="zh-CN" sz="2000" dirty="0">
                    <a:solidFill>
                      <a:srgbClr val="000000"/>
                    </a:solidFill>
                  </a:rPr>
                  <a:t>表示第</a:t>
                </a:r>
                <a14:m>
                  <m:oMath xmlns:m="http://schemas.openxmlformats.org/officeDocument/2006/math">
                    <m:r>
                      <a:rPr lang="en-US" altLang="zh-CN" sz="2000">
                        <a:solidFill>
                          <a:srgbClr val="000000"/>
                        </a:solidFill>
                        <a:latin typeface="Cambria Math" panose="02040503050406030204" pitchFamily="18" charset="0"/>
                      </a:rPr>
                      <m:t>𝑖</m:t>
                    </m:r>
                  </m:oMath>
                </a14:m>
                <a:r>
                  <a:rPr lang="zh-CN" altLang="zh-CN" sz="2000" dirty="0">
                    <a:solidFill>
                      <a:srgbClr val="000000"/>
                    </a:solidFill>
                  </a:rPr>
                  <a:t>簇</a:t>
                </a:r>
                <a14:m>
                  <m:oMath xmlns:m="http://schemas.openxmlformats.org/officeDocument/2006/math">
                    <m:sSub>
                      <m:sSubPr>
                        <m:ctrlPr>
                          <a:rPr lang="zh-CN" altLang="zh-CN" sz="2000" i="1">
                            <a:solidFill>
                              <a:srgbClr val="000000"/>
                            </a:solidFill>
                            <a:latin typeface="Cambria Math" panose="02040503050406030204" pitchFamily="18" charset="0"/>
                          </a:rPr>
                        </m:ctrlPr>
                      </m:sSubPr>
                      <m:e>
                        <m:r>
                          <m:rPr>
                            <m:sty m:val="p"/>
                          </m:rPr>
                          <a:rPr lang="en-US" altLang="zh-CN" sz="2000">
                            <a:solidFill>
                              <a:srgbClr val="000000"/>
                            </a:solidFill>
                            <a:latin typeface="Cambria Math" panose="02040503050406030204" pitchFamily="18" charset="0"/>
                          </a:rPr>
                          <m:t>C</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的中心</a:t>
                </a:r>
                <a14:m>
                  <m:oMath xmlns:m="http://schemas.openxmlformats.org/officeDocument/2006/math">
                    <m:r>
                      <a:rPr lang="zh-CN" altLang="en-US" sz="2000">
                        <a:solidFill>
                          <a:srgbClr val="000000"/>
                        </a:solidFill>
                        <a:latin typeface="Cambria Math" panose="02040503050406030204"/>
                      </a:rPr>
                      <m:t>，</m:t>
                    </m:r>
                    <m:r>
                      <a:rPr lang="en-US" altLang="zh-CN" sz="2000">
                        <a:solidFill>
                          <a:srgbClr val="000000"/>
                        </a:solidFill>
                        <a:latin typeface="Cambria Math" panose="02040503050406030204" pitchFamily="18" charset="0"/>
                      </a:rPr>
                      <m:t> </m:t>
                    </m:r>
                    <m:sSup>
                      <m:sSupPr>
                        <m:ctrlPr>
                          <a:rPr lang="zh-CN" altLang="zh-CN" sz="2000" i="1">
                            <a:solidFill>
                              <a:srgbClr val="000000"/>
                            </a:solidFill>
                            <a:latin typeface="Cambria Math" panose="02040503050406030204" pitchFamily="18" charset="0"/>
                          </a:rPr>
                        </m:ctrlPr>
                      </m:sSupPr>
                      <m:e>
                        <m:r>
                          <a:rPr lang="en-US" altLang="zh-CN" sz="2000">
                            <a:solidFill>
                              <a:srgbClr val="000000"/>
                            </a:solidFill>
                            <a:latin typeface="Cambria Math" panose="02040503050406030204" pitchFamily="18" charset="0"/>
                          </a:rPr>
                          <m:t>𝑥</m:t>
                        </m:r>
                      </m:e>
                      <m:sup>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𝑗</m:t>
                            </m:r>
                          </m:e>
                        </m:d>
                      </m:sup>
                    </m:sSup>
                  </m:oMath>
                </a14:m>
                <a:r>
                  <a:rPr lang="zh-CN" altLang="zh-CN" sz="2000" dirty="0">
                    <a:solidFill>
                      <a:srgbClr val="000000"/>
                    </a:solidFill>
                  </a:rPr>
                  <a:t>表示</a:t>
                </a:r>
                <a14:m>
                  <m:oMath xmlns:m="http://schemas.openxmlformats.org/officeDocument/2006/math">
                    <m:sSub>
                      <m:sSubPr>
                        <m:ctrlPr>
                          <a:rPr lang="zh-CN" altLang="zh-CN" sz="2000" i="1">
                            <a:solidFill>
                              <a:srgbClr val="000000"/>
                            </a:solidFill>
                            <a:latin typeface="Cambria Math" panose="02040503050406030204" pitchFamily="18" charset="0"/>
                          </a:rPr>
                        </m:ctrlPr>
                      </m:sSubPr>
                      <m:e>
                        <m:r>
                          <m:rPr>
                            <m:sty m:val="p"/>
                          </m:rPr>
                          <a:rPr lang="en-US" altLang="zh-CN" sz="2000">
                            <a:solidFill>
                              <a:srgbClr val="000000"/>
                            </a:solidFill>
                            <a:latin typeface="Cambria Math" panose="02040503050406030204" pitchFamily="18" charset="0"/>
                          </a:rPr>
                          <m:t>C</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簇中的点</a:t>
                </a:r>
                <a14:m>
                  <m:oMath xmlns:m="http://schemas.openxmlformats.org/officeDocument/2006/math">
                    <m:r>
                      <a:rPr lang="zh-CN" altLang="en-US" sz="2000">
                        <a:solidFill>
                          <a:srgbClr val="000000"/>
                        </a:solidFill>
                        <a:latin typeface="Cambria Math" panose="02040503050406030204"/>
                      </a:rPr>
                      <m:t>，</m:t>
                    </m:r>
                    <m:r>
                      <a:rPr lang="en-US" altLang="zh-CN" sz="2000">
                        <a:solidFill>
                          <a:srgbClr val="000000"/>
                        </a:solidFill>
                        <a:latin typeface="Cambria Math" panose="02040503050406030204" pitchFamily="18" charset="0"/>
                      </a:rPr>
                      <m:t>𝐸</m:t>
                    </m:r>
                  </m:oMath>
                </a14:m>
                <a:r>
                  <a:rPr lang="zh-CN" altLang="zh-CN" sz="2000" dirty="0">
                    <a:solidFill>
                      <a:srgbClr val="000000"/>
                    </a:solidFill>
                  </a:rPr>
                  <a:t>最小表示最小化所有簇中点与点之间距离</a:t>
                </a:r>
                <a:endParaRPr lang="en-US"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8069520" cy="4683125"/>
              </a:xfrm>
              <a:prstGeom prst="rect">
                <a:avLst/>
              </a:prstGeom>
              <a:blipFill rotWithShape="1">
                <a:blip r:embed="rId1"/>
                <a:stretch>
                  <a:fillRect t="-13" r="7" b="1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k-medoids</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384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围绕中心点划分</a:t>
            </a:r>
            <a:r>
              <a:rPr lang="en-US" altLang="zh-CN" sz="2000" dirty="0">
                <a:solidFill>
                  <a:srgbClr val="000000"/>
                </a:solidFill>
              </a:rPr>
              <a:t>(Partitioning Around </a:t>
            </a:r>
            <a:r>
              <a:rPr lang="en-US" altLang="zh-CN" sz="2000" dirty="0" err="1">
                <a:solidFill>
                  <a:srgbClr val="000000"/>
                </a:solidFill>
              </a:rPr>
              <a:t>Mediods</a:t>
            </a:r>
            <a:r>
              <a:rPr lang="en-US" altLang="zh-CN" sz="2000" dirty="0">
                <a:solidFill>
                  <a:srgbClr val="000000"/>
                </a:solidFill>
              </a:rPr>
              <a:t>, PAM) </a:t>
            </a:r>
            <a:r>
              <a:rPr lang="zh-CN" altLang="en-US" sz="2000" dirty="0">
                <a:solidFill>
                  <a:srgbClr val="000000"/>
                </a:solidFill>
              </a:rPr>
              <a:t>算法是</a:t>
            </a:r>
            <a:r>
              <a:rPr lang="en-US" altLang="zh-CN" sz="2000" dirty="0">
                <a:solidFill>
                  <a:srgbClr val="000000"/>
                </a:solidFill>
              </a:rPr>
              <a:t>k -medoids</a:t>
            </a:r>
            <a:r>
              <a:rPr lang="zh-CN" altLang="en-US" sz="2000" dirty="0">
                <a:solidFill>
                  <a:srgbClr val="000000"/>
                </a:solidFill>
              </a:rPr>
              <a:t>聚类的一种典型实现。</a:t>
            </a:r>
            <a:r>
              <a:rPr lang="en-US" altLang="zh-CN" sz="2000" dirty="0">
                <a:solidFill>
                  <a:srgbClr val="000000"/>
                </a:solidFill>
              </a:rPr>
              <a:t>PAM </a:t>
            </a:r>
            <a:r>
              <a:rPr lang="zh-CN" altLang="en-US" sz="2000" dirty="0">
                <a:solidFill>
                  <a:srgbClr val="000000"/>
                </a:solidFill>
              </a:rPr>
              <a:t>算法中簇的中心点是一个</a:t>
            </a:r>
            <a:r>
              <a:rPr lang="zh-CN" altLang="en-US" sz="2000" b="1" dirty="0">
                <a:solidFill>
                  <a:srgbClr val="FF0000"/>
                </a:solidFill>
              </a:rPr>
              <a:t>真实的样本点</a:t>
            </a:r>
            <a:r>
              <a:rPr lang="zh-CN" altLang="en-US" sz="2000" dirty="0">
                <a:solidFill>
                  <a:srgbClr val="000000"/>
                </a:solidFill>
              </a:rPr>
              <a:t>而不是通过距离计算出来的中心。</a:t>
            </a:r>
            <a:r>
              <a:rPr lang="en-US" altLang="zh-CN" sz="2000" dirty="0">
                <a:solidFill>
                  <a:srgbClr val="000000"/>
                </a:solidFill>
              </a:rPr>
              <a:t>PAM</a:t>
            </a:r>
            <a:r>
              <a:rPr lang="zh-CN" altLang="en-US" sz="2000" dirty="0">
                <a:solidFill>
                  <a:srgbClr val="000000"/>
                </a:solidFill>
              </a:rPr>
              <a:t>算法与</a:t>
            </a:r>
            <a:r>
              <a:rPr lang="en-US" altLang="zh-CN" sz="2000" dirty="0">
                <a:solidFill>
                  <a:srgbClr val="000000"/>
                </a:solidFill>
              </a:rPr>
              <a:t>k-means</a:t>
            </a:r>
            <a:r>
              <a:rPr lang="zh-CN" altLang="en-US" sz="2000" dirty="0">
                <a:solidFill>
                  <a:srgbClr val="000000"/>
                </a:solidFill>
              </a:rPr>
              <a:t>一样，使用贪心策略来处理聚类过程</a:t>
            </a:r>
            <a:endParaRPr lang="en-US" altLang="zh-CN" sz="2000" dirty="0">
              <a:solidFill>
                <a:srgbClr val="000000"/>
              </a:solidFill>
            </a:endParaRPr>
          </a:p>
          <a:p>
            <a:r>
              <a:rPr lang="en-US" altLang="zh-CN" sz="2000" dirty="0">
                <a:solidFill>
                  <a:srgbClr val="000000"/>
                </a:solidFill>
              </a:rPr>
              <a:t>k-means</a:t>
            </a:r>
            <a:r>
              <a:rPr lang="zh-CN" altLang="en-US" sz="2000" dirty="0">
                <a:solidFill>
                  <a:srgbClr val="000000"/>
                </a:solidFill>
              </a:rPr>
              <a:t>迭代计算簇的中心的过程，在</a:t>
            </a:r>
            <a:r>
              <a:rPr lang="en-US" altLang="zh-CN" sz="2000" dirty="0">
                <a:solidFill>
                  <a:srgbClr val="000000"/>
                </a:solidFill>
              </a:rPr>
              <a:t>PAM</a:t>
            </a:r>
            <a:r>
              <a:rPr lang="zh-CN" altLang="en-US" sz="2000" dirty="0">
                <a:solidFill>
                  <a:srgbClr val="000000"/>
                </a:solidFill>
              </a:rPr>
              <a:t>算法中对应计算是否替代对象</a:t>
            </a:r>
            <a:r>
              <a:rPr lang="en-US" altLang="zh-CN" sz="2000" dirty="0">
                <a:solidFill>
                  <a:srgbClr val="000000"/>
                </a:solidFill>
              </a:rPr>
              <a:t>o'</a:t>
            </a:r>
            <a:r>
              <a:rPr lang="zh-CN" altLang="en-US" sz="2000" dirty="0">
                <a:solidFill>
                  <a:srgbClr val="000000"/>
                </a:solidFill>
              </a:rPr>
              <a:t>比原来的代表对象</a:t>
            </a:r>
            <a:r>
              <a:rPr lang="en-US" altLang="zh-CN" sz="2000" dirty="0">
                <a:solidFill>
                  <a:srgbClr val="000000"/>
                </a:solidFill>
              </a:rPr>
              <a:t>o</a:t>
            </a:r>
            <a:r>
              <a:rPr lang="zh-CN" altLang="en-US" sz="2000" dirty="0">
                <a:solidFill>
                  <a:srgbClr val="000000"/>
                </a:solidFill>
              </a:rPr>
              <a:t>能够具有更好的聚类结果，替换后对所有样本点进行重新计算各自代表样本的绝对误差标准。若替换后，替换总代价小于</a:t>
            </a:r>
            <a:r>
              <a:rPr lang="en-US" altLang="zh-CN" sz="2000" dirty="0">
                <a:solidFill>
                  <a:srgbClr val="000000"/>
                </a:solidFill>
              </a:rPr>
              <a:t>0</a:t>
            </a:r>
            <a:r>
              <a:rPr lang="zh-CN" altLang="en-US" sz="2000" dirty="0">
                <a:solidFill>
                  <a:srgbClr val="000000"/>
                </a:solidFill>
              </a:rPr>
              <a:t>，即绝对误差标准减小，则说明替换后能够得到更好的聚类结果，若替换总代价大于</a:t>
            </a:r>
            <a:r>
              <a:rPr lang="en-US" altLang="zh-CN" sz="2000" dirty="0">
                <a:solidFill>
                  <a:srgbClr val="000000"/>
                </a:solidFill>
              </a:rPr>
              <a:t>0</a:t>
            </a:r>
            <a:r>
              <a:rPr lang="zh-CN" altLang="en-US" sz="2000" dirty="0">
                <a:solidFill>
                  <a:srgbClr val="000000"/>
                </a:solidFill>
              </a:rPr>
              <a:t>，则不能得到更好的聚类结果，原有代表对象不进行替换。在替换过程中，尝试所有可能的替换情况，用其他对象迭代替换代表对象，直到聚类的质量不能再被提高为止。</a:t>
            </a:r>
            <a:endParaRPr lang="en-US" altLang="zh-CN" sz="2000" dirty="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k-prototype </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8069520" cy="415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 K-modes </a:t>
                </a:r>
                <a:r>
                  <a:rPr lang="zh-CN" altLang="en-US" sz="2000" dirty="0">
                    <a:solidFill>
                      <a:srgbClr val="000000"/>
                    </a:solidFill>
                  </a:rPr>
                  <a:t>是处理分类属性的聚类方法</a:t>
                </a:r>
                <a:endParaRPr lang="zh-CN" altLang="en-US" sz="2000" dirty="0">
                  <a:solidFill>
                    <a:srgbClr val="000000"/>
                  </a:solidFill>
                </a:endParaRPr>
              </a:p>
              <a:p>
                <a:r>
                  <a:rPr lang="en-US" altLang="zh-CN" sz="2000" dirty="0">
                    <a:solidFill>
                      <a:srgbClr val="000000"/>
                    </a:solidFill>
                  </a:rPr>
                  <a:t>k-prototype</a:t>
                </a:r>
                <a:r>
                  <a:rPr lang="zh-CN" altLang="zh-CN" sz="2000" dirty="0">
                    <a:solidFill>
                      <a:srgbClr val="000000"/>
                    </a:solidFill>
                  </a:rPr>
                  <a:t>算法的聚类过程与</a:t>
                </a:r>
                <a:r>
                  <a:rPr lang="en-US" altLang="zh-CN" sz="2000" dirty="0">
                    <a:solidFill>
                      <a:srgbClr val="000000"/>
                    </a:solidFill>
                  </a:rPr>
                  <a:t>k-means</a:t>
                </a:r>
                <a:r>
                  <a:rPr lang="zh-CN" altLang="zh-CN" sz="2000" dirty="0">
                    <a:solidFill>
                      <a:srgbClr val="000000"/>
                    </a:solidFill>
                  </a:rPr>
                  <a:t>算法相同，只是在聚类过程中引入参数</a:t>
                </a:r>
                <a14:m>
                  <m:oMath xmlns:m="http://schemas.openxmlformats.org/officeDocument/2006/math">
                    <m:r>
                      <a:rPr lang="en-US" altLang="zh-CN" sz="2000">
                        <a:solidFill>
                          <a:srgbClr val="000000"/>
                        </a:solidFill>
                        <a:latin typeface="Cambria Math" panose="02040503050406030204" pitchFamily="18" charset="0"/>
                      </a:rPr>
                      <m:t>𝛾</m:t>
                    </m:r>
                  </m:oMath>
                </a14:m>
                <a:r>
                  <a:rPr lang="zh-CN" altLang="zh-CN" sz="2000" dirty="0">
                    <a:solidFill>
                      <a:srgbClr val="000000"/>
                    </a:solidFill>
                  </a:rPr>
                  <a:t>来控制</a:t>
                </a:r>
                <a:r>
                  <a:rPr lang="zh-CN" altLang="zh-CN" sz="2000" b="1" dirty="0">
                    <a:solidFill>
                      <a:srgbClr val="FF0000"/>
                    </a:solidFill>
                  </a:rPr>
                  <a:t>数值属性</a:t>
                </a:r>
                <a:r>
                  <a:rPr lang="zh-CN" altLang="zh-CN" sz="2000" dirty="0">
                    <a:solidFill>
                      <a:srgbClr val="000000"/>
                    </a:solidFill>
                  </a:rPr>
                  <a:t>和</a:t>
                </a:r>
                <a:r>
                  <a:rPr lang="zh-CN" altLang="zh-CN" sz="2000" b="1" dirty="0">
                    <a:solidFill>
                      <a:srgbClr val="FF0000"/>
                    </a:solidFill>
                  </a:rPr>
                  <a:t>分类属性</a:t>
                </a:r>
                <a:r>
                  <a:rPr lang="zh-CN" altLang="zh-CN" sz="2000" dirty="0">
                    <a:solidFill>
                      <a:srgbClr val="000000"/>
                    </a:solidFill>
                  </a:rPr>
                  <a:t>的权重。对于</a:t>
                </a:r>
                <a14:m>
                  <m:oMath xmlns:m="http://schemas.openxmlformats.org/officeDocument/2006/math">
                    <m:r>
                      <a:rPr lang="en-US" altLang="zh-CN" sz="2000">
                        <a:solidFill>
                          <a:srgbClr val="000000"/>
                        </a:solidFill>
                        <a:latin typeface="Cambria Math" panose="02040503050406030204" pitchFamily="18" charset="0"/>
                      </a:rPr>
                      <m:t>𝑚</m:t>
                    </m:r>
                  </m:oMath>
                </a14:m>
                <a:r>
                  <a:rPr lang="zh-CN" altLang="zh-CN" sz="2000" dirty="0">
                    <a:solidFill>
                      <a:srgbClr val="000000"/>
                    </a:solidFill>
                  </a:rPr>
                  <a:t>维样本</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d>
                      <m:dPr>
                        <m:ctrlPr>
                          <a:rPr lang="zh-CN" altLang="zh-CN" sz="2000" i="1">
                            <a:solidFill>
                              <a:srgbClr val="000000"/>
                            </a:solidFill>
                            <a:latin typeface="Cambria Math" panose="02040503050406030204" pitchFamily="18" charset="0"/>
                          </a:rPr>
                        </m:ctrlPr>
                      </m:dPr>
                      <m:e>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𝑟</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2</m:t>
                            </m:r>
                          </m:sub>
                          <m:sup>
                            <m:r>
                              <a:rPr lang="en-US" altLang="zh-CN" sz="2000">
                                <a:solidFill>
                                  <a:srgbClr val="000000"/>
                                </a:solidFill>
                                <a:latin typeface="Cambria Math" panose="02040503050406030204" pitchFamily="18" charset="0"/>
                              </a:rPr>
                              <m:t>𝑟</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𝑖𝑝</m:t>
                            </m:r>
                          </m:sub>
                          <m:sup>
                            <m:r>
                              <a:rPr lang="en-US" altLang="zh-CN" sz="2000">
                                <a:solidFill>
                                  <a:srgbClr val="000000"/>
                                </a:solidFill>
                                <a:latin typeface="Cambria Math" panose="02040503050406030204" pitchFamily="18" charset="0"/>
                              </a:rPr>
                              <m:t>𝑟</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𝑝</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e>
                            </m:d>
                          </m:sub>
                          <m:sup>
                            <m:r>
                              <a:rPr lang="en-US" altLang="zh-CN" sz="2000">
                                <a:solidFill>
                                  <a:srgbClr val="000000"/>
                                </a:solidFill>
                                <a:latin typeface="Cambria Math" panose="02040503050406030204" pitchFamily="18" charset="0"/>
                              </a:rPr>
                              <m:t>𝑐</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𝑖𝑚</m:t>
                            </m:r>
                          </m:sub>
                          <m:sup>
                            <m:r>
                              <a:rPr lang="en-US" altLang="zh-CN" sz="2000">
                                <a:solidFill>
                                  <a:srgbClr val="000000"/>
                                </a:solidFill>
                                <a:latin typeface="Cambria Math" panose="02040503050406030204" pitchFamily="18" charset="0"/>
                              </a:rPr>
                              <m:t>𝑐</m:t>
                            </m:r>
                          </m:sup>
                        </m:sSubSup>
                      </m:e>
                    </m:d>
                  </m:oMath>
                </a14:m>
                <a:r>
                  <a:rPr lang="en-US" altLang="zh-CN" sz="2000" dirty="0">
                    <a:solidFill>
                      <a:srgbClr val="000000"/>
                    </a:solidFill>
                  </a:rPr>
                  <a:t>,</a:t>
                </a:r>
                <a:r>
                  <a:rPr lang="zh-CN" altLang="zh-CN" sz="2000" dirty="0">
                    <a:solidFill>
                      <a:srgbClr val="000000"/>
                    </a:solidFill>
                  </a:rPr>
                  <a:t>其中标号为</a:t>
                </a:r>
                <a14:m>
                  <m:oMath xmlns:m="http://schemas.openxmlformats.org/officeDocument/2006/math">
                    <m:r>
                      <a:rPr lang="en-US" altLang="zh-CN" sz="2000">
                        <a:solidFill>
                          <a:srgbClr val="000000"/>
                        </a:solidFill>
                        <a:latin typeface="Cambria Math" panose="02040503050406030204" pitchFamily="18" charset="0"/>
                      </a:rPr>
                      <m:t>1</m:t>
                    </m:r>
                  </m:oMath>
                </a14:m>
                <a:r>
                  <a:rPr lang="zh-CN" altLang="zh-CN" sz="2000" dirty="0">
                    <a:solidFill>
                      <a:srgbClr val="000000"/>
                    </a:solidFill>
                  </a:rPr>
                  <a:t>至</a:t>
                </a:r>
                <a14:m>
                  <m:oMath xmlns:m="http://schemas.openxmlformats.org/officeDocument/2006/math">
                    <m:r>
                      <a:rPr lang="en-US" altLang="zh-CN" sz="2000">
                        <a:solidFill>
                          <a:srgbClr val="000000"/>
                        </a:solidFill>
                        <a:latin typeface="Cambria Math" panose="02040503050406030204" pitchFamily="18" charset="0"/>
                      </a:rPr>
                      <m:t>𝑝</m:t>
                    </m:r>
                  </m:oMath>
                </a14:m>
                <a:r>
                  <a:rPr lang="zh-CN" altLang="zh-CN" sz="2000" dirty="0">
                    <a:solidFill>
                      <a:srgbClr val="000000"/>
                    </a:solidFill>
                  </a:rPr>
                  <a:t>下标的属性为数值型，</a:t>
                </a:r>
                <a14:m>
                  <m:oMath xmlns:m="http://schemas.openxmlformats.org/officeDocument/2006/math">
                    <m:r>
                      <a:rPr lang="en-US" altLang="zh-CN" sz="2000">
                        <a:solidFill>
                          <a:srgbClr val="000000"/>
                        </a:solidFill>
                        <a:latin typeface="Cambria Math" panose="02040503050406030204" pitchFamily="18" charset="0"/>
                      </a:rPr>
                      <m:t>𝑝</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oMath>
                </a14:m>
                <a:r>
                  <a:rPr lang="zh-CN" altLang="zh-CN" sz="2000" dirty="0">
                    <a:solidFill>
                      <a:srgbClr val="000000"/>
                    </a:solidFill>
                  </a:rPr>
                  <a:t>到</a:t>
                </a:r>
                <a14:m>
                  <m:oMath xmlns:m="http://schemas.openxmlformats.org/officeDocument/2006/math">
                    <m:r>
                      <a:rPr lang="en-US" altLang="zh-CN" sz="2000">
                        <a:solidFill>
                          <a:srgbClr val="000000"/>
                        </a:solidFill>
                        <a:latin typeface="Cambria Math" panose="02040503050406030204" pitchFamily="18" charset="0"/>
                      </a:rPr>
                      <m:t>𝑚</m:t>
                    </m:r>
                  </m:oMath>
                </a14:m>
                <a:r>
                  <a:rPr lang="zh-CN" altLang="zh-CN" sz="2000" dirty="0">
                    <a:solidFill>
                      <a:srgbClr val="000000"/>
                    </a:solidFill>
                  </a:rPr>
                  <a:t>下标的属性为分类型。</a:t>
                </a:r>
                <a:endParaRPr lang="zh-CN" altLang="zh-CN" sz="2000" dirty="0">
                  <a:solidFill>
                    <a:srgbClr val="000000"/>
                  </a:solidFill>
                </a:endParaRPr>
              </a:p>
              <a:p>
                <a:r>
                  <a:rPr lang="zh-CN" altLang="zh-CN" sz="2000" dirty="0">
                    <a:solidFill>
                      <a:srgbClr val="000000"/>
                    </a:solidFill>
                  </a:rPr>
                  <a:t>定义样本与簇的距离为</a:t>
                </a:r>
                <a:r>
                  <a:rPr lang="zh-CN" altLang="en-US" sz="2000" dirty="0">
                    <a:solidFill>
                      <a:srgbClr val="000000"/>
                    </a:solidFill>
                  </a:rPr>
                  <a:t>：</a:t>
                </a:r>
                <a:endParaRPr lang="en-US" altLang="zh-CN" sz="2000"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000">
                          <a:solidFill>
                            <a:srgbClr val="000000"/>
                          </a:solidFill>
                          <a:latin typeface="Cambria Math" panose="02040503050406030204" pitchFamily="18" charset="0"/>
                        </a:rPr>
                        <m:t>𝑑</m:t>
                      </m:r>
                      <m:d>
                        <m:dPr>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𝑄</m:t>
                              </m:r>
                            </m:e>
                            <m:sub>
                              <m:r>
                                <a:rPr lang="en-US" altLang="zh-CN" sz="2000">
                                  <a:solidFill>
                                    <a:srgbClr val="000000"/>
                                  </a:solidFill>
                                  <a:latin typeface="Cambria Math" panose="02040503050406030204" pitchFamily="18" charset="0"/>
                                </a:rPr>
                                <m:t>𝑙</m:t>
                              </m:r>
                            </m:sub>
                          </m:sSub>
                        </m:e>
                      </m:d>
                      <m:r>
                        <a:rPr lang="en-US" altLang="zh-CN" sz="2000">
                          <a:solidFill>
                            <a:srgbClr val="000000"/>
                          </a:solidFill>
                          <a:latin typeface="Cambria Math" panose="02040503050406030204" pitchFamily="18" charset="0"/>
                        </a:rPr>
                        <m:t>=</m:t>
                      </m:r>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𝑗</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𝑝</m:t>
                          </m:r>
                        </m:sup>
                        <m:e>
                          <m:sSup>
                            <m:sSupPr>
                              <m:ctrlPr>
                                <a:rPr lang="zh-CN" altLang="zh-CN" sz="2000" i="1">
                                  <a:solidFill>
                                    <a:srgbClr val="000000"/>
                                  </a:solidFill>
                                  <a:latin typeface="Cambria Math" panose="02040503050406030204" pitchFamily="18" charset="0"/>
                                </a:rPr>
                              </m:ctrlPr>
                            </m:sSupPr>
                            <m:e>
                              <m:d>
                                <m:dPr>
                                  <m:ctrlPr>
                                    <a:rPr lang="zh-CN" altLang="zh-CN" sz="2000" i="1">
                                      <a:solidFill>
                                        <a:srgbClr val="000000"/>
                                      </a:solidFill>
                                      <a:latin typeface="Cambria Math" panose="02040503050406030204" pitchFamily="18" charset="0"/>
                                    </a:rPr>
                                  </m:ctrlPr>
                                </m:dPr>
                                <m:e>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𝑖𝑗</m:t>
                                      </m:r>
                                    </m:sub>
                                    <m:sup>
                                      <m:r>
                                        <a:rPr lang="en-US" altLang="zh-CN" sz="2000">
                                          <a:solidFill>
                                            <a:srgbClr val="000000"/>
                                          </a:solidFill>
                                          <a:latin typeface="Cambria Math" panose="02040503050406030204" pitchFamily="18" charset="0"/>
                                        </a:rPr>
                                        <m:t>𝑟</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𝑞</m:t>
                                      </m:r>
                                    </m:e>
                                    <m:sub>
                                      <m:r>
                                        <a:rPr lang="en-US" altLang="zh-CN" sz="2000">
                                          <a:solidFill>
                                            <a:srgbClr val="000000"/>
                                          </a:solidFill>
                                          <a:latin typeface="Cambria Math" panose="02040503050406030204" pitchFamily="18" charset="0"/>
                                        </a:rPr>
                                        <m:t>𝑙𝑗</m:t>
                                      </m:r>
                                    </m:sub>
                                    <m:sup>
                                      <m:r>
                                        <a:rPr lang="en-US" altLang="zh-CN" sz="2000">
                                          <a:solidFill>
                                            <a:srgbClr val="000000"/>
                                          </a:solidFill>
                                          <a:latin typeface="Cambria Math" panose="02040503050406030204" pitchFamily="18" charset="0"/>
                                        </a:rPr>
                                        <m:t>𝑟</m:t>
                                      </m:r>
                                    </m:sup>
                                  </m:sSubSup>
                                </m:e>
                              </m:d>
                            </m:e>
                            <m:sup>
                              <m:r>
                                <a:rPr lang="en-US" altLang="zh-CN" sz="2000">
                                  <a:solidFill>
                                    <a:srgbClr val="000000"/>
                                  </a:solidFill>
                                  <a:latin typeface="Cambria Math" panose="02040503050406030204" pitchFamily="18" charset="0"/>
                                </a:rPr>
                                <m:t>2</m:t>
                              </m:r>
                            </m:sup>
                          </m:sSup>
                        </m:e>
                      </m:nary>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𝛾</m:t>
                          </m:r>
                        </m:e>
                        <m:sub>
                          <m:r>
                            <a:rPr lang="en-US" altLang="zh-CN" sz="2000">
                              <a:solidFill>
                                <a:srgbClr val="000000"/>
                              </a:solidFill>
                              <a:latin typeface="Cambria Math" panose="02040503050406030204" pitchFamily="18" charset="0"/>
                            </a:rPr>
                            <m:t>𝑙</m:t>
                          </m:r>
                        </m:sub>
                      </m:sSub>
                      <m:nary>
                        <m:naryPr>
                          <m:chr m:val="∑"/>
                          <m:limLoc m:val="undOvr"/>
                          <m:ctrlPr>
                            <a:rPr lang="zh-CN" altLang="zh-CN" sz="2000" i="1">
                              <a:solidFill>
                                <a:srgbClr val="000000"/>
                              </a:solidFill>
                              <a:latin typeface="Cambria Math" panose="02040503050406030204" pitchFamily="18" charset="0"/>
                            </a:rPr>
                          </m:ctrlPr>
                        </m:naryPr>
                        <m:sub>
                          <m:r>
                            <a:rPr lang="en-US" altLang="zh-CN" sz="2000">
                              <a:solidFill>
                                <a:srgbClr val="000000"/>
                              </a:solidFill>
                              <a:latin typeface="Cambria Math" panose="02040503050406030204" pitchFamily="18" charset="0"/>
                            </a:rPr>
                            <m:t>𝑗</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𝑝</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up>
                          <m:r>
                            <a:rPr lang="en-US" altLang="zh-CN" sz="2000">
                              <a:solidFill>
                                <a:srgbClr val="000000"/>
                              </a:solidFill>
                              <a:latin typeface="Cambria Math" panose="02040503050406030204" pitchFamily="18" charset="0"/>
                            </a:rPr>
                            <m:t>𝑚</m:t>
                          </m:r>
                        </m:sup>
                        <m:e>
                          <m:r>
                            <a:rPr lang="en-US" altLang="zh-CN" sz="2000">
                              <a:solidFill>
                                <a:srgbClr val="000000"/>
                              </a:solidFill>
                              <a:latin typeface="Cambria Math" panose="02040503050406030204" pitchFamily="18" charset="0"/>
                            </a:rPr>
                            <m:t>𝛿</m:t>
                          </m:r>
                        </m:e>
                      </m:nary>
                      <m:d>
                        <m:dPr>
                          <m:ctrlPr>
                            <a:rPr lang="zh-CN" altLang="zh-CN" sz="2000" i="1">
                              <a:solidFill>
                                <a:srgbClr val="000000"/>
                              </a:solidFill>
                              <a:latin typeface="Cambria Math" panose="02040503050406030204" pitchFamily="18" charset="0"/>
                            </a:rPr>
                          </m:ctrlPr>
                        </m:dPr>
                        <m:e>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𝑖𝑗</m:t>
                              </m:r>
                            </m:sub>
                            <m:sup>
                              <m:r>
                                <a:rPr lang="en-US" altLang="zh-CN" sz="2000">
                                  <a:solidFill>
                                    <a:srgbClr val="000000"/>
                                  </a:solidFill>
                                  <a:latin typeface="Cambria Math" panose="02040503050406030204" pitchFamily="18" charset="0"/>
                                </a:rPr>
                                <m:t>𝑐</m:t>
                              </m:r>
                            </m:sup>
                          </m:sSubSup>
                          <m:r>
                            <a:rPr lang="en-US" altLang="zh-CN" sz="2000">
                              <a:solidFill>
                                <a:srgbClr val="000000"/>
                              </a:solidFill>
                              <a:latin typeface="Cambria Math" panose="02040503050406030204" pitchFamily="18" charset="0"/>
                            </a:rPr>
                            <m:t>,</m:t>
                          </m:r>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𝑞</m:t>
                              </m:r>
                            </m:e>
                            <m:sub>
                              <m:r>
                                <a:rPr lang="en-US" altLang="zh-CN" sz="2000">
                                  <a:solidFill>
                                    <a:srgbClr val="000000"/>
                                  </a:solidFill>
                                  <a:latin typeface="Cambria Math" panose="02040503050406030204" pitchFamily="18" charset="0"/>
                                </a:rPr>
                                <m:t>𝑙𝑗</m:t>
                              </m:r>
                            </m:sub>
                            <m:sup>
                              <m:r>
                                <a:rPr lang="en-US" altLang="zh-CN" sz="2000">
                                  <a:solidFill>
                                    <a:srgbClr val="000000"/>
                                  </a:solidFill>
                                  <a:latin typeface="Cambria Math" panose="02040503050406030204" pitchFamily="18" charset="0"/>
                                </a:rPr>
                                <m:t>𝑐</m:t>
                              </m:r>
                            </m:sup>
                          </m:sSubSup>
                        </m:e>
                      </m:d>
                    </m:oMath>
                  </m:oMathPara>
                </a14:m>
                <a:endParaRPr lang="zh-CN" altLang="zh-CN" sz="2000" dirty="0">
                  <a:solidFill>
                    <a:srgbClr val="000000"/>
                  </a:solidFill>
                </a:endParaRPr>
              </a:p>
              <a:p>
                <a:r>
                  <a:rPr lang="zh-CN" altLang="zh-CN" sz="2000" dirty="0">
                    <a:solidFill>
                      <a:srgbClr val="000000"/>
                    </a:solidFill>
                  </a:rPr>
                  <a:t>其中</a:t>
                </a:r>
                <a14:m>
                  <m:oMath xmlns:m="http://schemas.openxmlformats.org/officeDocument/2006/math">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𝑖𝑗</m:t>
                        </m:r>
                      </m:sub>
                      <m:sup>
                        <m:r>
                          <a:rPr lang="en-US" altLang="zh-CN" sz="2000">
                            <a:solidFill>
                              <a:srgbClr val="000000"/>
                            </a:solidFill>
                            <a:latin typeface="Cambria Math" panose="02040503050406030204" pitchFamily="18" charset="0"/>
                          </a:rPr>
                          <m:t>𝑟</m:t>
                        </m:r>
                      </m:sup>
                    </m:sSubSup>
                  </m:oMath>
                </a14:m>
                <a:r>
                  <a:rPr lang="zh-CN" altLang="zh-CN" sz="2000" dirty="0">
                    <a:solidFill>
                      <a:srgbClr val="000000"/>
                    </a:solidFill>
                  </a:rPr>
                  <a:t>和</a:t>
                </a:r>
                <a14:m>
                  <m:oMath xmlns:m="http://schemas.openxmlformats.org/officeDocument/2006/math">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𝑖𝑗</m:t>
                        </m:r>
                      </m:sub>
                      <m:sup>
                        <m:r>
                          <a:rPr lang="en-US" altLang="zh-CN" sz="2000">
                            <a:solidFill>
                              <a:srgbClr val="000000"/>
                            </a:solidFill>
                            <a:latin typeface="Cambria Math" panose="02040503050406030204" pitchFamily="18" charset="0"/>
                          </a:rPr>
                          <m:t>𝑐</m:t>
                        </m:r>
                      </m:sup>
                    </m:sSubSup>
                  </m:oMath>
                </a14:m>
                <a:r>
                  <a:rPr lang="zh-CN" altLang="zh-CN" sz="2000" dirty="0">
                    <a:solidFill>
                      <a:srgbClr val="000000"/>
                    </a:solidFill>
                  </a:rPr>
                  <a:t>分别是</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第</a:t>
                </a:r>
                <a14:m>
                  <m:oMath xmlns:m="http://schemas.openxmlformats.org/officeDocument/2006/math">
                    <m:r>
                      <a:rPr lang="en-US" altLang="zh-CN" sz="2000">
                        <a:solidFill>
                          <a:srgbClr val="000000"/>
                        </a:solidFill>
                        <a:latin typeface="Cambria Math" panose="02040503050406030204" pitchFamily="18" charset="0"/>
                      </a:rPr>
                      <m:t>𝑗</m:t>
                    </m:r>
                  </m:oMath>
                </a14:m>
                <a:r>
                  <a:rPr lang="zh-CN" altLang="zh-CN" sz="2000" dirty="0">
                    <a:solidFill>
                      <a:srgbClr val="000000"/>
                    </a:solidFill>
                  </a:rPr>
                  <a:t>个属性的数值属性取值和分类属性取值，</a:t>
                </a:r>
                <a14:m>
                  <m:oMath xmlns:m="http://schemas.openxmlformats.org/officeDocument/2006/math">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𝑞</m:t>
                        </m:r>
                      </m:e>
                      <m:sub>
                        <m:r>
                          <a:rPr lang="en-US" altLang="zh-CN" sz="2000">
                            <a:solidFill>
                              <a:srgbClr val="000000"/>
                            </a:solidFill>
                            <a:latin typeface="Cambria Math" panose="02040503050406030204" pitchFamily="18" charset="0"/>
                          </a:rPr>
                          <m:t>𝑙𝑗</m:t>
                        </m:r>
                      </m:sub>
                      <m:sup>
                        <m:r>
                          <a:rPr lang="en-US" altLang="zh-CN" sz="2000">
                            <a:solidFill>
                              <a:srgbClr val="000000"/>
                            </a:solidFill>
                            <a:latin typeface="Cambria Math" panose="02040503050406030204" pitchFamily="18" charset="0"/>
                          </a:rPr>
                          <m:t>𝑟</m:t>
                        </m:r>
                      </m:sup>
                    </m:sSubSup>
                  </m:oMath>
                </a14:m>
                <a:r>
                  <a:rPr lang="zh-CN" altLang="zh-CN" sz="2000" dirty="0">
                    <a:solidFill>
                      <a:srgbClr val="000000"/>
                    </a:solidFill>
                  </a:rPr>
                  <a:t>和</a:t>
                </a:r>
                <a14:m>
                  <m:oMath xmlns:m="http://schemas.openxmlformats.org/officeDocument/2006/math">
                    <m:sSubSup>
                      <m:sSubSupPr>
                        <m:ctrlPr>
                          <a:rPr lang="zh-CN" altLang="zh-CN" sz="2000" i="1">
                            <a:solidFill>
                              <a:srgbClr val="000000"/>
                            </a:solidFill>
                            <a:latin typeface="Cambria Math" panose="02040503050406030204" pitchFamily="18" charset="0"/>
                          </a:rPr>
                        </m:ctrlPr>
                      </m:sSubSupPr>
                      <m:e>
                        <m:r>
                          <a:rPr lang="en-US" altLang="zh-CN" sz="2000">
                            <a:solidFill>
                              <a:srgbClr val="000000"/>
                            </a:solidFill>
                            <a:latin typeface="Cambria Math" panose="02040503050406030204" pitchFamily="18" charset="0"/>
                          </a:rPr>
                          <m:t>𝑞</m:t>
                        </m:r>
                      </m:e>
                      <m:sub>
                        <m:r>
                          <a:rPr lang="en-US" altLang="zh-CN" sz="2000">
                            <a:solidFill>
                              <a:srgbClr val="000000"/>
                            </a:solidFill>
                            <a:latin typeface="Cambria Math" panose="02040503050406030204" pitchFamily="18" charset="0"/>
                          </a:rPr>
                          <m:t>𝑙𝑗</m:t>
                        </m:r>
                      </m:sub>
                      <m:sup>
                        <m:r>
                          <a:rPr lang="en-US" altLang="zh-CN" sz="2000">
                            <a:solidFill>
                              <a:srgbClr val="000000"/>
                            </a:solidFill>
                            <a:latin typeface="Cambria Math" panose="02040503050406030204" pitchFamily="18" charset="0"/>
                          </a:rPr>
                          <m:t>𝑐</m:t>
                        </m:r>
                      </m:sup>
                    </m:sSubSup>
                  </m:oMath>
                </a14:m>
                <a:r>
                  <a:rPr lang="zh-CN" altLang="zh-CN" sz="2000" dirty="0">
                    <a:solidFill>
                      <a:srgbClr val="000000"/>
                    </a:solidFill>
                  </a:rPr>
                  <a:t>分别是聚类</a:t>
                </a:r>
                <a14:m>
                  <m:oMath xmlns:m="http://schemas.openxmlformats.org/officeDocument/2006/math">
                    <m:r>
                      <a:rPr lang="en-US" altLang="zh-CN" sz="2000">
                        <a:solidFill>
                          <a:srgbClr val="000000"/>
                        </a:solidFill>
                        <a:latin typeface="Cambria Math" panose="02040503050406030204" pitchFamily="18" charset="0"/>
                      </a:rPr>
                      <m:t>𝑙</m:t>
                    </m:r>
                  </m:oMath>
                </a14:m>
                <a:r>
                  <a:rPr lang="zh-CN" altLang="zh-CN" sz="2000" dirty="0">
                    <a:solidFill>
                      <a:srgbClr val="000000"/>
                    </a:solidFill>
                  </a:rPr>
                  <a:t>的原型</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𝑄</m:t>
                        </m:r>
                      </m:e>
                      <m:sub>
                        <m:r>
                          <a:rPr lang="en-US" altLang="zh-CN" sz="2000">
                            <a:solidFill>
                              <a:srgbClr val="000000"/>
                            </a:solidFill>
                            <a:latin typeface="Cambria Math" panose="02040503050406030204" pitchFamily="18" charset="0"/>
                          </a:rPr>
                          <m:t>𝑙</m:t>
                        </m:r>
                      </m:sub>
                    </m:sSub>
                  </m:oMath>
                </a14:m>
                <a:r>
                  <a:rPr lang="zh-CN" altLang="zh-CN" sz="2000" dirty="0">
                    <a:solidFill>
                      <a:srgbClr val="000000"/>
                    </a:solidFill>
                  </a:rPr>
                  <a:t>的数值属性取值和分类属性取值，</a:t>
                </a:r>
                <a14:m>
                  <m:oMath xmlns:m="http://schemas.openxmlformats.org/officeDocument/2006/math">
                    <m:r>
                      <a:rPr lang="en-US" altLang="zh-CN" sz="2000">
                        <a:solidFill>
                          <a:srgbClr val="000000"/>
                        </a:solidFill>
                        <a:latin typeface="Cambria Math" panose="02040503050406030204" pitchFamily="18" charset="0"/>
                      </a:rPr>
                      <m:t>𝛿</m:t>
                    </m:r>
                  </m:oMath>
                </a14:m>
                <a:r>
                  <a:rPr lang="zh-CN" altLang="zh-CN" sz="2000" dirty="0">
                    <a:solidFill>
                      <a:srgbClr val="000000"/>
                    </a:solidFill>
                  </a:rPr>
                  <a:t>为符号函数</a:t>
                </a:r>
                <a:endParaRPr lang="en-US"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8069520" cy="4159885"/>
              </a:xfrm>
              <a:prstGeom prst="rect">
                <a:avLst/>
              </a:prstGeom>
              <a:blipFill rotWithShape="1">
                <a:blip r:embed="rId1"/>
                <a:stretch>
                  <a:fillRect t="-14" r="7"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spc="-100" dirty="0">
                <a:solidFill>
                  <a:srgbClr val="D2533C"/>
                </a:solidFill>
                <a:latin typeface="Arial" panose="020B0604020202020204"/>
                <a:ea typeface="华文新魏" panose="02010800040101010101" pitchFamily="2" charset="-122"/>
              </a:rPr>
              <a:t>课堂作业</a:t>
            </a:r>
            <a:endParaRPr lang="en-US" altLang="zh-CN"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n"/>
            </a:pPr>
            <a:r>
              <a:rPr lang="zh-CN" altLang="en-US" b="1">
                <a:solidFill>
                  <a:srgbClr val="FF0000"/>
                </a:solidFill>
              </a:rPr>
              <a:t>作业描述</a:t>
            </a:r>
            <a:r>
              <a:rPr lang="zh-CN" altLang="en-US"/>
              <a:t>：现有大量从新闻资讯、游记文案、生活随笔、美食探店、户外攻略等多类中文文本中提取的高频关键词集合。要求采用</a:t>
            </a:r>
            <a:r>
              <a:rPr lang="en-US" altLang="zh-CN"/>
              <a:t>K-Means++ </a:t>
            </a:r>
            <a:r>
              <a:rPr lang="zh-CN" altLang="en-US"/>
              <a:t>算法优选初始聚类中心点，再运用</a:t>
            </a:r>
            <a:r>
              <a:rPr lang="en-US" altLang="zh-CN"/>
              <a:t>K-Means </a:t>
            </a:r>
            <a:r>
              <a:rPr lang="zh-CN" altLang="en-US"/>
              <a:t>聚类算法完成关键词聚类。对聚类结果进行评价，并对聚类结果进行解读。</a:t>
            </a:r>
            <a:endParaRPr lang="zh-CN" altLang="en-US"/>
          </a:p>
          <a:p>
            <a:pPr>
              <a:buFont typeface="Wingdings" panose="05000000000000000000" charset="0"/>
              <a:buChar char="n"/>
            </a:pPr>
            <a:r>
              <a:rPr lang="zh-CN" altLang="en-US" b="1">
                <a:solidFill>
                  <a:srgbClr val="FF0000"/>
                </a:solidFill>
              </a:rPr>
              <a:t>关键词集合</a:t>
            </a:r>
            <a:r>
              <a:rPr lang="zh-CN" altLang="en-US"/>
              <a:t>：旅游、风景、美食、出行、甜品、山水、自驾、奶茶、打卡、徒步、小吃、名胜、民宿、花海、露营、烧烤、茶饮、古镇、云海、爬山、火锅、奶茶店、短途游、自驾游、自然风光、特色小吃、网红景点、农家菜、海景、草原、骑行、野餐、糕点、果汁、商圈、老街、温泉、滑雪、夜宵、面食、粤菜、川菜、踏青、秋游、度假、拍照、休闲、娱乐、探店、购物、园林、瀑布、湖泊、海鲜、粥品、冷饮、野餐垫、帐篷、零食、特产、文创、古道、村落、雨林、漂流、垂钓</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聚类分析概述</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基于划分的聚类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基于层次的聚类</a:t>
            </a:r>
            <a:endParaRPr kumimoji="0" lang="en-US" altLang="zh-CN" kern="100"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基于密度的聚类</a:t>
            </a:r>
            <a:endParaRPr kumimoji="0" lang="en-US" altLang="zh-CN" kern="100" dirty="0">
              <a:latin typeface="Arial" panose="020B0604020202020204"/>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基于层次的聚类</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34" name="Picture 4" descr="https://timgsa.baidu.com/timg?image&amp;quality=80&amp;size=b9999_10000&amp;sec=1604895248438&amp;di=b2026ef0c656840beec4384bb1e2e75a&amp;imgtype=0&amp;src=http%3A%2F%2Fp2.ssl.cdn.btime.com%2Ft01d3bc67f1faaf39d1.gif%3Fsize%3D720x324"/>
          <p:cNvPicPr>
            <a:picLocks noChangeAspect="1" noChangeArrowheads="1" noCrop="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76261" y="3820598"/>
            <a:ext cx="6437198" cy="2724614"/>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3"/>
          <p:cNvSpPr>
            <a:spLocks noChangeArrowheads="1"/>
          </p:cNvSpPr>
          <p:nvPr/>
        </p:nvSpPr>
        <p:spPr bwMode="auto">
          <a:xfrm>
            <a:off x="822960" y="1078197"/>
            <a:ext cx="806952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defTabSz="457200" eaLnBrk="1" fontAlgn="auto" hangingPunct="1">
              <a:spcAft>
                <a:spcPts val="0"/>
              </a:spcAft>
              <a:defRPr/>
            </a:pPr>
            <a:r>
              <a:rPr lang="zh-CN" altLang="en-US" sz="2000" dirty="0">
                <a:latin typeface="+mn-ea"/>
                <a:ea typeface="+mn-ea"/>
                <a:cs typeface="Times New Roman" panose="02020603050405020304" pitchFamily="18" charset="0"/>
              </a:rPr>
              <a:t>层次聚类假设簇之间存在</a:t>
            </a:r>
            <a:r>
              <a:rPr lang="zh-CN" altLang="en-US" sz="2000" b="1" dirty="0">
                <a:solidFill>
                  <a:srgbClr val="FF0000"/>
                </a:solidFill>
                <a:latin typeface="+mn-ea"/>
                <a:ea typeface="+mn-ea"/>
                <a:cs typeface="Times New Roman" panose="02020603050405020304" pitchFamily="18" charset="0"/>
              </a:rPr>
              <a:t>层次结构</a:t>
            </a:r>
            <a:r>
              <a:rPr lang="zh-CN" altLang="en-US" sz="2000" dirty="0">
                <a:latin typeface="+mn-ea"/>
                <a:ea typeface="+mn-ea"/>
                <a:cs typeface="Times New Roman" panose="02020603050405020304" pitchFamily="18" charset="0"/>
              </a:rPr>
              <a:t>，将样本聚到层次化的簇中。</a:t>
            </a:r>
            <a:r>
              <a:rPr lang="zh-CN" altLang="zh-CN" sz="2000" dirty="0">
                <a:solidFill>
                  <a:srgbClr val="000000"/>
                </a:solidFill>
              </a:rPr>
              <a:t>层次聚类算法可以揭示数据的分层结构，在树形结构上不同层次进行划分，可以得到不同粒度的聚类结果。</a:t>
            </a:r>
            <a:r>
              <a:rPr lang="zh-CN" altLang="en-US" sz="2000" b="1" dirty="0">
                <a:solidFill>
                  <a:srgbClr val="FF0000"/>
                </a:solidFill>
                <a:latin typeface="+mn-ea"/>
                <a:ea typeface="+mn-ea"/>
                <a:cs typeface="Times New Roman" panose="02020603050405020304" pitchFamily="18" charset="0"/>
              </a:rPr>
              <a:t>层次聚类又有聚合聚类（自下而上）、分裂聚类（自上而下）两种方法</a:t>
            </a:r>
            <a:r>
              <a:rPr lang="zh-CN" altLang="en-US" sz="2000" dirty="0">
                <a:latin typeface="+mn-ea"/>
                <a:ea typeface="+mn-ea"/>
                <a:cs typeface="Times New Roman" panose="02020603050405020304" pitchFamily="18" charset="0"/>
              </a:rPr>
              <a:t>。</a:t>
            </a:r>
            <a:endParaRPr lang="en-US" altLang="zh-CN" sz="2000" dirty="0">
              <a:latin typeface="+mn-ea"/>
              <a:ea typeface="+mn-ea"/>
              <a:cs typeface="Times New Roman" panose="02020603050405020304" pitchFamily="18" charset="0"/>
            </a:endParaRPr>
          </a:p>
          <a:p>
            <a:pPr algn="just"/>
            <a:r>
              <a:rPr lang="zh-CN" altLang="en-US" sz="2000" dirty="0">
                <a:latin typeface="+mn-ea"/>
                <a:ea typeface="+mn-ea"/>
                <a:cs typeface="Times New Roman" panose="02020603050405020304" pitchFamily="18" charset="0"/>
              </a:rPr>
              <a:t>聚合聚类：</a:t>
            </a:r>
            <a:endParaRPr lang="en-US" altLang="zh-CN" sz="20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开始将每个样本各自分到一个簇；</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之后将相距最近的两簇合并，建立一个新的簇；</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重复此操作直到满足停止条件；</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得到层次化的类别。</a:t>
            </a:r>
            <a:endParaRPr lang="zh-CN" altLang="en-US" sz="1800" dirty="0">
              <a:latin typeface="+mn-ea"/>
              <a:ea typeface="+mn-ea"/>
              <a:cs typeface="Times New Roman" panose="02020603050405020304" pitchFamily="18" charset="0"/>
            </a:endParaRPr>
          </a:p>
          <a:p>
            <a:pPr algn="just"/>
            <a:endParaRPr lang="en-US" altLang="zh-CN" sz="2000" dirty="0">
              <a:latin typeface="+mn-ea"/>
              <a:ea typeface="+mn-ea"/>
              <a:cs typeface="Times New Roman" panose="02020603050405020304" pitchFamily="18" charset="0"/>
            </a:endParaRPr>
          </a:p>
          <a:p>
            <a:pPr algn="just"/>
            <a:endParaRPr lang="zh-CN" altLang="en-US" sz="2000"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基于层次的聚类</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441621" y="1340768"/>
            <a:ext cx="2986003" cy="357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000" dirty="0">
                <a:latin typeface="+mn-ea"/>
                <a:ea typeface="+mn-ea"/>
                <a:cs typeface="Times New Roman" panose="02020603050405020304" pitchFamily="18" charset="0"/>
              </a:rPr>
              <a:t>分裂聚类：</a:t>
            </a:r>
            <a:endParaRPr lang="en-US" altLang="zh-CN" sz="20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开始将所有样本分到一个簇；</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之后将已有类中相距最远的样本分到两个新的簇；</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重复此操作直到满足停止条件；</a:t>
            </a:r>
            <a:endParaRPr lang="zh-CN" altLang="en-US" sz="1800" dirty="0">
              <a:latin typeface="+mn-ea"/>
              <a:ea typeface="+mn-ea"/>
              <a:cs typeface="Times New Roman" panose="02020603050405020304" pitchFamily="18" charset="0"/>
            </a:endParaRPr>
          </a:p>
          <a:p>
            <a:pPr lvl="1" algn="just"/>
            <a:r>
              <a:rPr lang="zh-CN" altLang="en-US" sz="1800" dirty="0">
                <a:latin typeface="+mn-ea"/>
                <a:ea typeface="+mn-ea"/>
                <a:cs typeface="Times New Roman" panose="02020603050405020304" pitchFamily="18" charset="0"/>
              </a:rPr>
              <a:t>得到层次化的类别。</a:t>
            </a:r>
            <a:endParaRPr lang="zh-CN" altLang="en-US" sz="1800" dirty="0">
              <a:latin typeface="+mn-ea"/>
              <a:ea typeface="+mn-ea"/>
              <a:cs typeface="Times New Roman" panose="02020603050405020304" pitchFamily="18" charset="0"/>
            </a:endParaRPr>
          </a:p>
          <a:p>
            <a:pPr algn="just"/>
            <a:endParaRPr lang="en-US" altLang="zh-CN" sz="2000" dirty="0">
              <a:latin typeface="+mn-ea"/>
              <a:ea typeface="+mn-ea"/>
              <a:cs typeface="Times New Roman" panose="02020603050405020304" pitchFamily="18" charset="0"/>
            </a:endParaRPr>
          </a:p>
          <a:p>
            <a:pPr algn="just"/>
            <a:endParaRPr lang="zh-CN" altLang="en-US" sz="2000" dirty="0">
              <a:latin typeface="+mn-ea"/>
              <a:ea typeface="+mn-ea"/>
              <a:cs typeface="Times New Roman" panose="02020603050405020304" pitchFamily="18" charset="0"/>
            </a:endParaRPr>
          </a:p>
        </p:txBody>
      </p:sp>
      <p:grpSp>
        <p:nvGrpSpPr>
          <p:cNvPr id="113" name="组合 112"/>
          <p:cNvGrpSpPr/>
          <p:nvPr/>
        </p:nvGrpSpPr>
        <p:grpSpPr>
          <a:xfrm>
            <a:off x="3491880" y="1340768"/>
            <a:ext cx="5338465" cy="3796585"/>
            <a:chOff x="2185215" y="2276872"/>
            <a:chExt cx="5338465" cy="3796585"/>
          </a:xfrm>
        </p:grpSpPr>
        <p:sp>
          <p:nvSpPr>
            <p:cNvPr id="33" name="Google Shape;99;p18"/>
            <p:cNvSpPr/>
            <p:nvPr/>
          </p:nvSpPr>
          <p:spPr>
            <a:xfrm>
              <a:off x="5950765" y="5566653"/>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a:t>e</a:t>
              </a:r>
              <a:endParaRPr sz="1800" dirty="0"/>
            </a:p>
          </p:txBody>
        </p:sp>
        <p:sp>
          <p:nvSpPr>
            <p:cNvPr id="35" name="Google Shape;99;p18"/>
            <p:cNvSpPr/>
            <p:nvPr/>
          </p:nvSpPr>
          <p:spPr>
            <a:xfrm>
              <a:off x="5261569" y="5566653"/>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a:t>d</a:t>
              </a:r>
              <a:endParaRPr sz="1800" dirty="0"/>
            </a:p>
          </p:txBody>
        </p:sp>
        <p:sp>
          <p:nvSpPr>
            <p:cNvPr id="36" name="Google Shape;99;p18"/>
            <p:cNvSpPr/>
            <p:nvPr/>
          </p:nvSpPr>
          <p:spPr>
            <a:xfrm>
              <a:off x="4579160" y="5566654"/>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a:t>c</a:t>
              </a:r>
              <a:endParaRPr sz="1800" dirty="0"/>
            </a:p>
          </p:txBody>
        </p:sp>
        <p:sp>
          <p:nvSpPr>
            <p:cNvPr id="37" name="Google Shape;116;p19"/>
            <p:cNvSpPr/>
            <p:nvPr/>
          </p:nvSpPr>
          <p:spPr>
            <a:xfrm>
              <a:off x="4717542" y="3023774"/>
              <a:ext cx="1186447"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t>c</a:t>
              </a:r>
              <a:r>
                <a:rPr lang="en-GB" sz="1800" dirty="0"/>
                <a:t>,d,e</a:t>
              </a:r>
              <a:endParaRPr sz="1800" dirty="0"/>
            </a:p>
          </p:txBody>
        </p:sp>
        <p:sp>
          <p:nvSpPr>
            <p:cNvPr id="38" name="Google Shape;116;p19"/>
            <p:cNvSpPr/>
            <p:nvPr/>
          </p:nvSpPr>
          <p:spPr>
            <a:xfrm>
              <a:off x="5365324" y="3941158"/>
              <a:ext cx="913763"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t>d,e</a:t>
              </a:r>
              <a:endParaRPr sz="1800" dirty="0"/>
            </a:p>
          </p:txBody>
        </p:sp>
        <p:sp>
          <p:nvSpPr>
            <p:cNvPr id="39" name="Google Shape;116;p19"/>
            <p:cNvSpPr/>
            <p:nvPr/>
          </p:nvSpPr>
          <p:spPr>
            <a:xfrm>
              <a:off x="4145097" y="2276872"/>
              <a:ext cx="1597044" cy="457067"/>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t>a</a:t>
              </a:r>
              <a:r>
                <a:rPr lang="en-GB" sz="1800" dirty="0"/>
                <a:t>,b,c,d,e</a:t>
              </a:r>
              <a:endParaRPr sz="1800" dirty="0"/>
            </a:p>
          </p:txBody>
        </p:sp>
        <p:sp>
          <p:nvSpPr>
            <p:cNvPr id="40" name="右大括号 39"/>
            <p:cNvSpPr/>
            <p:nvPr/>
          </p:nvSpPr>
          <p:spPr>
            <a:xfrm rot="16200000">
              <a:off x="5624290" y="4983423"/>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sz="1800"/>
            </a:p>
          </p:txBody>
        </p:sp>
        <p:cxnSp>
          <p:nvCxnSpPr>
            <p:cNvPr id="41" name="直接连接符 40"/>
            <p:cNvCxnSpPr>
              <a:stCxn id="38" idx="2"/>
              <a:endCxn id="40" idx="1"/>
            </p:cNvCxnSpPr>
            <p:nvPr/>
          </p:nvCxnSpPr>
          <p:spPr>
            <a:xfrm>
              <a:off x="5822206" y="4356953"/>
              <a:ext cx="4436" cy="782360"/>
            </a:xfrm>
            <a:prstGeom prst="line">
              <a:avLst/>
            </a:prstGeom>
          </p:spPr>
          <p:style>
            <a:lnRef idx="2">
              <a:schemeClr val="accent4"/>
            </a:lnRef>
            <a:fillRef idx="0">
              <a:schemeClr val="accent4"/>
            </a:fillRef>
            <a:effectRef idx="1">
              <a:schemeClr val="accent4"/>
            </a:effectRef>
            <a:fontRef idx="minor">
              <a:schemeClr val="tx1"/>
            </a:fontRef>
          </p:style>
        </p:cxnSp>
        <p:sp>
          <p:nvSpPr>
            <p:cNvPr id="42" name="Google Shape;99;p18"/>
            <p:cNvSpPr/>
            <p:nvPr/>
          </p:nvSpPr>
          <p:spPr>
            <a:xfrm>
              <a:off x="3956427" y="5574573"/>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dirty="0"/>
                <a:t>b</a:t>
              </a:r>
              <a:endParaRPr sz="1800" dirty="0"/>
            </a:p>
          </p:txBody>
        </p:sp>
        <p:sp>
          <p:nvSpPr>
            <p:cNvPr id="43" name="Google Shape;99;p18"/>
            <p:cNvSpPr/>
            <p:nvPr/>
          </p:nvSpPr>
          <p:spPr>
            <a:xfrm>
              <a:off x="3218163" y="5566653"/>
              <a:ext cx="464014" cy="418739"/>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altLang="zh-CN" sz="1800" dirty="0"/>
                <a:t>a</a:t>
              </a:r>
              <a:endParaRPr sz="1800" dirty="0"/>
            </a:p>
          </p:txBody>
        </p:sp>
        <p:sp>
          <p:nvSpPr>
            <p:cNvPr id="44" name="Google Shape;116;p19"/>
            <p:cNvSpPr/>
            <p:nvPr/>
          </p:nvSpPr>
          <p:spPr>
            <a:xfrm>
              <a:off x="3352488" y="4451606"/>
              <a:ext cx="866409" cy="415795"/>
            </a:xfrm>
            <a:prstGeom prst="roundRect">
              <a:avLst>
                <a:gd name="adj" fmla="val 50000"/>
              </a:avLst>
            </a:prstGeom>
            <a:gradFill>
              <a:gsLst>
                <a:gs pos="0">
                  <a:srgbClr val="69D4F4">
                    <a:alpha val="26274"/>
                  </a:srgbClr>
                </a:gs>
                <a:gs pos="100000">
                  <a:srgbClr val="9F39D5">
                    <a:alpha val="16862"/>
                  </a:srgbClr>
                </a:gs>
              </a:gsLst>
              <a:lin ang="13500032" scaled="0"/>
            </a:gra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t>a</a:t>
              </a:r>
              <a:r>
                <a:rPr lang="en-GB" sz="1800" dirty="0"/>
                <a:t>,b</a:t>
              </a:r>
              <a:endParaRPr sz="1800" dirty="0"/>
            </a:p>
          </p:txBody>
        </p:sp>
        <p:sp>
          <p:nvSpPr>
            <p:cNvPr id="45" name="右大括号 44"/>
            <p:cNvSpPr/>
            <p:nvPr/>
          </p:nvSpPr>
          <p:spPr>
            <a:xfrm rot="16200000">
              <a:off x="3580884" y="4983423"/>
              <a:ext cx="404703" cy="716482"/>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sz="1800"/>
            </a:p>
          </p:txBody>
        </p:sp>
        <p:cxnSp>
          <p:nvCxnSpPr>
            <p:cNvPr id="46" name="直接连接符 45"/>
            <p:cNvCxnSpPr>
              <a:endCxn id="44" idx="2"/>
            </p:cNvCxnSpPr>
            <p:nvPr/>
          </p:nvCxnSpPr>
          <p:spPr>
            <a:xfrm flipV="1">
              <a:off x="3783235" y="4867401"/>
              <a:ext cx="2458" cy="306390"/>
            </a:xfrm>
            <a:prstGeom prst="line">
              <a:avLst/>
            </a:prstGeom>
          </p:spPr>
          <p:style>
            <a:lnRef idx="2">
              <a:schemeClr val="accent4"/>
            </a:lnRef>
            <a:fillRef idx="0">
              <a:schemeClr val="accent4"/>
            </a:fillRef>
            <a:effectRef idx="1">
              <a:schemeClr val="accent4"/>
            </a:effectRef>
            <a:fontRef idx="minor">
              <a:schemeClr val="tx1"/>
            </a:fontRef>
          </p:style>
        </p:cxnSp>
        <p:sp>
          <p:nvSpPr>
            <p:cNvPr id="47" name="右大括号 46"/>
            <p:cNvSpPr/>
            <p:nvPr/>
          </p:nvSpPr>
          <p:spPr>
            <a:xfrm rot="16200000">
              <a:off x="5086092" y="3205042"/>
              <a:ext cx="478951" cy="993277"/>
            </a:xfrm>
            <a:prstGeom prst="rightBrace">
              <a:avLst>
                <a:gd name="adj1" fmla="val 8333"/>
                <a:gd name="adj2" fmla="val 49521"/>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sz="1800"/>
            </a:p>
          </p:txBody>
        </p:sp>
        <p:cxnSp>
          <p:nvCxnSpPr>
            <p:cNvPr id="48" name="直接连接符 47"/>
            <p:cNvCxnSpPr>
              <a:stCxn id="36" idx="0"/>
              <a:endCxn id="47" idx="0"/>
            </p:cNvCxnSpPr>
            <p:nvPr/>
          </p:nvCxnSpPr>
          <p:spPr>
            <a:xfrm flipV="1">
              <a:off x="4811167" y="3941156"/>
              <a:ext cx="17762" cy="1625498"/>
            </a:xfrm>
            <a:prstGeom prst="line">
              <a:avLst/>
            </a:prstGeom>
          </p:spPr>
          <p:style>
            <a:lnRef idx="2">
              <a:schemeClr val="accent4"/>
            </a:lnRef>
            <a:fillRef idx="0">
              <a:schemeClr val="accent4"/>
            </a:fillRef>
            <a:effectRef idx="1">
              <a:schemeClr val="accent4"/>
            </a:effectRef>
            <a:fontRef idx="minor">
              <a:schemeClr val="tx1"/>
            </a:fontRef>
          </p:style>
        </p:cxnSp>
        <p:cxnSp>
          <p:nvCxnSpPr>
            <p:cNvPr id="49" name="连接符: 肘形 48"/>
            <p:cNvCxnSpPr>
              <a:stCxn id="44" idx="0"/>
              <a:endCxn id="39" idx="2"/>
            </p:cNvCxnSpPr>
            <p:nvPr/>
          </p:nvCxnSpPr>
          <p:spPr>
            <a:xfrm rot="5400000" flipH="1" flipV="1">
              <a:off x="3505823" y="3013810"/>
              <a:ext cx="1717667" cy="1157926"/>
            </a:xfrm>
            <a:prstGeom prst="bentConnector3">
              <a:avLst>
                <a:gd name="adj1" fmla="val 91352"/>
              </a:avLst>
            </a:prstGeom>
          </p:spPr>
          <p:style>
            <a:lnRef idx="2">
              <a:schemeClr val="accent4"/>
            </a:lnRef>
            <a:fillRef idx="0">
              <a:schemeClr val="accent4"/>
            </a:fillRef>
            <a:effectRef idx="1">
              <a:schemeClr val="accent4"/>
            </a:effectRef>
            <a:fontRef idx="minor">
              <a:schemeClr val="tx1"/>
            </a:fontRef>
          </p:style>
        </p:cxnSp>
        <p:cxnSp>
          <p:nvCxnSpPr>
            <p:cNvPr id="50" name="直接连接符 49"/>
            <p:cNvCxnSpPr/>
            <p:nvPr/>
          </p:nvCxnSpPr>
          <p:spPr>
            <a:xfrm flipV="1">
              <a:off x="5319724" y="2873433"/>
              <a:ext cx="2921" cy="159562"/>
            </a:xfrm>
            <a:prstGeom prst="line">
              <a:avLst/>
            </a:prstGeom>
          </p:spPr>
          <p:style>
            <a:lnRef idx="2">
              <a:schemeClr val="accent4"/>
            </a:lnRef>
            <a:fillRef idx="0">
              <a:schemeClr val="accent4"/>
            </a:fillRef>
            <a:effectRef idx="1">
              <a:schemeClr val="accent4"/>
            </a:effectRef>
            <a:fontRef idx="minor">
              <a:schemeClr val="tx1"/>
            </a:fontRef>
          </p:style>
        </p:cxnSp>
        <p:cxnSp>
          <p:nvCxnSpPr>
            <p:cNvPr id="51" name="直接箭头连接符 50"/>
            <p:cNvCxnSpPr/>
            <p:nvPr/>
          </p:nvCxnSpPr>
          <p:spPr>
            <a:xfrm>
              <a:off x="3028551" y="2276872"/>
              <a:ext cx="20285" cy="379658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52" name="文本框 51"/>
            <p:cNvSpPr txBox="1"/>
            <p:nvPr/>
          </p:nvSpPr>
          <p:spPr>
            <a:xfrm>
              <a:off x="2193021" y="5591356"/>
              <a:ext cx="912186" cy="369332"/>
            </a:xfrm>
            <a:prstGeom prst="rect">
              <a:avLst/>
            </a:prstGeom>
            <a:noFill/>
          </p:spPr>
          <p:txBody>
            <a:bodyPr wrap="square" rtlCol="0">
              <a:spAutoFit/>
            </a:bodyPr>
            <a:lstStyle/>
            <a:p>
              <a:r>
                <a:rPr lang="en-US" altLang="zh-CN" sz="1800" dirty="0"/>
                <a:t>Step4</a:t>
              </a:r>
              <a:endParaRPr lang="zh-CN" altLang="en-US" sz="1800" dirty="0"/>
            </a:p>
          </p:txBody>
        </p:sp>
        <p:cxnSp>
          <p:nvCxnSpPr>
            <p:cNvPr id="53" name="直接连接符 52"/>
            <p:cNvCxnSpPr/>
            <p:nvPr/>
          </p:nvCxnSpPr>
          <p:spPr>
            <a:xfrm flipH="1">
              <a:off x="4943619" y="2882652"/>
              <a:ext cx="387531" cy="0"/>
            </a:xfrm>
            <a:prstGeom prst="line">
              <a:avLst/>
            </a:prstGeom>
          </p:spPr>
          <p:style>
            <a:lnRef idx="2">
              <a:schemeClr val="accent4"/>
            </a:lnRef>
            <a:fillRef idx="0">
              <a:schemeClr val="accent4"/>
            </a:fillRef>
            <a:effectRef idx="1">
              <a:schemeClr val="accent4"/>
            </a:effectRef>
            <a:fontRef idx="minor">
              <a:schemeClr val="tx1"/>
            </a:fontRef>
          </p:style>
        </p:cxnSp>
        <p:sp>
          <p:nvSpPr>
            <p:cNvPr id="54" name="文本框 53"/>
            <p:cNvSpPr txBox="1"/>
            <p:nvPr/>
          </p:nvSpPr>
          <p:spPr>
            <a:xfrm>
              <a:off x="2193021" y="2362226"/>
              <a:ext cx="912186" cy="369332"/>
            </a:xfrm>
            <a:prstGeom prst="rect">
              <a:avLst/>
            </a:prstGeom>
            <a:noFill/>
          </p:spPr>
          <p:txBody>
            <a:bodyPr wrap="square" rtlCol="0">
              <a:spAutoFit/>
            </a:bodyPr>
            <a:lstStyle/>
            <a:p>
              <a:r>
                <a:rPr lang="en-US" altLang="zh-CN" sz="1800" dirty="0"/>
                <a:t>Step0</a:t>
              </a:r>
              <a:endParaRPr lang="zh-CN" altLang="en-US" sz="1800" dirty="0"/>
            </a:p>
          </p:txBody>
        </p:sp>
        <p:sp>
          <p:nvSpPr>
            <p:cNvPr id="55" name="文本框 54"/>
            <p:cNvSpPr txBox="1"/>
            <p:nvPr/>
          </p:nvSpPr>
          <p:spPr>
            <a:xfrm>
              <a:off x="2185215" y="4522248"/>
              <a:ext cx="912186" cy="369332"/>
            </a:xfrm>
            <a:prstGeom prst="rect">
              <a:avLst/>
            </a:prstGeom>
            <a:noFill/>
          </p:spPr>
          <p:txBody>
            <a:bodyPr wrap="square" rtlCol="0">
              <a:spAutoFit/>
            </a:bodyPr>
            <a:lstStyle/>
            <a:p>
              <a:r>
                <a:rPr lang="en-US" altLang="zh-CN" sz="1800" dirty="0"/>
                <a:t>Step3</a:t>
              </a:r>
              <a:endParaRPr lang="zh-CN" altLang="en-US" sz="1800" dirty="0"/>
            </a:p>
          </p:txBody>
        </p:sp>
        <p:sp>
          <p:nvSpPr>
            <p:cNvPr id="56" name="文本框 55"/>
            <p:cNvSpPr txBox="1"/>
            <p:nvPr/>
          </p:nvSpPr>
          <p:spPr>
            <a:xfrm>
              <a:off x="2193021" y="3789439"/>
              <a:ext cx="912186" cy="369332"/>
            </a:xfrm>
            <a:prstGeom prst="rect">
              <a:avLst/>
            </a:prstGeom>
            <a:noFill/>
          </p:spPr>
          <p:txBody>
            <a:bodyPr wrap="square" rtlCol="0">
              <a:spAutoFit/>
            </a:bodyPr>
            <a:lstStyle/>
            <a:p>
              <a:r>
                <a:rPr lang="en-US" altLang="zh-CN" sz="1800" dirty="0"/>
                <a:t>Step2</a:t>
              </a:r>
              <a:endParaRPr lang="zh-CN" altLang="en-US" sz="1800" dirty="0"/>
            </a:p>
          </p:txBody>
        </p:sp>
        <p:sp>
          <p:nvSpPr>
            <p:cNvPr id="57" name="文本框 56"/>
            <p:cNvSpPr txBox="1"/>
            <p:nvPr/>
          </p:nvSpPr>
          <p:spPr>
            <a:xfrm>
              <a:off x="2193021" y="3114398"/>
              <a:ext cx="912186" cy="369332"/>
            </a:xfrm>
            <a:prstGeom prst="rect">
              <a:avLst/>
            </a:prstGeom>
            <a:noFill/>
          </p:spPr>
          <p:txBody>
            <a:bodyPr wrap="square" rtlCol="0">
              <a:spAutoFit/>
            </a:bodyPr>
            <a:lstStyle/>
            <a:p>
              <a:r>
                <a:rPr lang="en-US" altLang="zh-CN" sz="1800" dirty="0"/>
                <a:t>Step1</a:t>
              </a:r>
              <a:endParaRPr lang="zh-CN" altLang="en-US" sz="1800" dirty="0"/>
            </a:p>
          </p:txBody>
        </p:sp>
        <p:sp>
          <p:nvSpPr>
            <p:cNvPr id="58" name="文本框 57"/>
            <p:cNvSpPr txBox="1"/>
            <p:nvPr/>
          </p:nvSpPr>
          <p:spPr>
            <a:xfrm>
              <a:off x="3092420" y="2329568"/>
              <a:ext cx="440714" cy="1077218"/>
            </a:xfrm>
            <a:prstGeom prst="rect">
              <a:avLst/>
            </a:prstGeom>
            <a:noFill/>
          </p:spPr>
          <p:txBody>
            <a:bodyPr wrap="square" rtlCol="0">
              <a:spAutoFit/>
            </a:bodyPr>
            <a:lstStyle/>
            <a:p>
              <a:r>
                <a:rPr lang="zh-CN" altLang="en-US" sz="1600" b="1" dirty="0"/>
                <a:t>分裂聚类</a:t>
              </a:r>
              <a:endParaRPr lang="zh-CN" altLang="en-US" sz="1600" b="1" dirty="0"/>
            </a:p>
          </p:txBody>
        </p:sp>
        <p:sp>
          <p:nvSpPr>
            <p:cNvPr id="94" name="文本框 93"/>
            <p:cNvSpPr txBox="1"/>
            <p:nvPr/>
          </p:nvSpPr>
          <p:spPr>
            <a:xfrm>
              <a:off x="6118245" y="2329568"/>
              <a:ext cx="440714" cy="1077218"/>
            </a:xfrm>
            <a:prstGeom prst="rect">
              <a:avLst/>
            </a:prstGeom>
            <a:noFill/>
          </p:spPr>
          <p:txBody>
            <a:bodyPr wrap="square" rtlCol="0">
              <a:spAutoFit/>
            </a:bodyPr>
            <a:lstStyle/>
            <a:p>
              <a:r>
                <a:rPr lang="zh-CN" altLang="en-US" sz="1600" b="1" dirty="0"/>
                <a:t>聚合聚类</a:t>
              </a:r>
              <a:endParaRPr lang="zh-CN" altLang="en-US" sz="1600" b="1" dirty="0"/>
            </a:p>
          </p:txBody>
        </p:sp>
        <p:sp>
          <p:nvSpPr>
            <p:cNvPr id="100" name="文本框 99"/>
            <p:cNvSpPr txBox="1"/>
            <p:nvPr/>
          </p:nvSpPr>
          <p:spPr>
            <a:xfrm>
              <a:off x="6611494" y="5591356"/>
              <a:ext cx="912186" cy="369332"/>
            </a:xfrm>
            <a:prstGeom prst="rect">
              <a:avLst/>
            </a:prstGeom>
            <a:noFill/>
          </p:spPr>
          <p:txBody>
            <a:bodyPr wrap="square" rtlCol="0">
              <a:spAutoFit/>
            </a:bodyPr>
            <a:lstStyle/>
            <a:p>
              <a:r>
                <a:rPr lang="en-US" altLang="zh-CN" sz="1800" dirty="0"/>
                <a:t>Step0</a:t>
              </a:r>
              <a:endParaRPr lang="zh-CN" altLang="en-US" sz="1800" dirty="0"/>
            </a:p>
          </p:txBody>
        </p:sp>
        <p:sp>
          <p:nvSpPr>
            <p:cNvPr id="101" name="文本框 100"/>
            <p:cNvSpPr txBox="1"/>
            <p:nvPr/>
          </p:nvSpPr>
          <p:spPr>
            <a:xfrm>
              <a:off x="6611494" y="2362226"/>
              <a:ext cx="912186" cy="369332"/>
            </a:xfrm>
            <a:prstGeom prst="rect">
              <a:avLst/>
            </a:prstGeom>
            <a:noFill/>
          </p:spPr>
          <p:txBody>
            <a:bodyPr wrap="square" rtlCol="0">
              <a:spAutoFit/>
            </a:bodyPr>
            <a:lstStyle/>
            <a:p>
              <a:r>
                <a:rPr lang="en-US" altLang="zh-CN" sz="1800" dirty="0"/>
                <a:t>Step4</a:t>
              </a:r>
              <a:endParaRPr lang="zh-CN" altLang="en-US" sz="1800" dirty="0"/>
            </a:p>
          </p:txBody>
        </p:sp>
        <p:sp>
          <p:nvSpPr>
            <p:cNvPr id="102" name="文本框 101"/>
            <p:cNvSpPr txBox="1"/>
            <p:nvPr/>
          </p:nvSpPr>
          <p:spPr>
            <a:xfrm>
              <a:off x="6603688" y="4522248"/>
              <a:ext cx="912186" cy="369332"/>
            </a:xfrm>
            <a:prstGeom prst="rect">
              <a:avLst/>
            </a:prstGeom>
            <a:noFill/>
          </p:spPr>
          <p:txBody>
            <a:bodyPr wrap="square" rtlCol="0">
              <a:spAutoFit/>
            </a:bodyPr>
            <a:lstStyle/>
            <a:p>
              <a:r>
                <a:rPr lang="en-US" altLang="zh-CN" sz="1800" dirty="0"/>
                <a:t>Step1</a:t>
              </a:r>
              <a:endParaRPr lang="zh-CN" altLang="en-US" sz="1800" dirty="0"/>
            </a:p>
          </p:txBody>
        </p:sp>
        <p:sp>
          <p:nvSpPr>
            <p:cNvPr id="103" name="文本框 102"/>
            <p:cNvSpPr txBox="1"/>
            <p:nvPr/>
          </p:nvSpPr>
          <p:spPr>
            <a:xfrm>
              <a:off x="6611494" y="3789439"/>
              <a:ext cx="912186" cy="369332"/>
            </a:xfrm>
            <a:prstGeom prst="rect">
              <a:avLst/>
            </a:prstGeom>
            <a:noFill/>
          </p:spPr>
          <p:txBody>
            <a:bodyPr wrap="square" rtlCol="0">
              <a:spAutoFit/>
            </a:bodyPr>
            <a:lstStyle/>
            <a:p>
              <a:r>
                <a:rPr lang="en-US" altLang="zh-CN" sz="1800" dirty="0"/>
                <a:t>Step2</a:t>
              </a:r>
              <a:endParaRPr lang="zh-CN" altLang="en-US" sz="1800" dirty="0"/>
            </a:p>
          </p:txBody>
        </p:sp>
        <p:sp>
          <p:nvSpPr>
            <p:cNvPr id="104" name="文本框 103"/>
            <p:cNvSpPr txBox="1"/>
            <p:nvPr/>
          </p:nvSpPr>
          <p:spPr>
            <a:xfrm>
              <a:off x="6611494" y="3114398"/>
              <a:ext cx="912186" cy="369332"/>
            </a:xfrm>
            <a:prstGeom prst="rect">
              <a:avLst/>
            </a:prstGeom>
            <a:noFill/>
          </p:spPr>
          <p:txBody>
            <a:bodyPr wrap="square" rtlCol="0">
              <a:spAutoFit/>
            </a:bodyPr>
            <a:lstStyle/>
            <a:p>
              <a:r>
                <a:rPr lang="en-US" altLang="zh-CN" sz="1800" dirty="0"/>
                <a:t>Step3</a:t>
              </a:r>
              <a:endParaRPr lang="zh-CN" altLang="en-US" sz="1800" dirty="0"/>
            </a:p>
          </p:txBody>
        </p:sp>
        <p:cxnSp>
          <p:nvCxnSpPr>
            <p:cNvPr id="108" name="直接箭头连接符 107"/>
            <p:cNvCxnSpPr/>
            <p:nvPr/>
          </p:nvCxnSpPr>
          <p:spPr>
            <a:xfrm flipH="1" flipV="1">
              <a:off x="6595433" y="2321906"/>
              <a:ext cx="43691" cy="375155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2915" y="286604"/>
            <a:ext cx="7543800" cy="892239"/>
          </a:xfrm>
        </p:spPr>
        <p:txBody>
          <a:bodyPr/>
          <a:p>
            <a:r>
              <a:rPr lang="zh-CN" altLang="en-US" spc="-100" dirty="0">
                <a:solidFill>
                  <a:srgbClr val="D2533C"/>
                </a:solidFill>
                <a:latin typeface="Arial" panose="020B0604020202020204"/>
                <a:ea typeface="华文新魏" panose="02010800040101010101" pitchFamily="2" charset="-122"/>
                <a:sym typeface="+mn-ea"/>
              </a:rPr>
              <a:t>基于层次的聚类</a:t>
            </a:r>
            <a:r>
              <a:rPr lang="en-US" altLang="zh-CN" spc="-100" dirty="0">
                <a:solidFill>
                  <a:srgbClr val="D2533C"/>
                </a:solidFill>
                <a:latin typeface="Arial" panose="020B0604020202020204"/>
                <a:ea typeface="华文新魏" panose="02010800040101010101" pitchFamily="2" charset="-122"/>
                <a:sym typeface="+mn-ea"/>
              </a:rPr>
              <a:t>--</a:t>
            </a:r>
            <a:r>
              <a:rPr lang="zh-CN" altLang="en-US" spc="-100" dirty="0">
                <a:solidFill>
                  <a:srgbClr val="D2533C"/>
                </a:solidFill>
                <a:latin typeface="Arial" panose="020B0604020202020204"/>
                <a:ea typeface="华文新魏" panose="02010800040101010101" pitchFamily="2" charset="-122"/>
                <a:sym typeface="+mn-ea"/>
              </a:rPr>
              <a:t>聚合聚类</a:t>
            </a:r>
            <a:endParaRPr lang="en-US" altLang="zh-CN" spc="-100" dirty="0">
              <a:solidFill>
                <a:srgbClr val="D2533C"/>
              </a:solidFill>
              <a:latin typeface="Arial" panose="020B0604020202020204"/>
              <a:ea typeface="华文新魏" panose="02010800040101010101" pitchFamily="2" charset="-122"/>
              <a:sym typeface="+mn-ea"/>
            </a:endParaRPr>
          </a:p>
        </p:txBody>
      </p:sp>
      <p:sp>
        <p:nvSpPr>
          <p:cNvPr id="4" name="灯片编号占位符 3"/>
          <p:cNvSpPr>
            <a:spLocks noGrp="1"/>
          </p:cNvSpPr>
          <p:nvPr>
            <p:ph type="sldNum" sz="quarter" idx="10"/>
          </p:nvPr>
        </p:nvSpPr>
        <p:spPr>
          <a:xfrm>
            <a:off x="7064693" y="6459538"/>
            <a:ext cx="984250" cy="365125"/>
          </a:xfrm>
        </p:spPr>
        <p:txBody>
          <a:bodyPr/>
          <a:p>
            <a:pPr>
              <a:defRPr/>
            </a:pPr>
            <a:fld id="{F6DA434B-3FE0-453D-8E32-922B8A93A0FC}" type="slidenum">
              <a:rPr lang="en-US" altLang="zh-CN"/>
            </a:fld>
            <a:endParaRPr lang="en-US" altLang="zh-CN"/>
          </a:p>
        </p:txBody>
      </p:sp>
      <p:pic>
        <p:nvPicPr>
          <p:cNvPr id="23" name="内容占位符 4"/>
          <p:cNvPicPr>
            <a:picLocks noChangeAspect="1"/>
          </p:cNvPicPr>
          <p:nvPr/>
        </p:nvPicPr>
        <p:blipFill>
          <a:blip r:embed="rId1"/>
          <a:stretch>
            <a:fillRect/>
          </a:stretch>
        </p:blipFill>
        <p:spPr>
          <a:xfrm>
            <a:off x="683895" y="1484630"/>
            <a:ext cx="7437120" cy="2240280"/>
          </a:xfrm>
          <a:prstGeom prst="rect">
            <a:avLst/>
          </a:prstGeom>
          <a:noFill/>
          <a:ln>
            <a:noFill/>
          </a:ln>
        </p:spPr>
      </p:pic>
      <p:grpSp>
        <p:nvGrpSpPr>
          <p:cNvPr id="24" name="组合 23"/>
          <p:cNvGrpSpPr/>
          <p:nvPr/>
        </p:nvGrpSpPr>
        <p:grpSpPr>
          <a:xfrm>
            <a:off x="1188085" y="1556385"/>
            <a:ext cx="7024370" cy="2358390"/>
            <a:chOff x="9015" y="977"/>
            <a:chExt cx="11062" cy="3714"/>
          </a:xfrm>
        </p:grpSpPr>
        <p:grpSp>
          <p:nvGrpSpPr>
            <p:cNvPr id="25" name="组合 24"/>
            <p:cNvGrpSpPr/>
            <p:nvPr/>
          </p:nvGrpSpPr>
          <p:grpSpPr>
            <a:xfrm>
              <a:off x="9015" y="1091"/>
              <a:ext cx="11062" cy="3600"/>
              <a:chOff x="1871" y="4153"/>
              <a:chExt cx="11062" cy="3600"/>
            </a:xfrm>
          </p:grpSpPr>
          <p:pic>
            <p:nvPicPr>
              <p:cNvPr id="26" name="图片 25"/>
              <p:cNvPicPr>
                <a:picLocks noChangeAspect="1"/>
              </p:cNvPicPr>
              <p:nvPr/>
            </p:nvPicPr>
            <p:blipFill>
              <a:blip r:embed="rId2"/>
              <a:stretch>
                <a:fillRect/>
              </a:stretch>
            </p:blipFill>
            <p:spPr>
              <a:xfrm>
                <a:off x="6633" y="4153"/>
                <a:ext cx="6300" cy="3600"/>
              </a:xfrm>
              <a:prstGeom prst="rect">
                <a:avLst/>
              </a:prstGeom>
            </p:spPr>
          </p:pic>
          <p:pic>
            <p:nvPicPr>
              <p:cNvPr id="27" name="图片 26"/>
              <p:cNvPicPr>
                <a:picLocks noChangeAspect="1"/>
              </p:cNvPicPr>
              <p:nvPr/>
            </p:nvPicPr>
            <p:blipFill>
              <a:blip r:embed="rId3"/>
              <a:stretch>
                <a:fillRect/>
              </a:stretch>
            </p:blipFill>
            <p:spPr>
              <a:xfrm>
                <a:off x="1871" y="4379"/>
                <a:ext cx="3743" cy="2845"/>
              </a:xfrm>
              <a:prstGeom prst="rect">
                <a:avLst/>
              </a:prstGeom>
            </p:spPr>
          </p:pic>
        </p:grpSp>
        <p:pic>
          <p:nvPicPr>
            <p:cNvPr id="28" name="图片 27"/>
            <p:cNvPicPr>
              <a:picLocks noChangeAspect="1"/>
            </p:cNvPicPr>
            <p:nvPr/>
          </p:nvPicPr>
          <p:blipFill>
            <a:blip r:embed="rId4"/>
            <a:stretch>
              <a:fillRect/>
            </a:stretch>
          </p:blipFill>
          <p:spPr>
            <a:xfrm>
              <a:off x="13437" y="977"/>
              <a:ext cx="750" cy="1506"/>
            </a:xfrm>
            <a:prstGeom prst="rect">
              <a:avLst/>
            </a:prstGeom>
          </p:spPr>
        </p:pic>
      </p:grpSp>
      <p:pic>
        <p:nvPicPr>
          <p:cNvPr id="29" name="内容占位符 3"/>
          <p:cNvPicPr>
            <a:picLocks noChangeAspect="1"/>
          </p:cNvPicPr>
          <p:nvPr>
            <p:custDataLst>
              <p:tags r:id="rId5"/>
            </p:custDataLst>
          </p:nvPr>
        </p:nvPicPr>
        <p:blipFill>
          <a:blip r:embed="rId6"/>
          <a:stretch>
            <a:fillRect/>
          </a:stretch>
        </p:blipFill>
        <p:spPr>
          <a:xfrm>
            <a:off x="611505" y="1844675"/>
            <a:ext cx="2704465" cy="2118995"/>
          </a:xfrm>
          <a:prstGeom prst="rect">
            <a:avLst/>
          </a:prstGeom>
        </p:spPr>
      </p:pic>
      <p:grpSp>
        <p:nvGrpSpPr>
          <p:cNvPr id="30" name="组合 29"/>
          <p:cNvGrpSpPr/>
          <p:nvPr/>
        </p:nvGrpSpPr>
        <p:grpSpPr>
          <a:xfrm>
            <a:off x="3760470" y="1658620"/>
            <a:ext cx="4163695" cy="2327910"/>
            <a:chOff x="8839" y="3777"/>
            <a:chExt cx="6557" cy="3666"/>
          </a:xfrm>
        </p:grpSpPr>
        <p:pic>
          <p:nvPicPr>
            <p:cNvPr id="31" name="图片 30"/>
            <p:cNvPicPr>
              <a:picLocks noChangeAspect="1"/>
            </p:cNvPicPr>
            <p:nvPr/>
          </p:nvPicPr>
          <p:blipFill>
            <a:blip r:embed="rId7"/>
            <a:stretch>
              <a:fillRect/>
            </a:stretch>
          </p:blipFill>
          <p:spPr>
            <a:xfrm>
              <a:off x="9096" y="3843"/>
              <a:ext cx="6300" cy="3600"/>
            </a:xfrm>
            <a:prstGeom prst="rect">
              <a:avLst/>
            </a:prstGeom>
          </p:spPr>
        </p:pic>
        <p:pic>
          <p:nvPicPr>
            <p:cNvPr id="32" name="图片 31"/>
            <p:cNvPicPr>
              <a:picLocks noChangeAspect="1"/>
            </p:cNvPicPr>
            <p:nvPr/>
          </p:nvPicPr>
          <p:blipFill>
            <a:blip r:embed="rId8"/>
            <a:stretch>
              <a:fillRect/>
            </a:stretch>
          </p:blipFill>
          <p:spPr>
            <a:xfrm>
              <a:off x="8839" y="3777"/>
              <a:ext cx="636" cy="1555"/>
            </a:xfrm>
            <a:prstGeom prst="rect">
              <a:avLst/>
            </a:prstGeom>
          </p:spPr>
        </p:pic>
      </p:grpSp>
      <p:pic>
        <p:nvPicPr>
          <p:cNvPr id="33" name="内容占位符 19"/>
          <p:cNvPicPr>
            <a:picLocks noChangeAspect="1"/>
          </p:cNvPicPr>
          <p:nvPr>
            <p:custDataLst>
              <p:tags r:id="rId9"/>
            </p:custDataLst>
          </p:nvPr>
        </p:nvPicPr>
        <p:blipFill>
          <a:blip r:embed="rId10"/>
          <a:stretch>
            <a:fillRect/>
          </a:stretch>
        </p:blipFill>
        <p:spPr>
          <a:xfrm>
            <a:off x="971550" y="1772285"/>
            <a:ext cx="7475220" cy="2743200"/>
          </a:xfrm>
          <a:prstGeom prst="rect">
            <a:avLst/>
          </a:prstGeom>
        </p:spPr>
      </p:pic>
      <p:pic>
        <p:nvPicPr>
          <p:cNvPr id="37" name="内容占位符 20"/>
          <p:cNvPicPr>
            <a:picLocks noChangeAspect="1"/>
          </p:cNvPicPr>
          <p:nvPr>
            <p:custDataLst>
              <p:tags r:id="rId11"/>
            </p:custDataLst>
          </p:nvPr>
        </p:nvPicPr>
        <p:blipFill>
          <a:blip r:embed="rId12"/>
          <a:stretch>
            <a:fillRect/>
          </a:stretch>
        </p:blipFill>
        <p:spPr>
          <a:xfrm>
            <a:off x="755650" y="1700530"/>
            <a:ext cx="7543800" cy="2697480"/>
          </a:xfrm>
          <a:prstGeom prst="rect">
            <a:avLst/>
          </a:prstGeom>
        </p:spPr>
      </p:pic>
      <p:pic>
        <p:nvPicPr>
          <p:cNvPr id="41" name="内容占位符 40"/>
          <p:cNvPicPr>
            <a:picLocks noChangeAspect="1"/>
          </p:cNvPicPr>
          <p:nvPr>
            <p:ph idx="1"/>
          </p:nvPr>
        </p:nvPicPr>
        <p:blipFill>
          <a:blip r:embed="rId13"/>
          <a:stretch>
            <a:fillRect/>
          </a:stretch>
        </p:blipFill>
        <p:spPr>
          <a:xfrm>
            <a:off x="611505" y="2348865"/>
            <a:ext cx="7543800" cy="2774950"/>
          </a:xfrm>
          <a:prstGeom prst="rect">
            <a:avLst/>
          </a:prstGeom>
        </p:spPr>
      </p:pic>
      <p:pic>
        <p:nvPicPr>
          <p:cNvPr id="40" name="内容占位符 37"/>
          <p:cNvPicPr>
            <a:picLocks noChangeAspect="1"/>
          </p:cNvPicPr>
          <p:nvPr/>
        </p:nvPicPr>
        <p:blipFill>
          <a:blip r:embed="rId14"/>
          <a:stretch>
            <a:fillRect/>
          </a:stretch>
        </p:blipFill>
        <p:spPr>
          <a:xfrm>
            <a:off x="755650" y="2132330"/>
            <a:ext cx="7543800" cy="2691765"/>
          </a:xfrm>
          <a:prstGeom prst="rect">
            <a:avLst/>
          </a:prstGeom>
          <a:noFill/>
          <a:ln>
            <a:noFill/>
          </a:ln>
        </p:spPr>
      </p:pic>
      <p:pic>
        <p:nvPicPr>
          <p:cNvPr id="42" name="图片 41"/>
          <p:cNvPicPr>
            <a:picLocks noChangeAspect="1"/>
          </p:cNvPicPr>
          <p:nvPr/>
        </p:nvPicPr>
        <p:blipFill>
          <a:blip r:embed="rId15"/>
          <a:stretch>
            <a:fillRect/>
          </a:stretch>
        </p:blipFill>
        <p:spPr>
          <a:xfrm>
            <a:off x="742950" y="2103120"/>
            <a:ext cx="7658100" cy="2651760"/>
          </a:xfrm>
          <a:prstGeom prst="rect">
            <a:avLst/>
          </a:prstGeom>
        </p:spPr>
      </p:pic>
      <p:pic>
        <p:nvPicPr>
          <p:cNvPr id="43" name="图片 42"/>
          <p:cNvPicPr>
            <a:picLocks noChangeAspect="1"/>
          </p:cNvPicPr>
          <p:nvPr/>
        </p:nvPicPr>
        <p:blipFill>
          <a:blip r:embed="rId16"/>
          <a:stretch>
            <a:fillRect/>
          </a:stretch>
        </p:blipFill>
        <p:spPr>
          <a:xfrm>
            <a:off x="800100" y="2076450"/>
            <a:ext cx="7543800" cy="2705100"/>
          </a:xfrm>
          <a:prstGeom prst="rect">
            <a:avLst/>
          </a:prstGeom>
        </p:spPr>
      </p:pic>
      <p:pic>
        <p:nvPicPr>
          <p:cNvPr id="44" name="图片 43"/>
          <p:cNvPicPr>
            <a:picLocks noChangeAspect="1"/>
          </p:cNvPicPr>
          <p:nvPr/>
        </p:nvPicPr>
        <p:blipFill>
          <a:blip r:embed="rId17"/>
          <a:stretch>
            <a:fillRect/>
          </a:stretch>
        </p:blipFill>
        <p:spPr>
          <a:xfrm>
            <a:off x="853440" y="2000250"/>
            <a:ext cx="7437120" cy="2857500"/>
          </a:xfrm>
          <a:prstGeom prst="rect">
            <a:avLst/>
          </a:prstGeom>
        </p:spPr>
      </p:pic>
      <p:pic>
        <p:nvPicPr>
          <p:cNvPr id="45" name="图片 44"/>
          <p:cNvPicPr>
            <a:picLocks noChangeAspect="1"/>
          </p:cNvPicPr>
          <p:nvPr/>
        </p:nvPicPr>
        <p:blipFill>
          <a:blip r:embed="rId18"/>
          <a:stretch>
            <a:fillRect/>
          </a:stretch>
        </p:blipFill>
        <p:spPr>
          <a:xfrm>
            <a:off x="918210" y="2042160"/>
            <a:ext cx="7307580" cy="27736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23"/>
                                        </p:tgtEl>
                                      </p:cBhvr>
                                    </p:animEffect>
                                    <p:set>
                                      <p:cBhvr>
                                        <p:cTn id="11" dur="1" fill="hold">
                                          <p:stCondLst>
                                            <p:cond delay="499"/>
                                          </p:stCondLst>
                                        </p:cTn>
                                        <p:tgtEl>
                                          <p:spTgt spid="23"/>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nodeType="clickEffect">
                                  <p:stCondLst>
                                    <p:cond delay="0"/>
                                  </p:stCondLst>
                                  <p:childTnLst>
                                    <p:animEffect transition="out" filter="blinds(horizontal)">
                                      <p:cBhvr>
                                        <p:cTn id="18" dur="500"/>
                                        <p:tgtEl>
                                          <p:spTgt spid="24"/>
                                        </p:tgtEl>
                                      </p:cBhvr>
                                    </p:animEffect>
                                    <p:set>
                                      <p:cBhvr>
                                        <p:cTn id="19" dur="1" fill="hold">
                                          <p:stCondLst>
                                            <p:cond delay="499"/>
                                          </p:stCondLst>
                                        </p:cTn>
                                        <p:tgtEl>
                                          <p:spTgt spid="2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29"/>
                                        </p:tgtEl>
                                      </p:cBhvr>
                                    </p:animEffect>
                                    <p:set>
                                      <p:cBhvr>
                                        <p:cTn id="30" dur="1" fill="hold">
                                          <p:stCondLst>
                                            <p:cond delay="499"/>
                                          </p:stCondLst>
                                        </p:cTn>
                                        <p:tgtEl>
                                          <p:spTgt spid="29"/>
                                        </p:tgtEl>
                                        <p:attrNameLst>
                                          <p:attrName>style.visibility</p:attrName>
                                        </p:attrNameLst>
                                      </p:cBhvr>
                                      <p:to>
                                        <p:strVal val="hidden"/>
                                      </p:to>
                                    </p:set>
                                  </p:childTnLst>
                                </p:cTn>
                              </p:par>
                              <p:par>
                                <p:cTn id="31" presetID="3" presetClass="exit" presetSubtype="10" fill="hold" nodeType="withEffect">
                                  <p:stCondLst>
                                    <p:cond delay="0"/>
                                  </p:stCondLst>
                                  <p:childTnLst>
                                    <p:animEffect transition="out" filter="blinds(horizontal)">
                                      <p:cBhvr>
                                        <p:cTn id="32" dur="500"/>
                                        <p:tgtEl>
                                          <p:spTgt spid="30"/>
                                        </p:tgtEl>
                                      </p:cBhvr>
                                    </p:animEffect>
                                    <p:set>
                                      <p:cBhvr>
                                        <p:cTn id="33" dur="1" fill="hold">
                                          <p:stCondLst>
                                            <p:cond delay="499"/>
                                          </p:stCondLst>
                                        </p:cTn>
                                        <p:tgtEl>
                                          <p:spTgt spid="30"/>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nodeType="clickEffect">
                                  <p:stCondLst>
                                    <p:cond delay="0"/>
                                  </p:stCondLst>
                                  <p:childTnLst>
                                    <p:animEffect transition="out" filter="blinds(horizontal)">
                                      <p:cBhvr>
                                        <p:cTn id="41" dur="500"/>
                                        <p:tgtEl>
                                          <p:spTgt spid="33"/>
                                        </p:tgtEl>
                                      </p:cBhvr>
                                    </p:animEffect>
                                    <p:set>
                                      <p:cBhvr>
                                        <p:cTn id="42" dur="1" fill="hold">
                                          <p:stCondLst>
                                            <p:cond delay="499"/>
                                          </p:stCondLst>
                                        </p:cTn>
                                        <p:tgtEl>
                                          <p:spTgt spid="3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3" presetClass="exit" presetSubtype="10" fill="hold" nodeType="clickEffect">
                                  <p:stCondLst>
                                    <p:cond delay="0"/>
                                  </p:stCondLst>
                                  <p:childTnLst>
                                    <p:animEffect transition="out" filter="blinds(horizontal)">
                                      <p:cBhvr>
                                        <p:cTn id="50" dur="500"/>
                                        <p:tgtEl>
                                          <p:spTgt spid="37"/>
                                        </p:tgtEl>
                                      </p:cBhvr>
                                    </p:animEffect>
                                    <p:set>
                                      <p:cBhvr>
                                        <p:cTn id="51" dur="1" fill="hold">
                                          <p:stCondLst>
                                            <p:cond delay="499"/>
                                          </p:stCondLst>
                                        </p:cTn>
                                        <p:tgtEl>
                                          <p:spTgt spid="37"/>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3" presetClass="exit" presetSubtype="10" fill="hold" nodeType="clickEffect">
                                  <p:stCondLst>
                                    <p:cond delay="0"/>
                                  </p:stCondLst>
                                  <p:childTnLst>
                                    <p:animEffect transition="out" filter="blinds(horizontal)">
                                      <p:cBhvr>
                                        <p:cTn id="59" dur="500"/>
                                        <p:tgtEl>
                                          <p:spTgt spid="40"/>
                                        </p:tgtEl>
                                      </p:cBhvr>
                                    </p:animEffect>
                                    <p:set>
                                      <p:cBhvr>
                                        <p:cTn id="60" dur="1" fill="hold">
                                          <p:stCondLst>
                                            <p:cond delay="499"/>
                                          </p:stCondLst>
                                        </p:cTn>
                                        <p:tgtEl>
                                          <p:spTgt spid="4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3" presetClass="exit" presetSubtype="10" fill="hold" nodeType="clickEffect">
                                  <p:stCondLst>
                                    <p:cond delay="0"/>
                                  </p:stCondLst>
                                  <p:childTnLst>
                                    <p:animEffect transition="out" filter="blinds(horizontal)">
                                      <p:cBhvr>
                                        <p:cTn id="68" dur="500"/>
                                        <p:tgtEl>
                                          <p:spTgt spid="41"/>
                                        </p:tgtEl>
                                      </p:cBhvr>
                                    </p:animEffect>
                                    <p:set>
                                      <p:cBhvr>
                                        <p:cTn id="69" dur="1" fill="hold">
                                          <p:stCondLst>
                                            <p:cond delay="499"/>
                                          </p:stCondLst>
                                        </p:cTn>
                                        <p:tgtEl>
                                          <p:spTgt spid="4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3" presetClass="exit" presetSubtype="10" fill="hold" nodeType="clickEffect">
                                  <p:stCondLst>
                                    <p:cond delay="0"/>
                                  </p:stCondLst>
                                  <p:childTnLst>
                                    <p:animEffect transition="out" filter="blinds(horizontal)">
                                      <p:cBhvr>
                                        <p:cTn id="77" dur="500"/>
                                        <p:tgtEl>
                                          <p:spTgt spid="42"/>
                                        </p:tgtEl>
                                      </p:cBhvr>
                                    </p:animEffect>
                                    <p:set>
                                      <p:cBhvr>
                                        <p:cTn id="78" dur="1" fill="hold">
                                          <p:stCondLst>
                                            <p:cond delay="499"/>
                                          </p:stCondLst>
                                        </p:cTn>
                                        <p:tgtEl>
                                          <p:spTgt spid="4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 presetClass="exit" presetSubtype="10" fill="hold" nodeType="clickEffect">
                                  <p:stCondLst>
                                    <p:cond delay="0"/>
                                  </p:stCondLst>
                                  <p:childTnLst>
                                    <p:animEffect transition="out" filter="blinds(horizontal)">
                                      <p:cBhvr>
                                        <p:cTn id="86" dur="500"/>
                                        <p:tgtEl>
                                          <p:spTgt spid="43"/>
                                        </p:tgtEl>
                                      </p:cBhvr>
                                    </p:animEffect>
                                    <p:set>
                                      <p:cBhvr>
                                        <p:cTn id="87" dur="1" fill="hold">
                                          <p:stCondLst>
                                            <p:cond delay="499"/>
                                          </p:stCondLst>
                                        </p:cTn>
                                        <p:tgtEl>
                                          <p:spTgt spid="43"/>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4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3" presetClass="exit" presetSubtype="10" fill="hold" nodeType="clickEffect">
                                  <p:stCondLst>
                                    <p:cond delay="0"/>
                                  </p:stCondLst>
                                  <p:childTnLst>
                                    <p:animEffect transition="out" filter="blinds(horizontal)">
                                      <p:cBhvr>
                                        <p:cTn id="95" dur="500"/>
                                        <p:tgtEl>
                                          <p:spTgt spid="44"/>
                                        </p:tgtEl>
                                      </p:cBhvr>
                                    </p:animEffect>
                                    <p:set>
                                      <p:cBhvr>
                                        <p:cTn id="96" dur="1" fill="hold">
                                          <p:stCondLst>
                                            <p:cond delay="499"/>
                                          </p:stCondLst>
                                        </p:cTn>
                                        <p:tgtEl>
                                          <p:spTgt spid="44"/>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3" presetClass="exit" presetSubtype="10" fill="hold" nodeType="clickEffect">
                                  <p:stCondLst>
                                    <p:cond delay="0"/>
                                  </p:stCondLst>
                                  <p:childTnLst>
                                    <p:animEffect transition="out" filter="blinds(horizontal)">
                                      <p:cBhvr>
                                        <p:cTn id="104" dur="500"/>
                                        <p:tgtEl>
                                          <p:spTgt spid="45"/>
                                        </p:tgtEl>
                                      </p:cBhvr>
                                    </p:animEffect>
                                    <p:set>
                                      <p:cBhvr>
                                        <p:cTn id="105"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聚类分析概述</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基于划分的聚类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latin typeface="Arial" panose="020B0604020202020204"/>
                <a:ea typeface="宋体" panose="02010600030101010101" pitchFamily="2" charset="-122"/>
              </a:rPr>
              <a:t>基于层次的聚类</a:t>
            </a:r>
            <a:endParaRPr kumimoji="0" lang="en-US" altLang="zh-CN" kern="100"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kern="100" dirty="0">
                <a:solidFill>
                  <a:srgbClr val="C00000"/>
                </a:solidFill>
                <a:latin typeface="Arial" panose="020B0604020202020204"/>
                <a:ea typeface="宋体" panose="02010600030101010101" pitchFamily="2" charset="-122"/>
              </a:rPr>
              <a:t>基于密度的聚类</a:t>
            </a:r>
            <a:endParaRPr kumimoji="0" lang="en-US" altLang="zh-CN" kern="100" dirty="0">
              <a:solidFill>
                <a:srgbClr val="C00000"/>
              </a:solidFill>
              <a:latin typeface="Arial" panose="020B0604020202020204"/>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基于密度的聚类</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758602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基于划分聚类和基于层次聚类的方法在聚类过程中根据距离来划分类簇，因此只能够用于挖掘</a:t>
            </a:r>
            <a:r>
              <a:rPr lang="zh-CN" altLang="en-US" sz="2000" b="1" dirty="0">
                <a:solidFill>
                  <a:srgbClr val="FF0000"/>
                </a:solidFill>
              </a:rPr>
              <a:t>球状簇，即假定球形聚类</a:t>
            </a:r>
            <a:r>
              <a:rPr lang="zh-CN" altLang="en-US" sz="2000" dirty="0">
                <a:solidFill>
                  <a:srgbClr val="000000"/>
                </a:solidFill>
              </a:rPr>
              <a:t>。</a:t>
            </a:r>
            <a:endParaRPr lang="en-US" altLang="zh-CN" sz="2000" dirty="0">
              <a:solidFill>
                <a:srgbClr val="000000"/>
              </a:solidFill>
            </a:endParaRPr>
          </a:p>
        </p:txBody>
      </p:sp>
      <p:pic>
        <p:nvPicPr>
          <p:cNvPr id="3" name="图片 2"/>
          <p:cNvPicPr>
            <a:picLocks noChangeAspect="1"/>
          </p:cNvPicPr>
          <p:nvPr/>
        </p:nvPicPr>
        <p:blipFill>
          <a:blip r:embed="rId1"/>
          <a:stretch>
            <a:fillRect/>
          </a:stretch>
        </p:blipFill>
        <p:spPr>
          <a:xfrm>
            <a:off x="1259205" y="1988820"/>
            <a:ext cx="2505075" cy="3067050"/>
          </a:xfrm>
          <a:prstGeom prst="rect">
            <a:avLst/>
          </a:prstGeom>
        </p:spPr>
      </p:pic>
      <p:pic>
        <p:nvPicPr>
          <p:cNvPr id="5" name="图片 4"/>
          <p:cNvPicPr>
            <a:picLocks noChangeAspect="1"/>
          </p:cNvPicPr>
          <p:nvPr/>
        </p:nvPicPr>
        <p:blipFill>
          <a:blip r:embed="rId2"/>
          <a:stretch>
            <a:fillRect/>
          </a:stretch>
        </p:blipFill>
        <p:spPr>
          <a:xfrm>
            <a:off x="4283710" y="1933575"/>
            <a:ext cx="3200400" cy="3333750"/>
          </a:xfrm>
          <a:prstGeom prst="rect">
            <a:avLst/>
          </a:prstGeom>
        </p:spPr>
      </p:pic>
      <p:grpSp>
        <p:nvGrpSpPr>
          <p:cNvPr id="8" name="组合 7"/>
          <p:cNvGrpSpPr/>
          <p:nvPr/>
        </p:nvGrpSpPr>
        <p:grpSpPr>
          <a:xfrm>
            <a:off x="1043305" y="2277110"/>
            <a:ext cx="6551930" cy="2724150"/>
            <a:chOff x="1530" y="3586"/>
            <a:chExt cx="10318" cy="4290"/>
          </a:xfrm>
        </p:grpSpPr>
        <p:pic>
          <p:nvPicPr>
            <p:cNvPr id="6" name="图片 5"/>
            <p:cNvPicPr>
              <a:picLocks noChangeAspect="1"/>
            </p:cNvPicPr>
            <p:nvPr/>
          </p:nvPicPr>
          <p:blipFill>
            <a:blip r:embed="rId3"/>
            <a:srcRect l="6651" r="14457"/>
            <a:stretch>
              <a:fillRect/>
            </a:stretch>
          </p:blipFill>
          <p:spPr>
            <a:xfrm>
              <a:off x="1530" y="3586"/>
              <a:ext cx="10319" cy="4290"/>
            </a:xfrm>
            <a:prstGeom prst="rect">
              <a:avLst/>
            </a:prstGeom>
          </p:spPr>
        </p:pic>
        <p:pic>
          <p:nvPicPr>
            <p:cNvPr id="7" name="图片 6"/>
            <p:cNvPicPr>
              <a:picLocks noChangeAspect="1"/>
            </p:cNvPicPr>
            <p:nvPr/>
          </p:nvPicPr>
          <p:blipFill>
            <a:blip r:embed="rId4"/>
            <a:stretch>
              <a:fillRect/>
            </a:stretch>
          </p:blipFill>
          <p:spPr>
            <a:xfrm>
              <a:off x="7427" y="6421"/>
              <a:ext cx="1815" cy="705"/>
            </a:xfrm>
            <a:prstGeom prst="rect">
              <a:avLst/>
            </a:prstGeom>
          </p:spPr>
        </p:pic>
      </p:grpSp>
      <p:pic>
        <p:nvPicPr>
          <p:cNvPr id="9" name="图片 8"/>
          <p:cNvPicPr>
            <a:picLocks noChangeAspect="1"/>
          </p:cNvPicPr>
          <p:nvPr/>
        </p:nvPicPr>
        <p:blipFill>
          <a:blip r:embed="rId5"/>
          <a:stretch>
            <a:fillRect/>
          </a:stretch>
        </p:blipFill>
        <p:spPr>
          <a:xfrm>
            <a:off x="1115695" y="1933575"/>
            <a:ext cx="6743700" cy="3619500"/>
          </a:xfrm>
          <a:prstGeom prst="rect">
            <a:avLst/>
          </a:prstGeom>
        </p:spPr>
      </p:pic>
      <p:pic>
        <p:nvPicPr>
          <p:cNvPr id="10" name="图片 9"/>
          <p:cNvPicPr>
            <a:picLocks noChangeAspect="1"/>
          </p:cNvPicPr>
          <p:nvPr/>
        </p:nvPicPr>
        <p:blipFill>
          <a:blip r:embed="rId6"/>
          <a:stretch>
            <a:fillRect/>
          </a:stretch>
        </p:blipFill>
        <p:spPr>
          <a:xfrm>
            <a:off x="755650" y="2061210"/>
            <a:ext cx="7267575" cy="3533775"/>
          </a:xfrm>
          <a:prstGeom prst="rect">
            <a:avLst/>
          </a:prstGeom>
        </p:spPr>
      </p:pic>
      <p:pic>
        <p:nvPicPr>
          <p:cNvPr id="11" name="图片 10"/>
          <p:cNvPicPr>
            <a:picLocks noChangeAspect="1"/>
          </p:cNvPicPr>
          <p:nvPr/>
        </p:nvPicPr>
        <p:blipFill>
          <a:blip r:embed="rId7"/>
          <a:stretch>
            <a:fillRect/>
          </a:stretch>
        </p:blipFill>
        <p:spPr>
          <a:xfrm>
            <a:off x="755650" y="1988820"/>
            <a:ext cx="7115175" cy="4000500"/>
          </a:xfrm>
          <a:prstGeom prst="rect">
            <a:avLst/>
          </a:prstGeom>
        </p:spPr>
      </p:pic>
      <p:pic>
        <p:nvPicPr>
          <p:cNvPr id="13" name="图片 12"/>
          <p:cNvPicPr>
            <a:picLocks noChangeAspect="1"/>
          </p:cNvPicPr>
          <p:nvPr/>
        </p:nvPicPr>
        <p:blipFill>
          <a:blip r:embed="rId8"/>
          <a:stretch>
            <a:fillRect/>
          </a:stretch>
        </p:blipFill>
        <p:spPr>
          <a:xfrm>
            <a:off x="4499610" y="2132965"/>
            <a:ext cx="3717290" cy="3689985"/>
          </a:xfrm>
          <a:prstGeom prst="rect">
            <a:avLst/>
          </a:prstGeom>
        </p:spPr>
      </p:pic>
      <p:pic>
        <p:nvPicPr>
          <p:cNvPr id="14" name="图片 13"/>
          <p:cNvPicPr>
            <a:picLocks noChangeAspect="1"/>
          </p:cNvPicPr>
          <p:nvPr/>
        </p:nvPicPr>
        <p:blipFill>
          <a:blip r:embed="rId9"/>
          <a:stretch>
            <a:fillRect/>
          </a:stretch>
        </p:blipFill>
        <p:spPr>
          <a:xfrm>
            <a:off x="840105" y="2870835"/>
            <a:ext cx="3443605" cy="2130425"/>
          </a:xfrm>
          <a:prstGeom prst="rect">
            <a:avLst/>
          </a:prstGeom>
        </p:spPr>
      </p:pic>
      <p:pic>
        <p:nvPicPr>
          <p:cNvPr id="12" name="图片 11"/>
          <p:cNvPicPr>
            <a:picLocks noChangeAspect="1"/>
          </p:cNvPicPr>
          <p:nvPr/>
        </p:nvPicPr>
        <p:blipFill>
          <a:blip r:embed="rId10"/>
          <a:srcRect l="1569" r="3924"/>
          <a:stretch>
            <a:fillRect/>
          </a:stretch>
        </p:blipFill>
        <p:spPr>
          <a:xfrm>
            <a:off x="1187450" y="2493010"/>
            <a:ext cx="6141085" cy="2621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500"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par>
                                <p:cTn id="18" presetID="3" presetClass="exit" presetSubtype="10" fill="hold" nodeType="withEffect">
                                  <p:stCondLst>
                                    <p:cond delay="0"/>
                                  </p:stCondLst>
                                  <p:childTnLst>
                                    <p:animEffect transition="out" filter="blinds(horizontal)">
                                      <p:cBhvr>
                                        <p:cTn id="19" dur="500"/>
                                        <p:tgtEl>
                                          <p:spTgt spid="5"/>
                                        </p:tgtEl>
                                      </p:cBhvr>
                                    </p:animEffect>
                                    <p:set>
                                      <p:cBhvr>
                                        <p:cTn id="20" dur="1" fill="hold">
                                          <p:stCondLst>
                                            <p:cond delay="499"/>
                                          </p:stCondLst>
                                        </p:cTn>
                                        <p:tgtEl>
                                          <p:spTgt spid="5"/>
                                        </p:tgtEl>
                                        <p:attrNameLst>
                                          <p:attrName>style.visibility</p:attrName>
                                        </p:attrNameLst>
                                      </p:cBhvr>
                                      <p:to>
                                        <p:strVal val="hidden"/>
                                      </p:to>
                                    </p:set>
                                  </p:childTnLst>
                                </p:cTn>
                              </p:par>
                            </p:childTnLst>
                          </p:cTn>
                        </p:par>
                        <p:par>
                          <p:cTn id="21" fill="hold">
                            <p:stCondLst>
                              <p:cond delay="500"/>
                            </p:stCondLst>
                            <p:childTnLst>
                              <p:par>
                                <p:cTn id="22" presetID="4" presetClass="entr" presetSubtype="16" fill="hold" nodeType="afterEffect">
                                  <p:stCondLst>
                                    <p:cond delay="0"/>
                                  </p:stCondLst>
                                  <p:childTnLst>
                                    <p:set>
                                      <p:cBhvr>
                                        <p:cTn id="23" dur="500" fill="hold">
                                          <p:stCondLst>
                                            <p:cond delay="0"/>
                                          </p:stCondLst>
                                        </p:cTn>
                                        <p:tgtEl>
                                          <p:spTgt spid="8"/>
                                        </p:tgtEl>
                                        <p:attrNameLst>
                                          <p:attrName>style.visibility</p:attrName>
                                        </p:attrNameLst>
                                      </p:cBhvr>
                                      <p:to>
                                        <p:strVal val="visible"/>
                                      </p:to>
                                    </p:set>
                                    <p:animEffect transition="in" filter="box(in)">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nodeType="clickEffect">
                                  <p:stCondLst>
                                    <p:cond delay="0"/>
                                  </p:stCondLst>
                                  <p:childTnLst>
                                    <p:animEffect transition="out" filter="blinds(horizontal)">
                                      <p:cBhvr>
                                        <p:cTn id="28" dur="500"/>
                                        <p:tgtEl>
                                          <p:spTgt spid="8"/>
                                        </p:tgtEl>
                                      </p:cBhvr>
                                    </p:animEffect>
                                    <p:set>
                                      <p:cBhvr>
                                        <p:cTn id="29" dur="1" fill="hold">
                                          <p:stCondLst>
                                            <p:cond delay="499"/>
                                          </p:stCondLst>
                                        </p:cTn>
                                        <p:tgtEl>
                                          <p:spTgt spid="8"/>
                                        </p:tgtEl>
                                        <p:attrNameLst>
                                          <p:attrName>style.visibility</p:attrName>
                                        </p:attrNameLst>
                                      </p:cBhvr>
                                      <p:to>
                                        <p:strVal val="hidden"/>
                                      </p:to>
                                    </p:set>
                                  </p:childTnLst>
                                </p:cTn>
                              </p:par>
                            </p:childTnLst>
                          </p:cTn>
                        </p:par>
                        <p:par>
                          <p:cTn id="30" fill="hold">
                            <p:stCondLst>
                              <p:cond delay="500"/>
                            </p:stCondLst>
                            <p:childTnLst>
                              <p:par>
                                <p:cTn id="31" presetID="4" presetClass="entr" presetSubtype="16" fill="hold" nodeType="afterEffect">
                                  <p:stCondLst>
                                    <p:cond delay="0"/>
                                  </p:stCondLst>
                                  <p:childTnLst>
                                    <p:set>
                                      <p:cBhvr>
                                        <p:cTn id="32" dur="500" fill="hold">
                                          <p:stCondLst>
                                            <p:cond delay="0"/>
                                          </p:stCondLst>
                                        </p:cTn>
                                        <p:tgtEl>
                                          <p:spTgt spid="9"/>
                                        </p:tgtEl>
                                        <p:attrNameLst>
                                          <p:attrName>style.visibility</p:attrName>
                                        </p:attrNameLst>
                                      </p:cBhvr>
                                      <p:to>
                                        <p:strVal val="visible"/>
                                      </p:to>
                                    </p:set>
                                    <p:animEffect transition="in" filter="box(in)">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xit" presetSubtype="10" fill="hold" nodeType="clickEffect">
                                  <p:stCondLst>
                                    <p:cond delay="0"/>
                                  </p:stCondLst>
                                  <p:childTnLst>
                                    <p:animEffect transition="out" filter="blinds(horizontal)">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childTnLst>
                          </p:cTn>
                        </p:par>
                        <p:par>
                          <p:cTn id="39" fill="hold">
                            <p:stCondLst>
                              <p:cond delay="500"/>
                            </p:stCondLst>
                            <p:childTnLst>
                              <p:par>
                                <p:cTn id="40" presetID="4" presetClass="entr" presetSubtype="16" fill="hold" nodeType="afterEffect">
                                  <p:stCondLst>
                                    <p:cond delay="0"/>
                                  </p:stCondLst>
                                  <p:childTnLst>
                                    <p:set>
                                      <p:cBhvr>
                                        <p:cTn id="41" dur="500" fill="hold">
                                          <p:stCondLst>
                                            <p:cond delay="0"/>
                                          </p:stCondLst>
                                        </p:cTn>
                                        <p:tgtEl>
                                          <p:spTgt spid="10"/>
                                        </p:tgtEl>
                                        <p:attrNameLst>
                                          <p:attrName>style.visibility</p:attrName>
                                        </p:attrNameLst>
                                      </p:cBhvr>
                                      <p:to>
                                        <p:strVal val="visible"/>
                                      </p:to>
                                    </p:set>
                                    <p:animEffect transition="in" filter="box(in)">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xit" presetSubtype="10" fill="hold" nodeType="clickEffect">
                                  <p:stCondLst>
                                    <p:cond delay="0"/>
                                  </p:stCondLst>
                                  <p:childTnLst>
                                    <p:animEffect transition="out" filter="blinds(horizontal)">
                                      <p:cBhvr>
                                        <p:cTn id="46" dur="500"/>
                                        <p:tgtEl>
                                          <p:spTgt spid="10"/>
                                        </p:tgtEl>
                                      </p:cBhvr>
                                    </p:animEffect>
                                    <p:set>
                                      <p:cBhvr>
                                        <p:cTn id="47" dur="1" fill="hold">
                                          <p:stCondLst>
                                            <p:cond delay="499"/>
                                          </p:stCondLst>
                                        </p:cTn>
                                        <p:tgtEl>
                                          <p:spTgt spid="10"/>
                                        </p:tgtEl>
                                        <p:attrNameLst>
                                          <p:attrName>style.visibility</p:attrName>
                                        </p:attrNameLst>
                                      </p:cBhvr>
                                      <p:to>
                                        <p:strVal val="hidden"/>
                                      </p:to>
                                    </p:set>
                                  </p:childTnLst>
                                </p:cTn>
                              </p:par>
                            </p:childTnLst>
                          </p:cTn>
                        </p:par>
                        <p:par>
                          <p:cTn id="48" fill="hold">
                            <p:stCondLst>
                              <p:cond delay="500"/>
                            </p:stCondLst>
                            <p:childTnLst>
                              <p:par>
                                <p:cTn id="49" presetID="4" presetClass="entr" presetSubtype="16" fill="hold" nodeType="afterEffect">
                                  <p:stCondLst>
                                    <p:cond delay="0"/>
                                  </p:stCondLst>
                                  <p:childTnLst>
                                    <p:set>
                                      <p:cBhvr>
                                        <p:cTn id="50" dur="500" fill="hold">
                                          <p:stCondLst>
                                            <p:cond delay="0"/>
                                          </p:stCondLst>
                                        </p:cTn>
                                        <p:tgtEl>
                                          <p:spTgt spid="11"/>
                                        </p:tgtEl>
                                        <p:attrNameLst>
                                          <p:attrName>style.visibility</p:attrName>
                                        </p:attrNameLst>
                                      </p:cBhvr>
                                      <p:to>
                                        <p:strVal val="visible"/>
                                      </p:to>
                                    </p:set>
                                    <p:animEffect transition="in" filter="box(in)">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xit" presetSubtype="10" fill="hold" nodeType="clickEffect">
                                  <p:stCondLst>
                                    <p:cond delay="0"/>
                                  </p:stCondLst>
                                  <p:childTnLst>
                                    <p:animEffect transition="out" filter="blinds(horizontal)">
                                      <p:cBhvr>
                                        <p:cTn id="55" dur="500"/>
                                        <p:tgtEl>
                                          <p:spTgt spid="11"/>
                                        </p:tgtEl>
                                      </p:cBhvr>
                                    </p:animEffect>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nodeType="clickEffect">
                                  <p:stCondLst>
                                    <p:cond delay="0"/>
                                  </p:stCondLst>
                                  <p:childTnLst>
                                    <p:set>
                                      <p:cBhvr>
                                        <p:cTn id="60" dur="500" fill="hold">
                                          <p:stCondLst>
                                            <p:cond delay="0"/>
                                          </p:stCondLst>
                                        </p:cTn>
                                        <p:tgtEl>
                                          <p:spTgt spid="14"/>
                                        </p:tgtEl>
                                        <p:attrNameLst>
                                          <p:attrName>style.visibility</p:attrName>
                                        </p:attrNameLst>
                                      </p:cBhvr>
                                      <p:to>
                                        <p:strVal val="visible"/>
                                      </p:to>
                                    </p:set>
                                    <p:animEffect transition="in" filter="box(in)">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500" fill="hold">
                                          <p:stCondLst>
                                            <p:cond delay="0"/>
                                          </p:stCondLst>
                                        </p:cTn>
                                        <p:tgtEl>
                                          <p:spTgt spid="13"/>
                                        </p:tgtEl>
                                        <p:attrNameLst>
                                          <p:attrName>style.visibility</p:attrName>
                                        </p:attrNameLst>
                                      </p:cBhvr>
                                      <p:to>
                                        <p:strVal val="visible"/>
                                      </p:to>
                                    </p:set>
                                    <p:animEffect transition="in" filter="box(in)">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xit" presetSubtype="10" fill="hold" nodeType="clickEffect">
                                  <p:stCondLst>
                                    <p:cond delay="0"/>
                                  </p:stCondLst>
                                  <p:childTnLst>
                                    <p:animEffect transition="out" filter="blinds(horizontal)">
                                      <p:cBhvr>
                                        <p:cTn id="70" dur="500"/>
                                        <p:tgtEl>
                                          <p:spTgt spid="14"/>
                                        </p:tgtEl>
                                      </p:cBhvr>
                                    </p:animEffect>
                                    <p:set>
                                      <p:cBhvr>
                                        <p:cTn id="71" dur="1" fill="hold">
                                          <p:stCondLst>
                                            <p:cond delay="499"/>
                                          </p:stCondLst>
                                        </p:cTn>
                                        <p:tgtEl>
                                          <p:spTgt spid="14"/>
                                        </p:tgtEl>
                                        <p:attrNameLst>
                                          <p:attrName>style.visibility</p:attrName>
                                        </p:attrNameLst>
                                      </p:cBhvr>
                                      <p:to>
                                        <p:strVal val="hidden"/>
                                      </p:to>
                                    </p:set>
                                  </p:childTnLst>
                                </p:cTn>
                              </p:par>
                              <p:par>
                                <p:cTn id="72" presetID="3" presetClass="exit" presetSubtype="10" fill="hold" nodeType="withEffect">
                                  <p:stCondLst>
                                    <p:cond delay="0"/>
                                  </p:stCondLst>
                                  <p:childTnLst>
                                    <p:animEffect transition="out" filter="blinds(horizontal)">
                                      <p:cBhvr>
                                        <p:cTn id="73" dur="500"/>
                                        <p:tgtEl>
                                          <p:spTgt spid="13"/>
                                        </p:tgtEl>
                                      </p:cBhvr>
                                    </p:animEffect>
                                    <p:set>
                                      <p:cBhvr>
                                        <p:cTn id="74" dur="1" fill="hold">
                                          <p:stCondLst>
                                            <p:cond delay="499"/>
                                          </p:stCondLst>
                                        </p:cTn>
                                        <p:tgtEl>
                                          <p:spTgt spid="1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4" presetClass="entr" presetSubtype="16" fill="hold" nodeType="clickEffect">
                                  <p:stCondLst>
                                    <p:cond delay="0"/>
                                  </p:stCondLst>
                                  <p:childTnLst>
                                    <p:set>
                                      <p:cBhvr>
                                        <p:cTn id="78" dur="500" fill="hold">
                                          <p:stCondLst>
                                            <p:cond delay="0"/>
                                          </p:stCondLst>
                                        </p:cTn>
                                        <p:tgtEl>
                                          <p:spTgt spid="12"/>
                                        </p:tgtEl>
                                        <p:attrNameLst>
                                          <p:attrName>style.visibility</p:attrName>
                                        </p:attrNameLst>
                                      </p:cBhvr>
                                      <p:to>
                                        <p:strVal val="visible"/>
                                      </p:to>
                                    </p:set>
                                    <p:animEffect transition="in" filter="box(in)">
                                      <p:cBhvr>
                                        <p:cTn id="7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基于密度的聚类</a:t>
            </a:r>
            <a:endParaRPr lang="zh-CN" altLang="en-US"/>
          </a:p>
        </p:txBody>
      </p:sp>
      <p:sp>
        <p:nvSpPr>
          <p:cNvPr id="3" name="内容占位符 2"/>
          <p:cNvSpPr>
            <a:spLocks noGrp="1"/>
          </p:cNvSpPr>
          <p:nvPr>
            <p:ph idx="1"/>
          </p:nvPr>
        </p:nvSpPr>
        <p:spPr/>
        <p:txBody>
          <a:bodyPr/>
          <a:p>
            <a:r>
              <a:rPr lang="zh-CN" altLang="en-US" dirty="0">
                <a:solidFill>
                  <a:srgbClr val="000000"/>
                </a:solidFill>
                <a:sym typeface="+mn-ea"/>
              </a:rPr>
              <a:t>为了解决这一缺陷，基于密度聚类算法利用密度思想，将样本中的高密度区域</a:t>
            </a:r>
            <a:r>
              <a:rPr lang="en-US" altLang="zh-CN" dirty="0">
                <a:solidFill>
                  <a:srgbClr val="000000"/>
                </a:solidFill>
                <a:sym typeface="+mn-ea"/>
              </a:rPr>
              <a:t>(</a:t>
            </a:r>
            <a:r>
              <a:rPr lang="zh-CN" altLang="en-US" dirty="0">
                <a:solidFill>
                  <a:srgbClr val="000000"/>
                </a:solidFill>
                <a:sym typeface="+mn-ea"/>
              </a:rPr>
              <a:t>即样本点分布稠密的区域</a:t>
            </a:r>
            <a:r>
              <a:rPr lang="en-US" altLang="zh-CN" dirty="0">
                <a:solidFill>
                  <a:srgbClr val="000000"/>
                </a:solidFill>
                <a:sym typeface="+mn-ea"/>
              </a:rPr>
              <a:t>)</a:t>
            </a:r>
            <a:r>
              <a:rPr lang="zh-CN" altLang="en-US" dirty="0">
                <a:solidFill>
                  <a:srgbClr val="000000"/>
                </a:solidFill>
                <a:sym typeface="+mn-ea"/>
              </a:rPr>
              <a:t>划分为簇，将簇看作是样本空间中被稀疏区域</a:t>
            </a:r>
            <a:r>
              <a:rPr lang="en-US" altLang="zh-CN" dirty="0">
                <a:solidFill>
                  <a:srgbClr val="000000"/>
                </a:solidFill>
                <a:sym typeface="+mn-ea"/>
              </a:rPr>
              <a:t>(</a:t>
            </a:r>
            <a:r>
              <a:rPr lang="zh-CN" altLang="en-US" dirty="0">
                <a:solidFill>
                  <a:srgbClr val="000000"/>
                </a:solidFill>
                <a:sym typeface="+mn-ea"/>
              </a:rPr>
              <a:t>噪声</a:t>
            </a:r>
            <a:r>
              <a:rPr lang="en-US" altLang="zh-CN" dirty="0">
                <a:solidFill>
                  <a:srgbClr val="000000"/>
                </a:solidFill>
                <a:sym typeface="+mn-ea"/>
              </a:rPr>
              <a:t>)</a:t>
            </a:r>
            <a:r>
              <a:rPr lang="zh-CN" altLang="en-US" dirty="0">
                <a:solidFill>
                  <a:srgbClr val="000000"/>
                </a:solidFill>
                <a:sym typeface="+mn-ea"/>
              </a:rPr>
              <a:t>分隔开的稠密区域。</a:t>
            </a:r>
            <a:r>
              <a:rPr lang="zh-CN" altLang="en-US" b="1" dirty="0">
                <a:solidFill>
                  <a:srgbClr val="FF0000"/>
                </a:solidFill>
                <a:sym typeface="+mn-ea"/>
              </a:rPr>
              <a:t>这一算法的主要目的是过滤样本空间中的稀疏区域，获取稠密区域作为簇</a:t>
            </a:r>
            <a:endParaRPr lang="en-US" altLang="zh-CN" dirty="0">
              <a:solidFill>
                <a:srgbClr val="000000"/>
              </a:solidFill>
            </a:endParaRPr>
          </a:p>
          <a:p>
            <a:r>
              <a:rPr lang="zh-CN" altLang="en-US" dirty="0">
                <a:solidFill>
                  <a:srgbClr val="000000"/>
                </a:solidFill>
                <a:sym typeface="+mn-ea"/>
              </a:rPr>
              <a:t>基于密度的聚类算法是</a:t>
            </a:r>
            <a:r>
              <a:rPr lang="zh-CN" altLang="en-US" b="1" dirty="0">
                <a:solidFill>
                  <a:srgbClr val="FF0000"/>
                </a:solidFill>
                <a:sym typeface="+mn-ea"/>
              </a:rPr>
              <a:t>根据密度而不是距离</a:t>
            </a:r>
            <a:r>
              <a:rPr lang="zh-CN" altLang="en-US" dirty="0">
                <a:solidFill>
                  <a:srgbClr val="000000"/>
                </a:solidFill>
                <a:sym typeface="+mn-ea"/>
              </a:rPr>
              <a:t>来计算样本相似度，所以</a:t>
            </a:r>
            <a:r>
              <a:rPr lang="zh-CN" altLang="en-US" b="1" dirty="0">
                <a:solidFill>
                  <a:srgbClr val="FF0000"/>
                </a:solidFill>
                <a:sym typeface="+mn-ea"/>
              </a:rPr>
              <a:t>基于密度的聚类算法能够用于挖掘任意形状的簇</a:t>
            </a:r>
            <a:r>
              <a:rPr lang="zh-CN" altLang="en-US" dirty="0">
                <a:solidFill>
                  <a:srgbClr val="000000"/>
                </a:solidFill>
                <a:sym typeface="+mn-ea"/>
              </a:rPr>
              <a:t>，并且能够有效过滤掉噪声样本对于聚类结果的影响</a:t>
            </a:r>
            <a:endParaRPr lang="en-US" altLang="zh-CN" dirty="0">
              <a:solidFill>
                <a:srgbClr val="000000"/>
              </a:solidFill>
            </a:endParaRPr>
          </a:p>
          <a:p>
            <a:r>
              <a:rPr lang="zh-CN" altLang="en-US" dirty="0">
                <a:solidFill>
                  <a:srgbClr val="000000"/>
                </a:solidFill>
                <a:sym typeface="+mn-ea"/>
              </a:rPr>
              <a:t>常见的基于密度的聚类算法有</a:t>
            </a:r>
            <a:r>
              <a:rPr lang="en-US" altLang="zh-CN" dirty="0">
                <a:solidFill>
                  <a:srgbClr val="000000"/>
                </a:solidFill>
                <a:sym typeface="+mn-ea"/>
              </a:rPr>
              <a:t>DBSCAN</a:t>
            </a:r>
            <a:r>
              <a:rPr lang="zh-CN" altLang="en-US" dirty="0">
                <a:solidFill>
                  <a:srgbClr val="000000"/>
                </a:solidFill>
                <a:sym typeface="+mn-ea"/>
              </a:rPr>
              <a:t>、</a:t>
            </a:r>
            <a:r>
              <a:rPr lang="en-US" altLang="zh-CN" dirty="0">
                <a:solidFill>
                  <a:srgbClr val="000000"/>
                </a:solidFill>
                <a:sym typeface="+mn-ea"/>
              </a:rPr>
              <a:t>OPTICS</a:t>
            </a:r>
            <a:r>
              <a:rPr lang="zh-CN" altLang="en-US" dirty="0">
                <a:solidFill>
                  <a:srgbClr val="000000"/>
                </a:solidFill>
                <a:sym typeface="+mn-ea"/>
              </a:rPr>
              <a:t>和</a:t>
            </a:r>
            <a:r>
              <a:rPr lang="en-US" altLang="zh-CN" dirty="0">
                <a:solidFill>
                  <a:srgbClr val="000000"/>
                </a:solidFill>
                <a:sym typeface="+mn-ea"/>
              </a:rPr>
              <a:t>DENCLUE</a:t>
            </a:r>
            <a:r>
              <a:rPr lang="zh-CN" altLang="en-US" dirty="0">
                <a:solidFill>
                  <a:srgbClr val="000000"/>
                </a:solidFill>
                <a:sym typeface="+mn-ea"/>
              </a:rPr>
              <a:t>等。其中，</a:t>
            </a:r>
            <a:r>
              <a:rPr lang="en-US" altLang="zh-CN" dirty="0">
                <a:solidFill>
                  <a:srgbClr val="000000"/>
                </a:solidFill>
                <a:sym typeface="+mn-ea"/>
              </a:rPr>
              <a:t>OPTICS </a:t>
            </a:r>
            <a:r>
              <a:rPr lang="zh-CN" altLang="en-US" dirty="0">
                <a:solidFill>
                  <a:srgbClr val="000000"/>
                </a:solidFill>
                <a:sym typeface="+mn-ea"/>
              </a:rPr>
              <a:t>对</a:t>
            </a:r>
            <a:r>
              <a:rPr lang="en-US" altLang="zh-CN" dirty="0">
                <a:solidFill>
                  <a:srgbClr val="000000"/>
                </a:solidFill>
                <a:sym typeface="+mn-ea"/>
              </a:rPr>
              <a:t>DBSCAN</a:t>
            </a:r>
            <a:r>
              <a:rPr lang="zh-CN" altLang="en-US" dirty="0">
                <a:solidFill>
                  <a:srgbClr val="000000"/>
                </a:solidFill>
                <a:sym typeface="+mn-ea"/>
              </a:rPr>
              <a:t>算法进行了改进，降低了对输入参数的敏感程度。</a:t>
            </a:r>
            <a:r>
              <a:rPr lang="en-US" altLang="zh-CN" dirty="0">
                <a:solidFill>
                  <a:srgbClr val="000000"/>
                </a:solidFill>
                <a:sym typeface="+mn-ea"/>
              </a:rPr>
              <a:t>DENCLUE</a:t>
            </a:r>
            <a:r>
              <a:rPr lang="zh-CN" altLang="en-US" dirty="0">
                <a:solidFill>
                  <a:srgbClr val="000000"/>
                </a:solidFill>
                <a:sym typeface="+mn-ea"/>
              </a:rPr>
              <a:t>算法综合了基于划分、基于层次的方法</a:t>
            </a:r>
            <a:endParaRPr lang="en-US" altLang="zh-CN" dirty="0">
              <a:solidFill>
                <a:srgbClr val="000000"/>
              </a:solidFill>
            </a:endParaRPr>
          </a:p>
          <a:p>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DBSCAN</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395605" y="1202690"/>
                <a:ext cx="8504555" cy="4769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atinLnBrk="0">
                  <a:lnSpc>
                    <a:spcPct val="150000"/>
                  </a:lnSpc>
                  <a:spcBef>
                    <a:spcPts val="0"/>
                  </a:spcBef>
                </a:pPr>
                <a:r>
                  <a:rPr lang="en-US" altLang="zh-CN" sz="2000" dirty="0">
                    <a:solidFill>
                      <a:srgbClr val="000000"/>
                    </a:solidFill>
                  </a:rPr>
                  <a:t>DBSCAN</a:t>
                </a:r>
                <a:r>
                  <a:rPr lang="zh-CN" altLang="zh-CN" sz="2000" dirty="0">
                    <a:solidFill>
                      <a:srgbClr val="000000"/>
                    </a:solidFill>
                  </a:rPr>
                  <a:t>采用</a:t>
                </a:r>
                <a:r>
                  <a:rPr lang="zh-CN" altLang="zh-CN" sz="2000" b="1" dirty="0">
                    <a:solidFill>
                      <a:srgbClr val="FF0000"/>
                    </a:solidFill>
                  </a:rPr>
                  <a:t>基于中心</a:t>
                </a:r>
                <a:r>
                  <a:rPr lang="zh-CN" altLang="zh-CN" sz="2000" dirty="0">
                    <a:solidFill>
                      <a:srgbClr val="000000"/>
                    </a:solidFill>
                  </a:rPr>
                  <a:t>的密度定义，样本的密度通过核心对象在</a:t>
                </a:r>
                <a14:m>
                  <m:oMath xmlns:m="http://schemas.openxmlformats.org/officeDocument/2006/math">
                    <m:r>
                      <a:rPr lang="en-US" altLang="zh-CN" sz="2000">
                        <a:solidFill>
                          <a:srgbClr val="FF0000"/>
                        </a:solidFill>
                        <a:latin typeface="Cambria Math" panose="02040503050406030204" pitchFamily="18" charset="0"/>
                      </a:rPr>
                      <m:t>𝜖</m:t>
                    </m:r>
                  </m:oMath>
                </a14:m>
                <a:r>
                  <a:rPr lang="zh-CN" altLang="zh-CN" sz="2000" dirty="0">
                    <a:solidFill>
                      <a:srgbClr val="FF0000"/>
                    </a:solidFill>
                  </a:rPr>
                  <a:t>半径</a:t>
                </a:r>
                <a:r>
                  <a:rPr lang="zh-CN" altLang="zh-CN" sz="2000" dirty="0">
                    <a:solidFill>
                      <a:srgbClr val="000000"/>
                    </a:solidFill>
                  </a:rPr>
                  <a:t>内的样本点个数（包括自身）来估计。</a:t>
                </a:r>
                <a:endParaRPr lang="en-US" altLang="zh-CN" sz="2000" dirty="0">
                  <a:solidFill>
                    <a:srgbClr val="000000"/>
                  </a:solidFill>
                </a:endParaRPr>
              </a:p>
              <a:p>
                <a:pPr latinLnBrk="0">
                  <a:lnSpc>
                    <a:spcPct val="150000"/>
                  </a:lnSpc>
                  <a:spcBef>
                    <a:spcPts val="0"/>
                  </a:spcBef>
                </a:pPr>
                <a:r>
                  <a:rPr lang="en-US" altLang="zh-CN" sz="2000" dirty="0">
                    <a:solidFill>
                      <a:srgbClr val="000000"/>
                    </a:solidFill>
                  </a:rPr>
                  <a:t>DBSCAN</a:t>
                </a:r>
                <a:r>
                  <a:rPr lang="zh-CN" altLang="zh-CN" sz="2000" dirty="0">
                    <a:solidFill>
                      <a:srgbClr val="000000"/>
                    </a:solidFill>
                  </a:rPr>
                  <a:t>算法基于领域来描述样本的密度，输入样本集</a:t>
                </a:r>
                <a14:m>
                  <m:oMath xmlns:m="http://schemas.openxmlformats.org/officeDocument/2006/math">
                    <m:r>
                      <a:rPr lang="en-US" altLang="zh-CN" sz="2000">
                        <a:solidFill>
                          <a:srgbClr val="000000"/>
                        </a:solidFill>
                        <a:latin typeface="Cambria Math" panose="02040503050406030204" pitchFamily="18" charset="0"/>
                      </a:rPr>
                      <m:t>𝑆</m:t>
                    </m:r>
                    <m:r>
                      <a:rPr lang="en-US" altLang="zh-CN" sz="2000">
                        <a:solidFill>
                          <a:srgbClr val="000000"/>
                        </a:solidFill>
                        <a:latin typeface="Cambria Math" panose="02040503050406030204" pitchFamily="18" charset="0"/>
                      </a:rPr>
                      <m:t>=</m:t>
                    </m:r>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1</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2</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𝑚</m:t>
                            </m:r>
                          </m:sub>
                        </m:sSub>
                      </m:e>
                    </m:d>
                  </m:oMath>
                </a14:m>
                <a:r>
                  <a:rPr lang="zh-CN" altLang="zh-CN" sz="2000" dirty="0">
                    <a:solidFill>
                      <a:srgbClr val="000000"/>
                    </a:solidFill>
                  </a:rPr>
                  <a:t>和参数</a:t>
                </a:r>
                <a14:m>
                  <m:oMath xmlns:m="http://schemas.openxmlformats.org/officeDocument/2006/math">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𝜀</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𝑀𝑖𝑛𝑃𝑡𝑠</m:t>
                        </m:r>
                      </m:e>
                    </m:d>
                  </m:oMath>
                </a14:m>
                <a:r>
                  <a:rPr lang="zh-CN" altLang="zh-CN" sz="2000" dirty="0">
                    <a:solidFill>
                      <a:srgbClr val="000000"/>
                    </a:solidFill>
                  </a:rPr>
                  <a:t>刻画邻域的样本分布密度。其中，</a:t>
                </a:r>
                <a14:m>
                  <m:oMath xmlns:m="http://schemas.openxmlformats.org/officeDocument/2006/math">
                    <m:r>
                      <a:rPr lang="en-US" altLang="zh-CN" sz="2000">
                        <a:solidFill>
                          <a:srgbClr val="000000"/>
                        </a:solidFill>
                        <a:latin typeface="Cambria Math" panose="02040503050406030204" pitchFamily="18" charset="0"/>
                      </a:rPr>
                      <m:t>𝜀</m:t>
                    </m:r>
                  </m:oMath>
                </a14:m>
                <a:r>
                  <a:rPr lang="zh-CN" altLang="zh-CN" sz="2000" dirty="0">
                    <a:solidFill>
                      <a:srgbClr val="000000"/>
                    </a:solidFill>
                  </a:rPr>
                  <a:t>表示样本的邻域距离阈值，</a:t>
                </a:r>
                <a14:m>
                  <m:oMath xmlns:m="http://schemas.openxmlformats.org/officeDocument/2006/math">
                    <m:r>
                      <a:rPr lang="en-US" altLang="zh-CN" sz="2000">
                        <a:solidFill>
                          <a:srgbClr val="000000"/>
                        </a:solidFill>
                        <a:latin typeface="Cambria Math" panose="02040503050406030204" pitchFamily="18" charset="0"/>
                      </a:rPr>
                      <m:t>𝑀𝑖𝑛𝑃𝑡𝑠</m:t>
                    </m:r>
                  </m:oMath>
                </a14:m>
                <a:r>
                  <a:rPr lang="zh-CN" altLang="zh-CN" sz="2000" dirty="0">
                    <a:solidFill>
                      <a:srgbClr val="000000"/>
                    </a:solidFill>
                  </a:rPr>
                  <a:t>表示对于某一样本</a:t>
                </a:r>
                <a14:m>
                  <m:oMath xmlns:m="http://schemas.openxmlformats.org/officeDocument/2006/math">
                    <m:r>
                      <a:rPr lang="en-US" altLang="zh-CN" sz="2000">
                        <a:solidFill>
                          <a:srgbClr val="000000"/>
                        </a:solidFill>
                        <a:latin typeface="Cambria Math" panose="02040503050406030204" pitchFamily="18" charset="0"/>
                      </a:rPr>
                      <m:t>𝑝</m:t>
                    </m:r>
                  </m:oMath>
                </a14:m>
                <a:r>
                  <a:rPr lang="zh-CN" altLang="zh-CN" sz="2000" dirty="0">
                    <a:solidFill>
                      <a:srgbClr val="000000"/>
                    </a:solidFill>
                  </a:rPr>
                  <a:t>，其</a:t>
                </a:r>
                <a14:m>
                  <m:oMath xmlns:m="http://schemas.openxmlformats.org/officeDocument/2006/math">
                    <m:r>
                      <a:rPr lang="en-US" altLang="zh-CN" sz="2000">
                        <a:solidFill>
                          <a:srgbClr val="000000"/>
                        </a:solidFill>
                        <a:latin typeface="Cambria Math" panose="02040503050406030204" pitchFamily="18" charset="0"/>
                      </a:rPr>
                      <m:t>𝜖</m:t>
                    </m:r>
                  </m:oMath>
                </a14:m>
                <a:r>
                  <a:rPr lang="en-US" altLang="zh-CN" sz="2000" dirty="0">
                    <a:solidFill>
                      <a:srgbClr val="000000"/>
                    </a:solidFill>
                  </a:rPr>
                  <a:t>-</a:t>
                </a:r>
                <a:r>
                  <a:rPr lang="zh-CN" altLang="zh-CN" sz="2000" dirty="0">
                    <a:solidFill>
                      <a:srgbClr val="000000"/>
                    </a:solidFill>
                  </a:rPr>
                  <a:t>邻域中样本个数的阈值。</a:t>
                </a:r>
                <a:endParaRPr lang="en-US" altLang="zh-CN" sz="2000" dirty="0">
                  <a:solidFill>
                    <a:srgbClr val="000000"/>
                  </a:solidFill>
                </a:endParaRPr>
              </a:p>
              <a:p>
                <a:pPr marL="0" indent="0" latinLnBrk="0">
                  <a:lnSpc>
                    <a:spcPct val="150000"/>
                  </a:lnSpc>
                  <a:spcBef>
                    <a:spcPts val="0"/>
                  </a:spcBef>
                  <a:buNone/>
                </a:pPr>
                <a:r>
                  <a:rPr lang="zh-CN" altLang="zh-CN" sz="2000" dirty="0">
                    <a:solidFill>
                      <a:srgbClr val="000000"/>
                    </a:solidFill>
                  </a:rPr>
                  <a:t>下面给出</a:t>
                </a:r>
                <a:r>
                  <a:rPr lang="en-US" altLang="zh-CN" sz="2000" dirty="0">
                    <a:solidFill>
                      <a:srgbClr val="000000"/>
                    </a:solidFill>
                  </a:rPr>
                  <a:t>DBSCAN</a:t>
                </a:r>
                <a:r>
                  <a:rPr lang="zh-CN" altLang="zh-CN" sz="2000" dirty="0">
                    <a:solidFill>
                      <a:srgbClr val="000000"/>
                    </a:solidFill>
                  </a:rPr>
                  <a:t>中的几个重要概念</a:t>
                </a:r>
                <a:r>
                  <a:rPr lang="zh-CN" altLang="en-US" sz="2000" dirty="0">
                    <a:solidFill>
                      <a:srgbClr val="000000"/>
                    </a:solidFill>
                  </a:rPr>
                  <a:t>：</a:t>
                </a:r>
                <a:endParaRPr lang="zh-CN" altLang="zh-CN" sz="2000" dirty="0">
                  <a:solidFill>
                    <a:srgbClr val="000000"/>
                  </a:solidFill>
                </a:endParaRPr>
              </a:p>
              <a:p>
                <a:pPr marL="342900" lvl="1" indent="-342900" latinLnBrk="0">
                  <a:lnSpc>
                    <a:spcPct val="150000"/>
                  </a:lnSpc>
                  <a:spcBef>
                    <a:spcPts val="0"/>
                  </a:spcBef>
                  <a:buFont typeface="Arial" panose="020B0604020202020204" pitchFamily="34" charset="0"/>
                  <a:buChar char="•"/>
                </a:pPr>
                <a14:m>
                  <m:oMath xmlns:m="http://schemas.openxmlformats.org/officeDocument/2006/math">
                    <m:r>
                      <a:rPr lang="en-US" altLang="zh-CN" sz="2000" b="1">
                        <a:solidFill>
                          <a:srgbClr val="FF0000"/>
                        </a:solidFill>
                        <a:latin typeface="Cambria Math" panose="02040503050406030204" pitchFamily="18" charset="0"/>
                      </a:rPr>
                      <m:t>𝛜</m:t>
                    </m:r>
                  </m:oMath>
                </a14:m>
                <a:r>
                  <a:rPr lang="en-US" altLang="zh-CN" sz="2000" b="1" dirty="0">
                    <a:solidFill>
                      <a:srgbClr val="FF0000"/>
                    </a:solidFill>
                  </a:rPr>
                  <a:t>-</a:t>
                </a:r>
                <a:r>
                  <a:rPr lang="zh-CN" altLang="zh-CN" sz="2000" b="1" dirty="0">
                    <a:solidFill>
                      <a:srgbClr val="FF0000"/>
                    </a:solidFill>
                  </a:rPr>
                  <a:t>邻域</a:t>
                </a:r>
                <a:r>
                  <a:rPr lang="zh-CN" altLang="zh-CN" sz="2000" dirty="0">
                    <a:solidFill>
                      <a:srgbClr val="000000"/>
                    </a:solidFill>
                  </a:rPr>
                  <a:t>：给定对象</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，在半径</a:t>
                </a:r>
                <a14:m>
                  <m:oMath xmlns:m="http://schemas.openxmlformats.org/officeDocument/2006/math">
                    <m:r>
                      <a:rPr lang="en-US" altLang="zh-CN" sz="2000">
                        <a:solidFill>
                          <a:srgbClr val="000000"/>
                        </a:solidFill>
                        <a:latin typeface="Cambria Math" panose="02040503050406030204" pitchFamily="18" charset="0"/>
                      </a:rPr>
                      <m:t>𝜀</m:t>
                    </m:r>
                  </m:oMath>
                </a14:m>
                <a:r>
                  <a:rPr lang="zh-CN" altLang="zh-CN" sz="2000" dirty="0">
                    <a:solidFill>
                      <a:srgbClr val="000000"/>
                    </a:solidFill>
                  </a:rPr>
                  <a:t>内的区域称为</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的</a:t>
                </a:r>
                <a14:m>
                  <m:oMath xmlns:m="http://schemas.openxmlformats.org/officeDocument/2006/math">
                    <m:r>
                      <a:rPr lang="en-US" altLang="zh-CN" sz="2000">
                        <a:solidFill>
                          <a:srgbClr val="000000"/>
                        </a:solidFill>
                        <a:latin typeface="Cambria Math" panose="02040503050406030204" pitchFamily="18" charset="0"/>
                      </a:rPr>
                      <m:t>𝜀</m:t>
                    </m:r>
                  </m:oMath>
                </a14:m>
                <a:r>
                  <a:rPr lang="en-US" altLang="zh-CN" sz="2000" dirty="0">
                    <a:solidFill>
                      <a:srgbClr val="000000"/>
                    </a:solidFill>
                  </a:rPr>
                  <a:t>-</a:t>
                </a:r>
                <a:r>
                  <a:rPr lang="zh-CN" altLang="zh-CN" sz="2000" dirty="0">
                    <a:solidFill>
                      <a:srgbClr val="000000"/>
                    </a:solidFill>
                  </a:rPr>
                  <a:t>邻域。在该区域中，</a:t>
                </a:r>
                <a14:m>
                  <m:oMath xmlns:m="http://schemas.openxmlformats.org/officeDocument/2006/math">
                    <m:r>
                      <a:rPr lang="en-US" altLang="zh-CN" sz="2000">
                        <a:solidFill>
                          <a:srgbClr val="000000"/>
                        </a:solidFill>
                        <a:latin typeface="Cambria Math" panose="02040503050406030204" pitchFamily="18" charset="0"/>
                      </a:rPr>
                      <m:t>𝑆</m:t>
                    </m:r>
                  </m:oMath>
                </a14:m>
                <a:r>
                  <a:rPr lang="zh-CN" altLang="zh-CN" sz="2000" dirty="0">
                    <a:solidFill>
                      <a:srgbClr val="000000"/>
                    </a:solidFill>
                  </a:rPr>
                  <a:t>的子样本集</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𝑁</m:t>
                        </m:r>
                      </m:e>
                      <m:sub>
                        <m:r>
                          <a:rPr lang="en-US" altLang="zh-CN" sz="2000">
                            <a:solidFill>
                              <a:srgbClr val="000000"/>
                            </a:solidFill>
                            <a:latin typeface="Cambria Math" panose="02040503050406030204" pitchFamily="18" charset="0"/>
                          </a:rPr>
                          <m:t>𝜖</m:t>
                        </m:r>
                      </m:sub>
                    </m:sSub>
                    <m:d>
                      <m:dPr>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e>
                    </m:d>
                    <m:r>
                      <a:rPr lang="en-US" altLang="zh-CN" sz="2000">
                        <a:solidFill>
                          <a:srgbClr val="000000"/>
                        </a:solidFill>
                        <a:latin typeface="Cambria Math" panose="02040503050406030204" pitchFamily="18" charset="0"/>
                      </a:rPr>
                      <m:t>=</m:t>
                    </m:r>
                    <m:d>
                      <m:dPr>
                        <m:begChr m:val="{"/>
                        <m:endChr m:val="}"/>
                        <m:ctrlPr>
                          <a:rPr lang="zh-CN" altLang="zh-CN" sz="2000" i="1">
                            <a:solidFill>
                              <a:srgbClr val="000000"/>
                            </a:solidFill>
                            <a:latin typeface="Cambria Math" panose="02040503050406030204" pitchFamily="18" charset="0"/>
                          </a:rPr>
                        </m:ctrlPr>
                      </m:dPr>
                      <m:e>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𝑆</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𝑑𝑖𝑠𝑡𝑎𝑛𝑐𝑒</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𝜀</m:t>
                        </m:r>
                      </m:e>
                    </m:d>
                  </m:oMath>
                </a14:m>
                <a:r>
                  <a:rPr lang="zh-CN" altLang="zh-CN" sz="2000" dirty="0">
                    <a:solidFill>
                      <a:srgbClr val="000000"/>
                    </a:solidFill>
                  </a:rPr>
                  <a:t>。</a:t>
                </a:r>
                <a:endParaRPr lang="zh-CN" altLang="zh-CN" sz="2000" dirty="0">
                  <a:solidFill>
                    <a:srgbClr val="000000"/>
                  </a:solidFill>
                </a:endParaRPr>
              </a:p>
              <a:p>
                <a:pPr marL="342900" lvl="1" indent="-342900" latinLnBrk="0">
                  <a:lnSpc>
                    <a:spcPct val="150000"/>
                  </a:lnSpc>
                  <a:spcBef>
                    <a:spcPts val="0"/>
                  </a:spcBef>
                  <a:buFont typeface="Arial" panose="020B0604020202020204" pitchFamily="34" charset="0"/>
                  <a:buChar char="•"/>
                </a:pPr>
                <a:r>
                  <a:rPr lang="zh-CN" altLang="zh-CN" sz="2000" b="1" dirty="0">
                    <a:solidFill>
                      <a:srgbClr val="FF0000"/>
                    </a:solidFill>
                    <a:sym typeface="+mn-ea"/>
                  </a:rPr>
                  <a:t>密度：</a:t>
                </a:r>
                <a:r>
                  <a:rPr lang="zh-CN" altLang="zh-CN" sz="2000" dirty="0">
                    <a:solidFill>
                      <a:schemeClr val="tx1"/>
                    </a:solidFill>
                    <a:sym typeface="+mn-ea"/>
                  </a:rPr>
                  <a:t>给定距离内最小的对象点数目（</a:t>
                </a:r>
                <a:r>
                  <a:rPr lang="en-US" altLang="zh-CN" sz="2000" i="1" dirty="0">
                    <a:solidFill>
                      <a:schemeClr val="tx1"/>
                    </a:solidFill>
                    <a:sym typeface="+mn-ea"/>
                  </a:rPr>
                  <a:t>MinPts</a:t>
                </a:r>
                <a:r>
                  <a:rPr lang="zh-CN" altLang="zh-CN" sz="2000" dirty="0">
                    <a:solidFill>
                      <a:schemeClr val="tx1"/>
                    </a:solidFill>
                    <a:sym typeface="+mn-ea"/>
                  </a:rPr>
                  <a:t>）</a:t>
                </a:r>
                <a:endParaRPr lang="zh-CN" altLang="zh-CN" sz="2000" dirty="0">
                  <a:solidFill>
                    <a:schemeClr val="tx1"/>
                  </a:solidFill>
                  <a:sym typeface="+mn-ea"/>
                </a:endParaRPr>
              </a:p>
              <a:p>
                <a:pPr marL="342900" lvl="1" indent="-342900" latinLnBrk="0">
                  <a:lnSpc>
                    <a:spcPct val="150000"/>
                  </a:lnSpc>
                  <a:spcBef>
                    <a:spcPts val="0"/>
                  </a:spcBef>
                  <a:buFont typeface="Arial" panose="020B0604020202020204" pitchFamily="34" charset="0"/>
                  <a:buChar char="•"/>
                </a:pPr>
                <a:r>
                  <a:rPr lang="zh-CN" altLang="zh-CN" sz="2000" b="1" dirty="0">
                    <a:solidFill>
                      <a:srgbClr val="FF0000"/>
                    </a:solidFill>
                  </a:rPr>
                  <a:t>高密度</a:t>
                </a:r>
                <a:r>
                  <a:rPr lang="zh-CN" altLang="zh-CN" sz="2000" dirty="0">
                    <a:solidFill>
                      <a:srgbClr val="000000"/>
                    </a:solidFill>
                  </a:rPr>
                  <a:t>：一个对象的邻域至少包含最小数目</a:t>
                </a:r>
                <a:r>
                  <a:rPr lang="en-US" altLang="zh-CN" sz="2000" dirty="0">
                    <a:solidFill>
                      <a:srgbClr val="000000"/>
                    </a:solidFill>
                  </a:rPr>
                  <a:t>MinPts</a:t>
                </a:r>
                <a:r>
                  <a:rPr lang="zh-CN" altLang="en-US" sz="2000" dirty="0">
                    <a:solidFill>
                      <a:srgbClr val="000000"/>
                    </a:solidFill>
                  </a:rPr>
                  <a:t>个对象。</a:t>
                </a:r>
                <a:endParaRPr lang="zh-CN" altLang="en-US"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395605" y="1202690"/>
                <a:ext cx="8504555" cy="4769485"/>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2"/>
          <a:srcRect l="5631"/>
          <a:stretch>
            <a:fillRect/>
          </a:stretch>
        </p:blipFill>
        <p:spPr>
          <a:xfrm>
            <a:off x="251460" y="2564765"/>
            <a:ext cx="8821420" cy="33604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DBSCAN</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165100" y="1202690"/>
                <a:ext cx="8688705"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lvl="1" indent="-342900">
                  <a:buFont typeface="Arial" panose="020B0604020202020204" pitchFamily="34" charset="0"/>
                  <a:buChar char="•"/>
                </a:pPr>
                <a:endParaRPr lang="zh-CN" altLang="zh-CN" sz="2000" b="1" dirty="0">
                  <a:solidFill>
                    <a:srgbClr val="FF0000"/>
                  </a:solidFill>
                  <a:sym typeface="+mn-ea"/>
                </a:endParaRPr>
              </a:p>
              <a:p>
                <a:pPr marL="0" lvl="1" indent="0" latinLnBrk="0">
                  <a:spcBef>
                    <a:spcPts val="0"/>
                  </a:spcBef>
                  <a:buFont typeface="Arial" panose="020B0604020202020204" pitchFamily="34" charset="0"/>
                  <a:buChar char="•"/>
                </a:pPr>
                <a:r>
                  <a:rPr lang="zh-CN" altLang="zh-CN" sz="2000" b="1" dirty="0">
                    <a:solidFill>
                      <a:srgbClr val="FF0000"/>
                    </a:solidFill>
                    <a:sym typeface="+mn-ea"/>
                  </a:rPr>
                  <a:t>核心对象</a:t>
                </a:r>
                <a:r>
                  <a:rPr lang="zh-CN" altLang="zh-CN" sz="2000" dirty="0">
                    <a:solidFill>
                      <a:srgbClr val="000000"/>
                    </a:solidFill>
                    <a:sym typeface="+mn-ea"/>
                  </a:rPr>
                  <a:t>（</a:t>
                </a:r>
                <a:r>
                  <a:rPr lang="en-US" altLang="zh-CN" sz="2000" dirty="0">
                    <a:solidFill>
                      <a:srgbClr val="000000"/>
                    </a:solidFill>
                    <a:sym typeface="+mn-ea"/>
                  </a:rPr>
                  <a:t>core object</a:t>
                </a:r>
                <a:r>
                  <a:rPr lang="zh-CN" altLang="zh-CN" sz="2000" dirty="0">
                    <a:solidFill>
                      <a:srgbClr val="000000"/>
                    </a:solidFill>
                    <a:sym typeface="+mn-ea"/>
                  </a:rPr>
                  <a:t>）：如果对象的邻域至少包含</a:t>
                </a:r>
                <a14:m>
                  <m:oMath xmlns:m="http://schemas.openxmlformats.org/officeDocument/2006/math">
                    <m:r>
                      <a:rPr lang="en-US" altLang="zh-CN" sz="2000">
                        <a:solidFill>
                          <a:srgbClr val="000000"/>
                        </a:solidFill>
                        <a:latin typeface="Cambria Math" panose="02040503050406030204" pitchFamily="18" charset="0"/>
                      </a:rPr>
                      <m:t>𝑀𝑖𝑛𝑃𝑡𝑠</m:t>
                    </m:r>
                  </m:oMath>
                </a14:m>
                <a:r>
                  <a:rPr lang="zh-CN" altLang="zh-CN" sz="2000" dirty="0">
                    <a:solidFill>
                      <a:srgbClr val="000000"/>
                    </a:solidFill>
                    <a:sym typeface="+mn-ea"/>
                  </a:rPr>
                  <a:t>个对象，那么该</a:t>
                </a:r>
                <a:endParaRPr lang="zh-CN" altLang="zh-CN" sz="2000" dirty="0">
                  <a:solidFill>
                    <a:srgbClr val="000000"/>
                  </a:solidFill>
                  <a:sym typeface="+mn-ea"/>
                </a:endParaRPr>
              </a:p>
              <a:p>
                <a:pPr marL="0" lvl="1" indent="0" latinLnBrk="0">
                  <a:spcBef>
                    <a:spcPts val="0"/>
                  </a:spcBef>
                  <a:buFont typeface="Arial" panose="020B0604020202020204" pitchFamily="34" charset="0"/>
                  <a:buNone/>
                </a:pPr>
                <a:r>
                  <a:rPr lang="en-US" altLang="zh-CN" sz="2000" dirty="0">
                    <a:solidFill>
                      <a:srgbClr val="000000"/>
                    </a:solidFill>
                    <a:sym typeface="+mn-ea"/>
                  </a:rPr>
                  <a:t>                                                      </a:t>
                </a:r>
                <a:r>
                  <a:rPr lang="zh-CN" altLang="zh-CN" sz="2000" dirty="0">
                    <a:solidFill>
                      <a:srgbClr val="000000"/>
                    </a:solidFill>
                    <a:sym typeface="+mn-ea"/>
                  </a:rPr>
                  <a:t>对象为核心对象。</a:t>
                </a:r>
                <a:endParaRPr lang="zh-CN" altLang="zh-CN" sz="2000" b="1" dirty="0">
                  <a:solidFill>
                    <a:srgbClr val="FF0000"/>
                  </a:solidFill>
                </a:endParaRPr>
              </a:p>
              <a:p>
                <a:pPr marL="342900" lvl="1" indent="-342900">
                  <a:buFont typeface="Arial" panose="020B0604020202020204" pitchFamily="34" charset="0"/>
                  <a:buChar char="•"/>
                </a:pPr>
                <a:r>
                  <a:rPr lang="zh-CN" altLang="zh-CN" sz="2000" b="1" dirty="0">
                    <a:solidFill>
                      <a:srgbClr val="FF0000"/>
                    </a:solidFill>
                  </a:rPr>
                  <a:t>边界对象：</a:t>
                </a:r>
                <a:r>
                  <a:rPr lang="zh-CN" altLang="zh-CN" sz="2000" dirty="0">
                    <a:solidFill>
                      <a:schemeClr val="tx1"/>
                    </a:solidFill>
                  </a:rPr>
                  <a:t>对象的邻域小于</a:t>
                </a:r>
                <a:r>
                  <a:rPr lang="en-US" altLang="zh-CN" sz="2000" dirty="0">
                    <a:solidFill>
                      <a:schemeClr val="tx1"/>
                    </a:solidFill>
                  </a:rPr>
                  <a:t>MinPts</a:t>
                </a:r>
                <a:r>
                  <a:rPr lang="zh-CN" altLang="en-US" sz="2000" dirty="0">
                    <a:solidFill>
                      <a:schemeClr val="tx1"/>
                    </a:solidFill>
                  </a:rPr>
                  <a:t>个对象，但是在某个核心对象的邻域中。</a:t>
                </a:r>
                <a:endParaRPr lang="zh-CN" altLang="en-US" sz="2000" dirty="0">
                  <a:solidFill>
                    <a:schemeClr val="tx1"/>
                  </a:solidFill>
                </a:endParaRPr>
              </a:p>
              <a:p>
                <a:pPr marL="342900" lvl="1" indent="-342900">
                  <a:buFont typeface="Arial" panose="020B0604020202020204" pitchFamily="34" charset="0"/>
                  <a:buChar char="•"/>
                </a:pPr>
                <a:r>
                  <a:rPr lang="zh-CN" altLang="en-US" sz="2000" b="1" dirty="0">
                    <a:solidFill>
                      <a:srgbClr val="FF0000"/>
                    </a:solidFill>
                  </a:rPr>
                  <a:t>离群点</a:t>
                </a:r>
                <a:r>
                  <a:rPr lang="en-US" altLang="zh-CN" sz="2000" b="1" dirty="0">
                    <a:solidFill>
                      <a:srgbClr val="FF0000"/>
                    </a:solidFill>
                  </a:rPr>
                  <a:t>/</a:t>
                </a:r>
                <a:r>
                  <a:rPr lang="zh-CN" altLang="en-US" sz="2000" b="1" dirty="0">
                    <a:solidFill>
                      <a:srgbClr val="FF0000"/>
                    </a:solidFill>
                  </a:rPr>
                  <a:t>噪声点</a:t>
                </a:r>
                <a:r>
                  <a:rPr lang="zh-CN" altLang="en-US" sz="2000" dirty="0">
                    <a:solidFill>
                      <a:schemeClr val="tx1"/>
                    </a:solidFill>
                  </a:rPr>
                  <a:t>：对象的邻域小于</a:t>
                </a:r>
                <a:r>
                  <a:rPr lang="en-US" altLang="zh-CN" sz="2000" dirty="0">
                    <a:sym typeface="+mn-ea"/>
                  </a:rPr>
                  <a:t>MinPts</a:t>
                </a:r>
                <a:r>
                  <a:rPr lang="zh-CN" altLang="en-US" sz="2000" dirty="0">
                    <a:sym typeface="+mn-ea"/>
                  </a:rPr>
                  <a:t>个对象，且不是边界点。</a:t>
                </a:r>
                <a:endParaRPr lang="zh-CN" altLang="zh-CN" sz="2000" dirty="0">
                  <a:solidFill>
                    <a:schemeClr val="tx1"/>
                  </a:solidFill>
                </a:endParaRPr>
              </a:p>
              <a:p>
                <a:pPr marL="342900" lvl="1" indent="-342900">
                  <a:buFont typeface="Arial" panose="020B0604020202020204" pitchFamily="34" charset="0"/>
                  <a:buChar char="•"/>
                </a:pPr>
                <a:r>
                  <a:rPr lang="zh-CN" altLang="zh-CN" sz="2000" b="1" dirty="0">
                    <a:solidFill>
                      <a:srgbClr val="FF0000"/>
                    </a:solidFill>
                  </a:rPr>
                  <a:t>直接密度可达</a:t>
                </a:r>
                <a:r>
                  <a:rPr lang="zh-CN" altLang="zh-CN" sz="2000" dirty="0">
                    <a:solidFill>
                      <a:srgbClr val="000000"/>
                    </a:solidFill>
                  </a:rPr>
                  <a:t>（</a:t>
                </a:r>
                <a:r>
                  <a:rPr lang="en-US" altLang="zh-CN" sz="2000" dirty="0">
                    <a:solidFill>
                      <a:srgbClr val="000000"/>
                    </a:solidFill>
                  </a:rPr>
                  <a:t>directly density-reachable</a:t>
                </a:r>
                <a:r>
                  <a:rPr lang="zh-CN" altLang="zh-CN" sz="2000" dirty="0">
                    <a:solidFill>
                      <a:srgbClr val="000000"/>
                    </a:solidFill>
                  </a:rPr>
                  <a:t>）：对于对象</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，如果</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是一个</a:t>
                </a:r>
                <a:r>
                  <a:rPr lang="zh-CN" altLang="zh-CN" sz="2000" dirty="0">
                    <a:solidFill>
                      <a:srgbClr val="FF0000"/>
                    </a:solidFill>
                  </a:rPr>
                  <a:t>核心对象</a:t>
                </a:r>
                <a:r>
                  <a:rPr lang="zh-CN" altLang="zh-CN" sz="2000" dirty="0">
                    <a:solidFill>
                      <a:srgbClr val="000000"/>
                    </a:solidFill>
                  </a:rPr>
                  <a:t>，且</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在</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的</a:t>
                </a:r>
                <a14:m>
                  <m:oMath xmlns:m="http://schemas.openxmlformats.org/officeDocument/2006/math">
                    <m:r>
                      <a:rPr lang="en-US" altLang="zh-CN" sz="2000">
                        <a:solidFill>
                          <a:srgbClr val="000000"/>
                        </a:solidFill>
                        <a:latin typeface="Cambria Math" panose="02040503050406030204" pitchFamily="18" charset="0"/>
                      </a:rPr>
                      <m:t>𝜀</m:t>
                    </m:r>
                  </m:oMath>
                </a14:m>
                <a:r>
                  <a:rPr lang="en-US" altLang="zh-CN" sz="2000" dirty="0">
                    <a:solidFill>
                      <a:srgbClr val="000000"/>
                    </a:solidFill>
                  </a:rPr>
                  <a:t>-</a:t>
                </a:r>
                <a:r>
                  <a:rPr lang="zh-CN" altLang="zh-CN" sz="2000" dirty="0">
                    <a:solidFill>
                      <a:srgbClr val="000000"/>
                    </a:solidFill>
                  </a:rPr>
                  <a:t>邻域内，那么对象</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是从</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直接密度可达的。</a:t>
                </a:r>
                <a:r>
                  <a:rPr lang="zh-CN" altLang="zh-CN" sz="2000" b="1" dirty="0">
                    <a:solidFill>
                      <a:srgbClr val="7030A0"/>
                    </a:solidFill>
                  </a:rPr>
                  <a:t>（必须是从核心点出发）</a:t>
                </a:r>
                <a:endParaRPr lang="zh-CN" altLang="zh-CN" sz="2000" b="1" dirty="0">
                  <a:solidFill>
                    <a:srgbClr val="7030A0"/>
                  </a:solidFill>
                </a:endParaRPr>
              </a:p>
              <a:p>
                <a:pPr marL="342900" lvl="1" indent="-342900">
                  <a:buFont typeface="Arial" panose="020B0604020202020204" pitchFamily="34" charset="0"/>
                  <a:buChar char="•"/>
                </a:pPr>
                <a:r>
                  <a:rPr lang="zh-CN" altLang="zh-CN" sz="2000" b="1" dirty="0">
                    <a:solidFill>
                      <a:srgbClr val="FF0000"/>
                    </a:solidFill>
                  </a:rPr>
                  <a:t>密度可达</a:t>
                </a:r>
                <a:r>
                  <a:rPr lang="zh-CN" altLang="zh-CN" sz="2000" dirty="0">
                    <a:solidFill>
                      <a:srgbClr val="000000"/>
                    </a:solidFill>
                  </a:rPr>
                  <a:t>（</a:t>
                </a:r>
                <a:r>
                  <a:rPr lang="en-US" altLang="zh-CN" sz="2000" dirty="0">
                    <a:solidFill>
                      <a:srgbClr val="000000"/>
                    </a:solidFill>
                  </a:rPr>
                  <a:t>density-reachable</a:t>
                </a:r>
                <a:r>
                  <a:rPr lang="zh-CN" altLang="zh-CN" sz="2000" dirty="0">
                    <a:solidFill>
                      <a:srgbClr val="000000"/>
                    </a:solidFill>
                  </a:rPr>
                  <a:t>）：对于对象</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，若存在一个对象链</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1</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2</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𝑛</m:t>
                        </m:r>
                      </m:sub>
                    </m:sSub>
                  </m:oMath>
                </a14:m>
                <a:r>
                  <a:rPr lang="zh-CN" altLang="zh-CN" sz="2000" dirty="0">
                    <a:solidFill>
                      <a:srgbClr val="000000"/>
                    </a:solidFill>
                  </a:rPr>
                  <a:t>，使得</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1</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𝑛</m:t>
                        </m:r>
                      </m:sub>
                    </m:sSub>
                    <m:r>
                      <a:rPr lang="en-US" altLang="zh-CN" sz="2000">
                        <a:solidFill>
                          <a:srgbClr val="000000"/>
                        </a:solidFill>
                        <a:latin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，并且对于</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𝑖</m:t>
                        </m:r>
                      </m:sub>
                    </m:sSub>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1</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𝑛</m:t>
                        </m:r>
                      </m:e>
                    </m:d>
                  </m:oMath>
                </a14:m>
                <a:r>
                  <a:rPr lang="en-US" altLang="zh-CN" sz="2000" dirty="0">
                    <a:solidFill>
                      <a:srgbClr val="000000"/>
                    </a:solidFill>
                  </a:rPr>
                  <a:t>,</a:t>
                </a:r>
                <a14:m>
                  <m:oMath xmlns:m="http://schemas.openxmlformats.org/officeDocument/2006/math">
                    <m:r>
                      <a:rPr lang="en-US" altLang="zh-CN" sz="2000">
                        <a:solidFill>
                          <a:srgbClr val="000000"/>
                        </a:solidFill>
                        <a:latin typeface="Cambria Math" panose="02040503050406030204" pitchFamily="18" charset="0"/>
                      </a:rPr>
                      <m:t> </m:t>
                    </m:r>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𝑖</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1</m:t>
                        </m:r>
                      </m:sub>
                    </m:sSub>
                  </m:oMath>
                </a14:m>
                <a:r>
                  <a:rPr lang="zh-CN" altLang="zh-CN" sz="2000" dirty="0">
                    <a:solidFill>
                      <a:srgbClr val="000000"/>
                    </a:solidFill>
                  </a:rPr>
                  <a:t>从</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𝑝</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关于</a:t>
                </a:r>
                <a14:m>
                  <m:oMath xmlns:m="http://schemas.openxmlformats.org/officeDocument/2006/math">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𝜀</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𝑀𝑖𝑛𝑃𝑡𝑠</m:t>
                        </m:r>
                      </m:e>
                    </m:d>
                  </m:oMath>
                </a14:m>
                <a:r>
                  <a:rPr lang="zh-CN" altLang="zh-CN" sz="2000" dirty="0">
                    <a:solidFill>
                      <a:srgbClr val="000000"/>
                    </a:solidFill>
                  </a:rPr>
                  <a:t>直接密度可达，那么</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是从</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密度可达的。</a:t>
                </a:r>
                <a:endParaRPr lang="zh-CN" altLang="zh-CN" sz="2000" dirty="0">
                  <a:solidFill>
                    <a:srgbClr val="000000"/>
                  </a:solidFill>
                </a:endParaRPr>
              </a:p>
              <a:p>
                <a:pPr marL="342900" lvl="1" indent="-342900">
                  <a:buFont typeface="Arial" panose="020B0604020202020204" pitchFamily="34" charset="0"/>
                  <a:buChar char="•"/>
                </a:pPr>
                <a:r>
                  <a:rPr lang="zh-CN" altLang="zh-CN" sz="2000" b="1" dirty="0">
                    <a:solidFill>
                      <a:srgbClr val="FF0000"/>
                    </a:solidFill>
                  </a:rPr>
                  <a:t>密度相连</a:t>
                </a:r>
                <a:r>
                  <a:rPr lang="zh-CN" altLang="zh-CN" sz="2000" dirty="0">
                    <a:solidFill>
                      <a:srgbClr val="000000"/>
                    </a:solidFill>
                  </a:rPr>
                  <a:t>（</a:t>
                </a:r>
                <a:r>
                  <a:rPr lang="en-US" altLang="zh-CN" sz="2000" dirty="0">
                    <a:solidFill>
                      <a:srgbClr val="000000"/>
                    </a:solidFill>
                  </a:rPr>
                  <a:t>density-connected</a:t>
                </a:r>
                <a:r>
                  <a:rPr lang="zh-CN" altLang="zh-CN" sz="2000" dirty="0">
                    <a:solidFill>
                      <a:srgbClr val="000000"/>
                    </a:solidFill>
                  </a:rPr>
                  <a:t>）：对于对象</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，若存在</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𝑘</m:t>
                        </m:r>
                      </m:sub>
                    </m:sSub>
                  </m:oMath>
                </a14:m>
                <a:r>
                  <a:rPr lang="zh-CN" altLang="zh-CN" sz="2000" dirty="0">
                    <a:solidFill>
                      <a:srgbClr val="000000"/>
                    </a:solidFill>
                  </a:rPr>
                  <a:t>使得</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是从</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𝑘</m:t>
                        </m:r>
                      </m:sub>
                    </m:sSub>
                  </m:oMath>
                </a14:m>
                <a:r>
                  <a:rPr lang="zh-CN" altLang="zh-CN" sz="2000" dirty="0">
                    <a:solidFill>
                      <a:srgbClr val="000000"/>
                    </a:solidFill>
                  </a:rPr>
                  <a:t>关于</a:t>
                </a:r>
                <a14:m>
                  <m:oMath xmlns:m="http://schemas.openxmlformats.org/officeDocument/2006/math">
                    <m:d>
                      <m:dPr>
                        <m:ctrlPr>
                          <a:rPr lang="zh-CN" altLang="zh-CN" sz="2000" i="1">
                            <a:solidFill>
                              <a:srgbClr val="000000"/>
                            </a:solidFill>
                            <a:latin typeface="Cambria Math" panose="02040503050406030204" pitchFamily="18" charset="0"/>
                          </a:rPr>
                        </m:ctrlPr>
                      </m:dPr>
                      <m:e>
                        <m:r>
                          <a:rPr lang="en-US" altLang="zh-CN" sz="2000">
                            <a:solidFill>
                              <a:srgbClr val="000000"/>
                            </a:solidFill>
                            <a:latin typeface="Cambria Math" panose="02040503050406030204" pitchFamily="18" charset="0"/>
                          </a:rPr>
                          <m:t>𝜀</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𝑀𝑖𝑛𝑃𝑡𝑠</m:t>
                        </m:r>
                      </m:e>
                    </m:d>
                  </m:oMath>
                </a14:m>
                <a:r>
                  <a:rPr lang="zh-CN" altLang="zh-CN" sz="2000" dirty="0">
                    <a:solidFill>
                      <a:srgbClr val="000000"/>
                    </a:solidFill>
                  </a:rPr>
                  <a:t>密度可达，那么</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𝑖</m:t>
                        </m:r>
                      </m:sub>
                    </m:sSub>
                  </m:oMath>
                </a14:m>
                <a:r>
                  <a:rPr lang="zh-CN" altLang="zh-CN" sz="2000" dirty="0">
                    <a:solidFill>
                      <a:srgbClr val="000000"/>
                    </a:solidFill>
                  </a:rPr>
                  <a:t>和</a:t>
                </a:r>
                <a14:m>
                  <m:oMath xmlns:m="http://schemas.openxmlformats.org/officeDocument/2006/math">
                    <m:sSub>
                      <m:sSubPr>
                        <m:ctrlPr>
                          <a:rPr lang="zh-CN" altLang="zh-CN" sz="2000" i="1">
                            <a:solidFill>
                              <a:srgbClr val="000000"/>
                            </a:solidFill>
                            <a:latin typeface="Cambria Math" panose="02040503050406030204" pitchFamily="18" charset="0"/>
                          </a:rPr>
                        </m:ctrlPr>
                      </m:sSubPr>
                      <m:e>
                        <m:r>
                          <a:rPr lang="en-US" altLang="zh-CN" sz="2000">
                            <a:solidFill>
                              <a:srgbClr val="000000"/>
                            </a:solidFill>
                            <a:latin typeface="Cambria Math" panose="02040503050406030204" pitchFamily="18" charset="0"/>
                          </a:rPr>
                          <m:t>𝑥</m:t>
                        </m:r>
                      </m:e>
                      <m:sub>
                        <m:r>
                          <a:rPr lang="en-US" altLang="zh-CN" sz="2000">
                            <a:solidFill>
                              <a:srgbClr val="000000"/>
                            </a:solidFill>
                            <a:latin typeface="Cambria Math" panose="02040503050406030204" pitchFamily="18" charset="0"/>
                          </a:rPr>
                          <m:t>𝑗</m:t>
                        </m:r>
                      </m:sub>
                    </m:sSub>
                  </m:oMath>
                </a14:m>
                <a:r>
                  <a:rPr lang="zh-CN" altLang="zh-CN" sz="2000" dirty="0">
                    <a:solidFill>
                      <a:srgbClr val="000000"/>
                    </a:solidFill>
                  </a:rPr>
                  <a:t>是密度相连的。</a:t>
                </a:r>
                <a:endParaRPr lang="zh-CN"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165100" y="1202690"/>
                <a:ext cx="8688705" cy="4984750"/>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1187450" y="1052830"/>
            <a:ext cx="6353175" cy="4524375"/>
          </a:xfrm>
          <a:prstGeom prst="rect">
            <a:avLst/>
          </a:prstGeom>
        </p:spPr>
      </p:pic>
      <p:pic>
        <p:nvPicPr>
          <p:cNvPr id="5" name="图片 4"/>
          <p:cNvPicPr>
            <a:picLocks noChangeAspect="1"/>
          </p:cNvPicPr>
          <p:nvPr/>
        </p:nvPicPr>
        <p:blipFill>
          <a:blip r:embed="rId3"/>
          <a:stretch>
            <a:fillRect/>
          </a:stretch>
        </p:blipFill>
        <p:spPr>
          <a:xfrm>
            <a:off x="1187450" y="1124585"/>
            <a:ext cx="6562725" cy="4143375"/>
          </a:xfrm>
          <a:prstGeom prst="rect">
            <a:avLst/>
          </a:prstGeom>
        </p:spPr>
      </p:pic>
      <p:pic>
        <p:nvPicPr>
          <p:cNvPr id="6" name="图片 5"/>
          <p:cNvPicPr>
            <a:picLocks noChangeAspect="1"/>
          </p:cNvPicPr>
          <p:nvPr/>
        </p:nvPicPr>
        <p:blipFill>
          <a:blip r:embed="rId4"/>
          <a:stretch>
            <a:fillRect/>
          </a:stretch>
        </p:blipFill>
        <p:spPr>
          <a:xfrm>
            <a:off x="1119505" y="1124585"/>
            <a:ext cx="6305550" cy="3981450"/>
          </a:xfrm>
          <a:prstGeom prst="rect">
            <a:avLst/>
          </a:prstGeom>
        </p:spPr>
      </p:pic>
      <p:pic>
        <p:nvPicPr>
          <p:cNvPr id="7" name="图片 6"/>
          <p:cNvPicPr>
            <a:picLocks noChangeAspect="1"/>
          </p:cNvPicPr>
          <p:nvPr/>
        </p:nvPicPr>
        <p:blipFill>
          <a:blip r:embed="rId5"/>
          <a:stretch>
            <a:fillRect/>
          </a:stretch>
        </p:blipFill>
        <p:spPr>
          <a:xfrm>
            <a:off x="1331595" y="1124585"/>
            <a:ext cx="6496050" cy="3905250"/>
          </a:xfrm>
          <a:prstGeom prst="rect">
            <a:avLst/>
          </a:prstGeom>
        </p:spPr>
      </p:pic>
      <p:pic>
        <p:nvPicPr>
          <p:cNvPr id="8" name="图片 7"/>
          <p:cNvPicPr>
            <a:picLocks noChangeAspect="1"/>
          </p:cNvPicPr>
          <p:nvPr/>
        </p:nvPicPr>
        <p:blipFill>
          <a:blip r:embed="rId6"/>
          <a:stretch>
            <a:fillRect/>
          </a:stretch>
        </p:blipFill>
        <p:spPr>
          <a:xfrm>
            <a:off x="1331595" y="1178560"/>
            <a:ext cx="6038850" cy="3895725"/>
          </a:xfrm>
          <a:prstGeom prst="rect">
            <a:avLst/>
          </a:prstGeom>
        </p:spPr>
      </p:pic>
      <p:pic>
        <p:nvPicPr>
          <p:cNvPr id="9" name="图片 8"/>
          <p:cNvPicPr>
            <a:picLocks noChangeAspect="1"/>
          </p:cNvPicPr>
          <p:nvPr/>
        </p:nvPicPr>
        <p:blipFill>
          <a:blip r:embed="rId7"/>
          <a:stretch>
            <a:fillRect/>
          </a:stretch>
        </p:blipFill>
        <p:spPr>
          <a:xfrm>
            <a:off x="1177925" y="1130935"/>
            <a:ext cx="6362700" cy="3943350"/>
          </a:xfrm>
          <a:prstGeom prst="rect">
            <a:avLst/>
          </a:prstGeom>
        </p:spPr>
      </p:pic>
      <p:pic>
        <p:nvPicPr>
          <p:cNvPr id="10" name="图片 9"/>
          <p:cNvPicPr>
            <a:picLocks noChangeAspect="1"/>
          </p:cNvPicPr>
          <p:nvPr/>
        </p:nvPicPr>
        <p:blipFill>
          <a:blip r:embed="rId8"/>
          <a:srcRect l="5111"/>
          <a:stretch>
            <a:fillRect/>
          </a:stretch>
        </p:blipFill>
        <p:spPr>
          <a:xfrm>
            <a:off x="179705" y="1402080"/>
            <a:ext cx="8676640" cy="4053840"/>
          </a:xfrm>
          <a:prstGeom prst="rect">
            <a:avLst/>
          </a:prstGeom>
        </p:spPr>
      </p:pic>
      <p:pic>
        <p:nvPicPr>
          <p:cNvPr id="11" name="图片 10"/>
          <p:cNvPicPr>
            <a:picLocks noChangeAspect="1"/>
          </p:cNvPicPr>
          <p:nvPr/>
        </p:nvPicPr>
        <p:blipFill>
          <a:blip r:embed="rId9"/>
          <a:stretch>
            <a:fillRect/>
          </a:stretch>
        </p:blipFill>
        <p:spPr>
          <a:xfrm>
            <a:off x="1435100" y="1178560"/>
            <a:ext cx="6105525" cy="4457700"/>
          </a:xfrm>
          <a:prstGeom prst="rect">
            <a:avLst/>
          </a:prstGeom>
        </p:spPr>
      </p:pic>
      <p:pic>
        <p:nvPicPr>
          <p:cNvPr id="12" name="图片 11"/>
          <p:cNvPicPr>
            <a:picLocks noChangeAspect="1"/>
          </p:cNvPicPr>
          <p:nvPr/>
        </p:nvPicPr>
        <p:blipFill>
          <a:blip r:embed="rId10"/>
          <a:stretch>
            <a:fillRect/>
          </a:stretch>
        </p:blipFill>
        <p:spPr>
          <a:xfrm>
            <a:off x="1666875" y="1166495"/>
            <a:ext cx="5810250" cy="4524375"/>
          </a:xfrm>
          <a:prstGeom prst="rect">
            <a:avLst/>
          </a:prstGeom>
        </p:spPr>
      </p:pic>
      <p:pic>
        <p:nvPicPr>
          <p:cNvPr id="13" name="图片 12"/>
          <p:cNvPicPr>
            <a:picLocks noChangeAspect="1"/>
          </p:cNvPicPr>
          <p:nvPr/>
        </p:nvPicPr>
        <p:blipFill>
          <a:blip r:embed="rId11"/>
          <a:stretch>
            <a:fillRect/>
          </a:stretch>
        </p:blipFill>
        <p:spPr>
          <a:xfrm>
            <a:off x="1403350" y="1102360"/>
            <a:ext cx="6334125" cy="4533900"/>
          </a:xfrm>
          <a:prstGeom prst="rect">
            <a:avLst/>
          </a:prstGeom>
        </p:spPr>
      </p:pic>
      <p:pic>
        <p:nvPicPr>
          <p:cNvPr id="14" name="图片 13"/>
          <p:cNvPicPr>
            <a:picLocks noChangeAspect="1"/>
          </p:cNvPicPr>
          <p:nvPr/>
        </p:nvPicPr>
        <p:blipFill>
          <a:blip r:embed="rId12"/>
          <a:stretch>
            <a:fillRect/>
          </a:stretch>
        </p:blipFill>
        <p:spPr>
          <a:xfrm>
            <a:off x="1475740" y="1017270"/>
            <a:ext cx="5905500" cy="4438650"/>
          </a:xfrm>
          <a:prstGeom prst="rect">
            <a:avLst/>
          </a:prstGeom>
        </p:spPr>
      </p:pic>
      <p:pic>
        <p:nvPicPr>
          <p:cNvPr id="16" name="图片 15"/>
          <p:cNvPicPr>
            <a:picLocks noChangeAspect="1"/>
          </p:cNvPicPr>
          <p:nvPr/>
        </p:nvPicPr>
        <p:blipFill>
          <a:blip r:embed="rId13"/>
          <a:stretch>
            <a:fillRect/>
          </a:stretch>
        </p:blipFill>
        <p:spPr>
          <a:xfrm>
            <a:off x="1366520" y="1190625"/>
            <a:ext cx="6410325" cy="4476750"/>
          </a:xfrm>
          <a:prstGeom prst="rect">
            <a:avLst/>
          </a:prstGeom>
        </p:spPr>
      </p:pic>
      <p:pic>
        <p:nvPicPr>
          <p:cNvPr id="17" name="图片 16"/>
          <p:cNvPicPr>
            <a:picLocks noChangeAspect="1"/>
          </p:cNvPicPr>
          <p:nvPr/>
        </p:nvPicPr>
        <p:blipFill>
          <a:blip r:embed="rId14"/>
          <a:stretch>
            <a:fillRect/>
          </a:stretch>
        </p:blipFill>
        <p:spPr>
          <a:xfrm>
            <a:off x="1623695" y="1200150"/>
            <a:ext cx="5895975" cy="4457700"/>
          </a:xfrm>
          <a:prstGeom prst="rect">
            <a:avLst/>
          </a:prstGeom>
        </p:spPr>
      </p:pic>
      <p:pic>
        <p:nvPicPr>
          <p:cNvPr id="18" name="图片 17"/>
          <p:cNvPicPr>
            <a:picLocks noChangeAspect="1"/>
          </p:cNvPicPr>
          <p:nvPr/>
        </p:nvPicPr>
        <p:blipFill>
          <a:blip r:embed="rId15"/>
          <a:stretch>
            <a:fillRect/>
          </a:stretch>
        </p:blipFill>
        <p:spPr>
          <a:xfrm>
            <a:off x="1657350" y="1276350"/>
            <a:ext cx="5829300" cy="4305300"/>
          </a:xfrm>
          <a:prstGeom prst="rect">
            <a:avLst/>
          </a:prstGeom>
        </p:spPr>
      </p:pic>
      <p:pic>
        <p:nvPicPr>
          <p:cNvPr id="19" name="图片 18"/>
          <p:cNvPicPr>
            <a:picLocks noChangeAspect="1"/>
          </p:cNvPicPr>
          <p:nvPr/>
        </p:nvPicPr>
        <p:blipFill>
          <a:blip r:embed="rId16"/>
          <a:stretch>
            <a:fillRect/>
          </a:stretch>
        </p:blipFill>
        <p:spPr>
          <a:xfrm>
            <a:off x="1438275" y="1295400"/>
            <a:ext cx="6267450" cy="4267200"/>
          </a:xfrm>
          <a:prstGeom prst="rect">
            <a:avLst/>
          </a:prstGeom>
        </p:spPr>
      </p:pic>
      <p:pic>
        <p:nvPicPr>
          <p:cNvPr id="20" name="图片 19"/>
          <p:cNvPicPr>
            <a:picLocks noChangeAspect="1"/>
          </p:cNvPicPr>
          <p:nvPr/>
        </p:nvPicPr>
        <p:blipFill>
          <a:blip r:embed="rId17"/>
          <a:stretch>
            <a:fillRect/>
          </a:stretch>
        </p:blipFill>
        <p:spPr>
          <a:xfrm>
            <a:off x="1562100" y="1323975"/>
            <a:ext cx="6019800" cy="4210050"/>
          </a:xfrm>
          <a:prstGeom prst="rect">
            <a:avLst/>
          </a:prstGeom>
        </p:spPr>
      </p:pic>
      <p:pic>
        <p:nvPicPr>
          <p:cNvPr id="21" name="图片 20"/>
          <p:cNvPicPr>
            <a:picLocks noChangeAspect="1"/>
          </p:cNvPicPr>
          <p:nvPr/>
        </p:nvPicPr>
        <p:blipFill>
          <a:blip r:embed="rId18"/>
          <a:stretch>
            <a:fillRect/>
          </a:stretch>
        </p:blipFill>
        <p:spPr>
          <a:xfrm>
            <a:off x="1471295" y="1176020"/>
            <a:ext cx="6200775" cy="4505325"/>
          </a:xfrm>
          <a:prstGeom prst="rect">
            <a:avLst/>
          </a:prstGeom>
        </p:spPr>
      </p:pic>
      <p:pic>
        <p:nvPicPr>
          <p:cNvPr id="22" name="图片 21"/>
          <p:cNvPicPr>
            <a:picLocks noChangeAspect="1"/>
          </p:cNvPicPr>
          <p:nvPr/>
        </p:nvPicPr>
        <p:blipFill>
          <a:blip r:embed="rId19"/>
          <a:stretch>
            <a:fillRect/>
          </a:stretch>
        </p:blipFill>
        <p:spPr>
          <a:xfrm>
            <a:off x="1571625" y="1238250"/>
            <a:ext cx="6000750" cy="4381500"/>
          </a:xfrm>
          <a:prstGeom prst="rect">
            <a:avLst/>
          </a:prstGeom>
        </p:spPr>
      </p:pic>
      <p:pic>
        <p:nvPicPr>
          <p:cNvPr id="23" name="图片 22"/>
          <p:cNvPicPr>
            <a:picLocks noChangeAspect="1"/>
          </p:cNvPicPr>
          <p:nvPr/>
        </p:nvPicPr>
        <p:blipFill>
          <a:blip r:embed="rId20"/>
          <a:stretch>
            <a:fillRect/>
          </a:stretch>
        </p:blipFill>
        <p:spPr>
          <a:xfrm>
            <a:off x="1252220" y="952500"/>
            <a:ext cx="6638925" cy="4953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500"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nodeType="clickEffect">
                                  <p:stCondLst>
                                    <p:cond delay="0"/>
                                  </p:stCondLst>
                                  <p:childTnLst>
                                    <p:animEffect transition="out" filter="blinds(horizontal)">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500" fill="hold">
                                          <p:stCondLst>
                                            <p:cond delay="0"/>
                                          </p:stCondLst>
                                        </p:cTn>
                                        <p:tgtEl>
                                          <p:spTgt spid="6"/>
                                        </p:tgtEl>
                                        <p:attrNameLst>
                                          <p:attrName>style.visibility</p:attrName>
                                        </p:attrNameLst>
                                      </p:cBhvr>
                                      <p:to>
                                        <p:strVal val="visible"/>
                                      </p:to>
                                    </p:set>
                                    <p:animEffect transition="in" filter="box(i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nodeType="clickEffect">
                                  <p:stCondLst>
                                    <p:cond delay="0"/>
                                  </p:stCondLst>
                                  <p:childTnLst>
                                    <p:animEffect transition="out" filter="blinds(horizontal)">
                                      <p:cBhvr>
                                        <p:cTn id="31" dur="500"/>
                                        <p:tgtEl>
                                          <p:spTgt spid="6"/>
                                        </p:tgtEl>
                                      </p:cBhvr>
                                    </p:animEffect>
                                    <p:set>
                                      <p:cBhvr>
                                        <p:cTn id="32" dur="1" fill="hold">
                                          <p:stCondLst>
                                            <p:cond delay="499"/>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500" fill="hold">
                                          <p:stCondLst>
                                            <p:cond delay="0"/>
                                          </p:stCondLst>
                                        </p:cTn>
                                        <p:tgtEl>
                                          <p:spTgt spid="7"/>
                                        </p:tgtEl>
                                        <p:attrNameLst>
                                          <p:attrName>style.visibility</p:attrName>
                                        </p:attrNameLst>
                                      </p:cBhvr>
                                      <p:to>
                                        <p:strVal val="visible"/>
                                      </p:to>
                                    </p:set>
                                    <p:animEffect transition="in" filter="box(i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nodeType="clickEffect">
                                  <p:stCondLst>
                                    <p:cond delay="0"/>
                                  </p:stCondLst>
                                  <p:childTnLst>
                                    <p:animEffect transition="out" filter="blinds(horizontal)">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500" fill="hold">
                                          <p:stCondLst>
                                            <p:cond delay="0"/>
                                          </p:stCondLst>
                                        </p:cTn>
                                        <p:tgtEl>
                                          <p:spTgt spid="8"/>
                                        </p:tgtEl>
                                        <p:attrNameLst>
                                          <p:attrName>style.visibility</p:attrName>
                                        </p:attrNameLst>
                                      </p:cBhvr>
                                      <p:to>
                                        <p:strVal val="visible"/>
                                      </p:to>
                                    </p:set>
                                    <p:animEffect transition="in" filter="box(in)">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nodeType="clickEffect">
                                  <p:stCondLst>
                                    <p:cond delay="0"/>
                                  </p:stCondLst>
                                  <p:childTnLst>
                                    <p:animEffect transition="out" filter="blinds(horizontal)">
                                      <p:cBhvr>
                                        <p:cTn id="51" dur="500"/>
                                        <p:tgtEl>
                                          <p:spTgt spid="8"/>
                                        </p:tgtEl>
                                      </p:cBhvr>
                                    </p:animEffect>
                                    <p:set>
                                      <p:cBhvr>
                                        <p:cTn id="52" dur="1" fill="hold">
                                          <p:stCondLst>
                                            <p:cond delay="499"/>
                                          </p:stCondLst>
                                        </p:cTn>
                                        <p:tgtEl>
                                          <p:spTgt spid="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500" fill="hold">
                                          <p:stCondLst>
                                            <p:cond delay="0"/>
                                          </p:stCondLst>
                                        </p:cTn>
                                        <p:tgtEl>
                                          <p:spTgt spid="9"/>
                                        </p:tgtEl>
                                        <p:attrNameLst>
                                          <p:attrName>style.visibility</p:attrName>
                                        </p:attrNameLst>
                                      </p:cBhvr>
                                      <p:to>
                                        <p:strVal val="visible"/>
                                      </p:to>
                                    </p:set>
                                    <p:animEffect transition="in" filter="box(in)">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nodeType="clickEffect">
                                  <p:stCondLst>
                                    <p:cond delay="0"/>
                                  </p:stCondLst>
                                  <p:childTnLst>
                                    <p:animEffect transition="out" filter="blinds(horizontal)">
                                      <p:cBhvr>
                                        <p:cTn id="61" dur="500"/>
                                        <p:tgtEl>
                                          <p:spTgt spid="9"/>
                                        </p:tgtEl>
                                      </p:cBhvr>
                                    </p:animEffect>
                                    <p:set>
                                      <p:cBhvr>
                                        <p:cTn id="62" dur="1" fill="hold">
                                          <p:stCondLst>
                                            <p:cond delay="499"/>
                                          </p:stCondLst>
                                        </p:cTn>
                                        <p:tgtEl>
                                          <p:spTgt spid="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box(in)">
                                      <p:cBhvr>
                                        <p:cTn id="67" dur="20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nodeType="clickEffect">
                                  <p:stCondLst>
                                    <p:cond delay="0"/>
                                  </p:stCondLst>
                                  <p:childTnLst>
                                    <p:animEffect transition="out" filter="blinds(horizontal)">
                                      <p:cBhvr>
                                        <p:cTn id="71" dur="500"/>
                                        <p:tgtEl>
                                          <p:spTgt spid="10"/>
                                        </p:tgtEl>
                                      </p:cBhvr>
                                    </p:animEffect>
                                    <p:set>
                                      <p:cBhvr>
                                        <p:cTn id="72" dur="1" fill="hold">
                                          <p:stCondLst>
                                            <p:cond delay="499"/>
                                          </p:stCondLst>
                                        </p:cTn>
                                        <p:tgtEl>
                                          <p:spTgt spid="1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box(in)">
                                      <p:cBhvr>
                                        <p:cTn id="77" dur="2000"/>
                                        <p:tgtEl>
                                          <p:spTgt spid="11"/>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xit" presetSubtype="10" fill="hold" nodeType="clickEffect">
                                  <p:stCondLst>
                                    <p:cond delay="0"/>
                                  </p:stCondLst>
                                  <p:childTnLst>
                                    <p:animEffect transition="out" filter="blinds(horizontal)">
                                      <p:cBhvr>
                                        <p:cTn id="81" dur="500"/>
                                        <p:tgtEl>
                                          <p:spTgt spid="11"/>
                                        </p:tgtEl>
                                      </p:cBhvr>
                                    </p:animEffect>
                                    <p:set>
                                      <p:cBhvr>
                                        <p:cTn id="82" dur="1" fill="hold">
                                          <p:stCondLst>
                                            <p:cond delay="499"/>
                                          </p:stCondLst>
                                        </p:cTn>
                                        <p:tgtEl>
                                          <p:spTgt spid="11"/>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nodeType="clickEffect">
                                  <p:stCondLst>
                                    <p:cond delay="0"/>
                                  </p:stCondLst>
                                  <p:childTnLst>
                                    <p:set>
                                      <p:cBhvr>
                                        <p:cTn id="86" dur="1" fill="hold">
                                          <p:stCondLst>
                                            <p:cond delay="0"/>
                                          </p:stCondLst>
                                        </p:cTn>
                                        <p:tgtEl>
                                          <p:spTgt spid="12"/>
                                        </p:tgtEl>
                                        <p:attrNameLst>
                                          <p:attrName>style.visibility</p:attrName>
                                        </p:attrNameLst>
                                      </p:cBhvr>
                                      <p:to>
                                        <p:strVal val="visible"/>
                                      </p:to>
                                    </p:set>
                                    <p:animEffect transition="in" filter="box(in)">
                                      <p:cBhvr>
                                        <p:cTn id="87" dur="2000"/>
                                        <p:tgtEl>
                                          <p:spTgt spid="12"/>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nodeType="clickEffect">
                                  <p:stCondLst>
                                    <p:cond delay="0"/>
                                  </p:stCondLst>
                                  <p:childTnLst>
                                    <p:animEffect transition="out" filter="blinds(horizontal)">
                                      <p:cBhvr>
                                        <p:cTn id="91" dur="500"/>
                                        <p:tgtEl>
                                          <p:spTgt spid="12"/>
                                        </p:tgtEl>
                                      </p:cBhvr>
                                    </p:animEffect>
                                    <p:set>
                                      <p:cBhvr>
                                        <p:cTn id="92" dur="1" fill="hold">
                                          <p:stCondLst>
                                            <p:cond delay="499"/>
                                          </p:stCondLst>
                                        </p:cTn>
                                        <p:tgtEl>
                                          <p:spTgt spid="12"/>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nodeType="click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box(in)">
                                      <p:cBhvr>
                                        <p:cTn id="97" dur="2000"/>
                                        <p:tgtEl>
                                          <p:spTgt spid="13"/>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xit" presetSubtype="10" fill="hold" nodeType="clickEffect">
                                  <p:stCondLst>
                                    <p:cond delay="0"/>
                                  </p:stCondLst>
                                  <p:childTnLst>
                                    <p:animEffect transition="out" filter="blinds(horizontal)">
                                      <p:cBhvr>
                                        <p:cTn id="101" dur="500"/>
                                        <p:tgtEl>
                                          <p:spTgt spid="13"/>
                                        </p:tgtEl>
                                      </p:cBhvr>
                                    </p:animEffect>
                                    <p:set>
                                      <p:cBhvr>
                                        <p:cTn id="102" dur="1" fill="hold">
                                          <p:stCondLst>
                                            <p:cond delay="499"/>
                                          </p:stCondLst>
                                        </p:cTn>
                                        <p:tgtEl>
                                          <p:spTgt spid="13"/>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4" presetClass="entr" presetSubtype="16" fill="hold" nodeType="clickEffect">
                                  <p:stCondLst>
                                    <p:cond delay="0"/>
                                  </p:stCondLst>
                                  <p:childTnLst>
                                    <p:set>
                                      <p:cBhvr>
                                        <p:cTn id="106" dur="1" fill="hold">
                                          <p:stCondLst>
                                            <p:cond delay="0"/>
                                          </p:stCondLst>
                                        </p:cTn>
                                        <p:tgtEl>
                                          <p:spTgt spid="14"/>
                                        </p:tgtEl>
                                        <p:attrNameLst>
                                          <p:attrName>style.visibility</p:attrName>
                                        </p:attrNameLst>
                                      </p:cBhvr>
                                      <p:to>
                                        <p:strVal val="visible"/>
                                      </p:to>
                                    </p:set>
                                    <p:animEffect transition="in" filter="box(in)">
                                      <p:cBhvr>
                                        <p:cTn id="107" dur="2000"/>
                                        <p:tgtEl>
                                          <p:spTgt spid="14"/>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xit" presetSubtype="10" fill="hold" nodeType="clickEffect">
                                  <p:stCondLst>
                                    <p:cond delay="0"/>
                                  </p:stCondLst>
                                  <p:childTnLst>
                                    <p:animEffect transition="out" filter="blinds(horizontal)">
                                      <p:cBhvr>
                                        <p:cTn id="111" dur="500"/>
                                        <p:tgtEl>
                                          <p:spTgt spid="14"/>
                                        </p:tgtEl>
                                      </p:cBhvr>
                                    </p:animEffect>
                                    <p:set>
                                      <p:cBhvr>
                                        <p:cTn id="112" dur="1" fill="hold">
                                          <p:stCondLst>
                                            <p:cond delay="499"/>
                                          </p:stCondLst>
                                        </p:cTn>
                                        <p:tgtEl>
                                          <p:spTgt spid="14"/>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nodeType="clickEffect">
                                  <p:stCondLst>
                                    <p:cond delay="0"/>
                                  </p:stCondLst>
                                  <p:childTnLst>
                                    <p:set>
                                      <p:cBhvr>
                                        <p:cTn id="116" dur="1" fill="hold">
                                          <p:stCondLst>
                                            <p:cond delay="0"/>
                                          </p:stCondLst>
                                        </p:cTn>
                                        <p:tgtEl>
                                          <p:spTgt spid="16"/>
                                        </p:tgtEl>
                                        <p:attrNameLst>
                                          <p:attrName>style.visibility</p:attrName>
                                        </p:attrNameLst>
                                      </p:cBhvr>
                                      <p:to>
                                        <p:strVal val="visible"/>
                                      </p:to>
                                    </p:set>
                                    <p:animEffect transition="in" filter="box(in)">
                                      <p:cBhvr>
                                        <p:cTn id="117" dur="2000"/>
                                        <p:tgtEl>
                                          <p:spTgt spid="16"/>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xit" presetSubtype="10" fill="hold" nodeType="clickEffect">
                                  <p:stCondLst>
                                    <p:cond delay="0"/>
                                  </p:stCondLst>
                                  <p:childTnLst>
                                    <p:animEffect transition="out" filter="blinds(horizontal)">
                                      <p:cBhvr>
                                        <p:cTn id="121" dur="500"/>
                                        <p:tgtEl>
                                          <p:spTgt spid="16"/>
                                        </p:tgtEl>
                                      </p:cBhvr>
                                    </p:animEffect>
                                    <p:set>
                                      <p:cBhvr>
                                        <p:cTn id="122" dur="1" fill="hold">
                                          <p:stCondLst>
                                            <p:cond delay="499"/>
                                          </p:stCondLst>
                                        </p:cTn>
                                        <p:tgtEl>
                                          <p:spTgt spid="16"/>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nodeType="clickEffect">
                                  <p:stCondLst>
                                    <p:cond delay="0"/>
                                  </p:stCondLst>
                                  <p:childTnLst>
                                    <p:set>
                                      <p:cBhvr>
                                        <p:cTn id="126" dur="1" fill="hold">
                                          <p:stCondLst>
                                            <p:cond delay="0"/>
                                          </p:stCondLst>
                                        </p:cTn>
                                        <p:tgtEl>
                                          <p:spTgt spid="17"/>
                                        </p:tgtEl>
                                        <p:attrNameLst>
                                          <p:attrName>style.visibility</p:attrName>
                                        </p:attrNameLst>
                                      </p:cBhvr>
                                      <p:to>
                                        <p:strVal val="visible"/>
                                      </p:to>
                                    </p:set>
                                    <p:animEffect transition="in" filter="box(in)">
                                      <p:cBhvr>
                                        <p:cTn id="127" dur="2000"/>
                                        <p:tgtEl>
                                          <p:spTgt spid="17"/>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xit" presetSubtype="10" fill="hold" nodeType="clickEffect">
                                  <p:stCondLst>
                                    <p:cond delay="0"/>
                                  </p:stCondLst>
                                  <p:childTnLst>
                                    <p:animEffect transition="out" filter="blinds(horizontal)">
                                      <p:cBhvr>
                                        <p:cTn id="131" dur="500"/>
                                        <p:tgtEl>
                                          <p:spTgt spid="17"/>
                                        </p:tgtEl>
                                      </p:cBhvr>
                                    </p:animEffect>
                                    <p:set>
                                      <p:cBhvr>
                                        <p:cTn id="132" dur="1" fill="hold">
                                          <p:stCondLst>
                                            <p:cond delay="499"/>
                                          </p:stCondLst>
                                        </p:cTn>
                                        <p:tgtEl>
                                          <p:spTgt spid="17"/>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4" presetClass="entr" presetSubtype="16" fill="hold" nodeType="clickEffect">
                                  <p:stCondLst>
                                    <p:cond delay="0"/>
                                  </p:stCondLst>
                                  <p:childTnLst>
                                    <p:set>
                                      <p:cBhvr>
                                        <p:cTn id="136" dur="1" fill="hold">
                                          <p:stCondLst>
                                            <p:cond delay="0"/>
                                          </p:stCondLst>
                                        </p:cTn>
                                        <p:tgtEl>
                                          <p:spTgt spid="18"/>
                                        </p:tgtEl>
                                        <p:attrNameLst>
                                          <p:attrName>style.visibility</p:attrName>
                                        </p:attrNameLst>
                                      </p:cBhvr>
                                      <p:to>
                                        <p:strVal val="visible"/>
                                      </p:to>
                                    </p:set>
                                    <p:animEffect transition="in" filter="box(in)">
                                      <p:cBhvr>
                                        <p:cTn id="137" dur="2000"/>
                                        <p:tgtEl>
                                          <p:spTgt spid="18"/>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xit" presetSubtype="10" fill="hold" nodeType="clickEffect">
                                  <p:stCondLst>
                                    <p:cond delay="0"/>
                                  </p:stCondLst>
                                  <p:childTnLst>
                                    <p:animEffect transition="out" filter="blinds(horizontal)">
                                      <p:cBhvr>
                                        <p:cTn id="141" dur="500"/>
                                        <p:tgtEl>
                                          <p:spTgt spid="18"/>
                                        </p:tgtEl>
                                      </p:cBhvr>
                                    </p:animEffect>
                                    <p:set>
                                      <p:cBhvr>
                                        <p:cTn id="142" dur="1" fill="hold">
                                          <p:stCondLst>
                                            <p:cond delay="499"/>
                                          </p:stCondLst>
                                        </p:cTn>
                                        <p:tgtEl>
                                          <p:spTgt spid="18"/>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4" presetClass="entr" presetSubtype="16" fill="hold" nodeType="clickEffect">
                                  <p:stCondLst>
                                    <p:cond delay="0"/>
                                  </p:stCondLst>
                                  <p:childTnLst>
                                    <p:set>
                                      <p:cBhvr>
                                        <p:cTn id="146" dur="1" fill="hold">
                                          <p:stCondLst>
                                            <p:cond delay="0"/>
                                          </p:stCondLst>
                                        </p:cTn>
                                        <p:tgtEl>
                                          <p:spTgt spid="19"/>
                                        </p:tgtEl>
                                        <p:attrNameLst>
                                          <p:attrName>style.visibility</p:attrName>
                                        </p:attrNameLst>
                                      </p:cBhvr>
                                      <p:to>
                                        <p:strVal val="visible"/>
                                      </p:to>
                                    </p:set>
                                    <p:animEffect transition="in" filter="box(in)">
                                      <p:cBhvr>
                                        <p:cTn id="147" dur="2000"/>
                                        <p:tgtEl>
                                          <p:spTgt spid="19"/>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xit" presetSubtype="10" fill="hold" nodeType="clickEffect">
                                  <p:stCondLst>
                                    <p:cond delay="0"/>
                                  </p:stCondLst>
                                  <p:childTnLst>
                                    <p:animEffect transition="out" filter="blinds(horizontal)">
                                      <p:cBhvr>
                                        <p:cTn id="151" dur="500"/>
                                        <p:tgtEl>
                                          <p:spTgt spid="19"/>
                                        </p:tgtEl>
                                      </p:cBhvr>
                                    </p:animEffect>
                                    <p:set>
                                      <p:cBhvr>
                                        <p:cTn id="152" dur="1" fill="hold">
                                          <p:stCondLst>
                                            <p:cond delay="499"/>
                                          </p:stCondLst>
                                        </p:cTn>
                                        <p:tgtEl>
                                          <p:spTgt spid="19"/>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4" presetClass="entr" presetSubtype="16" fill="hold" nodeType="clickEffect">
                                  <p:stCondLst>
                                    <p:cond delay="0"/>
                                  </p:stCondLst>
                                  <p:childTnLst>
                                    <p:set>
                                      <p:cBhvr>
                                        <p:cTn id="156" dur="1" fill="hold">
                                          <p:stCondLst>
                                            <p:cond delay="0"/>
                                          </p:stCondLst>
                                        </p:cTn>
                                        <p:tgtEl>
                                          <p:spTgt spid="20"/>
                                        </p:tgtEl>
                                        <p:attrNameLst>
                                          <p:attrName>style.visibility</p:attrName>
                                        </p:attrNameLst>
                                      </p:cBhvr>
                                      <p:to>
                                        <p:strVal val="visible"/>
                                      </p:to>
                                    </p:set>
                                    <p:animEffect transition="in" filter="box(in)">
                                      <p:cBhvr>
                                        <p:cTn id="157" dur="2000"/>
                                        <p:tgtEl>
                                          <p:spTgt spid="20"/>
                                        </p:tgtEl>
                                      </p:cBhvr>
                                    </p:animEffect>
                                  </p:childTnLst>
                                </p:cTn>
                              </p:par>
                            </p:childTnLst>
                          </p:cTn>
                        </p:par>
                      </p:childTnLst>
                    </p:cTn>
                  </p:par>
                  <p:par>
                    <p:cTn id="158" fill="hold">
                      <p:stCondLst>
                        <p:cond delay="indefinite"/>
                      </p:stCondLst>
                      <p:childTnLst>
                        <p:par>
                          <p:cTn id="159" fill="hold">
                            <p:stCondLst>
                              <p:cond delay="0"/>
                            </p:stCondLst>
                            <p:childTnLst>
                              <p:par>
                                <p:cTn id="160" presetID="3" presetClass="exit" presetSubtype="10" fill="hold" nodeType="clickEffect">
                                  <p:stCondLst>
                                    <p:cond delay="0"/>
                                  </p:stCondLst>
                                  <p:childTnLst>
                                    <p:animEffect transition="out" filter="blinds(horizontal)">
                                      <p:cBhvr>
                                        <p:cTn id="161" dur="500"/>
                                        <p:tgtEl>
                                          <p:spTgt spid="20"/>
                                        </p:tgtEl>
                                      </p:cBhvr>
                                    </p:animEffect>
                                    <p:set>
                                      <p:cBhvr>
                                        <p:cTn id="162" dur="1" fill="hold">
                                          <p:stCondLst>
                                            <p:cond delay="499"/>
                                          </p:stCondLst>
                                        </p:cTn>
                                        <p:tgtEl>
                                          <p:spTgt spid="20"/>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4" presetClass="entr" presetSubtype="16" fill="hold" nodeType="clickEffect">
                                  <p:stCondLst>
                                    <p:cond delay="0"/>
                                  </p:stCondLst>
                                  <p:childTnLst>
                                    <p:set>
                                      <p:cBhvr>
                                        <p:cTn id="166" dur="1" fill="hold">
                                          <p:stCondLst>
                                            <p:cond delay="0"/>
                                          </p:stCondLst>
                                        </p:cTn>
                                        <p:tgtEl>
                                          <p:spTgt spid="21"/>
                                        </p:tgtEl>
                                        <p:attrNameLst>
                                          <p:attrName>style.visibility</p:attrName>
                                        </p:attrNameLst>
                                      </p:cBhvr>
                                      <p:to>
                                        <p:strVal val="visible"/>
                                      </p:to>
                                    </p:set>
                                    <p:animEffect transition="in" filter="box(in)">
                                      <p:cBhvr>
                                        <p:cTn id="167" dur="2000"/>
                                        <p:tgtEl>
                                          <p:spTgt spid="21"/>
                                        </p:tgtEl>
                                      </p:cBhvr>
                                    </p:animEffect>
                                  </p:childTnLst>
                                </p:cTn>
                              </p:par>
                            </p:childTnLst>
                          </p:cTn>
                        </p:par>
                      </p:childTnLst>
                    </p:cTn>
                  </p:par>
                  <p:par>
                    <p:cTn id="168" fill="hold">
                      <p:stCondLst>
                        <p:cond delay="indefinite"/>
                      </p:stCondLst>
                      <p:childTnLst>
                        <p:par>
                          <p:cTn id="169" fill="hold">
                            <p:stCondLst>
                              <p:cond delay="0"/>
                            </p:stCondLst>
                            <p:childTnLst>
                              <p:par>
                                <p:cTn id="170" presetID="3" presetClass="exit" presetSubtype="10" fill="hold" nodeType="clickEffect">
                                  <p:stCondLst>
                                    <p:cond delay="0"/>
                                  </p:stCondLst>
                                  <p:childTnLst>
                                    <p:animEffect transition="out" filter="blinds(horizontal)">
                                      <p:cBhvr>
                                        <p:cTn id="171" dur="500"/>
                                        <p:tgtEl>
                                          <p:spTgt spid="21"/>
                                        </p:tgtEl>
                                      </p:cBhvr>
                                    </p:animEffect>
                                    <p:set>
                                      <p:cBhvr>
                                        <p:cTn id="172" dur="1" fill="hold">
                                          <p:stCondLst>
                                            <p:cond delay="499"/>
                                          </p:stCondLst>
                                        </p:cTn>
                                        <p:tgtEl>
                                          <p:spTgt spid="21"/>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4" presetClass="entr" presetSubtype="16" fill="hold" nodeType="clickEffect">
                                  <p:stCondLst>
                                    <p:cond delay="0"/>
                                  </p:stCondLst>
                                  <p:childTnLst>
                                    <p:set>
                                      <p:cBhvr>
                                        <p:cTn id="176" dur="1" fill="hold">
                                          <p:stCondLst>
                                            <p:cond delay="0"/>
                                          </p:stCondLst>
                                        </p:cTn>
                                        <p:tgtEl>
                                          <p:spTgt spid="22"/>
                                        </p:tgtEl>
                                        <p:attrNameLst>
                                          <p:attrName>style.visibility</p:attrName>
                                        </p:attrNameLst>
                                      </p:cBhvr>
                                      <p:to>
                                        <p:strVal val="visible"/>
                                      </p:to>
                                    </p:set>
                                    <p:animEffect transition="in" filter="box(in)">
                                      <p:cBhvr>
                                        <p:cTn id="177" dur="2000"/>
                                        <p:tgtEl>
                                          <p:spTgt spid="22"/>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xit" presetSubtype="10" fill="hold" nodeType="clickEffect">
                                  <p:stCondLst>
                                    <p:cond delay="0"/>
                                  </p:stCondLst>
                                  <p:childTnLst>
                                    <p:animEffect transition="out" filter="blinds(horizontal)">
                                      <p:cBhvr>
                                        <p:cTn id="181" dur="500"/>
                                        <p:tgtEl>
                                          <p:spTgt spid="22"/>
                                        </p:tgtEl>
                                      </p:cBhvr>
                                    </p:animEffect>
                                    <p:set>
                                      <p:cBhvr>
                                        <p:cTn id="182" dur="1" fill="hold">
                                          <p:stCondLst>
                                            <p:cond delay="499"/>
                                          </p:stCondLst>
                                        </p:cTn>
                                        <p:tgtEl>
                                          <p:spTgt spid="22"/>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4" presetClass="entr" presetSubtype="16" fill="hold" nodeType="clickEffect">
                                  <p:stCondLst>
                                    <p:cond delay="0"/>
                                  </p:stCondLst>
                                  <p:childTnLst>
                                    <p:set>
                                      <p:cBhvr>
                                        <p:cTn id="186" dur="1" fill="hold">
                                          <p:stCondLst>
                                            <p:cond delay="0"/>
                                          </p:stCondLst>
                                        </p:cTn>
                                        <p:tgtEl>
                                          <p:spTgt spid="23"/>
                                        </p:tgtEl>
                                        <p:attrNameLst>
                                          <p:attrName>style.visibility</p:attrName>
                                        </p:attrNameLst>
                                      </p:cBhvr>
                                      <p:to>
                                        <p:strVal val="visible"/>
                                      </p:to>
                                    </p:set>
                                    <p:animEffect transition="in" filter="box(in)">
                                      <p:cBhvr>
                                        <p:cTn id="187" dur="2000"/>
                                        <p:tgtEl>
                                          <p:spTgt spid="23"/>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xit" presetSubtype="10" fill="hold" nodeType="clickEffect">
                                  <p:stCondLst>
                                    <p:cond delay="0"/>
                                  </p:stCondLst>
                                  <p:childTnLst>
                                    <p:animEffect transition="out" filter="blinds(horizontal)">
                                      <p:cBhvr>
                                        <p:cTn id="191" dur="500"/>
                                        <p:tgtEl>
                                          <p:spTgt spid="23"/>
                                        </p:tgtEl>
                                      </p:cBhvr>
                                    </p:animEffect>
                                    <p:set>
                                      <p:cBhvr>
                                        <p:cTn id="19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DBSCAN</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7586028"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lvl="1" indent="-342900">
                  <a:buFont typeface="Arial" panose="020B0604020202020204" pitchFamily="34" charset="0"/>
                  <a:buChar char="•"/>
                </a:pPr>
                <a:r>
                  <a:rPr lang="zh-CN" altLang="zh-CN" sz="2000" dirty="0">
                    <a:solidFill>
                      <a:srgbClr val="000000"/>
                    </a:solidFill>
                  </a:rPr>
                  <a:t>在</a:t>
                </a:r>
                <a:r>
                  <a:rPr lang="zh-CN" altLang="en-US" sz="2000" dirty="0">
                    <a:solidFill>
                      <a:srgbClr val="000000"/>
                    </a:solidFill>
                  </a:rPr>
                  <a:t>下图</a:t>
                </a:r>
                <a:r>
                  <a:rPr lang="zh-CN" altLang="zh-CN" sz="2000" dirty="0">
                    <a:solidFill>
                      <a:srgbClr val="000000"/>
                    </a:solidFill>
                  </a:rPr>
                  <a:t>中，若</a:t>
                </a:r>
                <a14:m>
                  <m:oMath xmlns:m="http://schemas.openxmlformats.org/officeDocument/2006/math">
                    <m:r>
                      <a:rPr lang="en-US" altLang="zh-CN" sz="2000">
                        <a:solidFill>
                          <a:srgbClr val="000000"/>
                        </a:solidFill>
                        <a:latin typeface="Cambria Math" panose="02040503050406030204" pitchFamily="18" charset="0"/>
                      </a:rPr>
                      <m:t>𝑀𝑖𝑛𝑃𝑡𝑠</m:t>
                    </m:r>
                    <m:r>
                      <a:rPr lang="en-US"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3</m:t>
                    </m:r>
                  </m:oMath>
                </a14:m>
                <a:r>
                  <a:rPr lang="zh-CN" altLang="zh-CN" sz="2000" dirty="0">
                    <a:solidFill>
                      <a:srgbClr val="000000"/>
                    </a:solidFill>
                  </a:rPr>
                  <a:t>，则</a:t>
                </a:r>
                <a14:m>
                  <m:oMath xmlns:m="http://schemas.openxmlformats.org/officeDocument/2006/math">
                    <m:r>
                      <a:rPr lang="en-US" altLang="zh-CN" sz="2000">
                        <a:solidFill>
                          <a:srgbClr val="000000"/>
                        </a:solidFill>
                        <a:latin typeface="Cambria Math" panose="02040503050406030204" pitchFamily="18" charset="0"/>
                      </a:rPr>
                      <m:t>𝑎</m:t>
                    </m:r>
                    <m:r>
                      <a:rPr lang="zh-CN"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𝑏</m:t>
                    </m:r>
                    <m:r>
                      <a:rPr lang="zh-CN"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𝑐</m:t>
                    </m:r>
                  </m:oMath>
                </a14:m>
                <a:r>
                  <a:rPr lang="zh-CN" altLang="zh-CN" sz="2000" dirty="0">
                    <a:solidFill>
                      <a:srgbClr val="000000"/>
                    </a:solidFill>
                  </a:rPr>
                  <a:t>和</a:t>
                </a:r>
                <a14:m>
                  <m:oMath xmlns:m="http://schemas.openxmlformats.org/officeDocument/2006/math">
                    <m:r>
                      <a:rPr lang="en-US" altLang="zh-CN" sz="2000">
                        <a:solidFill>
                          <a:srgbClr val="000000"/>
                        </a:solidFill>
                        <a:latin typeface="Cambria Math" panose="02040503050406030204" pitchFamily="18" charset="0"/>
                      </a:rPr>
                      <m:t>𝑥</m:t>
                    </m:r>
                    <m:r>
                      <a:rPr lang="zh-CN"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𝑦</m:t>
                    </m:r>
                    <m:r>
                      <a:rPr lang="zh-CN" altLang="zh-CN" sz="2000">
                        <a:solidFill>
                          <a:srgbClr val="000000"/>
                        </a:solidFill>
                        <a:latin typeface="Cambria Math" panose="02040503050406030204" pitchFamily="18" charset="0"/>
                      </a:rPr>
                      <m:t>、</m:t>
                    </m:r>
                    <m:r>
                      <a:rPr lang="en-US" altLang="zh-CN" sz="2000">
                        <a:solidFill>
                          <a:srgbClr val="000000"/>
                        </a:solidFill>
                        <a:latin typeface="Cambria Math" panose="02040503050406030204" pitchFamily="18" charset="0"/>
                      </a:rPr>
                      <m:t>𝑧</m:t>
                    </m:r>
                  </m:oMath>
                </a14:m>
                <a:r>
                  <a:rPr lang="zh-CN" altLang="zh-CN" sz="2000" dirty="0">
                    <a:solidFill>
                      <a:srgbClr val="000000"/>
                    </a:solidFill>
                  </a:rPr>
                  <a:t>都是核心对象，因为在各自的</a:t>
                </a:r>
                <a14:m>
                  <m:oMath xmlns:m="http://schemas.openxmlformats.org/officeDocument/2006/math">
                    <m:r>
                      <m:rPr>
                        <m:sty m:val="p"/>
                      </m:rPr>
                      <a:rPr lang="en-US" altLang="zh-CN" sz="2000">
                        <a:solidFill>
                          <a:srgbClr val="000000"/>
                        </a:solidFill>
                        <a:latin typeface="Cambria Math" panose="02040503050406030204" pitchFamily="18" charset="0"/>
                      </a:rPr>
                      <m:t>ε</m:t>
                    </m:r>
                  </m:oMath>
                </a14:m>
                <a:r>
                  <a:rPr lang="en-US" altLang="zh-CN" sz="2000" dirty="0">
                    <a:solidFill>
                      <a:srgbClr val="000000"/>
                    </a:solidFill>
                  </a:rPr>
                  <a:t>-</a:t>
                </a:r>
                <a:r>
                  <a:rPr lang="zh-CN" altLang="zh-CN" sz="2000" dirty="0">
                    <a:solidFill>
                      <a:srgbClr val="000000"/>
                    </a:solidFill>
                  </a:rPr>
                  <a:t>邻域中，都至少包含</a:t>
                </a:r>
                <a:r>
                  <a:rPr lang="en-US" altLang="zh-CN" sz="2000" dirty="0">
                    <a:solidFill>
                      <a:srgbClr val="000000"/>
                    </a:solidFill>
                  </a:rPr>
                  <a:t>3</a:t>
                </a:r>
                <a:r>
                  <a:rPr lang="zh-CN" altLang="zh-CN" sz="2000" dirty="0">
                    <a:solidFill>
                      <a:srgbClr val="000000"/>
                    </a:solidFill>
                  </a:rPr>
                  <a:t>个对象。</a:t>
                </a:r>
                <a:endParaRPr lang="en-US" altLang="zh-CN" sz="2000" dirty="0">
                  <a:solidFill>
                    <a:srgbClr val="000000"/>
                  </a:solidFill>
                </a:endParaRPr>
              </a:p>
              <a:p>
                <a:pPr marL="342900" lvl="1" indent="-342900">
                  <a:buFont typeface="Arial" panose="020B0604020202020204" pitchFamily="34" charset="0"/>
                  <a:buChar char="•"/>
                </a:pPr>
                <a:r>
                  <a:rPr lang="zh-CN" altLang="zh-CN" sz="2000" dirty="0">
                    <a:solidFill>
                      <a:srgbClr val="000000"/>
                    </a:solidFill>
                  </a:rPr>
                  <a:t>对象</a:t>
                </a:r>
                <a14:m>
                  <m:oMath xmlns:m="http://schemas.openxmlformats.org/officeDocument/2006/math">
                    <m:r>
                      <a:rPr lang="en-US" altLang="zh-CN" sz="2000">
                        <a:solidFill>
                          <a:srgbClr val="000000"/>
                        </a:solidFill>
                        <a:latin typeface="Cambria Math" panose="02040503050406030204" pitchFamily="18" charset="0"/>
                      </a:rPr>
                      <m:t>𝑐</m:t>
                    </m:r>
                  </m:oMath>
                </a14:m>
                <a:r>
                  <a:rPr lang="zh-CN" altLang="zh-CN" sz="2000" dirty="0">
                    <a:solidFill>
                      <a:srgbClr val="000000"/>
                    </a:solidFill>
                  </a:rPr>
                  <a:t>是从对象</a:t>
                </a:r>
                <a14:m>
                  <m:oMath xmlns:m="http://schemas.openxmlformats.org/officeDocument/2006/math">
                    <m:r>
                      <a:rPr lang="en-US" altLang="zh-CN" sz="2000">
                        <a:solidFill>
                          <a:srgbClr val="000000"/>
                        </a:solidFill>
                        <a:latin typeface="Cambria Math" panose="02040503050406030204" pitchFamily="18" charset="0"/>
                      </a:rPr>
                      <m:t>𝑏</m:t>
                    </m:r>
                  </m:oMath>
                </a14:m>
                <a:r>
                  <a:rPr lang="zh-CN" altLang="zh-CN" sz="2000" dirty="0">
                    <a:solidFill>
                      <a:srgbClr val="000000"/>
                    </a:solidFill>
                  </a:rPr>
                  <a:t>直接密度可达的，对象</a:t>
                </a:r>
                <a14:m>
                  <m:oMath xmlns:m="http://schemas.openxmlformats.org/officeDocument/2006/math">
                    <m:r>
                      <a:rPr lang="en-US" altLang="zh-CN" sz="2000">
                        <a:solidFill>
                          <a:srgbClr val="000000"/>
                        </a:solidFill>
                        <a:latin typeface="Cambria Math" panose="02040503050406030204" pitchFamily="18" charset="0"/>
                      </a:rPr>
                      <m:t>𝑏</m:t>
                    </m:r>
                  </m:oMath>
                </a14:m>
                <a:r>
                  <a:rPr lang="zh-CN" altLang="zh-CN" sz="2000" dirty="0">
                    <a:solidFill>
                      <a:srgbClr val="000000"/>
                    </a:solidFill>
                  </a:rPr>
                  <a:t>是从对象</a:t>
                </a:r>
                <a14:m>
                  <m:oMath xmlns:m="http://schemas.openxmlformats.org/officeDocument/2006/math">
                    <m:r>
                      <a:rPr lang="en-US" altLang="zh-CN" sz="2000">
                        <a:solidFill>
                          <a:srgbClr val="000000"/>
                        </a:solidFill>
                        <a:latin typeface="Cambria Math" panose="02040503050406030204" pitchFamily="18" charset="0"/>
                      </a:rPr>
                      <m:t>𝑎</m:t>
                    </m:r>
                  </m:oMath>
                </a14:m>
                <a:r>
                  <a:rPr lang="zh-CN" altLang="zh-CN" sz="2000" dirty="0">
                    <a:solidFill>
                      <a:srgbClr val="000000"/>
                    </a:solidFill>
                  </a:rPr>
                  <a:t>直接密度可达的，则对象</a:t>
                </a:r>
                <a14:m>
                  <m:oMath xmlns:m="http://schemas.openxmlformats.org/officeDocument/2006/math">
                    <m:r>
                      <a:rPr lang="en-US" altLang="zh-CN" sz="2000">
                        <a:solidFill>
                          <a:srgbClr val="000000"/>
                        </a:solidFill>
                        <a:latin typeface="Cambria Math" panose="02040503050406030204" pitchFamily="18" charset="0"/>
                      </a:rPr>
                      <m:t>𝑐</m:t>
                    </m:r>
                  </m:oMath>
                </a14:m>
                <a:r>
                  <a:rPr lang="zh-CN" altLang="zh-CN" sz="2000" dirty="0">
                    <a:solidFill>
                      <a:srgbClr val="000000"/>
                    </a:solidFill>
                  </a:rPr>
                  <a:t>是从对象</a:t>
                </a:r>
                <a14:m>
                  <m:oMath xmlns:m="http://schemas.openxmlformats.org/officeDocument/2006/math">
                    <m:r>
                      <a:rPr lang="en-US" altLang="zh-CN" sz="2000">
                        <a:solidFill>
                          <a:srgbClr val="000000"/>
                        </a:solidFill>
                        <a:latin typeface="Cambria Math" panose="02040503050406030204" pitchFamily="18" charset="0"/>
                      </a:rPr>
                      <m:t>𝑎</m:t>
                    </m:r>
                  </m:oMath>
                </a14:m>
                <a:r>
                  <a:rPr lang="zh-CN" altLang="zh-CN" sz="2000" dirty="0">
                    <a:solidFill>
                      <a:srgbClr val="000000"/>
                    </a:solidFill>
                  </a:rPr>
                  <a:t>密度可达的。对象</a:t>
                </a:r>
                <a14:m>
                  <m:oMath xmlns:m="http://schemas.openxmlformats.org/officeDocument/2006/math">
                    <m:r>
                      <a:rPr lang="en-US" altLang="zh-CN" sz="2000">
                        <a:solidFill>
                          <a:srgbClr val="000000"/>
                        </a:solidFill>
                        <a:latin typeface="Cambria Math" panose="02040503050406030204" pitchFamily="18" charset="0"/>
                      </a:rPr>
                      <m:t>𝑦</m:t>
                    </m:r>
                  </m:oMath>
                </a14:m>
                <a:r>
                  <a:rPr lang="zh-CN" altLang="zh-CN" sz="2000" dirty="0">
                    <a:solidFill>
                      <a:srgbClr val="000000"/>
                    </a:solidFill>
                  </a:rPr>
                  <a:t>是从对象</a:t>
                </a:r>
                <a14:m>
                  <m:oMath xmlns:m="http://schemas.openxmlformats.org/officeDocument/2006/math">
                    <m:r>
                      <a:rPr lang="en-US" altLang="zh-CN" sz="2000">
                        <a:solidFill>
                          <a:srgbClr val="000000"/>
                        </a:solidFill>
                        <a:latin typeface="Cambria Math" panose="02040503050406030204" pitchFamily="18" charset="0"/>
                      </a:rPr>
                      <m:t>𝑥</m:t>
                    </m:r>
                  </m:oMath>
                </a14:m>
                <a:r>
                  <a:rPr lang="zh-CN" altLang="zh-CN" sz="2000" dirty="0">
                    <a:solidFill>
                      <a:srgbClr val="000000"/>
                    </a:solidFill>
                  </a:rPr>
                  <a:t>密度可达的，对象</a:t>
                </a:r>
                <a14:m>
                  <m:oMath xmlns:m="http://schemas.openxmlformats.org/officeDocument/2006/math">
                    <m:r>
                      <a:rPr lang="en-US" altLang="zh-CN" sz="2000">
                        <a:solidFill>
                          <a:srgbClr val="000000"/>
                        </a:solidFill>
                        <a:latin typeface="Cambria Math" panose="02040503050406030204" pitchFamily="18" charset="0"/>
                      </a:rPr>
                      <m:t>𝑧</m:t>
                    </m:r>
                  </m:oMath>
                </a14:m>
                <a:r>
                  <a:rPr lang="zh-CN" altLang="zh-CN" sz="2000" dirty="0">
                    <a:solidFill>
                      <a:srgbClr val="000000"/>
                    </a:solidFill>
                  </a:rPr>
                  <a:t>是从对象</a:t>
                </a:r>
                <a14:m>
                  <m:oMath xmlns:m="http://schemas.openxmlformats.org/officeDocument/2006/math">
                    <m:r>
                      <a:rPr lang="en-US" altLang="zh-CN" sz="2000">
                        <a:solidFill>
                          <a:srgbClr val="000000"/>
                        </a:solidFill>
                        <a:latin typeface="Cambria Math" panose="02040503050406030204" pitchFamily="18" charset="0"/>
                      </a:rPr>
                      <m:t>𝑥</m:t>
                    </m:r>
                  </m:oMath>
                </a14:m>
                <a:r>
                  <a:rPr lang="zh-CN" altLang="zh-CN" sz="2000" dirty="0">
                    <a:solidFill>
                      <a:srgbClr val="000000"/>
                    </a:solidFill>
                  </a:rPr>
                  <a:t>密度可达的，则对象</a:t>
                </a:r>
                <a14:m>
                  <m:oMath xmlns:m="http://schemas.openxmlformats.org/officeDocument/2006/math">
                    <m:r>
                      <a:rPr lang="en-US" altLang="zh-CN" sz="2000">
                        <a:solidFill>
                          <a:srgbClr val="000000"/>
                        </a:solidFill>
                        <a:latin typeface="Cambria Math" panose="02040503050406030204" pitchFamily="18" charset="0"/>
                      </a:rPr>
                      <m:t>𝑦</m:t>
                    </m:r>
                  </m:oMath>
                </a14:m>
                <a:r>
                  <a:rPr lang="zh-CN" altLang="zh-CN" sz="2000" dirty="0">
                    <a:solidFill>
                      <a:srgbClr val="000000"/>
                    </a:solidFill>
                  </a:rPr>
                  <a:t>和</a:t>
                </a:r>
                <a14:m>
                  <m:oMath xmlns:m="http://schemas.openxmlformats.org/officeDocument/2006/math">
                    <m:r>
                      <a:rPr lang="en-US" altLang="zh-CN" sz="2000">
                        <a:solidFill>
                          <a:srgbClr val="000000"/>
                        </a:solidFill>
                        <a:latin typeface="Cambria Math" panose="02040503050406030204" pitchFamily="18" charset="0"/>
                      </a:rPr>
                      <m:t>𝑧</m:t>
                    </m:r>
                  </m:oMath>
                </a14:m>
                <a:r>
                  <a:rPr lang="zh-CN" altLang="zh-CN" sz="2000" dirty="0">
                    <a:solidFill>
                      <a:srgbClr val="000000"/>
                    </a:solidFill>
                  </a:rPr>
                  <a:t>是密度相连的</a:t>
                </a:r>
                <a:endParaRPr lang="zh-CN"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7586028" cy="1692771"/>
              </a:xfrm>
              <a:prstGeom prst="rect">
                <a:avLst/>
              </a:prstGeom>
              <a:blipFill rotWithShape="1">
                <a:blip r:embed="rId1"/>
                <a:stretch>
                  <a:fillRect t="-36" r="4" b="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80" y="2996952"/>
            <a:ext cx="7200800" cy="301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DBSCAN</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7586028"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000" dirty="0"/>
              <a:t>算法流程：</a:t>
            </a:r>
            <a:endParaRPr lang="en-US" altLang="zh-CN" sz="2000" dirty="0"/>
          </a:p>
          <a:p>
            <a:pPr marL="285750" indent="-285750"/>
            <a:r>
              <a:rPr lang="en-US" altLang="zh-CN" sz="2000" dirty="0"/>
              <a:t>DBSCAN</a:t>
            </a:r>
            <a:r>
              <a:rPr lang="zh-CN" altLang="zh-CN" sz="2000" dirty="0"/>
              <a:t>算法根据密度可达关系求出所有密度相连样本的最大集合，将这些样本点作为同一个簇。</a:t>
            </a:r>
            <a:endParaRPr lang="en-US" altLang="zh-CN" sz="2000" dirty="0"/>
          </a:p>
          <a:p>
            <a:pPr marL="285750" indent="-285750"/>
            <a:r>
              <a:rPr lang="en-US" altLang="zh-CN" sz="2000" dirty="0"/>
              <a:t>DBSCAN</a:t>
            </a:r>
            <a:r>
              <a:rPr lang="zh-CN" altLang="zh-CN" sz="2000" dirty="0"/>
              <a:t>算法任意选取一个核心对象作为“种子”，然后从“种子”出发寻找所有密度可达的其他核心对象，并且包含每个核心对象的</a:t>
            </a:r>
            <a:r>
              <a:rPr lang="en-US" altLang="zh-CN" sz="2000" i="1" dirty="0"/>
              <a:t>ε</a:t>
            </a:r>
            <a:r>
              <a:rPr lang="en-US" altLang="zh-CN" sz="2000" dirty="0"/>
              <a:t>-</a:t>
            </a:r>
            <a:r>
              <a:rPr lang="zh-CN" altLang="zh-CN" sz="2000" dirty="0"/>
              <a:t>邻域的非核心对象，将这些核心对象和非核心对象作为一个簇。</a:t>
            </a:r>
            <a:endParaRPr lang="en-US" altLang="zh-CN" sz="2000" dirty="0"/>
          </a:p>
          <a:p>
            <a:pPr marL="285750" indent="-285750"/>
            <a:r>
              <a:rPr lang="zh-CN" altLang="zh-CN" sz="2000" dirty="0"/>
              <a:t>当寻找完成一个簇之后，选择还没有簇标记的其他核心对象，得到一个新的簇，反复执行这个过程，直到所有的核心对象都属于某一个簇为止。</a:t>
            </a:r>
            <a:endParaRPr lang="zh-CN"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100" dirty="0">
                <a:solidFill>
                  <a:srgbClr val="D2533C"/>
                </a:solidFill>
                <a:latin typeface="Arial" panose="020B0604020202020204"/>
                <a:ea typeface="华文新魏" panose="02010800040101010101" pitchFamily="2" charset="-122"/>
              </a:rPr>
              <a:t>DBSCAN</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5" name="矩形 3"/>
              <p:cNvSpPr>
                <a:spLocks noChangeArrowheads="1"/>
              </p:cNvSpPr>
              <p:nvPr/>
            </p:nvSpPr>
            <p:spPr bwMode="auto">
              <a:xfrm>
                <a:off x="822960" y="1202657"/>
                <a:ext cx="7586028"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lvl="1" indent="0">
                  <a:buNone/>
                </a:pPr>
                <a:r>
                  <a:rPr lang="zh-CN" altLang="en-US" sz="2000" dirty="0">
                    <a:solidFill>
                      <a:srgbClr val="000000"/>
                    </a:solidFill>
                  </a:rPr>
                  <a:t>算法特点：</a:t>
                </a:r>
                <a:endParaRPr lang="en-US" altLang="zh-CN" sz="2000" dirty="0">
                  <a:solidFill>
                    <a:srgbClr val="000000"/>
                  </a:solidFill>
                </a:endParaRPr>
              </a:p>
              <a:p>
                <a:pPr marL="342900" lvl="1" indent="-342900">
                  <a:buFont typeface="Arial" panose="020B0604020202020204" pitchFamily="34" charset="0"/>
                  <a:buChar char="•"/>
                </a:pPr>
                <a:r>
                  <a:rPr lang="en-US" altLang="zh-CN" sz="2000" dirty="0">
                    <a:solidFill>
                      <a:srgbClr val="000000"/>
                    </a:solidFill>
                  </a:rPr>
                  <a:t>DBSCAN</a:t>
                </a:r>
                <a:r>
                  <a:rPr lang="zh-CN" altLang="en-US" sz="2000" dirty="0">
                    <a:solidFill>
                      <a:srgbClr val="000000"/>
                    </a:solidFill>
                  </a:rPr>
                  <a:t>可以用于对任意形状的稠密数据集进行聚类，</a:t>
                </a:r>
                <a:r>
                  <a:rPr lang="en-US" altLang="zh-CN" sz="2000" dirty="0">
                    <a:solidFill>
                      <a:srgbClr val="000000"/>
                    </a:solidFill>
                  </a:rPr>
                  <a:t>DBSCAN</a:t>
                </a:r>
                <a:r>
                  <a:rPr lang="zh-CN" altLang="en-US" sz="2000" dirty="0">
                    <a:solidFill>
                      <a:srgbClr val="000000"/>
                    </a:solidFill>
                  </a:rPr>
                  <a:t>算法对输入顺序不敏感。</a:t>
                </a:r>
                <a:r>
                  <a:rPr lang="en-US" altLang="zh-CN" sz="2000" dirty="0">
                    <a:solidFill>
                      <a:srgbClr val="000000"/>
                    </a:solidFill>
                  </a:rPr>
                  <a:t>DBSCAN</a:t>
                </a:r>
                <a:r>
                  <a:rPr lang="zh-CN" altLang="en-US" sz="2000" dirty="0">
                    <a:solidFill>
                      <a:srgbClr val="000000"/>
                    </a:solidFill>
                  </a:rPr>
                  <a:t>能够在聚类的过程中发现数据集中的噪声点，且算法本身对噪声不敏感。当数据集分布为非球型时，使用</a:t>
                </a:r>
                <a:r>
                  <a:rPr lang="en-US" altLang="zh-CN" sz="2000" dirty="0">
                    <a:solidFill>
                      <a:srgbClr val="000000"/>
                    </a:solidFill>
                  </a:rPr>
                  <a:t>DBSCAN</a:t>
                </a:r>
                <a:r>
                  <a:rPr lang="zh-CN" altLang="en-US" sz="2000" dirty="0">
                    <a:solidFill>
                      <a:srgbClr val="000000"/>
                    </a:solidFill>
                  </a:rPr>
                  <a:t>算法效果较好</a:t>
                </a:r>
                <a:endParaRPr lang="en-US" altLang="zh-CN" sz="2000" dirty="0">
                  <a:solidFill>
                    <a:srgbClr val="000000"/>
                  </a:solidFill>
                </a:endParaRPr>
              </a:p>
              <a:p>
                <a:pPr marL="342900" lvl="1" indent="-342900">
                  <a:buFont typeface="Arial" panose="020B0604020202020204" pitchFamily="34" charset="0"/>
                  <a:buChar char="•"/>
                </a:pPr>
                <a:r>
                  <a:rPr lang="en-US" altLang="zh-CN" sz="2000" dirty="0">
                    <a:solidFill>
                      <a:srgbClr val="000000"/>
                    </a:solidFill>
                  </a:rPr>
                  <a:t>DBSCAN</a:t>
                </a:r>
                <a:r>
                  <a:rPr lang="zh-CN" altLang="en-US" sz="2000" dirty="0">
                    <a:solidFill>
                      <a:srgbClr val="000000"/>
                    </a:solidFill>
                  </a:rPr>
                  <a:t>算法要对数据集中的每个对象进行邻域检查，当数据集较大时， 聚类收敛时间长，需要较大的内存支持，</a:t>
                </a:r>
                <a:r>
                  <a:rPr lang="en-US" altLang="zh-CN" sz="2000" dirty="0">
                    <a:solidFill>
                      <a:srgbClr val="000000"/>
                    </a:solidFill>
                  </a:rPr>
                  <a:t>I/O </a:t>
                </a:r>
                <a:r>
                  <a:rPr lang="zh-CN" altLang="en-US" sz="2000" dirty="0">
                    <a:solidFill>
                      <a:srgbClr val="000000"/>
                    </a:solidFill>
                  </a:rPr>
                  <a:t>消耗也很大，此时可以采用</a:t>
                </a:r>
                <a:r>
                  <a:rPr lang="en-US" altLang="zh-CN" sz="2000" dirty="0">
                    <a:solidFill>
                      <a:srgbClr val="000000"/>
                    </a:solidFill>
                  </a:rPr>
                  <a:t>KD</a:t>
                </a:r>
                <a:r>
                  <a:rPr lang="zh-CN" altLang="en-US" sz="2000" dirty="0">
                    <a:solidFill>
                      <a:srgbClr val="000000"/>
                    </a:solidFill>
                  </a:rPr>
                  <a:t>树或球树对算法进行改进，快速搜索最近邻，帮助算法快速收敛。此外，当空间聚类的密度不均匀，聚类间距离相差很大时，聚类的质量较差</a:t>
                </a:r>
                <a:endParaRPr lang="en-US" altLang="zh-CN" sz="2000" dirty="0">
                  <a:solidFill>
                    <a:srgbClr val="000000"/>
                  </a:solidFill>
                </a:endParaRPr>
              </a:p>
              <a:p>
                <a:pPr marL="342900" lvl="1" indent="-342900">
                  <a:buFont typeface="Arial" panose="020B0604020202020204" pitchFamily="34" charset="0"/>
                  <a:buChar char="•"/>
                </a:pPr>
                <a:r>
                  <a:rPr lang="en-US" altLang="zh-CN" sz="2000" dirty="0">
                    <a:solidFill>
                      <a:srgbClr val="000000"/>
                    </a:solidFill>
                  </a:rPr>
                  <a:t>DBSCAN</a:t>
                </a:r>
                <a:r>
                  <a:rPr lang="zh-CN" altLang="en-US" sz="2000" dirty="0">
                    <a:solidFill>
                      <a:srgbClr val="000000"/>
                    </a:solidFill>
                  </a:rPr>
                  <a:t>算法的聚类结果受到邻域参数</a:t>
                </a:r>
                <a:r>
                  <a:rPr lang="en-US" altLang="zh-CN" sz="2000" dirty="0">
                    <a:solidFill>
                      <a:srgbClr val="000000"/>
                    </a:solidFill>
                  </a:rPr>
                  <a:t>(</a:t>
                </a:r>
                <a14:m>
                  <m:oMath xmlns:m="http://schemas.openxmlformats.org/officeDocument/2006/math">
                    <m:r>
                      <a:rPr lang="zh-CN" altLang="en-US" sz="2000" i="1">
                        <a:solidFill>
                          <a:srgbClr val="000000"/>
                        </a:solidFill>
                        <a:latin typeface="Cambria Math" panose="02040503050406030204" pitchFamily="18" charset="0"/>
                      </a:rPr>
                      <m:t>𝜀</m:t>
                    </m:r>
                  </m:oMath>
                </a14:m>
                <a:r>
                  <a:rPr lang="en-US" altLang="zh-CN" sz="2000" dirty="0">
                    <a:solidFill>
                      <a:srgbClr val="000000"/>
                    </a:solidFill>
                  </a:rPr>
                  <a:t>, </a:t>
                </a:r>
                <a14:m>
                  <m:oMath xmlns:m="http://schemas.openxmlformats.org/officeDocument/2006/math">
                    <m:r>
                      <a:rPr lang="en-US" altLang="zh-CN" sz="2000" i="1" dirty="0">
                        <a:solidFill>
                          <a:srgbClr val="000000"/>
                        </a:solidFill>
                        <a:latin typeface="Cambria Math" panose="02040503050406030204" pitchFamily="18" charset="0"/>
                      </a:rPr>
                      <m:t>𝑀𝑖𝑛𝑃𝑡𝑠</m:t>
                    </m:r>
                  </m:oMath>
                </a14:m>
                <a:r>
                  <a:rPr lang="en-US" altLang="zh-CN" sz="2000" dirty="0">
                    <a:solidFill>
                      <a:srgbClr val="000000"/>
                    </a:solidFill>
                  </a:rPr>
                  <a:t>)</a:t>
                </a:r>
                <a:r>
                  <a:rPr lang="zh-CN" altLang="en-US" sz="2000" dirty="0">
                    <a:solidFill>
                      <a:srgbClr val="000000"/>
                    </a:solidFill>
                  </a:rPr>
                  <a:t>的影响较大，不同的输入参数对聚类结果有很大的影响，邻域参数也需要人工输入，调参时需要对两个参数联合调参，比较复杂</a:t>
                </a:r>
                <a:endParaRPr lang="zh-CN" altLang="zh-CN" sz="2000" dirty="0">
                  <a:solidFill>
                    <a:srgbClr val="000000"/>
                  </a:solidFill>
                </a:endParaRPr>
              </a:p>
            </p:txBody>
          </p:sp>
        </mc:Choice>
        <mc:Fallback>
          <p:sp>
            <p:nvSpPr>
              <p:cNvPr id="15" name="矩形 3"/>
              <p:cNvSpPr>
                <a:spLocks noRot="1" noChangeAspect="1" noMove="1" noResize="1" noEditPoints="1" noAdjustHandles="1" noChangeArrowheads="1" noChangeShapeType="1" noTextEdit="1"/>
              </p:cNvSpPr>
              <p:nvPr/>
            </p:nvSpPr>
            <p:spPr bwMode="auto">
              <a:xfrm>
                <a:off x="822960" y="1202657"/>
                <a:ext cx="7586028" cy="4278094"/>
              </a:xfrm>
              <a:prstGeom prst="rect">
                <a:avLst/>
              </a:prstGeom>
              <a:blipFill rotWithShape="1">
                <a:blip r:embed="rId1"/>
                <a:stretch>
                  <a:fillRect t="-14" r="4" b="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spc="-100" dirty="0">
                <a:solidFill>
                  <a:srgbClr val="D2533C"/>
                </a:solidFill>
                <a:latin typeface="Arial" panose="020B0604020202020204"/>
                <a:ea typeface="华文新魏" panose="02010800040101010101" pitchFamily="2" charset="-122"/>
              </a:rPr>
              <a:t>课堂作业</a:t>
            </a:r>
            <a:endParaRPr lang="en-US" altLang="zh-CN"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n"/>
            </a:pPr>
            <a:r>
              <a:rPr lang="zh-CN" altLang="en-US" b="1">
                <a:solidFill>
                  <a:srgbClr val="FF0000"/>
                </a:solidFill>
              </a:rPr>
              <a:t>作业描述</a:t>
            </a:r>
            <a:r>
              <a:rPr lang="zh-CN" altLang="en-US"/>
              <a:t>：现有大量从新闻资讯、游记文案、生活随笔、美食探店、户外攻略等多类中文文本中提取的高频关键词集合。要求采用</a:t>
            </a:r>
            <a:r>
              <a:rPr lang="en-US" altLang="zh-CN"/>
              <a:t>DBSCAN</a:t>
            </a:r>
            <a:r>
              <a:rPr lang="zh-CN" altLang="en-US"/>
              <a:t>算法对关键词聚类。对聚类结果进行评价，并对聚类结果进行解读。</a:t>
            </a:r>
            <a:endParaRPr lang="zh-CN" altLang="en-US"/>
          </a:p>
          <a:p>
            <a:pPr>
              <a:buFont typeface="Wingdings" panose="05000000000000000000" charset="0"/>
              <a:buChar char="n"/>
            </a:pPr>
            <a:r>
              <a:rPr lang="zh-CN" altLang="en-US" b="1">
                <a:solidFill>
                  <a:srgbClr val="FF0000"/>
                </a:solidFill>
              </a:rPr>
              <a:t>关键词集合</a:t>
            </a:r>
            <a:r>
              <a:rPr lang="zh-CN" altLang="en-US"/>
              <a:t>：旅游、风景、美食、出行、甜品、山水、自驾、奶茶、打卡、徒步、小吃、名胜、民宿、花海、露营、烧烤、茶饮、古镇、云海、爬山、火锅、奶茶店、短途游、自驾游、自然风光、特色小吃、网红景点、农家菜、海景、草原、骑行、野餐、糕点、果汁、商圈、老街、温泉、滑雪、夜宵、面食、粤菜、川菜、踏青、秋游、度假、拍照、休闲、娱乐、探店、购物、园林、瀑布、湖泊、海鲜、粥品、冷饮、野餐垫、帐篷、零食、特产、文创、古道、村落、雨林、漂流、垂钓</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9704</Words>
  <Application>WPS 演示</Application>
  <PresentationFormat>全屏显示(4:3)</PresentationFormat>
  <Paragraphs>448</Paragraphs>
  <Slides>43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43</vt:i4>
      </vt:variant>
    </vt:vector>
  </HeadingPairs>
  <TitlesOfParts>
    <vt:vector size="62" baseType="lpstr">
      <vt:lpstr>Arial</vt:lpstr>
      <vt:lpstr>宋体</vt:lpstr>
      <vt:lpstr>Wingdings</vt:lpstr>
      <vt:lpstr>Tahoma</vt:lpstr>
      <vt:lpstr>Calibri Light</vt:lpstr>
      <vt:lpstr>Calibri</vt:lpstr>
      <vt:lpstr>Times New Roman</vt:lpstr>
      <vt:lpstr>黑体</vt:lpstr>
      <vt:lpstr>Arial</vt:lpstr>
      <vt:lpstr>华文新魏</vt:lpstr>
      <vt:lpstr>Cambria Math</vt:lpstr>
      <vt:lpstr>Wingdings</vt:lpstr>
      <vt:lpstr>微软雅黑</vt:lpstr>
      <vt:lpstr>Arial Unicode MS</vt:lpstr>
      <vt:lpstr>Cambria</vt:lpstr>
      <vt:lpstr>Cambria Math</vt:lpstr>
      <vt:lpstr>BatangChe</vt:lpstr>
      <vt:lpstr>Segoe Print</vt:lpstr>
      <vt:lpstr>回顾</vt:lpstr>
      <vt:lpstr>第三章  无监督性机器学习</vt:lpstr>
      <vt:lpstr>内容大纲</vt:lpstr>
      <vt:lpstr>聚类分析</vt:lpstr>
      <vt:lpstr>聚类分析的度量</vt:lpstr>
      <vt:lpstr>聚类分析的度量</vt:lpstr>
      <vt:lpstr>外部指标</vt:lpstr>
      <vt:lpstr>内部指标</vt:lpstr>
      <vt:lpstr>距离函数的适用性</vt:lpstr>
      <vt:lpstr>内部指标</vt:lpstr>
      <vt:lpstr>内部指标</vt:lpstr>
      <vt:lpstr>内部指标</vt:lpstr>
      <vt:lpstr>内容大纲</vt:lpstr>
      <vt:lpstr>基于划分的聚类</vt:lpstr>
      <vt:lpstr>k-means算法</vt:lpstr>
      <vt:lpstr>k-means算法</vt:lpstr>
      <vt:lpstr>k-means算法 </vt:lpstr>
      <vt:lpstr>k-means算法 </vt:lpstr>
      <vt:lpstr>k-means算法</vt:lpstr>
      <vt:lpstr>k-means算法</vt:lpstr>
      <vt:lpstr>k-means算法</vt:lpstr>
      <vt:lpstr>k-means算法</vt:lpstr>
      <vt:lpstr>最远中心点法</vt:lpstr>
      <vt:lpstr>最远中心点法</vt:lpstr>
      <vt:lpstr>最远中心点法</vt:lpstr>
      <vt:lpstr>最远中心点法的问题</vt:lpstr>
      <vt:lpstr>k-means++算法</vt:lpstr>
      <vt:lpstr>k-medoids算法</vt:lpstr>
      <vt:lpstr>k-medoids算法</vt:lpstr>
      <vt:lpstr>k-prototype 算法</vt:lpstr>
      <vt:lpstr>课堂作业</vt:lpstr>
      <vt:lpstr>内容大纲</vt:lpstr>
      <vt:lpstr>基于层次的聚类</vt:lpstr>
      <vt:lpstr>基于层次的聚类</vt:lpstr>
      <vt:lpstr>基于层次的聚类--聚合聚类</vt:lpstr>
      <vt:lpstr>内容大纲</vt:lpstr>
      <vt:lpstr>基于密度的聚类</vt:lpstr>
      <vt:lpstr>基于密度的聚类</vt:lpstr>
      <vt:lpstr>DBSCAN算法</vt:lpstr>
      <vt:lpstr>DBSCAN算法</vt:lpstr>
      <vt:lpstr>DBSCAN算法</vt:lpstr>
      <vt:lpstr>DBSCAN算法</vt:lpstr>
      <vt:lpstr>DBSCAN算法</vt:lpstr>
      <vt:lpstr>课堂作业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邓苏</dc:creator>
  <cp:lastModifiedBy>宗威</cp:lastModifiedBy>
  <cp:revision>1739</cp:revision>
  <dcterms:created xsi:type="dcterms:W3CDTF">1996-07-03T01:00:00Z</dcterms:created>
  <dcterms:modified xsi:type="dcterms:W3CDTF">2026-05-21T13:10:30Z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A2FAE39FFD134188886B16F5B56B8EF2_12</vt:lpwstr>
  </property>
  <property fmtid="{D5CDD505-2E9C-101B-9397-08002B2CF9AE}" pid="3" name="KSOProductBuildVer">
    <vt:lpwstr>2052-12.1.0.26375</vt:lpwstr>
  </property>
</Properties>
</file>